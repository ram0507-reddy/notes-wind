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5"/>
  </p:notesMasterIdLst>
  <p:sldIdLst>
    <p:sldId id="256" r:id="rId2"/>
    <p:sldId id="257" r:id="rId3"/>
    <p:sldId id="258" r:id="rId4"/>
    <p:sldId id="259" r:id="rId5"/>
    <p:sldId id="332" r:id="rId6"/>
    <p:sldId id="333" r:id="rId7"/>
    <p:sldId id="336" r:id="rId8"/>
    <p:sldId id="337" r:id="rId9"/>
    <p:sldId id="338" r:id="rId10"/>
    <p:sldId id="340" r:id="rId11"/>
    <p:sldId id="341" r:id="rId12"/>
    <p:sldId id="343" r:id="rId13"/>
    <p:sldId id="342" r:id="rId14"/>
    <p:sldId id="344" r:id="rId15"/>
    <p:sldId id="346" r:id="rId16"/>
    <p:sldId id="345" r:id="rId17"/>
    <p:sldId id="347" r:id="rId18"/>
    <p:sldId id="349" r:id="rId19"/>
    <p:sldId id="350" r:id="rId20"/>
    <p:sldId id="351" r:id="rId21"/>
    <p:sldId id="352" r:id="rId22"/>
    <p:sldId id="353" r:id="rId23"/>
    <p:sldId id="360" r:id="rId24"/>
    <p:sldId id="361" r:id="rId25"/>
    <p:sldId id="348" r:id="rId26"/>
    <p:sldId id="354" r:id="rId27"/>
    <p:sldId id="355" r:id="rId28"/>
    <p:sldId id="356" r:id="rId29"/>
    <p:sldId id="357" r:id="rId30"/>
    <p:sldId id="358" r:id="rId31"/>
    <p:sldId id="359" r:id="rId32"/>
    <p:sldId id="371" r:id="rId33"/>
    <p:sldId id="372" r:id="rId34"/>
    <p:sldId id="362" r:id="rId35"/>
    <p:sldId id="369" r:id="rId36"/>
    <p:sldId id="363" r:id="rId37"/>
    <p:sldId id="368" r:id="rId38"/>
    <p:sldId id="370" r:id="rId39"/>
    <p:sldId id="367" r:id="rId40"/>
    <p:sldId id="366" r:id="rId41"/>
    <p:sldId id="365" r:id="rId42"/>
    <p:sldId id="364" r:id="rId43"/>
    <p:sldId id="376" r:id="rId44"/>
    <p:sldId id="375" r:id="rId45"/>
    <p:sldId id="373" r:id="rId46"/>
    <p:sldId id="374" r:id="rId47"/>
    <p:sldId id="377" r:id="rId48"/>
    <p:sldId id="378" r:id="rId49"/>
    <p:sldId id="380" r:id="rId50"/>
    <p:sldId id="382" r:id="rId51"/>
    <p:sldId id="381" r:id="rId52"/>
    <p:sldId id="379" r:id="rId53"/>
    <p:sldId id="383" r:id="rId54"/>
    <p:sldId id="386" r:id="rId55"/>
    <p:sldId id="387" r:id="rId56"/>
    <p:sldId id="385" r:id="rId57"/>
    <p:sldId id="397" r:id="rId58"/>
    <p:sldId id="384" r:id="rId59"/>
    <p:sldId id="392" r:id="rId60"/>
    <p:sldId id="393" r:id="rId61"/>
    <p:sldId id="388" r:id="rId62"/>
    <p:sldId id="389" r:id="rId63"/>
    <p:sldId id="390" r:id="rId64"/>
    <p:sldId id="391" r:id="rId65"/>
    <p:sldId id="396" r:id="rId66"/>
    <p:sldId id="398" r:id="rId67"/>
    <p:sldId id="395" r:id="rId68"/>
    <p:sldId id="394" r:id="rId69"/>
    <p:sldId id="402" r:id="rId70"/>
    <p:sldId id="399" r:id="rId71"/>
    <p:sldId id="400" r:id="rId72"/>
    <p:sldId id="401" r:id="rId73"/>
    <p:sldId id="331" r:id="rId74"/>
  </p:sldIdLst>
  <p:sldSz cx="9144000" cy="6858000" type="screen4x3"/>
  <p:notesSz cx="6858000" cy="9144000"/>
  <p:embeddedFontLst>
    <p:embeddedFont>
      <p:font typeface="Calibri" pitchFamily="34" charset="0"/>
      <p:regular r:id="rId76"/>
      <p:bold r:id="rId77"/>
      <p:italic r:id="rId78"/>
      <p:boldItalic r:id="rId79"/>
    </p:embeddedFont>
    <p:embeddedFont>
      <p:font typeface="Arimo" charset="0"/>
      <p:regular r:id="rId80"/>
      <p:bold r:id="rId81"/>
      <p:italic r:id="rId82"/>
      <p:boldItalic r:id="rId83"/>
    </p:embeddedFont>
    <p:embeddedFont>
      <p:font typeface="Century Gothic" pitchFamily="34" charset="0"/>
      <p:regular r:id="rId84"/>
      <p:bold r:id="rId85"/>
      <p:italic r:id="rId86"/>
      <p:boldItalic r:id="rId87"/>
    </p:embeddedFont>
    <p:embeddedFont>
      <p:font typeface="Arial Black" pitchFamily="34" charset="0"/>
      <p:bold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7" roundtripDataSignature="AMtx7mjBQbfp63kvSnGNODkyMNv7rOjnq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1.fntdata"/><Relationship Id="rId84" Type="http://schemas.openxmlformats.org/officeDocument/2006/relationships/font" Target="fonts/font9.fntdata"/><Relationship Id="rId97" Type="http://customschemas.google.com/relationships/presentationmetadata" Target="meta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4.fntdata"/><Relationship Id="rId87" Type="http://schemas.openxmlformats.org/officeDocument/2006/relationships/font" Target="fonts/font12.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2.fntdata"/><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5.fntdata"/><Relationship Id="rId85" Type="http://schemas.openxmlformats.org/officeDocument/2006/relationships/font" Target="fonts/font10.fntdata"/><Relationship Id="rId98"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83" Type="http://schemas.openxmlformats.org/officeDocument/2006/relationships/font" Target="fonts/font8.fntdata"/><Relationship Id="rId88"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40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985457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55" name="Google Shape;5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7b5acc6594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76" name="Google Shape;76;g37b5acc6594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b5acc6594_0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87" name="Google Shape;87;g37b5acc6594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b5acc6594_0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87" name="Google Shape;87;g37b5acc6594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b5acc6594_0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87" name="Google Shape;87;g37b5acc6594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b5acc6594_0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87" name="Google Shape;87;g37b5acc6594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b5acc6594_0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87" name="Google Shape;87;g37b5acc6594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b5acc6594_0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87" name="Google Shape;87;g37b5acc6594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b5acc6594_0_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87" name="Google Shape;87;g37b5acc6594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66" name="Google Shape;66;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400"/>
              </a:spcBef>
              <a:spcAft>
                <a:spcPts val="0"/>
              </a:spcAft>
              <a:buSzPts val="1400"/>
              <a:buNone/>
            </a:pPr>
            <a:endParaRPr/>
          </a:p>
        </p:txBody>
      </p:sp>
      <p:sp>
        <p:nvSpPr>
          <p:cNvPr id="595" name="Google Shape;59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685800" y="2130425"/>
            <a:ext cx="7772400" cy="1470025"/>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15"/>
          <p:cNvSpPr txBox="1">
            <a:spLocks noGrp="1"/>
          </p:cNvSpPr>
          <p:nvPr>
            <p:ph type="body" idx="1"/>
          </p:nvPr>
        </p:nvSpPr>
        <p:spPr>
          <a:xfrm>
            <a:off x="1371600" y="3886200"/>
            <a:ext cx="6400800" cy="1752600"/>
          </a:xfrm>
          <a:prstGeom prst="rect">
            <a:avLst/>
          </a:prstGeom>
          <a:noFill/>
          <a:ln>
            <a:noFill/>
          </a:ln>
        </p:spPr>
        <p:txBody>
          <a:bodyPr spcFirstLastPara="1" wrap="square" lIns="45700" tIns="45700" rIns="45700" bIns="45700" anchor="t" anchorCtr="0">
            <a:normAutofit/>
          </a:bodyPr>
          <a:lstStyle>
            <a:lvl1pPr marL="457200" lvl="0" indent="-228600" algn="ctr">
              <a:lnSpc>
                <a:spcPct val="100000"/>
              </a:lnSpc>
              <a:spcBef>
                <a:spcPts val="700"/>
              </a:spcBef>
              <a:spcAft>
                <a:spcPts val="0"/>
              </a:spcAft>
              <a:buClr>
                <a:srgbClr val="888888"/>
              </a:buClr>
              <a:buSzPts val="3200"/>
              <a:buFont typeface="Calibri"/>
              <a:buNone/>
              <a:defRPr>
                <a:solidFill>
                  <a:srgbClr val="888888"/>
                </a:solidFill>
              </a:defRPr>
            </a:lvl1pPr>
            <a:lvl2pPr marL="914400" lvl="1" indent="-228600" algn="ctr">
              <a:lnSpc>
                <a:spcPct val="100000"/>
              </a:lnSpc>
              <a:spcBef>
                <a:spcPts val="700"/>
              </a:spcBef>
              <a:spcAft>
                <a:spcPts val="0"/>
              </a:spcAft>
              <a:buClr>
                <a:srgbClr val="888888"/>
              </a:buClr>
              <a:buSzPts val="3200"/>
              <a:buFont typeface="Calibri"/>
              <a:buNone/>
              <a:defRPr>
                <a:solidFill>
                  <a:srgbClr val="888888"/>
                </a:solidFill>
              </a:defRPr>
            </a:lvl2pPr>
            <a:lvl3pPr marL="1371600" lvl="2" indent="-228600" algn="ctr">
              <a:lnSpc>
                <a:spcPct val="100000"/>
              </a:lnSpc>
              <a:spcBef>
                <a:spcPts val="700"/>
              </a:spcBef>
              <a:spcAft>
                <a:spcPts val="0"/>
              </a:spcAft>
              <a:buClr>
                <a:srgbClr val="888888"/>
              </a:buClr>
              <a:buSzPts val="3200"/>
              <a:buFont typeface="Calibri"/>
              <a:buNone/>
              <a:defRPr>
                <a:solidFill>
                  <a:srgbClr val="888888"/>
                </a:solidFill>
              </a:defRPr>
            </a:lvl3pPr>
            <a:lvl4pPr marL="1828800" lvl="3" indent="-228600" algn="ctr">
              <a:lnSpc>
                <a:spcPct val="100000"/>
              </a:lnSpc>
              <a:spcBef>
                <a:spcPts val="700"/>
              </a:spcBef>
              <a:spcAft>
                <a:spcPts val="0"/>
              </a:spcAft>
              <a:buClr>
                <a:srgbClr val="888888"/>
              </a:buClr>
              <a:buSzPts val="3200"/>
              <a:buFont typeface="Calibri"/>
              <a:buNone/>
              <a:defRPr>
                <a:solidFill>
                  <a:srgbClr val="888888"/>
                </a:solidFill>
              </a:defRPr>
            </a:lvl4pPr>
            <a:lvl5pPr marL="2286000" lvl="4" indent="-228600" algn="ctr">
              <a:lnSpc>
                <a:spcPct val="100000"/>
              </a:lnSpc>
              <a:spcBef>
                <a:spcPts val="700"/>
              </a:spcBef>
              <a:spcAft>
                <a:spcPts val="0"/>
              </a:spcAft>
              <a:buClr>
                <a:srgbClr val="888888"/>
              </a:buClr>
              <a:buSzPts val="3200"/>
              <a:buFont typeface="Calibri"/>
              <a:buNone/>
              <a:defRPr>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 name="Google Shape;12;p15"/>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tx">
  <p:cSld name="TITLE_AND_BODY">
    <p:spTree>
      <p:nvGrpSpPr>
        <p:cNvPr id="1" name="Shape 13"/>
        <p:cNvGrpSpPr/>
        <p:nvPr/>
      </p:nvGrpSpPr>
      <p:grpSpPr>
        <a:xfrm>
          <a:off x="0" y="0"/>
          <a:ext cx="0" cy="0"/>
          <a:chOff x="0" y="0"/>
          <a:chExt cx="0" cy="0"/>
        </a:xfrm>
      </p:grpSpPr>
      <p:sp>
        <p:nvSpPr>
          <p:cNvPr id="14" name="Google Shape;14;p16"/>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16"/>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6" name="Google Shape;16;p16"/>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0"/>
        <p:cNvGrpSpPr/>
        <p:nvPr/>
      </p:nvGrpSpPr>
      <p:grpSpPr>
        <a:xfrm>
          <a:off x="0" y="0"/>
          <a:ext cx="0" cy="0"/>
          <a:chOff x="0" y="0"/>
          <a:chExt cx="0" cy="0"/>
        </a:xfrm>
      </p:grpSpPr>
      <p:sp>
        <p:nvSpPr>
          <p:cNvPr id="21" name="Google Shape;21;p17"/>
          <p:cNvSpPr txBox="1">
            <a:spLocks noGrp="1"/>
          </p:cNvSpPr>
          <p:nvPr>
            <p:ph type="title"/>
          </p:nvPr>
        </p:nvSpPr>
        <p:spPr>
          <a:xfrm>
            <a:off x="722312" y="4406900"/>
            <a:ext cx="7772401" cy="1362075"/>
          </a:xfrm>
          <a:prstGeom prst="rect">
            <a:avLst/>
          </a:prstGeom>
          <a:noFill/>
          <a:ln>
            <a:noFill/>
          </a:ln>
        </p:spPr>
        <p:txBody>
          <a:bodyPr spcFirstLastPara="1" wrap="square" lIns="45700" tIns="45700" rIns="45700" bIns="45700" anchor="t" anchorCtr="0">
            <a:normAutofit/>
          </a:bodyPr>
          <a:lstStyle>
            <a:lvl1pPr lvl="0" algn="l">
              <a:lnSpc>
                <a:spcPct val="100000"/>
              </a:lnSpc>
              <a:spcBef>
                <a:spcPts val="0"/>
              </a:spcBef>
              <a:spcAft>
                <a:spcPts val="0"/>
              </a:spcAft>
              <a:buClr>
                <a:srgbClr val="000000"/>
              </a:buClr>
              <a:buSzPts val="4000"/>
              <a:buFont typeface="Calibri"/>
              <a:buNone/>
              <a:defRPr sz="4000" b="1" cap="none"/>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2" name="Google Shape;22;p17"/>
          <p:cNvSpPr txBox="1">
            <a:spLocks noGrp="1"/>
          </p:cNvSpPr>
          <p:nvPr>
            <p:ph type="body" idx="1"/>
          </p:nvPr>
        </p:nvSpPr>
        <p:spPr>
          <a:xfrm>
            <a:off x="722312" y="2906713"/>
            <a:ext cx="7772401" cy="1500188"/>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400"/>
              </a:spcBef>
              <a:spcAft>
                <a:spcPts val="0"/>
              </a:spcAft>
              <a:buClr>
                <a:srgbClr val="888888"/>
              </a:buClr>
              <a:buSzPts val="2000"/>
              <a:buFont typeface="Calibri"/>
              <a:buNone/>
              <a:defRPr sz="2000">
                <a:solidFill>
                  <a:srgbClr val="888888"/>
                </a:solidFill>
              </a:defRPr>
            </a:lvl1pPr>
            <a:lvl2pPr marL="914400" lvl="1" indent="-228600" algn="l">
              <a:lnSpc>
                <a:spcPct val="100000"/>
              </a:lnSpc>
              <a:spcBef>
                <a:spcPts val="400"/>
              </a:spcBef>
              <a:spcAft>
                <a:spcPts val="0"/>
              </a:spcAft>
              <a:buClr>
                <a:srgbClr val="888888"/>
              </a:buClr>
              <a:buSzPts val="2000"/>
              <a:buFont typeface="Calibri"/>
              <a:buNone/>
              <a:defRPr sz="2000">
                <a:solidFill>
                  <a:srgbClr val="888888"/>
                </a:solidFill>
              </a:defRPr>
            </a:lvl2pPr>
            <a:lvl3pPr marL="1371600" lvl="2" indent="-228600" algn="l">
              <a:lnSpc>
                <a:spcPct val="100000"/>
              </a:lnSpc>
              <a:spcBef>
                <a:spcPts val="400"/>
              </a:spcBef>
              <a:spcAft>
                <a:spcPts val="0"/>
              </a:spcAft>
              <a:buClr>
                <a:srgbClr val="888888"/>
              </a:buClr>
              <a:buSzPts val="2000"/>
              <a:buFont typeface="Calibri"/>
              <a:buNone/>
              <a:defRPr sz="2000">
                <a:solidFill>
                  <a:srgbClr val="888888"/>
                </a:solidFill>
              </a:defRPr>
            </a:lvl3pPr>
            <a:lvl4pPr marL="1828800" lvl="3" indent="-228600" algn="l">
              <a:lnSpc>
                <a:spcPct val="100000"/>
              </a:lnSpc>
              <a:spcBef>
                <a:spcPts val="400"/>
              </a:spcBef>
              <a:spcAft>
                <a:spcPts val="0"/>
              </a:spcAft>
              <a:buClr>
                <a:srgbClr val="888888"/>
              </a:buClr>
              <a:buSzPts val="2000"/>
              <a:buFont typeface="Calibri"/>
              <a:buNone/>
              <a:defRPr sz="2000">
                <a:solidFill>
                  <a:srgbClr val="888888"/>
                </a:solidFill>
              </a:defRPr>
            </a:lvl4pPr>
            <a:lvl5pPr marL="2286000" lvl="4" indent="-228600" algn="l">
              <a:lnSpc>
                <a:spcPct val="100000"/>
              </a:lnSpc>
              <a:spcBef>
                <a:spcPts val="400"/>
              </a:spcBef>
              <a:spcAft>
                <a:spcPts val="0"/>
              </a:spcAft>
              <a:buClr>
                <a:srgbClr val="888888"/>
              </a:buClr>
              <a:buSzPts val="2000"/>
              <a:buFont typeface="Calibri"/>
              <a:buNone/>
              <a:defRPr sz="2000">
                <a:solidFill>
                  <a:srgbClr val="888888"/>
                </a:solidFil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3" name="Google Shape;23;p17"/>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4"/>
        <p:cNvGrpSpPr/>
        <p:nvPr/>
      </p:nvGrpSpPr>
      <p:grpSpPr>
        <a:xfrm>
          <a:off x="0" y="0"/>
          <a:ext cx="0" cy="0"/>
          <a:chOff x="0" y="0"/>
          <a:chExt cx="0" cy="0"/>
        </a:xfrm>
      </p:grpSpPr>
      <p:sp>
        <p:nvSpPr>
          <p:cNvPr id="25" name="Google Shape;25;p18"/>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6" name="Google Shape;26;p18"/>
          <p:cNvSpPr txBox="1">
            <a:spLocks noGrp="1"/>
          </p:cNvSpPr>
          <p:nvPr>
            <p:ph type="body" idx="1"/>
          </p:nvPr>
        </p:nvSpPr>
        <p:spPr>
          <a:xfrm>
            <a:off x="457200" y="1600200"/>
            <a:ext cx="4038600" cy="4525963"/>
          </a:xfrm>
          <a:prstGeom prst="rect">
            <a:avLst/>
          </a:prstGeom>
          <a:noFill/>
          <a:ln>
            <a:noFill/>
          </a:ln>
        </p:spPr>
        <p:txBody>
          <a:bodyPr spcFirstLastPara="1" wrap="square" lIns="45700" tIns="45700" rIns="45700" bIns="45700" anchor="t" anchorCtr="0">
            <a:normAutofit/>
          </a:bodyPr>
          <a:lstStyle>
            <a:lvl1pPr marL="457200" lvl="0" indent="-406400" algn="l">
              <a:lnSpc>
                <a:spcPct val="100000"/>
              </a:lnSpc>
              <a:spcBef>
                <a:spcPts val="600"/>
              </a:spcBef>
              <a:spcAft>
                <a:spcPts val="0"/>
              </a:spcAft>
              <a:buClr>
                <a:srgbClr val="000000"/>
              </a:buClr>
              <a:buSzPts val="2800"/>
              <a:buChar char="•"/>
              <a:defRPr sz="2800"/>
            </a:lvl1pPr>
            <a:lvl2pPr marL="914400" lvl="1" indent="-406400" algn="l">
              <a:lnSpc>
                <a:spcPct val="100000"/>
              </a:lnSpc>
              <a:spcBef>
                <a:spcPts val="600"/>
              </a:spcBef>
              <a:spcAft>
                <a:spcPts val="0"/>
              </a:spcAft>
              <a:buClr>
                <a:srgbClr val="000000"/>
              </a:buClr>
              <a:buSzPts val="2800"/>
              <a:buChar char="–"/>
              <a:defRPr sz="2800"/>
            </a:lvl2pPr>
            <a:lvl3pPr marL="1371600" lvl="2" indent="-406400" algn="l">
              <a:lnSpc>
                <a:spcPct val="100000"/>
              </a:lnSpc>
              <a:spcBef>
                <a:spcPts val="600"/>
              </a:spcBef>
              <a:spcAft>
                <a:spcPts val="0"/>
              </a:spcAft>
              <a:buClr>
                <a:srgbClr val="000000"/>
              </a:buClr>
              <a:buSzPts val="2800"/>
              <a:buChar char="•"/>
              <a:defRPr sz="2800"/>
            </a:lvl3pPr>
            <a:lvl4pPr marL="1828800" lvl="3" indent="-406400" algn="l">
              <a:lnSpc>
                <a:spcPct val="100000"/>
              </a:lnSpc>
              <a:spcBef>
                <a:spcPts val="600"/>
              </a:spcBef>
              <a:spcAft>
                <a:spcPts val="0"/>
              </a:spcAft>
              <a:buClr>
                <a:srgbClr val="000000"/>
              </a:buClr>
              <a:buSzPts val="2800"/>
              <a:buChar char="–"/>
              <a:defRPr sz="2800"/>
            </a:lvl4pPr>
            <a:lvl5pPr marL="2286000" lvl="4" indent="-406400" algn="l">
              <a:lnSpc>
                <a:spcPct val="100000"/>
              </a:lnSpc>
              <a:spcBef>
                <a:spcPts val="600"/>
              </a:spcBef>
              <a:spcAft>
                <a:spcPts val="0"/>
              </a:spcAft>
              <a:buClr>
                <a:srgbClr val="000000"/>
              </a:buClr>
              <a:buSzPts val="2800"/>
              <a:buChar char="»"/>
              <a:defRPr sz="28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7" name="Google Shape;27;p18"/>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0" name="Google Shape;30;p19"/>
          <p:cNvSpPr txBox="1">
            <a:spLocks noGrp="1"/>
          </p:cNvSpPr>
          <p:nvPr>
            <p:ph type="body" idx="1"/>
          </p:nvPr>
        </p:nvSpPr>
        <p:spPr>
          <a:xfrm>
            <a:off x="457200" y="1535112"/>
            <a:ext cx="4040188" cy="639763"/>
          </a:xfrm>
          <a:prstGeom prst="rect">
            <a:avLst/>
          </a:prstGeom>
          <a:noFill/>
          <a:ln>
            <a:noFill/>
          </a:ln>
        </p:spPr>
        <p:txBody>
          <a:bodyPr spcFirstLastPara="1" wrap="square" lIns="45700" tIns="45700" rIns="45700" bIns="45700" anchor="b" anchorCtr="0">
            <a:normAutofit/>
          </a:bodyPr>
          <a:lstStyle>
            <a:lvl1pPr marL="457200" lvl="0" indent="-228600" algn="l">
              <a:lnSpc>
                <a:spcPct val="100000"/>
              </a:lnSpc>
              <a:spcBef>
                <a:spcPts val="500"/>
              </a:spcBef>
              <a:spcAft>
                <a:spcPts val="0"/>
              </a:spcAft>
              <a:buClr>
                <a:srgbClr val="000000"/>
              </a:buClr>
              <a:buSzPts val="2400"/>
              <a:buFont typeface="Calibri"/>
              <a:buNone/>
              <a:defRPr sz="2400" b="1"/>
            </a:lvl1pPr>
            <a:lvl2pPr marL="914400" lvl="1" indent="-228600" algn="l">
              <a:lnSpc>
                <a:spcPct val="100000"/>
              </a:lnSpc>
              <a:spcBef>
                <a:spcPts val="500"/>
              </a:spcBef>
              <a:spcAft>
                <a:spcPts val="0"/>
              </a:spcAft>
              <a:buClr>
                <a:srgbClr val="000000"/>
              </a:buClr>
              <a:buSzPts val="2400"/>
              <a:buFont typeface="Calibri"/>
              <a:buNone/>
              <a:defRPr sz="2400" b="1"/>
            </a:lvl2pPr>
            <a:lvl3pPr marL="1371600" lvl="2" indent="-228600" algn="l">
              <a:lnSpc>
                <a:spcPct val="100000"/>
              </a:lnSpc>
              <a:spcBef>
                <a:spcPts val="500"/>
              </a:spcBef>
              <a:spcAft>
                <a:spcPts val="0"/>
              </a:spcAft>
              <a:buClr>
                <a:srgbClr val="000000"/>
              </a:buClr>
              <a:buSzPts val="2400"/>
              <a:buFont typeface="Calibri"/>
              <a:buNone/>
              <a:defRPr sz="2400" b="1"/>
            </a:lvl3pPr>
            <a:lvl4pPr marL="1828800" lvl="3" indent="-228600" algn="l">
              <a:lnSpc>
                <a:spcPct val="100000"/>
              </a:lnSpc>
              <a:spcBef>
                <a:spcPts val="500"/>
              </a:spcBef>
              <a:spcAft>
                <a:spcPts val="0"/>
              </a:spcAft>
              <a:buClr>
                <a:srgbClr val="000000"/>
              </a:buClr>
              <a:buSzPts val="2400"/>
              <a:buFont typeface="Calibri"/>
              <a:buNone/>
              <a:defRPr sz="2400" b="1"/>
            </a:lvl4pPr>
            <a:lvl5pPr marL="2286000" lvl="4" indent="-228600" algn="l">
              <a:lnSpc>
                <a:spcPct val="100000"/>
              </a:lnSpc>
              <a:spcBef>
                <a:spcPts val="500"/>
              </a:spcBef>
              <a:spcAft>
                <a:spcPts val="0"/>
              </a:spcAft>
              <a:buClr>
                <a:srgbClr val="000000"/>
              </a:buClr>
              <a:buSzPts val="2400"/>
              <a:buFont typeface="Calibri"/>
              <a:buNone/>
              <a:defRPr sz="2400" b="1"/>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1" name="Google Shape;31;p19"/>
          <p:cNvSpPr txBox="1">
            <a:spLocks noGrp="1"/>
          </p:cNvSpPr>
          <p:nvPr>
            <p:ph type="body" idx="2"/>
          </p:nvPr>
        </p:nvSpPr>
        <p:spPr>
          <a:xfrm>
            <a:off x="4645025" y="1535112"/>
            <a:ext cx="4041775" cy="639763"/>
          </a:xfrm>
          <a:prstGeom prst="rect">
            <a:avLst/>
          </a:prstGeom>
          <a:noFill/>
          <a:ln>
            <a:noFill/>
          </a:ln>
        </p:spPr>
        <p:txBody>
          <a:bodyPr spcFirstLastPara="1" wrap="square" lIns="45700" tIns="45700" rIns="45700" bIns="45700" anchor="b"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2" name="Google Shape;32;p19"/>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
        <p:cNvGrpSpPr/>
        <p:nvPr/>
      </p:nvGrpSpPr>
      <p:grpSpPr>
        <a:xfrm>
          <a:off x="0" y="0"/>
          <a:ext cx="0" cy="0"/>
          <a:chOff x="0" y="0"/>
          <a:chExt cx="0" cy="0"/>
        </a:xfrm>
      </p:grpSpPr>
      <p:sp>
        <p:nvSpPr>
          <p:cNvPr id="34" name="Google Shape;34;p21"/>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5"/>
        <p:cNvGrpSpPr/>
        <p:nvPr/>
      </p:nvGrpSpPr>
      <p:grpSpPr>
        <a:xfrm>
          <a:off x="0" y="0"/>
          <a:ext cx="0" cy="0"/>
          <a:chOff x="0" y="0"/>
          <a:chExt cx="0" cy="0"/>
        </a:xfrm>
      </p:grpSpPr>
      <p:sp>
        <p:nvSpPr>
          <p:cNvPr id="36" name="Google Shape;36;p22"/>
          <p:cNvSpPr txBox="1">
            <a:spLocks noGrp="1"/>
          </p:cNvSpPr>
          <p:nvPr>
            <p:ph type="title"/>
          </p:nvPr>
        </p:nvSpPr>
        <p:spPr>
          <a:xfrm>
            <a:off x="457200" y="273050"/>
            <a:ext cx="3008314" cy="1162050"/>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7" name="Google Shape;37;p22"/>
          <p:cNvSpPr txBox="1">
            <a:spLocks noGrp="1"/>
          </p:cNvSpPr>
          <p:nvPr>
            <p:ph type="body" idx="1"/>
          </p:nvPr>
        </p:nvSpPr>
        <p:spPr>
          <a:xfrm>
            <a:off x="3575050" y="273050"/>
            <a:ext cx="5111750" cy="585311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8" name="Google Shape;38;p22"/>
          <p:cNvSpPr txBox="1">
            <a:spLocks noGrp="1"/>
          </p:cNvSpPr>
          <p:nvPr>
            <p:ph type="body" idx="2"/>
          </p:nvPr>
        </p:nvSpPr>
        <p:spPr>
          <a:xfrm>
            <a:off x="457199" y="1435100"/>
            <a:ext cx="3008315" cy="46910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39" name="Google Shape;39;p22"/>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1792288" y="4800600"/>
            <a:ext cx="5486401" cy="566738"/>
          </a:xfrm>
          <a:prstGeom prst="rect">
            <a:avLst/>
          </a:prstGeom>
          <a:noFill/>
          <a:ln>
            <a:noFill/>
          </a:ln>
        </p:spPr>
        <p:txBody>
          <a:bodyPr spcFirstLastPara="1" wrap="square" lIns="45700" tIns="45700" rIns="45700" bIns="45700" anchor="b" anchorCtr="0">
            <a:normAutofit/>
          </a:bodyPr>
          <a:lstStyle>
            <a:lvl1pPr lvl="0" algn="l">
              <a:lnSpc>
                <a:spcPct val="100000"/>
              </a:lnSpc>
              <a:spcBef>
                <a:spcPts val="0"/>
              </a:spcBef>
              <a:spcAft>
                <a:spcPts val="0"/>
              </a:spcAft>
              <a:buClr>
                <a:srgbClr val="000000"/>
              </a:buClr>
              <a:buSzPts val="2000"/>
              <a:buFont typeface="Calibri"/>
              <a:buNone/>
              <a:defRPr sz="2000" b="1"/>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2" name="Google Shape;42;p23"/>
          <p:cNvSpPr>
            <a:spLocks noGrp="1"/>
          </p:cNvSpPr>
          <p:nvPr>
            <p:ph type="pic" idx="2"/>
          </p:nvPr>
        </p:nvSpPr>
        <p:spPr>
          <a:xfrm>
            <a:off x="1792288" y="612775"/>
            <a:ext cx="5486401" cy="4114800"/>
          </a:xfrm>
          <a:prstGeom prst="rect">
            <a:avLst/>
          </a:prstGeom>
          <a:noFill/>
          <a:ln>
            <a:noFill/>
          </a:ln>
        </p:spPr>
      </p:sp>
      <p:sp>
        <p:nvSpPr>
          <p:cNvPr id="43" name="Google Shape;43;p23"/>
          <p:cNvSpPr txBox="1">
            <a:spLocks noGrp="1"/>
          </p:cNvSpPr>
          <p:nvPr>
            <p:ph type="body" idx="1"/>
          </p:nvPr>
        </p:nvSpPr>
        <p:spPr>
          <a:xfrm>
            <a:off x="1792288" y="5367337"/>
            <a:ext cx="5486401" cy="804863"/>
          </a:xfrm>
          <a:prstGeom prst="rect">
            <a:avLst/>
          </a:prstGeom>
          <a:noFill/>
          <a:ln>
            <a:noFill/>
          </a:ln>
        </p:spPr>
        <p:txBody>
          <a:bodyPr spcFirstLastPara="1" wrap="square" lIns="45700" tIns="45700" rIns="45700" bIns="45700" anchor="t" anchorCtr="0">
            <a:normAutofit/>
          </a:bodyPr>
          <a:lstStyle>
            <a:lvl1pPr marL="457200" lvl="0" indent="-228600" algn="l">
              <a:lnSpc>
                <a:spcPct val="100000"/>
              </a:lnSpc>
              <a:spcBef>
                <a:spcPts val="300"/>
              </a:spcBef>
              <a:spcAft>
                <a:spcPts val="0"/>
              </a:spcAft>
              <a:buClr>
                <a:srgbClr val="000000"/>
              </a:buClr>
              <a:buSzPts val="1400"/>
              <a:buFont typeface="Calibri"/>
              <a:buNone/>
              <a:defRPr sz="1400"/>
            </a:lvl1pPr>
            <a:lvl2pPr marL="914400" lvl="1" indent="-228600" algn="l">
              <a:lnSpc>
                <a:spcPct val="100000"/>
              </a:lnSpc>
              <a:spcBef>
                <a:spcPts val="300"/>
              </a:spcBef>
              <a:spcAft>
                <a:spcPts val="0"/>
              </a:spcAft>
              <a:buClr>
                <a:srgbClr val="000000"/>
              </a:buClr>
              <a:buSzPts val="1400"/>
              <a:buFont typeface="Calibri"/>
              <a:buNone/>
              <a:defRPr sz="1400"/>
            </a:lvl2pPr>
            <a:lvl3pPr marL="1371600" lvl="2" indent="-228600" algn="l">
              <a:lnSpc>
                <a:spcPct val="100000"/>
              </a:lnSpc>
              <a:spcBef>
                <a:spcPts val="300"/>
              </a:spcBef>
              <a:spcAft>
                <a:spcPts val="0"/>
              </a:spcAft>
              <a:buClr>
                <a:srgbClr val="000000"/>
              </a:buClr>
              <a:buSzPts val="1400"/>
              <a:buFont typeface="Calibri"/>
              <a:buNone/>
              <a:defRPr sz="1400"/>
            </a:lvl3pPr>
            <a:lvl4pPr marL="1828800" lvl="3" indent="-228600" algn="l">
              <a:lnSpc>
                <a:spcPct val="100000"/>
              </a:lnSpc>
              <a:spcBef>
                <a:spcPts val="300"/>
              </a:spcBef>
              <a:spcAft>
                <a:spcPts val="0"/>
              </a:spcAft>
              <a:buClr>
                <a:srgbClr val="000000"/>
              </a:buClr>
              <a:buSzPts val="1400"/>
              <a:buFont typeface="Calibri"/>
              <a:buNone/>
              <a:defRPr sz="1400"/>
            </a:lvl4pPr>
            <a:lvl5pPr marL="2286000" lvl="4" indent="-228600" algn="l">
              <a:lnSpc>
                <a:spcPct val="100000"/>
              </a:lnSpc>
              <a:spcBef>
                <a:spcPts val="300"/>
              </a:spcBef>
              <a:spcAft>
                <a:spcPts val="0"/>
              </a:spcAft>
              <a:buClr>
                <a:srgbClr val="000000"/>
              </a:buClr>
              <a:buSzPts val="1400"/>
              <a:buFont typeface="Calibri"/>
              <a:buNone/>
              <a:defRPr sz="1400"/>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44" name="Google Shape;44;p23"/>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45"/>
        <p:cNvGrpSpPr/>
        <p:nvPr/>
      </p:nvGrpSpPr>
      <p:grpSpPr>
        <a:xfrm>
          <a:off x="0" y="0"/>
          <a:ext cx="0" cy="0"/>
          <a:chOff x="0" y="0"/>
          <a:chExt cx="0" cy="0"/>
        </a:xfrm>
      </p:grpSpPr>
      <p:sp>
        <p:nvSpPr>
          <p:cNvPr id="46" name="Google Shape;46;p24"/>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47" name="Google Shape;47;p24"/>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48" name="Google Shape;48;p24"/>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49"/>
        <p:cNvGrpSpPr/>
        <p:nvPr/>
      </p:nvGrpSpPr>
      <p:grpSpPr>
        <a:xfrm>
          <a:off x="0" y="0"/>
          <a:ext cx="0" cy="0"/>
          <a:chOff x="0" y="0"/>
          <a:chExt cx="0" cy="0"/>
        </a:xfrm>
      </p:grpSpPr>
      <p:sp>
        <p:nvSpPr>
          <p:cNvPr id="50" name="Google Shape;50;p25"/>
          <p:cNvSpPr txBox="1">
            <a:spLocks noGrp="1"/>
          </p:cNvSpPr>
          <p:nvPr>
            <p:ph type="title"/>
          </p:nvPr>
        </p:nvSpPr>
        <p:spPr>
          <a:xfrm>
            <a:off x="6629400" y="274638"/>
            <a:ext cx="2057400" cy="5851526"/>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51" name="Google Shape;51;p25"/>
          <p:cNvSpPr txBox="1">
            <a:spLocks noGrp="1"/>
          </p:cNvSpPr>
          <p:nvPr>
            <p:ph type="body" idx="1"/>
          </p:nvPr>
        </p:nvSpPr>
        <p:spPr>
          <a:xfrm>
            <a:off x="457200" y="274638"/>
            <a:ext cx="6019800" cy="5851526"/>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52" name="Google Shape;52;p25"/>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marR="0" lvl="0"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14"/>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marR="0" lvl="0"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1pPr>
            <a:lvl2pPr marL="914400" marR="0" lvl="1"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2pPr>
            <a:lvl3pPr marL="1371600" marR="0" lvl="2"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3pPr>
            <a:lvl4pPr marL="1828800" marR="0" lvl="3"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4pPr>
            <a:lvl5pPr marL="2286000" marR="0" lvl="4"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5pPr>
            <a:lvl6pPr marL="2743200" marR="0" lvl="5"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6pPr>
            <a:lvl7pPr marL="3200400" marR="0" lvl="6"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7pPr>
            <a:lvl8pPr marL="3657600" marR="0" lvl="7"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8pPr>
            <a:lvl9pPr marL="4114800" marR="0" lvl="8" indent="-431800" algn="l" rtl="0">
              <a:lnSpc>
                <a:spcPct val="100000"/>
              </a:lnSpc>
              <a:spcBef>
                <a:spcPts val="700"/>
              </a:spcBef>
              <a:spcAft>
                <a:spcPts val="0"/>
              </a:spcAft>
              <a:buClr>
                <a:srgbClr val="000000"/>
              </a:buClr>
              <a:buSzPts val="3200"/>
              <a:buFont typeface="Arial"/>
              <a:buChar char="•"/>
              <a:defRPr sz="3200" b="0" i="0" u="none" strike="noStrike" cap="none">
                <a:solidFill>
                  <a:srgbClr val="000000"/>
                </a:solidFill>
                <a:latin typeface="Calibri"/>
                <a:ea typeface="Calibri"/>
                <a:cs typeface="Calibri"/>
                <a:sym typeface="Calibri"/>
              </a:defRPr>
            </a:lvl9pPr>
          </a:lstStyle>
          <a:p>
            <a:endParaRPr/>
          </a:p>
        </p:txBody>
      </p:sp>
      <p:sp>
        <p:nvSpPr>
          <p:cNvPr id="8" name="Google Shape;8;p14"/>
          <p:cNvSpPr txBox="1">
            <a:spLocks noGrp="1"/>
          </p:cNvSpPr>
          <p:nvPr>
            <p:ph type="sldNum" idx="12"/>
          </p:nvPr>
        </p:nvSpPr>
        <p:spPr>
          <a:xfrm>
            <a:off x="8422818" y="6404292"/>
            <a:ext cx="263983" cy="269241"/>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Calibri"/>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57" name="Google Shape;57;p1" descr="Picture 6"/>
          <p:cNvPicPr preferRelativeResize="0"/>
          <p:nvPr/>
        </p:nvPicPr>
        <p:blipFill rotWithShape="1">
          <a:blip r:embed="rId3">
            <a:alphaModFix/>
          </a:blip>
          <a:srcRect/>
          <a:stretch/>
        </p:blipFill>
        <p:spPr>
          <a:xfrm>
            <a:off x="-1" y="-165262"/>
            <a:ext cx="9144001" cy="6900865"/>
          </a:xfrm>
          <a:prstGeom prst="rect">
            <a:avLst/>
          </a:prstGeom>
          <a:noFill/>
          <a:ln>
            <a:noFill/>
          </a:ln>
        </p:spPr>
      </p:pic>
      <p:sp>
        <p:nvSpPr>
          <p:cNvPr id="58" name="Google Shape;58;p1"/>
          <p:cNvSpPr txBox="1"/>
          <p:nvPr/>
        </p:nvSpPr>
        <p:spPr>
          <a:xfrm>
            <a:off x="1131887" y="1348582"/>
            <a:ext cx="6858001" cy="1569620"/>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None/>
            </a:pPr>
            <a:r>
              <a:rPr lang="en-US" sz="2800" b="0" i="0" u="none" strike="noStrike" cap="none">
                <a:solidFill>
                  <a:srgbClr val="000000"/>
                </a:solidFill>
                <a:latin typeface="Arial"/>
                <a:ea typeface="Arial"/>
                <a:cs typeface="Arial"/>
                <a:sym typeface="Arial"/>
              </a:rPr>
              <a:t>Programming for Problem Solving </a:t>
            </a:r>
            <a:r>
              <a:rPr lang="en-US" sz="3200" b="1" i="0" u="none" strike="noStrike" cap="none">
                <a:solidFill>
                  <a:srgbClr val="000000"/>
                </a:solidFill>
                <a:latin typeface="Calibri"/>
                <a:ea typeface="Calibri"/>
                <a:cs typeface="Calibri"/>
                <a:sym typeface="Calibri"/>
              </a:rPr>
              <a:t>(PPS)</a:t>
            </a:r>
            <a:endParaRPr/>
          </a:p>
          <a:p>
            <a:pPr marL="0" marR="0" lvl="0" indent="0" algn="ctr" rtl="0">
              <a:lnSpc>
                <a:spcPct val="100000"/>
              </a:lnSpc>
              <a:spcBef>
                <a:spcPts val="0"/>
              </a:spcBef>
              <a:spcAft>
                <a:spcPts val="0"/>
              </a:spcAft>
              <a:buNone/>
            </a:pPr>
            <a:r>
              <a:rPr lang="en-US" sz="3200" b="1" i="0" u="none" strike="noStrike" cap="none">
                <a:solidFill>
                  <a:srgbClr val="000000"/>
                </a:solidFill>
                <a:latin typeface="Calibri"/>
                <a:ea typeface="Calibri"/>
                <a:cs typeface="Calibri"/>
                <a:sym typeface="Calibri"/>
              </a:rPr>
              <a:t>Chapter-1 </a:t>
            </a:r>
            <a:r>
              <a:rPr lang="en-US" sz="3200" b="0" i="0" u="none" strike="noStrike" cap="none">
                <a:solidFill>
                  <a:srgbClr val="000000"/>
                </a:solidFill>
                <a:latin typeface="Arial"/>
                <a:ea typeface="Arial"/>
                <a:cs typeface="Arial"/>
                <a:sym typeface="Arial"/>
              </a:rPr>
              <a:t>Introduction to ‘C’ Programming:</a:t>
            </a:r>
            <a:endParaRPr/>
          </a:p>
        </p:txBody>
      </p:sp>
      <p:pic>
        <p:nvPicPr>
          <p:cNvPr id="59" name="Google Shape;59;p1" descr="Picture 2"/>
          <p:cNvPicPr preferRelativeResize="0"/>
          <p:nvPr/>
        </p:nvPicPr>
        <p:blipFill rotWithShape="1">
          <a:blip r:embed="rId4">
            <a:alphaModFix/>
          </a:blip>
          <a:srcRect/>
          <a:stretch/>
        </p:blipFill>
        <p:spPr>
          <a:xfrm>
            <a:off x="3381375" y="500062"/>
            <a:ext cx="2381250" cy="628651"/>
          </a:xfrm>
          <a:prstGeom prst="rect">
            <a:avLst/>
          </a:prstGeom>
          <a:noFill/>
          <a:ln>
            <a:noFill/>
          </a:ln>
        </p:spPr>
      </p:pic>
      <p:grpSp>
        <p:nvGrpSpPr>
          <p:cNvPr id="60" name="Google Shape;60;p1"/>
          <p:cNvGrpSpPr/>
          <p:nvPr/>
        </p:nvGrpSpPr>
        <p:grpSpPr>
          <a:xfrm>
            <a:off x="1703385" y="3400522"/>
            <a:ext cx="6308728" cy="93667"/>
            <a:chOff x="-1" y="-1"/>
            <a:chExt cx="6308726" cy="93665"/>
          </a:xfrm>
        </p:grpSpPr>
        <p:cxnSp>
          <p:nvCxnSpPr>
            <p:cNvPr id="61" name="Google Shape;61;p1"/>
            <p:cNvCxnSpPr/>
            <p:nvPr/>
          </p:nvCxnSpPr>
          <p:spPr>
            <a:xfrm>
              <a:off x="0" y="46037"/>
              <a:ext cx="6286501" cy="1588"/>
            </a:xfrm>
            <a:prstGeom prst="straightConnector1">
              <a:avLst/>
            </a:prstGeom>
            <a:noFill/>
            <a:ln w="9525" cap="flat" cmpd="sng">
              <a:solidFill>
                <a:srgbClr val="000000"/>
              </a:solidFill>
              <a:prstDash val="solid"/>
              <a:round/>
              <a:headEnd type="none" w="sm" len="sm"/>
              <a:tailEnd type="none" w="sm" len="sm"/>
            </a:ln>
          </p:spPr>
        </p:cxnSp>
        <p:sp>
          <p:nvSpPr>
            <p:cNvPr id="62" name="Google Shape;62;p1"/>
            <p:cNvSpPr/>
            <p:nvPr/>
          </p:nvSpPr>
          <p:spPr>
            <a:xfrm rot="10800000">
              <a:off x="-1" y="-1"/>
              <a:ext cx="93663" cy="93665"/>
            </a:xfrm>
            <a:prstGeom prst="ellipse">
              <a:avLst/>
            </a:prstGeom>
            <a:solidFill>
              <a:srgbClr val="00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Google Shape;63;p1"/>
            <p:cNvSpPr/>
            <p:nvPr/>
          </p:nvSpPr>
          <p:spPr>
            <a:xfrm rot="10800000">
              <a:off x="6215062" y="-1"/>
              <a:ext cx="93663" cy="93665"/>
            </a:xfrm>
            <a:prstGeom prst="ellipse">
              <a:avLst/>
            </a:prstGeom>
            <a:solidFill>
              <a:srgbClr val="000000"/>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138750" y="-21437"/>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1" name="Google Shape;71;p26"/>
          <p:cNvSpPr txBox="1"/>
          <p:nvPr/>
        </p:nvSpPr>
        <p:spPr>
          <a:xfrm>
            <a:off x="138752" y="1547540"/>
            <a:ext cx="8134500" cy="769500"/>
          </a:xfrm>
          <a:prstGeom prst="rect">
            <a:avLst/>
          </a:prstGeom>
          <a:noFill/>
          <a:ln>
            <a:noFill/>
          </a:ln>
        </p:spPr>
        <p:txBody>
          <a:bodyPr spcFirstLastPara="1" wrap="square" lIns="45700" tIns="45700" rIns="45700" bIns="45700" anchor="t" anchorCtr="0">
            <a:spAutoFit/>
          </a:bodyPr>
          <a:lstStyle/>
          <a:p>
            <a:pPr marL="0" lvl="0" indent="0" algn="l" rtl="0">
              <a:spcBef>
                <a:spcPts val="0"/>
              </a:spcBef>
              <a:spcAft>
                <a:spcPts val="0"/>
              </a:spcAft>
              <a:buClr>
                <a:schemeClr val="lt1"/>
              </a:buClr>
              <a:buSzPts val="4800"/>
              <a:buFont typeface="Calibri"/>
              <a:buNone/>
            </a:pPr>
            <a:r>
              <a:rPr lang="en-US" sz="4400">
                <a:solidFill>
                  <a:schemeClr val="dk1"/>
                </a:solidFill>
                <a:latin typeface="Calibri"/>
                <a:ea typeface="Calibri"/>
                <a:cs typeface="Calibri"/>
                <a:sym typeface="Calibri"/>
              </a:rPr>
              <a:t>CONTROL STRUCTURE IN C</a:t>
            </a:r>
            <a:endParaRPr sz="14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g37b5acc6594_0_0" descr="Picture 2"/>
          <p:cNvPicPr preferRelativeResize="0"/>
          <p:nvPr/>
        </p:nvPicPr>
        <p:blipFill rotWithShape="1">
          <a:blip r:embed="rId3">
            <a:alphaModFix/>
          </a:blip>
          <a:srcRect/>
          <a:stretch/>
        </p:blipFill>
        <p:spPr>
          <a:xfrm>
            <a:off x="138750" y="-21437"/>
            <a:ext cx="9143999" cy="6900864"/>
          </a:xfrm>
          <a:prstGeom prst="rect">
            <a:avLst/>
          </a:prstGeom>
          <a:noFill/>
          <a:ln>
            <a:noFill/>
          </a:ln>
        </p:spPr>
      </p:pic>
      <p:pic>
        <p:nvPicPr>
          <p:cNvPr id="79" name="Google Shape;79;g37b5acc6594_0_0" descr="Picture 6"/>
          <p:cNvPicPr preferRelativeResize="0"/>
          <p:nvPr/>
        </p:nvPicPr>
        <p:blipFill rotWithShape="1">
          <a:blip r:embed="rId4">
            <a:alphaModFix/>
          </a:blip>
          <a:srcRect/>
          <a:stretch/>
        </p:blipFill>
        <p:spPr>
          <a:xfrm>
            <a:off x="1857375" y="2571750"/>
            <a:ext cx="5430837" cy="2803525"/>
          </a:xfrm>
          <a:prstGeom prst="rect">
            <a:avLst/>
          </a:prstGeom>
          <a:noFill/>
          <a:ln>
            <a:noFill/>
          </a:ln>
        </p:spPr>
      </p:pic>
      <p:sp>
        <p:nvSpPr>
          <p:cNvPr id="80" name="Google Shape;80;g37b5acc6594_0_0"/>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1" name="Google Shape;81;g37b5acc6594_0_0"/>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82" name="Google Shape;82;g37b5acc6594_0_0"/>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pic>
        <p:nvPicPr>
          <p:cNvPr id="83" name="Google Shape;83;g37b5acc6594_0_0" descr="Checklist"/>
          <p:cNvPicPr preferRelativeResize="0"/>
          <p:nvPr/>
        </p:nvPicPr>
        <p:blipFill rotWithShape="1">
          <a:blip r:embed="rId5">
            <a:alphaModFix/>
          </a:blip>
          <a:srcRect/>
          <a:stretch/>
        </p:blipFill>
        <p:spPr>
          <a:xfrm>
            <a:off x="334909" y="3209609"/>
            <a:ext cx="2032403" cy="2032403"/>
          </a:xfrm>
          <a:prstGeom prst="rect">
            <a:avLst/>
          </a:prstGeom>
          <a:noFill/>
          <a:ln>
            <a:noFill/>
          </a:ln>
        </p:spPr>
      </p:pic>
      <p:sp>
        <p:nvSpPr>
          <p:cNvPr id="84" name="Google Shape;84;g37b5acc6594_0_0"/>
          <p:cNvSpPr txBox="1"/>
          <p:nvPr/>
        </p:nvSpPr>
        <p:spPr>
          <a:xfrm>
            <a:off x="2328200" y="2777100"/>
            <a:ext cx="6555600" cy="3825000"/>
          </a:xfrm>
          <a:prstGeom prst="rect">
            <a:avLst/>
          </a:prstGeom>
          <a:noFill/>
          <a:ln>
            <a:noFill/>
          </a:ln>
        </p:spPr>
        <p:txBody>
          <a:bodyPr spcFirstLastPara="1" wrap="square" lIns="91425" tIns="91425" rIns="91425" bIns="91425" anchor="t" anchorCtr="0">
            <a:spAutoFit/>
          </a:bodyPr>
          <a:lstStyle/>
          <a:p>
            <a:pPr marL="214312" lvl="0" indent="-243809" algn="l" rtl="0">
              <a:spcBef>
                <a:spcPts val="0"/>
              </a:spcBef>
              <a:spcAft>
                <a:spcPts val="0"/>
              </a:spcAft>
              <a:buClr>
                <a:schemeClr val="dk1"/>
              </a:buClr>
              <a:buSzPts val="2065"/>
              <a:buChar char="▶"/>
            </a:pPr>
            <a:r>
              <a:rPr lang="en-US" sz="3200" dirty="0">
                <a:solidFill>
                  <a:srgbClr val="0F496F"/>
                </a:solidFill>
              </a:rPr>
              <a:t>n a program statement may be executed sequentially, selectively or iteratively.</a:t>
            </a:r>
            <a:endParaRPr sz="3200" dirty="0">
              <a:solidFill>
                <a:schemeClr val="dk1"/>
              </a:solidFill>
              <a:latin typeface="Calibri"/>
              <a:ea typeface="Calibri"/>
              <a:cs typeface="Calibri"/>
              <a:sym typeface="Calibri"/>
            </a:endParaRPr>
          </a:p>
          <a:p>
            <a:pPr marL="214312" lvl="0" indent="-214312" algn="l" rtl="0">
              <a:spcBef>
                <a:spcPts val="750"/>
              </a:spcBef>
              <a:spcAft>
                <a:spcPts val="0"/>
              </a:spcAft>
              <a:buNone/>
            </a:pPr>
            <a:endParaRPr sz="3200" dirty="0">
              <a:solidFill>
                <a:srgbClr val="0F496F"/>
              </a:solidFill>
            </a:endParaRPr>
          </a:p>
          <a:p>
            <a:pPr marL="214312" lvl="0" indent="-243809" algn="l" rtl="0">
              <a:spcBef>
                <a:spcPts val="750"/>
              </a:spcBef>
              <a:spcAft>
                <a:spcPts val="0"/>
              </a:spcAft>
              <a:buClr>
                <a:schemeClr val="dk1"/>
              </a:buClr>
              <a:buSzPts val="2065"/>
              <a:buChar char="▶"/>
            </a:pPr>
            <a:r>
              <a:rPr lang="en-US" sz="3200" dirty="0">
                <a:solidFill>
                  <a:srgbClr val="0F496F"/>
                </a:solidFill>
              </a:rPr>
              <a:t>Every program language provides constructs to support sequence, selection or iteration.</a:t>
            </a:r>
            <a:endParaRPr sz="3200" dirty="0">
              <a:solidFill>
                <a:schemeClr val="dk1"/>
              </a:solidFill>
              <a:latin typeface="Calibri"/>
              <a:ea typeface="Calibri"/>
              <a:cs typeface="Calibri"/>
              <a:sym typeface="Calibri"/>
            </a:endParaRPr>
          </a:p>
        </p:txBody>
      </p:sp>
      <p:sp>
        <p:nvSpPr>
          <p:cNvPr id="9" name="Google Shape;106;g37b3f944351_0_0"/>
          <p:cNvSpPr txBox="1"/>
          <p:nvPr/>
        </p:nvSpPr>
        <p:spPr>
          <a:xfrm>
            <a:off x="44824" y="1550250"/>
            <a:ext cx="51009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100" b="1" dirty="0">
                <a:solidFill>
                  <a:srgbClr val="0F496F"/>
                </a:solidFill>
                <a:highlight>
                  <a:srgbClr val="FFFF00"/>
                </a:highlight>
                <a:latin typeface="Arial Black"/>
                <a:ea typeface="Arial Black"/>
                <a:cs typeface="Arial Black"/>
                <a:sym typeface="Arial Black"/>
              </a:rPr>
              <a:t>FLOW CONTROL</a:t>
            </a:r>
            <a:endParaRPr sz="3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37b5acc6594_0_9" descr="Picture 2"/>
          <p:cNvPicPr preferRelativeResize="0"/>
          <p:nvPr/>
        </p:nvPicPr>
        <p:blipFill rotWithShape="1">
          <a:blip r:embed="rId3">
            <a:alphaModFix/>
          </a:blip>
          <a:srcRect/>
          <a:stretch/>
        </p:blipFill>
        <p:spPr>
          <a:xfrm>
            <a:off x="138750" y="-21437"/>
            <a:ext cx="9143999" cy="6900864"/>
          </a:xfrm>
          <a:prstGeom prst="rect">
            <a:avLst/>
          </a:prstGeom>
          <a:noFill/>
          <a:ln>
            <a:noFill/>
          </a:ln>
        </p:spPr>
      </p:pic>
      <p:pic>
        <p:nvPicPr>
          <p:cNvPr id="90" name="Google Shape;90;g37b5acc6594_0_9" descr="Picture 6"/>
          <p:cNvPicPr preferRelativeResize="0"/>
          <p:nvPr/>
        </p:nvPicPr>
        <p:blipFill rotWithShape="1">
          <a:blip r:embed="rId4">
            <a:alphaModFix/>
          </a:blip>
          <a:srcRect/>
          <a:stretch/>
        </p:blipFill>
        <p:spPr>
          <a:xfrm>
            <a:off x="1857375" y="2571750"/>
            <a:ext cx="5430837" cy="2803525"/>
          </a:xfrm>
          <a:prstGeom prst="rect">
            <a:avLst/>
          </a:prstGeom>
          <a:noFill/>
          <a:ln>
            <a:noFill/>
          </a:ln>
        </p:spPr>
      </p:pic>
      <p:sp>
        <p:nvSpPr>
          <p:cNvPr id="91" name="Google Shape;91;g37b5acc6594_0_9"/>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g37b5acc6594_0_9"/>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94" name="Google Shape;94;g37b5acc6594_0_9"/>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grpSp>
        <p:nvGrpSpPr>
          <p:cNvPr id="8" name="Google Shape;122;p29"/>
          <p:cNvGrpSpPr/>
          <p:nvPr/>
        </p:nvGrpSpPr>
        <p:grpSpPr>
          <a:xfrm>
            <a:off x="510531" y="2387337"/>
            <a:ext cx="4232672" cy="3993991"/>
            <a:chOff x="0" y="1954"/>
            <a:chExt cx="5643563" cy="4329966"/>
          </a:xfrm>
        </p:grpSpPr>
        <p:sp>
          <p:nvSpPr>
            <p:cNvPr id="9" name="Google Shape;123;p29"/>
            <p:cNvSpPr/>
            <p:nvPr/>
          </p:nvSpPr>
          <p:spPr>
            <a:xfrm>
              <a:off x="0" y="2615723"/>
              <a:ext cx="5643563" cy="1716197"/>
            </a:xfrm>
            <a:prstGeom prst="rect">
              <a:avLst/>
            </a:prstGeom>
            <a:gradFill>
              <a:gsLst>
                <a:gs pos="0">
                  <a:srgbClr val="FECFC1"/>
                </a:gs>
                <a:gs pos="100000">
                  <a:srgbClr val="FF8A54"/>
                </a:gs>
              </a:gsLst>
              <a:lin ang="5400000" scaled="0"/>
            </a:gradFill>
            <a:ln>
              <a:noFill/>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 name="Google Shape;124;p29"/>
            <p:cNvSpPr txBox="1"/>
            <p:nvPr/>
          </p:nvSpPr>
          <p:spPr>
            <a:xfrm>
              <a:off x="0" y="2615723"/>
              <a:ext cx="5643563" cy="1716197"/>
            </a:xfrm>
            <a:prstGeom prst="rect">
              <a:avLst/>
            </a:prstGeom>
            <a:noFill/>
            <a:ln>
              <a:noFill/>
            </a:ln>
          </p:spPr>
          <p:txBody>
            <a:bodyPr spcFirstLastPara="1" wrap="square" lIns="106650" tIns="106650" rIns="106650" bIns="106650" anchor="ctr" anchorCtr="0">
              <a:noAutofit/>
            </a:bodyPr>
            <a:lstStyle/>
            <a:p>
              <a:pPr marL="0" marR="0" lvl="0" indent="0" algn="ctr" rtl="0">
                <a:lnSpc>
                  <a:spcPct val="90000"/>
                </a:lnSpc>
                <a:spcBef>
                  <a:spcPts val="0"/>
                </a:spcBef>
                <a:spcAft>
                  <a:spcPts val="0"/>
                </a:spcAft>
                <a:buNone/>
              </a:pPr>
              <a:r>
                <a:rPr lang="en-US" sz="1500" b="0" i="0" u="none" strike="noStrike" cap="none">
                  <a:solidFill>
                    <a:schemeClr val="dk1"/>
                  </a:solidFill>
                  <a:latin typeface="Century Gothic"/>
                  <a:ea typeface="Century Gothic"/>
                  <a:cs typeface="Century Gothic"/>
                  <a:sym typeface="Century Gothic"/>
                </a:rPr>
                <a:t>Every program begins with the first statement of main(). Each statement in turn executed sequentially when the final statement of main() is executed the program is done.</a:t>
              </a:r>
              <a:endParaRPr sz="1050" b="0" i="0" u="none" strike="noStrike" cap="none">
                <a:solidFill>
                  <a:srgbClr val="000000"/>
                </a:solidFill>
                <a:latin typeface="Arial"/>
                <a:ea typeface="Arial"/>
                <a:cs typeface="Arial"/>
                <a:sym typeface="Arial"/>
              </a:endParaRPr>
            </a:p>
          </p:txBody>
        </p:sp>
        <p:sp>
          <p:nvSpPr>
            <p:cNvPr id="11" name="Google Shape;125;p29"/>
            <p:cNvSpPr/>
            <p:nvPr/>
          </p:nvSpPr>
          <p:spPr>
            <a:xfrm rot="10800000">
              <a:off x="0" y="1954"/>
              <a:ext cx="5643563" cy="2639511"/>
            </a:xfrm>
            <a:prstGeom prst="upArrowCallout">
              <a:avLst>
                <a:gd name="adj1" fmla="val 25000"/>
                <a:gd name="adj2" fmla="val 25000"/>
                <a:gd name="adj3" fmla="val 25000"/>
                <a:gd name="adj4" fmla="val 64977"/>
              </a:avLst>
            </a:prstGeom>
            <a:gradFill>
              <a:gsLst>
                <a:gs pos="0">
                  <a:srgbClr val="EDB9B9"/>
                </a:gs>
                <a:gs pos="100000">
                  <a:srgbClr val="E95656"/>
                </a:gs>
              </a:gsLst>
              <a:lin ang="5400000" scaled="0"/>
            </a:gradFill>
            <a:ln>
              <a:noFill/>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2" name="Google Shape;126;p29"/>
            <p:cNvSpPr txBox="1"/>
            <p:nvPr/>
          </p:nvSpPr>
          <p:spPr>
            <a:xfrm>
              <a:off x="0" y="1954"/>
              <a:ext cx="5643563" cy="1715075"/>
            </a:xfrm>
            <a:prstGeom prst="rect">
              <a:avLst/>
            </a:prstGeom>
            <a:noFill/>
            <a:ln>
              <a:noFill/>
            </a:ln>
          </p:spPr>
          <p:txBody>
            <a:bodyPr spcFirstLastPara="1" wrap="square" lIns="106650" tIns="106650" rIns="106650" bIns="106650" anchor="ctr" anchorCtr="0">
              <a:noAutofit/>
            </a:bodyPr>
            <a:lstStyle/>
            <a:p>
              <a:pPr marL="0" marR="0" lvl="0" indent="0" algn="ctr" rtl="0">
                <a:lnSpc>
                  <a:spcPct val="90000"/>
                </a:lnSpc>
                <a:spcBef>
                  <a:spcPts val="0"/>
                </a:spcBef>
                <a:spcAft>
                  <a:spcPts val="0"/>
                </a:spcAft>
                <a:buNone/>
              </a:pPr>
              <a:r>
                <a:rPr lang="en-US" sz="1500" b="0" i="0" u="none" strike="noStrike" cap="none" dirty="0">
                  <a:solidFill>
                    <a:schemeClr val="dk1"/>
                  </a:solidFill>
                  <a:latin typeface="Century Gothic"/>
                  <a:ea typeface="Century Gothic"/>
                  <a:cs typeface="Century Gothic"/>
                  <a:sym typeface="Century Gothic"/>
                </a:rPr>
                <a:t>Sequence construct mean statement are executed sequentially.</a:t>
              </a:r>
              <a:endParaRPr sz="1050" b="0" i="0" u="none" strike="noStrike" cap="none" dirty="0">
                <a:solidFill>
                  <a:srgbClr val="000000"/>
                </a:solidFill>
                <a:latin typeface="Arial"/>
                <a:ea typeface="Arial"/>
                <a:cs typeface="Arial"/>
                <a:sym typeface="Arial"/>
              </a:endParaRPr>
            </a:p>
          </p:txBody>
        </p:sp>
      </p:grpSp>
      <p:sp>
        <p:nvSpPr>
          <p:cNvPr id="13" name="Google Shape;121;p29"/>
          <p:cNvSpPr txBox="1">
            <a:spLocks/>
          </p:cNvSpPr>
          <p:nvPr/>
        </p:nvSpPr>
        <p:spPr>
          <a:xfrm>
            <a:off x="4932040" y="1322792"/>
            <a:ext cx="3816424" cy="2649742"/>
          </a:xfrm>
          <a:prstGeom prst="rect">
            <a:avLst/>
          </a:prstGeom>
          <a:noFill/>
          <a:ln>
            <a:noFill/>
          </a:ln>
        </p:spPr>
        <p:txBody>
          <a:bodyPr spcFirstLastPara="1" wrap="square" lIns="68550" tIns="34275" rIns="68550" bIns="34275" anchor="b"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rgbClr val="FFFFFF"/>
              </a:buClr>
              <a:buSzPts val="3600"/>
            </a:pPr>
            <a:r>
              <a:rPr lang="en-US" b="1" dirty="0" smtClean="0">
                <a:solidFill>
                  <a:schemeClr val="accent2">
                    <a:lumMod val="75000"/>
                  </a:schemeClr>
                </a:solidFill>
                <a:latin typeface="Arial Black"/>
                <a:ea typeface="Arial Black"/>
                <a:cs typeface="Arial Black"/>
                <a:sym typeface="Arial Black"/>
              </a:rPr>
              <a:t>SEQUENCE</a:t>
            </a:r>
            <a:endParaRPr lang="en-US" dirty="0">
              <a:solidFill>
                <a:schemeClr val="accent2">
                  <a:lumMod val="75000"/>
                </a:schemeClr>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37b5acc6594_0_9" descr="Picture 2"/>
          <p:cNvPicPr preferRelativeResize="0"/>
          <p:nvPr/>
        </p:nvPicPr>
        <p:blipFill rotWithShape="1">
          <a:blip r:embed="rId3">
            <a:alphaModFix/>
          </a:blip>
          <a:srcRect/>
          <a:stretch/>
        </p:blipFill>
        <p:spPr>
          <a:xfrm>
            <a:off x="138750" y="-21437"/>
            <a:ext cx="9143999" cy="6900864"/>
          </a:xfrm>
          <a:prstGeom prst="rect">
            <a:avLst/>
          </a:prstGeom>
          <a:noFill/>
          <a:ln>
            <a:noFill/>
          </a:ln>
        </p:spPr>
      </p:pic>
      <p:pic>
        <p:nvPicPr>
          <p:cNvPr id="90" name="Google Shape;90;g37b5acc6594_0_9" descr="Picture 6"/>
          <p:cNvPicPr preferRelativeResize="0"/>
          <p:nvPr/>
        </p:nvPicPr>
        <p:blipFill rotWithShape="1">
          <a:blip r:embed="rId4">
            <a:alphaModFix/>
          </a:blip>
          <a:srcRect/>
          <a:stretch/>
        </p:blipFill>
        <p:spPr>
          <a:xfrm>
            <a:off x="1764331" y="2980250"/>
            <a:ext cx="5430837" cy="2803525"/>
          </a:xfrm>
          <a:prstGeom prst="rect">
            <a:avLst/>
          </a:prstGeom>
          <a:noFill/>
          <a:ln>
            <a:noFill/>
          </a:ln>
        </p:spPr>
      </p:pic>
      <p:sp>
        <p:nvSpPr>
          <p:cNvPr id="91" name="Google Shape;91;g37b5acc6594_0_9"/>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g37b5acc6594_0_9"/>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94" name="Google Shape;94;g37b5acc6594_0_9"/>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grpSp>
        <p:nvGrpSpPr>
          <p:cNvPr id="8" name="Google Shape;132;p30"/>
          <p:cNvGrpSpPr/>
          <p:nvPr/>
        </p:nvGrpSpPr>
        <p:grpSpPr>
          <a:xfrm>
            <a:off x="869000" y="2839071"/>
            <a:ext cx="7410550" cy="2151860"/>
            <a:chOff x="4995" y="0"/>
            <a:chExt cx="9880733" cy="2869147"/>
          </a:xfrm>
        </p:grpSpPr>
        <p:sp>
          <p:nvSpPr>
            <p:cNvPr id="9" name="Google Shape;133;p30"/>
            <p:cNvSpPr/>
            <p:nvPr/>
          </p:nvSpPr>
          <p:spPr>
            <a:xfrm>
              <a:off x="1708570" y="734879"/>
              <a:ext cx="1362859" cy="72"/>
            </a:xfrm>
            <a:prstGeom prst="rect">
              <a:avLst/>
            </a:prstGeom>
            <a:solidFill>
              <a:srgbClr val="F6D6CC">
                <a:alpha val="89411"/>
              </a:srgbClr>
            </a:solidFill>
            <a:ln w="15875" cap="rnd" cmpd="sng">
              <a:solidFill>
                <a:srgbClr val="F6D6CC">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 name="Google Shape;134;p30"/>
            <p:cNvSpPr/>
            <p:nvPr/>
          </p:nvSpPr>
          <p:spPr>
            <a:xfrm>
              <a:off x="3153201" y="620435"/>
              <a:ext cx="156728" cy="294377"/>
            </a:xfrm>
            <a:prstGeom prst="chevron">
              <a:avLst>
                <a:gd name="adj" fmla="val 90000"/>
              </a:avLst>
            </a:prstGeom>
            <a:solidFill>
              <a:srgbClr val="F3F2CB">
                <a:alpha val="89411"/>
              </a:srgbClr>
            </a:solidFill>
            <a:ln w="15875" cap="rnd" cmpd="sng">
              <a:solidFill>
                <a:srgbClr val="F3F2CB">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1" name="Google Shape;135;p30"/>
            <p:cNvSpPr/>
            <p:nvPr/>
          </p:nvSpPr>
          <p:spPr>
            <a:xfrm>
              <a:off x="803297" y="0"/>
              <a:ext cx="1469831" cy="1469831"/>
            </a:xfrm>
            <a:prstGeom prst="ellipse">
              <a:avLst/>
            </a:prstGeom>
            <a:solidFill>
              <a:srgbClr val="E77A35"/>
            </a:solidFill>
            <a:ln w="15875" cap="rnd" cmpd="sng">
              <a:solidFill>
                <a:srgbClr val="E77A35"/>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2" name="Google Shape;136;p30"/>
            <p:cNvSpPr txBox="1"/>
            <p:nvPr/>
          </p:nvSpPr>
          <p:spPr>
            <a:xfrm>
              <a:off x="1018549" y="215252"/>
              <a:ext cx="1039327" cy="1039327"/>
            </a:xfrm>
            <a:prstGeom prst="rect">
              <a:avLst/>
            </a:prstGeom>
            <a:noFill/>
            <a:ln>
              <a:noFill/>
            </a:ln>
          </p:spPr>
          <p:txBody>
            <a:bodyPr spcFirstLastPara="1" wrap="square" lIns="42750" tIns="42750" rIns="42750" bIns="42750" anchor="ctr" anchorCtr="0">
              <a:noAutofit/>
            </a:bodyPr>
            <a:lstStyle/>
            <a:p>
              <a:pPr marL="0" marR="0" lvl="0" indent="0" algn="ctr" rtl="0">
                <a:lnSpc>
                  <a:spcPct val="90000"/>
                </a:lnSpc>
                <a:spcBef>
                  <a:spcPts val="0"/>
                </a:spcBef>
                <a:spcAft>
                  <a:spcPts val="0"/>
                </a:spcAft>
                <a:buNone/>
              </a:pPr>
              <a:r>
                <a:rPr lang="en-US" sz="4500" b="0" i="0" u="none" strike="noStrike" cap="none">
                  <a:solidFill>
                    <a:schemeClr val="lt1"/>
                  </a:solidFill>
                  <a:latin typeface="Century Gothic"/>
                  <a:ea typeface="Century Gothic"/>
                  <a:cs typeface="Century Gothic"/>
                  <a:sym typeface="Century Gothic"/>
                </a:rPr>
                <a:t>1</a:t>
              </a:r>
              <a:endParaRPr sz="1050" b="0" i="0" u="none" strike="noStrike" cap="none">
                <a:solidFill>
                  <a:srgbClr val="000000"/>
                </a:solidFill>
                <a:latin typeface="Arial"/>
                <a:ea typeface="Arial"/>
                <a:cs typeface="Arial"/>
                <a:sym typeface="Arial"/>
              </a:endParaRPr>
            </a:p>
          </p:txBody>
        </p:sp>
        <p:sp>
          <p:nvSpPr>
            <p:cNvPr id="13" name="Google Shape;137;p30"/>
            <p:cNvSpPr/>
            <p:nvPr/>
          </p:nvSpPr>
          <p:spPr>
            <a:xfrm>
              <a:off x="4995" y="1635431"/>
              <a:ext cx="3066434" cy="1233716"/>
            </a:xfrm>
            <a:prstGeom prst="upArrowCallout">
              <a:avLst>
                <a:gd name="adj1" fmla="val 50000"/>
                <a:gd name="adj2" fmla="val 20000"/>
                <a:gd name="adj3" fmla="val 20000"/>
                <a:gd name="adj4" fmla="val 100000"/>
              </a:avLst>
            </a:prstGeom>
            <a:solidFill>
              <a:srgbClr val="D6F2CB">
                <a:alpha val="89411"/>
              </a:srgbClr>
            </a:solidFill>
            <a:ln w="15875" cap="rnd" cmpd="sng">
              <a:solidFill>
                <a:srgbClr val="D6F2CB">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4" name="Google Shape;138;p30"/>
            <p:cNvSpPr txBox="1"/>
            <p:nvPr/>
          </p:nvSpPr>
          <p:spPr>
            <a:xfrm>
              <a:off x="4995" y="1882174"/>
              <a:ext cx="3066434" cy="986973"/>
            </a:xfrm>
            <a:prstGeom prst="rect">
              <a:avLst/>
            </a:prstGeom>
            <a:noFill/>
            <a:ln>
              <a:noFill/>
            </a:ln>
          </p:spPr>
          <p:txBody>
            <a:bodyPr spcFirstLastPara="1" wrap="square" lIns="181400" tIns="123825" rIns="181400" bIns="123825" anchor="t" anchorCtr="0">
              <a:noAutofit/>
            </a:bodyPr>
            <a:lstStyle/>
            <a:p>
              <a:pPr marL="0" marR="0" lvl="0" indent="0" algn="l" rtl="0">
                <a:lnSpc>
                  <a:spcPct val="90000"/>
                </a:lnSpc>
                <a:spcBef>
                  <a:spcPts val="0"/>
                </a:spcBef>
                <a:spcAft>
                  <a:spcPts val="0"/>
                </a:spcAft>
                <a:buNone/>
              </a:pPr>
              <a:r>
                <a:rPr lang="en-US" sz="975" b="0" i="0" u="none" strike="noStrike" cap="none" dirty="0">
                  <a:solidFill>
                    <a:schemeClr val="lt1"/>
                  </a:solidFill>
                  <a:latin typeface="Century Gothic"/>
                  <a:ea typeface="Century Gothic"/>
                  <a:cs typeface="Century Gothic"/>
                  <a:sym typeface="Century Gothic"/>
                </a:rPr>
                <a:t>Statement</a:t>
              </a:r>
              <a:endParaRPr sz="975" b="0" i="0" u="none" strike="noStrike" cap="none" dirty="0">
                <a:solidFill>
                  <a:schemeClr val="lt1"/>
                </a:solidFill>
                <a:latin typeface="Century Gothic"/>
                <a:ea typeface="Century Gothic"/>
                <a:cs typeface="Century Gothic"/>
                <a:sym typeface="Century Gothic"/>
              </a:endParaRPr>
            </a:p>
          </p:txBody>
        </p:sp>
        <p:sp>
          <p:nvSpPr>
            <p:cNvPr id="15" name="Google Shape;139;p30"/>
            <p:cNvSpPr/>
            <p:nvPr/>
          </p:nvSpPr>
          <p:spPr>
            <a:xfrm>
              <a:off x="3412145" y="734879"/>
              <a:ext cx="3066434" cy="72"/>
            </a:xfrm>
            <a:prstGeom prst="rect">
              <a:avLst/>
            </a:prstGeom>
            <a:solidFill>
              <a:srgbClr val="CBF0D9">
                <a:alpha val="89411"/>
              </a:srgbClr>
            </a:solidFill>
            <a:ln w="15875" cap="rnd" cmpd="sng">
              <a:solidFill>
                <a:srgbClr val="CBF0D9">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6" name="Google Shape;140;p30"/>
            <p:cNvSpPr/>
            <p:nvPr/>
          </p:nvSpPr>
          <p:spPr>
            <a:xfrm>
              <a:off x="6560351" y="620435"/>
              <a:ext cx="156728" cy="294377"/>
            </a:xfrm>
            <a:prstGeom prst="chevron">
              <a:avLst>
                <a:gd name="adj" fmla="val 90000"/>
              </a:avLst>
            </a:prstGeom>
            <a:solidFill>
              <a:srgbClr val="CAEBEF">
                <a:alpha val="89411"/>
              </a:srgbClr>
            </a:solidFill>
            <a:ln w="15875" cap="rnd" cmpd="sng">
              <a:solidFill>
                <a:srgbClr val="CAEBEF">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7" name="Google Shape;141;p30"/>
            <p:cNvSpPr/>
            <p:nvPr/>
          </p:nvSpPr>
          <p:spPr>
            <a:xfrm>
              <a:off x="4210446" y="0"/>
              <a:ext cx="1469831" cy="1469831"/>
            </a:xfrm>
            <a:prstGeom prst="ellipse">
              <a:avLst/>
            </a:prstGeom>
            <a:solidFill>
              <a:srgbClr val="24B9DD"/>
            </a:solidFill>
            <a:ln w="15875" cap="rnd" cmpd="sng">
              <a:solidFill>
                <a:srgbClr val="24B9DD"/>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8" name="Google Shape;142;p30"/>
            <p:cNvSpPr txBox="1"/>
            <p:nvPr/>
          </p:nvSpPr>
          <p:spPr>
            <a:xfrm>
              <a:off x="4425698" y="215252"/>
              <a:ext cx="1039327" cy="1039327"/>
            </a:xfrm>
            <a:prstGeom prst="rect">
              <a:avLst/>
            </a:prstGeom>
            <a:noFill/>
            <a:ln>
              <a:noFill/>
            </a:ln>
          </p:spPr>
          <p:txBody>
            <a:bodyPr spcFirstLastPara="1" wrap="square" lIns="42750" tIns="42750" rIns="42750" bIns="42750" anchor="ctr" anchorCtr="0">
              <a:noAutofit/>
            </a:bodyPr>
            <a:lstStyle/>
            <a:p>
              <a:pPr marL="0" marR="0" lvl="0" indent="0" algn="ctr" rtl="0">
                <a:lnSpc>
                  <a:spcPct val="90000"/>
                </a:lnSpc>
                <a:spcBef>
                  <a:spcPts val="0"/>
                </a:spcBef>
                <a:spcAft>
                  <a:spcPts val="0"/>
                </a:spcAft>
                <a:buNone/>
              </a:pPr>
              <a:r>
                <a:rPr lang="en-US" sz="4500" b="0" i="0" u="none" strike="noStrike" cap="none">
                  <a:solidFill>
                    <a:schemeClr val="lt1"/>
                  </a:solidFill>
                  <a:latin typeface="Century Gothic"/>
                  <a:ea typeface="Century Gothic"/>
                  <a:cs typeface="Century Gothic"/>
                  <a:sym typeface="Century Gothic"/>
                </a:rPr>
                <a:t>2</a:t>
              </a:r>
              <a:endParaRPr sz="1050" b="0" i="0" u="none" strike="noStrike" cap="none">
                <a:solidFill>
                  <a:srgbClr val="000000"/>
                </a:solidFill>
                <a:latin typeface="Arial"/>
                <a:ea typeface="Arial"/>
                <a:cs typeface="Arial"/>
                <a:sym typeface="Arial"/>
              </a:endParaRPr>
            </a:p>
          </p:txBody>
        </p:sp>
        <p:sp>
          <p:nvSpPr>
            <p:cNvPr id="19" name="Google Shape;143;p30"/>
            <p:cNvSpPr/>
            <p:nvPr/>
          </p:nvSpPr>
          <p:spPr>
            <a:xfrm>
              <a:off x="3412145" y="1635431"/>
              <a:ext cx="3066434" cy="1233716"/>
            </a:xfrm>
            <a:prstGeom prst="upArrowCallout">
              <a:avLst>
                <a:gd name="adj1" fmla="val 50000"/>
                <a:gd name="adj2" fmla="val 20000"/>
                <a:gd name="adj3" fmla="val 20000"/>
                <a:gd name="adj4" fmla="val 100000"/>
              </a:avLst>
            </a:prstGeom>
            <a:solidFill>
              <a:srgbClr val="CACFED">
                <a:alpha val="89411"/>
              </a:srgbClr>
            </a:solidFill>
            <a:ln w="15875" cap="rnd" cmpd="sng">
              <a:solidFill>
                <a:srgbClr val="CACFED">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0" name="Google Shape;144;p30"/>
            <p:cNvSpPr txBox="1"/>
            <p:nvPr/>
          </p:nvSpPr>
          <p:spPr>
            <a:xfrm>
              <a:off x="3412145" y="1882174"/>
              <a:ext cx="3066434" cy="986973"/>
            </a:xfrm>
            <a:prstGeom prst="rect">
              <a:avLst/>
            </a:prstGeom>
            <a:noFill/>
            <a:ln>
              <a:noFill/>
            </a:ln>
          </p:spPr>
          <p:txBody>
            <a:bodyPr spcFirstLastPara="1" wrap="square" lIns="181400" tIns="123825" rIns="181400" bIns="123825" anchor="t" anchorCtr="0">
              <a:noAutofit/>
            </a:bodyPr>
            <a:lstStyle/>
            <a:p>
              <a:pPr marL="0" marR="0" lvl="0" indent="0" algn="l" rtl="0">
                <a:lnSpc>
                  <a:spcPct val="90000"/>
                </a:lnSpc>
                <a:spcBef>
                  <a:spcPts val="0"/>
                </a:spcBef>
                <a:spcAft>
                  <a:spcPts val="0"/>
                </a:spcAft>
                <a:buNone/>
              </a:pPr>
              <a:r>
                <a:rPr lang="en-US" sz="975" b="0" i="0" u="none" strike="noStrike" cap="none">
                  <a:solidFill>
                    <a:schemeClr val="lt1"/>
                  </a:solidFill>
                  <a:latin typeface="Century Gothic"/>
                  <a:ea typeface="Century Gothic"/>
                  <a:cs typeface="Century Gothic"/>
                  <a:sym typeface="Century Gothic"/>
                </a:rPr>
                <a:t>Statement</a:t>
              </a:r>
              <a:endParaRPr sz="975" b="0" i="0" u="none" strike="noStrike" cap="none">
                <a:solidFill>
                  <a:schemeClr val="lt1"/>
                </a:solidFill>
                <a:latin typeface="Century Gothic"/>
                <a:ea typeface="Century Gothic"/>
                <a:cs typeface="Century Gothic"/>
                <a:sym typeface="Century Gothic"/>
              </a:endParaRPr>
            </a:p>
          </p:txBody>
        </p:sp>
        <p:sp>
          <p:nvSpPr>
            <p:cNvPr id="21" name="Google Shape;145;p30"/>
            <p:cNvSpPr/>
            <p:nvPr/>
          </p:nvSpPr>
          <p:spPr>
            <a:xfrm>
              <a:off x="6819294" y="734879"/>
              <a:ext cx="1533217" cy="72"/>
            </a:xfrm>
            <a:prstGeom prst="rect">
              <a:avLst/>
            </a:prstGeom>
            <a:solidFill>
              <a:srgbClr val="DDCAEC">
                <a:alpha val="89411"/>
              </a:srgbClr>
            </a:solidFill>
            <a:ln w="15875" cap="rnd" cmpd="sng">
              <a:solidFill>
                <a:srgbClr val="DDCAEC">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2" name="Google Shape;146;p30"/>
            <p:cNvSpPr/>
            <p:nvPr/>
          </p:nvSpPr>
          <p:spPr>
            <a:xfrm>
              <a:off x="7617596" y="0"/>
              <a:ext cx="1469831" cy="1469831"/>
            </a:xfrm>
            <a:prstGeom prst="ellipse">
              <a:avLst/>
            </a:prstGeom>
            <a:solidFill>
              <a:srgbClr val="C32324"/>
            </a:solidFill>
            <a:ln w="15875" cap="rnd" cmpd="sng">
              <a:solidFill>
                <a:srgbClr val="C32324"/>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3" name="Google Shape;147;p30"/>
            <p:cNvSpPr txBox="1"/>
            <p:nvPr/>
          </p:nvSpPr>
          <p:spPr>
            <a:xfrm>
              <a:off x="7832848" y="215252"/>
              <a:ext cx="1039327" cy="1039327"/>
            </a:xfrm>
            <a:prstGeom prst="rect">
              <a:avLst/>
            </a:prstGeom>
            <a:noFill/>
            <a:ln>
              <a:noFill/>
            </a:ln>
          </p:spPr>
          <p:txBody>
            <a:bodyPr spcFirstLastPara="1" wrap="square" lIns="42750" tIns="42750" rIns="42750" bIns="42750" anchor="ctr" anchorCtr="0">
              <a:noAutofit/>
            </a:bodyPr>
            <a:lstStyle/>
            <a:p>
              <a:pPr marL="0" marR="0" lvl="0" indent="0" algn="ctr" rtl="0">
                <a:lnSpc>
                  <a:spcPct val="90000"/>
                </a:lnSpc>
                <a:spcBef>
                  <a:spcPts val="0"/>
                </a:spcBef>
                <a:spcAft>
                  <a:spcPts val="0"/>
                </a:spcAft>
                <a:buNone/>
              </a:pPr>
              <a:r>
                <a:rPr lang="en-US" sz="4500" b="0" i="0" u="none" strike="noStrike" cap="none">
                  <a:solidFill>
                    <a:schemeClr val="lt1"/>
                  </a:solidFill>
                  <a:latin typeface="Century Gothic"/>
                  <a:ea typeface="Century Gothic"/>
                  <a:cs typeface="Century Gothic"/>
                  <a:sym typeface="Century Gothic"/>
                </a:rPr>
                <a:t>3</a:t>
              </a:r>
              <a:endParaRPr sz="1050" b="0" i="0" u="none" strike="noStrike" cap="none">
                <a:solidFill>
                  <a:srgbClr val="000000"/>
                </a:solidFill>
                <a:latin typeface="Arial"/>
                <a:ea typeface="Arial"/>
                <a:cs typeface="Arial"/>
                <a:sym typeface="Arial"/>
              </a:endParaRPr>
            </a:p>
          </p:txBody>
        </p:sp>
        <p:sp>
          <p:nvSpPr>
            <p:cNvPr id="24" name="Google Shape;148;p30"/>
            <p:cNvSpPr/>
            <p:nvPr/>
          </p:nvSpPr>
          <p:spPr>
            <a:xfrm>
              <a:off x="6819294" y="1635431"/>
              <a:ext cx="3066434" cy="1233716"/>
            </a:xfrm>
            <a:prstGeom prst="upArrowCallout">
              <a:avLst>
                <a:gd name="adj1" fmla="val 50000"/>
                <a:gd name="adj2" fmla="val 20000"/>
                <a:gd name="adj3" fmla="val 20000"/>
                <a:gd name="adj4" fmla="val 100000"/>
              </a:avLst>
            </a:prstGeom>
            <a:solidFill>
              <a:srgbClr val="E9CACA">
                <a:alpha val="89411"/>
              </a:srgbClr>
            </a:solidFill>
            <a:ln w="15875" cap="rnd" cmpd="sng">
              <a:solidFill>
                <a:srgbClr val="E9CACA">
                  <a:alpha val="89411"/>
                </a:srgbClr>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25" name="Google Shape;149;p30"/>
            <p:cNvSpPr txBox="1"/>
            <p:nvPr/>
          </p:nvSpPr>
          <p:spPr>
            <a:xfrm>
              <a:off x="6819294" y="1882174"/>
              <a:ext cx="3066434" cy="986973"/>
            </a:xfrm>
            <a:prstGeom prst="rect">
              <a:avLst/>
            </a:prstGeom>
            <a:noFill/>
            <a:ln>
              <a:noFill/>
            </a:ln>
          </p:spPr>
          <p:txBody>
            <a:bodyPr spcFirstLastPara="1" wrap="square" lIns="181400" tIns="123825" rIns="181400" bIns="123825" anchor="t" anchorCtr="0">
              <a:noAutofit/>
            </a:bodyPr>
            <a:lstStyle/>
            <a:p>
              <a:pPr marL="0" marR="0" lvl="0" indent="0" algn="l" rtl="0">
                <a:lnSpc>
                  <a:spcPct val="90000"/>
                </a:lnSpc>
                <a:spcBef>
                  <a:spcPts val="0"/>
                </a:spcBef>
                <a:spcAft>
                  <a:spcPts val="0"/>
                </a:spcAft>
                <a:buNone/>
              </a:pPr>
              <a:r>
                <a:rPr lang="en-US" sz="975" b="0" i="0" u="none" strike="noStrike" cap="none">
                  <a:solidFill>
                    <a:schemeClr val="lt1"/>
                  </a:solidFill>
                  <a:latin typeface="Century Gothic"/>
                  <a:ea typeface="Century Gothic"/>
                  <a:cs typeface="Century Gothic"/>
                  <a:sym typeface="Century Gothic"/>
                </a:rPr>
                <a:t>statement</a:t>
              </a:r>
              <a:endParaRPr sz="975" b="0" i="0" u="none" strike="noStrike" cap="none">
                <a:solidFill>
                  <a:schemeClr val="lt1"/>
                </a:solidFill>
                <a:latin typeface="Century Gothic"/>
                <a:ea typeface="Century Gothic"/>
                <a:cs typeface="Century Gothic"/>
                <a:sym typeface="Century Gothic"/>
              </a:endParaRPr>
            </a:p>
          </p:txBody>
        </p:sp>
      </p:grpSp>
      <p:sp>
        <p:nvSpPr>
          <p:cNvPr id="26" name="Google Shape;131;p30"/>
          <p:cNvSpPr txBox="1">
            <a:spLocks/>
          </p:cNvSpPr>
          <p:nvPr/>
        </p:nvSpPr>
        <p:spPr>
          <a:xfrm>
            <a:off x="223962" y="1290126"/>
            <a:ext cx="8920037" cy="1130300"/>
          </a:xfrm>
          <a:prstGeom prst="rect">
            <a:avLst/>
          </a:prstGeom>
          <a:noFill/>
          <a:ln>
            <a:noFill/>
          </a:ln>
        </p:spPr>
        <p:txBody>
          <a:bodyPr spcFirstLastPara="1" wrap="square" lIns="68550" tIns="34275" rIns="68550" bIns="34275"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rgbClr val="FFFFFF"/>
              </a:buClr>
              <a:buSzPct val="90909"/>
            </a:pPr>
            <a:r>
              <a:rPr lang="en-US" b="1" smtClean="0">
                <a:solidFill>
                  <a:srgbClr val="FFFFFF"/>
                </a:solidFill>
                <a:latin typeface="Century Gothic"/>
                <a:ea typeface="Century Gothic"/>
                <a:cs typeface="Century Gothic"/>
                <a:sym typeface="Century Gothic"/>
              </a:rPr>
              <a:t>THE SEQUENCE CONSTRUCT</a:t>
            </a:r>
            <a:endParaRPr lang="en-US" dirty="0"/>
          </a:p>
        </p:txBody>
      </p:sp>
    </p:spTree>
    <p:extLst>
      <p:ext uri="{BB962C8B-B14F-4D97-AF65-F5344CB8AC3E}">
        <p14:creationId xmlns:p14="http://schemas.microsoft.com/office/powerpoint/2010/main" val="3014350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37b5acc6594_0_9" descr="Picture 2"/>
          <p:cNvPicPr preferRelativeResize="0"/>
          <p:nvPr/>
        </p:nvPicPr>
        <p:blipFill rotWithShape="1">
          <a:blip r:embed="rId3">
            <a:alphaModFix/>
          </a:blip>
          <a:srcRect/>
          <a:stretch/>
        </p:blipFill>
        <p:spPr>
          <a:xfrm>
            <a:off x="0" y="18458"/>
            <a:ext cx="9143999" cy="6900864"/>
          </a:xfrm>
          <a:prstGeom prst="rect">
            <a:avLst/>
          </a:prstGeom>
          <a:noFill/>
          <a:ln>
            <a:noFill/>
          </a:ln>
        </p:spPr>
      </p:pic>
      <p:pic>
        <p:nvPicPr>
          <p:cNvPr id="90" name="Google Shape;90;g37b5acc6594_0_9" descr="Picture 6"/>
          <p:cNvPicPr preferRelativeResize="0"/>
          <p:nvPr/>
        </p:nvPicPr>
        <p:blipFill rotWithShape="1">
          <a:blip r:embed="rId4">
            <a:alphaModFix/>
          </a:blip>
          <a:srcRect/>
          <a:stretch/>
        </p:blipFill>
        <p:spPr>
          <a:xfrm>
            <a:off x="1857375" y="2571750"/>
            <a:ext cx="5430837" cy="2803525"/>
          </a:xfrm>
          <a:prstGeom prst="rect">
            <a:avLst/>
          </a:prstGeom>
          <a:noFill/>
          <a:ln>
            <a:noFill/>
          </a:ln>
        </p:spPr>
      </p:pic>
      <p:sp>
        <p:nvSpPr>
          <p:cNvPr id="91" name="Google Shape;91;g37b5acc6594_0_9"/>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g37b5acc6594_0_9"/>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94" name="Google Shape;94;g37b5acc6594_0_9"/>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grpSp>
        <p:nvGrpSpPr>
          <p:cNvPr id="8" name="Google Shape;155;p31"/>
          <p:cNvGrpSpPr/>
          <p:nvPr/>
        </p:nvGrpSpPr>
        <p:grpSpPr>
          <a:xfrm>
            <a:off x="501699" y="2852936"/>
            <a:ext cx="8110227" cy="2711054"/>
            <a:chOff x="3381" y="0"/>
            <a:chExt cx="10813636" cy="3614738"/>
          </a:xfrm>
        </p:grpSpPr>
        <p:sp>
          <p:nvSpPr>
            <p:cNvPr id="9" name="Google Shape;156;p31"/>
            <p:cNvSpPr/>
            <p:nvPr/>
          </p:nvSpPr>
          <p:spPr>
            <a:xfrm>
              <a:off x="3381" y="0"/>
              <a:ext cx="5198863" cy="3614738"/>
            </a:xfrm>
            <a:prstGeom prst="rect">
              <a:avLst/>
            </a:prstGeom>
            <a:solidFill>
              <a:srgbClr val="C62024"/>
            </a:solidFill>
            <a:ln w="15875" cap="rnd" cmpd="sng">
              <a:solidFill>
                <a:srgbClr val="C62024"/>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0" name="Google Shape;157;p31"/>
            <p:cNvSpPr txBox="1"/>
            <p:nvPr/>
          </p:nvSpPr>
          <p:spPr>
            <a:xfrm>
              <a:off x="3381" y="1445895"/>
              <a:ext cx="5198863" cy="2168842"/>
            </a:xfrm>
            <a:prstGeom prst="rect">
              <a:avLst/>
            </a:prstGeom>
            <a:noFill/>
            <a:ln>
              <a:noFill/>
            </a:ln>
          </p:spPr>
          <p:txBody>
            <a:bodyPr spcFirstLastPara="1" wrap="square" lIns="385125" tIns="0" rIns="385125" bIns="247650" anchor="t" anchorCtr="0">
              <a:noAutofit/>
            </a:bodyPr>
            <a:lstStyle/>
            <a:p>
              <a:pPr marL="0" marR="0" lvl="0" indent="0" algn="l" rtl="0">
                <a:lnSpc>
                  <a:spcPct val="90000"/>
                </a:lnSpc>
                <a:spcBef>
                  <a:spcPts val="0"/>
                </a:spcBef>
                <a:spcAft>
                  <a:spcPts val="0"/>
                </a:spcAft>
                <a:buNone/>
              </a:pPr>
              <a:r>
                <a:rPr lang="en-US" sz="1350" b="0" i="0" u="none" strike="noStrike" cap="none" dirty="0">
                  <a:solidFill>
                    <a:schemeClr val="lt1"/>
                  </a:solidFill>
                  <a:latin typeface="Century Gothic"/>
                  <a:ea typeface="Century Gothic"/>
                  <a:cs typeface="Century Gothic"/>
                  <a:sym typeface="Century Gothic"/>
                </a:rPr>
                <a:t>The Selection construct means the execution of statement(s) depending upon a condition-test. If a condition evaluates to true, a course-of-action       (a set of statements) is followed otherwise another course-of-action                (a different set of statements).</a:t>
              </a:r>
              <a:endParaRPr sz="1050" b="0" i="0" u="none" strike="noStrike" cap="none" dirty="0">
                <a:solidFill>
                  <a:srgbClr val="000000"/>
                </a:solidFill>
                <a:latin typeface="Arial"/>
                <a:ea typeface="Arial"/>
                <a:cs typeface="Arial"/>
                <a:sym typeface="Arial"/>
              </a:endParaRPr>
            </a:p>
          </p:txBody>
        </p:sp>
        <p:sp>
          <p:nvSpPr>
            <p:cNvPr id="11" name="Google Shape;158;p31"/>
            <p:cNvSpPr/>
            <p:nvPr/>
          </p:nvSpPr>
          <p:spPr>
            <a:xfrm>
              <a:off x="3381" y="0"/>
              <a:ext cx="5198863" cy="1445895"/>
            </a:xfrm>
            <a:prstGeom prst="rect">
              <a:avLst/>
            </a:prstGeom>
            <a:noFill/>
            <a:ln>
              <a:noFill/>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2" name="Google Shape;159;p31"/>
            <p:cNvSpPr txBox="1"/>
            <p:nvPr/>
          </p:nvSpPr>
          <p:spPr>
            <a:xfrm>
              <a:off x="3381" y="0"/>
              <a:ext cx="5198863" cy="1445895"/>
            </a:xfrm>
            <a:prstGeom prst="rect">
              <a:avLst/>
            </a:prstGeom>
            <a:noFill/>
            <a:ln>
              <a:noFill/>
            </a:ln>
          </p:spPr>
          <p:txBody>
            <a:bodyPr spcFirstLastPara="1" wrap="square" lIns="385125" tIns="123825" rIns="385125" bIns="123825" anchor="ctr" anchorCtr="0">
              <a:noAutofit/>
            </a:bodyPr>
            <a:lstStyle/>
            <a:p>
              <a:pPr marL="0" marR="0" lvl="0" indent="0" algn="l" rtl="0">
                <a:lnSpc>
                  <a:spcPct val="90000"/>
                </a:lnSpc>
                <a:spcBef>
                  <a:spcPts val="0"/>
                </a:spcBef>
                <a:spcAft>
                  <a:spcPts val="0"/>
                </a:spcAft>
                <a:buNone/>
              </a:pPr>
              <a:r>
                <a:rPr lang="en-US" sz="4950" b="0" i="0" u="none" strike="noStrike" cap="none" dirty="0">
                  <a:solidFill>
                    <a:schemeClr val="lt1"/>
                  </a:solidFill>
                  <a:latin typeface="Century Gothic"/>
                  <a:ea typeface="Century Gothic"/>
                  <a:cs typeface="Century Gothic"/>
                  <a:sym typeface="Century Gothic"/>
                </a:rPr>
                <a:t>01</a:t>
              </a:r>
              <a:endParaRPr sz="1050" b="0" i="0" u="none" strike="noStrike" cap="none" dirty="0">
                <a:solidFill>
                  <a:srgbClr val="000000"/>
                </a:solidFill>
                <a:latin typeface="Arial"/>
                <a:ea typeface="Arial"/>
                <a:cs typeface="Arial"/>
                <a:sym typeface="Arial"/>
              </a:endParaRPr>
            </a:p>
          </p:txBody>
        </p:sp>
        <p:sp>
          <p:nvSpPr>
            <p:cNvPr id="13" name="Google Shape;160;p31"/>
            <p:cNvSpPr/>
            <p:nvPr/>
          </p:nvSpPr>
          <p:spPr>
            <a:xfrm>
              <a:off x="5618154" y="0"/>
              <a:ext cx="5198863" cy="3614738"/>
            </a:xfrm>
            <a:prstGeom prst="rect">
              <a:avLst/>
            </a:prstGeom>
            <a:solidFill>
              <a:srgbClr val="C62024"/>
            </a:solidFill>
            <a:ln w="15875" cap="rnd" cmpd="sng">
              <a:solidFill>
                <a:srgbClr val="C62024"/>
              </a:solidFill>
              <a:prstDash val="solid"/>
              <a:round/>
              <a:headEnd type="none" w="sm" len="sm"/>
              <a:tailEnd type="none" w="sm" len="sm"/>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4" name="Google Shape;161;p31"/>
            <p:cNvSpPr txBox="1"/>
            <p:nvPr/>
          </p:nvSpPr>
          <p:spPr>
            <a:xfrm>
              <a:off x="5618154" y="1445895"/>
              <a:ext cx="5198863" cy="2168842"/>
            </a:xfrm>
            <a:prstGeom prst="rect">
              <a:avLst/>
            </a:prstGeom>
            <a:noFill/>
            <a:ln>
              <a:noFill/>
            </a:ln>
          </p:spPr>
          <p:txBody>
            <a:bodyPr spcFirstLastPara="1" wrap="square" lIns="385125" tIns="0" rIns="385125" bIns="247650" anchor="t" anchorCtr="0">
              <a:noAutofit/>
            </a:bodyPr>
            <a:lstStyle/>
            <a:p>
              <a:pPr marL="0" marR="0" lvl="0" indent="0" algn="l" rtl="0">
                <a:lnSpc>
                  <a:spcPct val="90000"/>
                </a:lnSpc>
                <a:spcBef>
                  <a:spcPts val="0"/>
                </a:spcBef>
                <a:spcAft>
                  <a:spcPts val="0"/>
                </a:spcAft>
                <a:buNone/>
              </a:pPr>
              <a:r>
                <a:rPr lang="en-US" sz="1350" b="0" i="0" u="none" strike="noStrike" cap="none" dirty="0">
                  <a:solidFill>
                    <a:schemeClr val="lt1"/>
                  </a:solidFill>
                  <a:latin typeface="Century Gothic"/>
                  <a:ea typeface="Century Gothic"/>
                  <a:cs typeface="Century Gothic"/>
                  <a:sym typeface="Century Gothic"/>
                </a:rPr>
                <a:t>This construct(selection construct) is also called decision construct because it helps in making decision about which set-of-statements is to be executed.</a:t>
              </a:r>
              <a:endParaRPr sz="1050" b="0" i="0" u="none" strike="noStrike" cap="none" dirty="0">
                <a:solidFill>
                  <a:srgbClr val="000000"/>
                </a:solidFill>
                <a:latin typeface="Arial"/>
                <a:ea typeface="Arial"/>
                <a:cs typeface="Arial"/>
                <a:sym typeface="Arial"/>
              </a:endParaRPr>
            </a:p>
          </p:txBody>
        </p:sp>
        <p:sp>
          <p:nvSpPr>
            <p:cNvPr id="15" name="Google Shape;162;p31"/>
            <p:cNvSpPr/>
            <p:nvPr/>
          </p:nvSpPr>
          <p:spPr>
            <a:xfrm>
              <a:off x="5618154" y="0"/>
              <a:ext cx="5198863" cy="1445895"/>
            </a:xfrm>
            <a:prstGeom prst="rect">
              <a:avLst/>
            </a:prstGeom>
            <a:noFill/>
            <a:ln>
              <a:noFill/>
            </a:ln>
          </p:spPr>
          <p:txBody>
            <a:bodyPr spcFirstLastPara="1" wrap="square" lIns="68550" tIns="68550" rIns="68550" bIns="68550" anchor="ctr" anchorCtr="0">
              <a:noAutofit/>
            </a:bodyPr>
            <a:lstStyle/>
            <a:p>
              <a:pPr marL="0" marR="0" lvl="0" indent="0" algn="l" rtl="0">
                <a:lnSpc>
                  <a:spcPct val="100000"/>
                </a:lnSpc>
                <a:spcBef>
                  <a:spcPts val="0"/>
                </a:spcBef>
                <a:spcAft>
                  <a:spcPts val="0"/>
                </a:spcAft>
                <a:buNone/>
              </a:pPr>
              <a:endParaRPr sz="1050" b="0" i="0" u="none" strike="noStrike" cap="none">
                <a:solidFill>
                  <a:srgbClr val="000000"/>
                </a:solidFill>
                <a:latin typeface="Arial"/>
                <a:ea typeface="Arial"/>
                <a:cs typeface="Arial"/>
                <a:sym typeface="Arial"/>
              </a:endParaRPr>
            </a:p>
          </p:txBody>
        </p:sp>
        <p:sp>
          <p:nvSpPr>
            <p:cNvPr id="16" name="Google Shape;163;p31"/>
            <p:cNvSpPr txBox="1"/>
            <p:nvPr/>
          </p:nvSpPr>
          <p:spPr>
            <a:xfrm>
              <a:off x="5618154" y="0"/>
              <a:ext cx="5198863" cy="1445895"/>
            </a:xfrm>
            <a:prstGeom prst="rect">
              <a:avLst/>
            </a:prstGeom>
            <a:noFill/>
            <a:ln>
              <a:noFill/>
            </a:ln>
          </p:spPr>
          <p:txBody>
            <a:bodyPr spcFirstLastPara="1" wrap="square" lIns="385125" tIns="123825" rIns="385125" bIns="123825" anchor="ctr" anchorCtr="0">
              <a:noAutofit/>
            </a:bodyPr>
            <a:lstStyle/>
            <a:p>
              <a:pPr marL="0" marR="0" lvl="0" indent="0" algn="l" rtl="0">
                <a:lnSpc>
                  <a:spcPct val="90000"/>
                </a:lnSpc>
                <a:spcBef>
                  <a:spcPts val="0"/>
                </a:spcBef>
                <a:spcAft>
                  <a:spcPts val="0"/>
                </a:spcAft>
                <a:buNone/>
              </a:pPr>
              <a:r>
                <a:rPr lang="en-US" sz="4950" b="0" i="0" u="none" strike="noStrike" cap="none" dirty="0">
                  <a:solidFill>
                    <a:schemeClr val="lt1"/>
                  </a:solidFill>
                  <a:latin typeface="Century Gothic"/>
                  <a:ea typeface="Century Gothic"/>
                  <a:cs typeface="Century Gothic"/>
                  <a:sym typeface="Century Gothic"/>
                </a:rPr>
                <a:t>02</a:t>
              </a:r>
              <a:endParaRPr sz="1050" b="0" i="0" u="none" strike="noStrike" cap="none" dirty="0">
                <a:solidFill>
                  <a:srgbClr val="000000"/>
                </a:solidFill>
                <a:latin typeface="Arial"/>
                <a:ea typeface="Arial"/>
                <a:cs typeface="Arial"/>
                <a:sym typeface="Arial"/>
              </a:endParaRPr>
            </a:p>
          </p:txBody>
        </p:sp>
      </p:grpSp>
      <p:sp>
        <p:nvSpPr>
          <p:cNvPr id="17" name="Google Shape;154;p31"/>
          <p:cNvSpPr txBox="1">
            <a:spLocks/>
          </p:cNvSpPr>
          <p:nvPr/>
        </p:nvSpPr>
        <p:spPr>
          <a:xfrm>
            <a:off x="2275" y="1316000"/>
            <a:ext cx="6400800" cy="113030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ts val="3600"/>
            </a:pPr>
            <a:r>
              <a:rPr lang="en-US" b="1" dirty="0" smtClean="0">
                <a:latin typeface="Arial Black"/>
                <a:ea typeface="Arial Black"/>
                <a:cs typeface="Arial Black"/>
                <a:sym typeface="Arial Black"/>
              </a:rPr>
              <a:t>SELECTION</a:t>
            </a:r>
            <a:endParaRPr lang="en-US" dirty="0"/>
          </a:p>
        </p:txBody>
      </p:sp>
    </p:spTree>
    <p:extLst>
      <p:ext uri="{BB962C8B-B14F-4D97-AF65-F5344CB8AC3E}">
        <p14:creationId xmlns:p14="http://schemas.microsoft.com/office/powerpoint/2010/main" val="393778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37b5acc6594_0_9" descr="Picture 2"/>
          <p:cNvPicPr preferRelativeResize="0"/>
          <p:nvPr/>
        </p:nvPicPr>
        <p:blipFill rotWithShape="1">
          <a:blip r:embed="rId3">
            <a:alphaModFix/>
          </a:blip>
          <a:srcRect/>
          <a:stretch/>
        </p:blipFill>
        <p:spPr>
          <a:xfrm>
            <a:off x="0" y="18458"/>
            <a:ext cx="9143999" cy="6900864"/>
          </a:xfrm>
          <a:prstGeom prst="rect">
            <a:avLst/>
          </a:prstGeom>
          <a:noFill/>
          <a:ln>
            <a:noFill/>
          </a:ln>
        </p:spPr>
      </p:pic>
      <p:pic>
        <p:nvPicPr>
          <p:cNvPr id="90" name="Google Shape;90;g37b5acc6594_0_9" descr="Picture 6"/>
          <p:cNvPicPr preferRelativeResize="0"/>
          <p:nvPr/>
        </p:nvPicPr>
        <p:blipFill rotWithShape="1">
          <a:blip r:embed="rId4">
            <a:alphaModFix/>
          </a:blip>
          <a:srcRect/>
          <a:stretch/>
        </p:blipFill>
        <p:spPr>
          <a:xfrm>
            <a:off x="1857375" y="2571750"/>
            <a:ext cx="5430837" cy="2803525"/>
          </a:xfrm>
          <a:prstGeom prst="rect">
            <a:avLst/>
          </a:prstGeom>
          <a:noFill/>
          <a:ln>
            <a:noFill/>
          </a:ln>
        </p:spPr>
      </p:pic>
      <p:sp>
        <p:nvSpPr>
          <p:cNvPr id="91" name="Google Shape;91;g37b5acc6594_0_9"/>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g37b5acc6594_0_9"/>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94" name="Google Shape;94;g37b5acc6594_0_9"/>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18" name="Google Shape;168;p32"/>
          <p:cNvSpPr txBox="1">
            <a:spLocks/>
          </p:cNvSpPr>
          <p:nvPr/>
        </p:nvSpPr>
        <p:spPr>
          <a:xfrm>
            <a:off x="148277" y="1268760"/>
            <a:ext cx="8851996" cy="1130300"/>
          </a:xfrm>
          <a:prstGeom prst="rect">
            <a:avLst/>
          </a:prstGeom>
          <a:noFill/>
          <a:ln>
            <a:noFill/>
          </a:ln>
        </p:spPr>
        <p:txBody>
          <a:bodyPr spcFirstLastPara="1" wrap="square" lIns="68550" tIns="34275" rIns="68550" bIns="34275" anchor="ctr" anchorCtr="0">
            <a:normAutofit fontScale="9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b="1" dirty="0" smtClean="0">
                <a:latin typeface="Arial Black"/>
                <a:ea typeface="Arial Black"/>
                <a:cs typeface="Arial Black"/>
                <a:sym typeface="Arial Black"/>
              </a:rPr>
              <a:t>THE SELECTION CONSTRUCT</a:t>
            </a:r>
            <a:endParaRPr lang="en-US" dirty="0">
              <a:latin typeface="Arial Black"/>
              <a:ea typeface="Arial Black"/>
              <a:cs typeface="Arial Black"/>
              <a:sym typeface="Arial Black"/>
            </a:endParaRPr>
          </a:p>
        </p:txBody>
      </p:sp>
      <p:sp>
        <p:nvSpPr>
          <p:cNvPr id="19" name="Google Shape;169;p32"/>
          <p:cNvSpPr/>
          <p:nvPr/>
        </p:nvSpPr>
        <p:spPr>
          <a:xfrm>
            <a:off x="2837260" y="2282825"/>
            <a:ext cx="1200150" cy="1314450"/>
          </a:xfrm>
          <a:prstGeom prst="diamond">
            <a:avLst/>
          </a:prstGeom>
          <a:solidFill>
            <a:srgbClr val="FF0000"/>
          </a:solidFill>
          <a:ln w="57150" cap="flat" cmpd="sng">
            <a:solidFill>
              <a:srgbClr val="FFFF00"/>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500" b="1" i="0" u="none" strike="noStrike" cap="none">
                <a:solidFill>
                  <a:srgbClr val="FFFF00"/>
                </a:solidFill>
                <a:latin typeface="Arimo"/>
                <a:ea typeface="Arimo"/>
                <a:cs typeface="Arimo"/>
                <a:sym typeface="Arimo"/>
              </a:rPr>
              <a:t>Condition ?</a:t>
            </a:r>
            <a:endParaRPr sz="1050" b="0" i="0" u="none" strike="noStrike" cap="none">
              <a:solidFill>
                <a:srgbClr val="000000"/>
              </a:solidFill>
              <a:latin typeface="Arial"/>
              <a:ea typeface="Arial"/>
              <a:cs typeface="Arial"/>
              <a:sym typeface="Arial"/>
            </a:endParaRPr>
          </a:p>
        </p:txBody>
      </p:sp>
      <p:sp>
        <p:nvSpPr>
          <p:cNvPr id="20" name="Google Shape;170;p32"/>
          <p:cNvSpPr/>
          <p:nvPr/>
        </p:nvSpPr>
        <p:spPr>
          <a:xfrm>
            <a:off x="4787504" y="2726531"/>
            <a:ext cx="1085850" cy="457200"/>
          </a:xfrm>
          <a:prstGeom prst="roundRect">
            <a:avLst>
              <a:gd name="adj" fmla="val 16667"/>
            </a:avLst>
          </a:prstGeom>
          <a:solidFill>
            <a:srgbClr val="FF0000"/>
          </a:solidFill>
          <a:ln w="5715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1</a:t>
            </a:r>
            <a:endParaRPr sz="1050" b="0" i="0" u="none" strike="noStrike" cap="none">
              <a:solidFill>
                <a:srgbClr val="000000"/>
              </a:solidFill>
              <a:latin typeface="Arial"/>
              <a:ea typeface="Arial"/>
              <a:cs typeface="Arial"/>
              <a:sym typeface="Arial"/>
            </a:endParaRPr>
          </a:p>
        </p:txBody>
      </p:sp>
      <p:sp>
        <p:nvSpPr>
          <p:cNvPr id="21" name="Google Shape;171;p32"/>
          <p:cNvSpPr/>
          <p:nvPr/>
        </p:nvSpPr>
        <p:spPr>
          <a:xfrm>
            <a:off x="6300788" y="2726531"/>
            <a:ext cx="1085850" cy="457200"/>
          </a:xfrm>
          <a:prstGeom prst="roundRect">
            <a:avLst>
              <a:gd name="adj" fmla="val 16667"/>
            </a:avLst>
          </a:prstGeom>
          <a:solidFill>
            <a:srgbClr val="FF0000"/>
          </a:solidFill>
          <a:ln w="5715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2</a:t>
            </a:r>
            <a:endParaRPr sz="1050" b="0" i="0" u="none" strike="noStrike" cap="none">
              <a:solidFill>
                <a:srgbClr val="000000"/>
              </a:solidFill>
              <a:latin typeface="Arial"/>
              <a:ea typeface="Arial"/>
              <a:cs typeface="Arial"/>
              <a:sym typeface="Arial"/>
            </a:endParaRPr>
          </a:p>
        </p:txBody>
      </p:sp>
      <p:sp>
        <p:nvSpPr>
          <p:cNvPr id="22" name="Google Shape;172;p32"/>
          <p:cNvSpPr/>
          <p:nvPr/>
        </p:nvSpPr>
        <p:spPr>
          <a:xfrm>
            <a:off x="2897981" y="3861197"/>
            <a:ext cx="1085850" cy="457200"/>
          </a:xfrm>
          <a:prstGeom prst="roundRect">
            <a:avLst>
              <a:gd name="adj" fmla="val 16667"/>
            </a:avLst>
          </a:prstGeom>
          <a:solidFill>
            <a:srgbClr val="FF0000"/>
          </a:solidFill>
          <a:ln w="5715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1</a:t>
            </a:r>
            <a:endParaRPr sz="1050" b="0" i="0" u="none" strike="noStrike" cap="none">
              <a:solidFill>
                <a:srgbClr val="000000"/>
              </a:solidFill>
              <a:latin typeface="Arial"/>
              <a:ea typeface="Arial"/>
              <a:cs typeface="Arial"/>
              <a:sym typeface="Arial"/>
            </a:endParaRPr>
          </a:p>
        </p:txBody>
      </p:sp>
      <p:sp>
        <p:nvSpPr>
          <p:cNvPr id="23" name="Google Shape;173;p32"/>
          <p:cNvSpPr/>
          <p:nvPr/>
        </p:nvSpPr>
        <p:spPr>
          <a:xfrm>
            <a:off x="2951560" y="4617244"/>
            <a:ext cx="1085850" cy="457200"/>
          </a:xfrm>
          <a:prstGeom prst="roundRect">
            <a:avLst>
              <a:gd name="adj" fmla="val 16667"/>
            </a:avLst>
          </a:prstGeom>
          <a:solidFill>
            <a:srgbClr val="FF0000"/>
          </a:solidFill>
          <a:ln w="5715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2</a:t>
            </a:r>
            <a:endParaRPr sz="1050" b="0" i="0" u="none" strike="noStrike" cap="none">
              <a:solidFill>
                <a:srgbClr val="000000"/>
              </a:solidFill>
              <a:latin typeface="Arial"/>
              <a:ea typeface="Arial"/>
              <a:cs typeface="Arial"/>
              <a:sym typeface="Arial"/>
            </a:endParaRPr>
          </a:p>
        </p:txBody>
      </p:sp>
      <p:cxnSp>
        <p:nvCxnSpPr>
          <p:cNvPr id="24" name="Google Shape;174;p32"/>
          <p:cNvCxnSpPr/>
          <p:nvPr/>
        </p:nvCxnSpPr>
        <p:spPr>
          <a:xfrm>
            <a:off x="4057650" y="3014663"/>
            <a:ext cx="742950" cy="0"/>
          </a:xfrm>
          <a:prstGeom prst="straightConnector1">
            <a:avLst/>
          </a:prstGeom>
          <a:noFill/>
          <a:ln w="57150" cap="flat" cmpd="sng">
            <a:solidFill>
              <a:srgbClr val="FFFF00"/>
            </a:solidFill>
            <a:prstDash val="solid"/>
            <a:round/>
            <a:headEnd type="none" w="sm" len="sm"/>
            <a:tailEnd type="triangle" w="med" len="med"/>
          </a:ln>
        </p:spPr>
      </p:cxnSp>
      <p:cxnSp>
        <p:nvCxnSpPr>
          <p:cNvPr id="25" name="Google Shape;175;p32"/>
          <p:cNvCxnSpPr/>
          <p:nvPr/>
        </p:nvCxnSpPr>
        <p:spPr>
          <a:xfrm>
            <a:off x="5886450" y="2971800"/>
            <a:ext cx="400050" cy="0"/>
          </a:xfrm>
          <a:prstGeom prst="straightConnector1">
            <a:avLst/>
          </a:prstGeom>
          <a:noFill/>
          <a:ln w="57150" cap="flat" cmpd="sng">
            <a:solidFill>
              <a:srgbClr val="FFFF00"/>
            </a:solidFill>
            <a:prstDash val="solid"/>
            <a:round/>
            <a:headEnd type="none" w="sm" len="sm"/>
            <a:tailEnd type="triangle" w="med" len="med"/>
          </a:ln>
        </p:spPr>
      </p:cxnSp>
      <p:cxnSp>
        <p:nvCxnSpPr>
          <p:cNvPr id="26" name="Google Shape;176;p32"/>
          <p:cNvCxnSpPr/>
          <p:nvPr/>
        </p:nvCxnSpPr>
        <p:spPr>
          <a:xfrm>
            <a:off x="3443288" y="3657600"/>
            <a:ext cx="0" cy="228600"/>
          </a:xfrm>
          <a:prstGeom prst="straightConnector1">
            <a:avLst/>
          </a:prstGeom>
          <a:noFill/>
          <a:ln w="57150" cap="flat" cmpd="sng">
            <a:solidFill>
              <a:srgbClr val="FFFF00"/>
            </a:solidFill>
            <a:prstDash val="solid"/>
            <a:round/>
            <a:headEnd type="none" w="sm" len="sm"/>
            <a:tailEnd type="triangle" w="med" len="med"/>
          </a:ln>
        </p:spPr>
      </p:cxnSp>
      <p:cxnSp>
        <p:nvCxnSpPr>
          <p:cNvPr id="27" name="Google Shape;177;p32"/>
          <p:cNvCxnSpPr/>
          <p:nvPr/>
        </p:nvCxnSpPr>
        <p:spPr>
          <a:xfrm>
            <a:off x="3486150" y="4343400"/>
            <a:ext cx="0" cy="228600"/>
          </a:xfrm>
          <a:prstGeom prst="straightConnector1">
            <a:avLst/>
          </a:prstGeom>
          <a:noFill/>
          <a:ln w="57150" cap="flat" cmpd="sng">
            <a:solidFill>
              <a:srgbClr val="FFFF00"/>
            </a:solidFill>
            <a:prstDash val="solid"/>
            <a:round/>
            <a:headEnd type="none" w="sm" len="sm"/>
            <a:tailEnd type="triangle" w="med" len="med"/>
          </a:ln>
        </p:spPr>
      </p:cxnSp>
      <p:cxnSp>
        <p:nvCxnSpPr>
          <p:cNvPr id="28" name="Google Shape;178;p32"/>
          <p:cNvCxnSpPr/>
          <p:nvPr/>
        </p:nvCxnSpPr>
        <p:spPr>
          <a:xfrm>
            <a:off x="6858000" y="3200400"/>
            <a:ext cx="0" cy="2114550"/>
          </a:xfrm>
          <a:prstGeom prst="straightConnector1">
            <a:avLst/>
          </a:prstGeom>
          <a:noFill/>
          <a:ln w="57150" cap="flat" cmpd="sng">
            <a:solidFill>
              <a:srgbClr val="FFFF00"/>
            </a:solidFill>
            <a:prstDash val="solid"/>
            <a:round/>
            <a:headEnd type="none" w="sm" len="sm"/>
            <a:tailEnd type="triangle" w="med" len="med"/>
          </a:ln>
        </p:spPr>
      </p:cxnSp>
      <p:cxnSp>
        <p:nvCxnSpPr>
          <p:cNvPr id="29" name="Google Shape;179;p32"/>
          <p:cNvCxnSpPr/>
          <p:nvPr/>
        </p:nvCxnSpPr>
        <p:spPr>
          <a:xfrm>
            <a:off x="3543300" y="5086350"/>
            <a:ext cx="0" cy="514350"/>
          </a:xfrm>
          <a:prstGeom prst="straightConnector1">
            <a:avLst/>
          </a:prstGeom>
          <a:noFill/>
          <a:ln w="57150" cap="flat" cmpd="sng">
            <a:solidFill>
              <a:srgbClr val="FFFF00"/>
            </a:solidFill>
            <a:prstDash val="solid"/>
            <a:round/>
            <a:headEnd type="none" w="sm" len="sm"/>
            <a:tailEnd type="triangle" w="med" len="med"/>
          </a:ln>
        </p:spPr>
      </p:cxnSp>
      <p:cxnSp>
        <p:nvCxnSpPr>
          <p:cNvPr id="30" name="Google Shape;180;p32"/>
          <p:cNvCxnSpPr/>
          <p:nvPr/>
        </p:nvCxnSpPr>
        <p:spPr>
          <a:xfrm rot="10800000">
            <a:off x="3543300" y="5314950"/>
            <a:ext cx="3314700" cy="0"/>
          </a:xfrm>
          <a:prstGeom prst="straightConnector1">
            <a:avLst/>
          </a:prstGeom>
          <a:noFill/>
          <a:ln w="57150" cap="flat" cmpd="sng">
            <a:solidFill>
              <a:srgbClr val="FFFF00"/>
            </a:solidFill>
            <a:prstDash val="solid"/>
            <a:round/>
            <a:headEnd type="none" w="sm" len="sm"/>
            <a:tailEnd type="triangle" w="med" len="med"/>
          </a:ln>
        </p:spPr>
      </p:cxnSp>
    </p:spTree>
    <p:extLst>
      <p:ext uri="{BB962C8B-B14F-4D97-AF65-F5344CB8AC3E}">
        <p14:creationId xmlns:p14="http://schemas.microsoft.com/office/powerpoint/2010/main" val="91938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37b5acc6594_0_9" descr="Picture 2"/>
          <p:cNvPicPr preferRelativeResize="0"/>
          <p:nvPr/>
        </p:nvPicPr>
        <p:blipFill rotWithShape="1">
          <a:blip r:embed="rId3">
            <a:alphaModFix/>
          </a:blip>
          <a:srcRect/>
          <a:stretch/>
        </p:blipFill>
        <p:spPr>
          <a:xfrm>
            <a:off x="0" y="18458"/>
            <a:ext cx="9143999" cy="6900864"/>
          </a:xfrm>
          <a:prstGeom prst="rect">
            <a:avLst/>
          </a:prstGeom>
          <a:noFill/>
          <a:ln>
            <a:noFill/>
          </a:ln>
        </p:spPr>
      </p:pic>
      <p:pic>
        <p:nvPicPr>
          <p:cNvPr id="90" name="Google Shape;90;g37b5acc6594_0_9" descr="Picture 6"/>
          <p:cNvPicPr preferRelativeResize="0"/>
          <p:nvPr/>
        </p:nvPicPr>
        <p:blipFill rotWithShape="1">
          <a:blip r:embed="rId4">
            <a:alphaModFix/>
          </a:blip>
          <a:srcRect/>
          <a:stretch/>
        </p:blipFill>
        <p:spPr>
          <a:xfrm>
            <a:off x="1857375" y="2571750"/>
            <a:ext cx="5430837" cy="2803525"/>
          </a:xfrm>
          <a:prstGeom prst="rect">
            <a:avLst/>
          </a:prstGeom>
          <a:noFill/>
          <a:ln>
            <a:noFill/>
          </a:ln>
        </p:spPr>
      </p:pic>
      <p:sp>
        <p:nvSpPr>
          <p:cNvPr id="91" name="Google Shape;91;g37b5acc6594_0_9"/>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g37b5acc6594_0_9"/>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94" name="Google Shape;94;g37b5acc6594_0_9"/>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18" name="Google Shape;168;p32"/>
          <p:cNvSpPr txBox="1">
            <a:spLocks/>
          </p:cNvSpPr>
          <p:nvPr/>
        </p:nvSpPr>
        <p:spPr>
          <a:xfrm>
            <a:off x="148277" y="1268760"/>
            <a:ext cx="8851996" cy="1130300"/>
          </a:xfrm>
          <a:prstGeom prst="rect">
            <a:avLst/>
          </a:prstGeom>
          <a:noFill/>
          <a:ln>
            <a:noFill/>
          </a:ln>
        </p:spPr>
        <p:txBody>
          <a:bodyPr spcFirstLastPara="1" wrap="square" lIns="68550" tIns="34275" rIns="68550" bIns="34275"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endParaRPr lang="en-US" dirty="0">
              <a:latin typeface="Arial Black"/>
              <a:ea typeface="Arial Black"/>
              <a:cs typeface="Arial Black"/>
              <a:sym typeface="Arial Black"/>
            </a:endParaRPr>
          </a:p>
        </p:txBody>
      </p:sp>
      <p:sp>
        <p:nvSpPr>
          <p:cNvPr id="8" name="Google Shape;185;p33"/>
          <p:cNvSpPr txBox="1">
            <a:spLocks/>
          </p:cNvSpPr>
          <p:nvPr/>
        </p:nvSpPr>
        <p:spPr>
          <a:xfrm>
            <a:off x="323528" y="1275656"/>
            <a:ext cx="3842816" cy="1326292"/>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ITERATION</a:t>
            </a:r>
            <a:endParaRPr lang="en-US" dirty="0"/>
          </a:p>
        </p:txBody>
      </p:sp>
      <p:sp>
        <p:nvSpPr>
          <p:cNvPr id="9" name="Google Shape;186;p33"/>
          <p:cNvSpPr txBox="1">
            <a:spLocks noGrp="1"/>
          </p:cNvSpPr>
          <p:nvPr>
            <p:ph type="body" idx="1"/>
          </p:nvPr>
        </p:nvSpPr>
        <p:spPr>
          <a:xfrm>
            <a:off x="2699792" y="2399060"/>
            <a:ext cx="4716195" cy="3669030"/>
          </a:xfrm>
          <a:prstGeom prst="rect">
            <a:avLst/>
          </a:prstGeom>
          <a:noFill/>
          <a:ln>
            <a:noFill/>
          </a:ln>
        </p:spPr>
        <p:txBody>
          <a:bodyPr spcFirstLastPara="1" wrap="square" lIns="68550" tIns="34275" rIns="68550" bIns="34275" anchor="ctr" anchorCtr="0">
            <a:normAutofit fontScale="77500" lnSpcReduction="20000"/>
          </a:bodyPr>
          <a:lstStyle/>
          <a:p>
            <a:pPr marL="214313" lvl="0" indent="-214313" algn="l" rtl="0">
              <a:lnSpc>
                <a:spcPct val="100000"/>
              </a:lnSpc>
              <a:spcBef>
                <a:spcPts val="0"/>
              </a:spcBef>
              <a:spcAft>
                <a:spcPts val="0"/>
              </a:spcAft>
              <a:buSzPct val="64516"/>
              <a:buChar char="▶"/>
            </a:pPr>
            <a:r>
              <a:rPr lang="en-US" dirty="0">
                <a:solidFill>
                  <a:schemeClr val="accent2">
                    <a:lumMod val="75000"/>
                  </a:schemeClr>
                </a:solidFill>
              </a:rPr>
              <a:t>Iteration construct means repetition of set of statements depending upon a condition test. Till the time of condition is true. ( or false depending upon the loop). A set of statements are repeated again and again. As soon as the condition become false (or true), the repetition stops. The iteration condition is also called </a:t>
            </a:r>
            <a:r>
              <a:rPr lang="en-US" b="1" dirty="0">
                <a:solidFill>
                  <a:schemeClr val="accent2">
                    <a:lumMod val="75000"/>
                  </a:schemeClr>
                </a:solidFill>
              </a:rPr>
              <a:t>”Looping Construct”</a:t>
            </a:r>
            <a:r>
              <a:rPr lang="en-US" dirty="0">
                <a:solidFill>
                  <a:schemeClr val="accent2">
                    <a:lumMod val="75000"/>
                  </a:schemeClr>
                </a:solidFill>
              </a:rPr>
              <a:t>.</a:t>
            </a:r>
            <a:endParaRPr dirty="0">
              <a:solidFill>
                <a:schemeClr val="accent2">
                  <a:lumMod val="75000"/>
                </a:schemeClr>
              </a:solidFill>
            </a:endParaRPr>
          </a:p>
        </p:txBody>
      </p:sp>
    </p:spTree>
    <p:extLst>
      <p:ext uri="{BB962C8B-B14F-4D97-AF65-F5344CB8AC3E}">
        <p14:creationId xmlns:p14="http://schemas.microsoft.com/office/powerpoint/2010/main" val="456378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37b5acc6594_0_9" descr="Picture 2"/>
          <p:cNvPicPr preferRelativeResize="0"/>
          <p:nvPr/>
        </p:nvPicPr>
        <p:blipFill rotWithShape="1">
          <a:blip r:embed="rId3">
            <a:alphaModFix/>
          </a:blip>
          <a:srcRect/>
          <a:stretch/>
        </p:blipFill>
        <p:spPr>
          <a:xfrm>
            <a:off x="0" y="18458"/>
            <a:ext cx="9143999" cy="6900864"/>
          </a:xfrm>
          <a:prstGeom prst="rect">
            <a:avLst/>
          </a:prstGeom>
          <a:noFill/>
          <a:ln>
            <a:noFill/>
          </a:ln>
        </p:spPr>
      </p:pic>
      <p:pic>
        <p:nvPicPr>
          <p:cNvPr id="90" name="Google Shape;90;g37b5acc6594_0_9" descr="Picture 6"/>
          <p:cNvPicPr preferRelativeResize="0"/>
          <p:nvPr/>
        </p:nvPicPr>
        <p:blipFill rotWithShape="1">
          <a:blip r:embed="rId4">
            <a:alphaModFix/>
          </a:blip>
          <a:srcRect/>
          <a:stretch/>
        </p:blipFill>
        <p:spPr>
          <a:xfrm>
            <a:off x="1857375" y="2309776"/>
            <a:ext cx="5430837" cy="3065500"/>
          </a:xfrm>
          <a:prstGeom prst="rect">
            <a:avLst/>
          </a:prstGeom>
          <a:noFill/>
          <a:ln>
            <a:noFill/>
          </a:ln>
        </p:spPr>
      </p:pic>
      <p:sp>
        <p:nvSpPr>
          <p:cNvPr id="91" name="Google Shape;91;g37b5acc6594_0_9"/>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g37b5acc6594_0_9"/>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94" name="Google Shape;94;g37b5acc6594_0_9"/>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18" name="Google Shape;168;p32"/>
          <p:cNvSpPr txBox="1">
            <a:spLocks/>
          </p:cNvSpPr>
          <p:nvPr/>
        </p:nvSpPr>
        <p:spPr>
          <a:xfrm>
            <a:off x="148277" y="1268760"/>
            <a:ext cx="8851996" cy="1130300"/>
          </a:xfrm>
          <a:prstGeom prst="rect">
            <a:avLst/>
          </a:prstGeom>
          <a:noFill/>
          <a:ln>
            <a:noFill/>
          </a:ln>
        </p:spPr>
        <p:txBody>
          <a:bodyPr spcFirstLastPara="1" wrap="square" lIns="68550" tIns="34275" rIns="68550" bIns="34275"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endParaRPr lang="en-US" dirty="0">
              <a:latin typeface="Arial Black"/>
              <a:ea typeface="Arial Black"/>
              <a:cs typeface="Arial Black"/>
              <a:sym typeface="Arial Black"/>
            </a:endParaRPr>
          </a:p>
        </p:txBody>
      </p:sp>
      <p:sp>
        <p:nvSpPr>
          <p:cNvPr id="8" name="Google Shape;191;p34"/>
          <p:cNvSpPr txBox="1">
            <a:spLocks/>
          </p:cNvSpPr>
          <p:nvPr/>
        </p:nvSpPr>
        <p:spPr>
          <a:xfrm>
            <a:off x="350662" y="1452525"/>
            <a:ext cx="7821738" cy="857250"/>
          </a:xfrm>
          <a:prstGeom prst="rect">
            <a:avLst/>
          </a:prstGeom>
          <a:noFill/>
          <a:ln>
            <a:noFill/>
          </a:ln>
        </p:spPr>
        <p:txBody>
          <a:bodyPr spcFirstLastPara="1" wrap="square" lIns="68550" tIns="34275" rIns="68550" bIns="34275" anchor="ctr" anchorCtr="0">
            <a:normAutofit fontScale="825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b="1" dirty="0" smtClean="0">
                <a:latin typeface="Arial Black"/>
                <a:ea typeface="Arial Black"/>
                <a:cs typeface="Arial Black"/>
                <a:sym typeface="Arial Black"/>
              </a:rPr>
              <a:t>THE ITERATION CONSTRUCT</a:t>
            </a:r>
            <a:endParaRPr lang="en-US" dirty="0"/>
          </a:p>
        </p:txBody>
      </p:sp>
      <p:sp>
        <p:nvSpPr>
          <p:cNvPr id="9" name="Google Shape;192;p34"/>
          <p:cNvSpPr/>
          <p:nvPr/>
        </p:nvSpPr>
        <p:spPr>
          <a:xfrm>
            <a:off x="3479625" y="3210606"/>
            <a:ext cx="1200150" cy="1314450"/>
          </a:xfrm>
          <a:prstGeom prst="diamond">
            <a:avLst/>
          </a:prstGeom>
          <a:solidFill>
            <a:srgbClr val="FF0000"/>
          </a:solidFill>
          <a:ln w="57150" cap="flat" cmpd="sng">
            <a:solidFill>
              <a:srgbClr val="FFFF00"/>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500" b="1" i="0" u="none" strike="noStrike" cap="none">
                <a:solidFill>
                  <a:srgbClr val="FFFF00"/>
                </a:solidFill>
                <a:latin typeface="Arimo"/>
                <a:ea typeface="Arimo"/>
                <a:cs typeface="Arimo"/>
                <a:sym typeface="Arimo"/>
              </a:rPr>
              <a:t>Condition ?</a:t>
            </a:r>
            <a:endParaRPr sz="1050" b="0" i="0" u="none" strike="noStrike" cap="none">
              <a:solidFill>
                <a:srgbClr val="000000"/>
              </a:solidFill>
              <a:latin typeface="Arial"/>
              <a:ea typeface="Arial"/>
              <a:cs typeface="Arial"/>
              <a:sym typeface="Arial"/>
            </a:endParaRPr>
          </a:p>
        </p:txBody>
      </p:sp>
      <p:sp>
        <p:nvSpPr>
          <p:cNvPr id="10" name="Google Shape;193;p34"/>
          <p:cNvSpPr/>
          <p:nvPr/>
        </p:nvSpPr>
        <p:spPr>
          <a:xfrm>
            <a:off x="3536775" y="4753656"/>
            <a:ext cx="1085850" cy="457200"/>
          </a:xfrm>
          <a:prstGeom prst="roundRect">
            <a:avLst>
              <a:gd name="adj" fmla="val 16667"/>
            </a:avLst>
          </a:prstGeom>
          <a:solidFill>
            <a:srgbClr val="FF0000"/>
          </a:solidFill>
          <a:ln w="5715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1</a:t>
            </a:r>
            <a:endParaRPr sz="1050" b="0" i="0" u="none" strike="noStrike" cap="none">
              <a:solidFill>
                <a:srgbClr val="000000"/>
              </a:solidFill>
              <a:latin typeface="Arial"/>
              <a:ea typeface="Arial"/>
              <a:cs typeface="Arial"/>
              <a:sym typeface="Arial"/>
            </a:endParaRPr>
          </a:p>
        </p:txBody>
      </p:sp>
      <p:sp>
        <p:nvSpPr>
          <p:cNvPr id="11" name="Google Shape;194;p34"/>
          <p:cNvSpPr/>
          <p:nvPr/>
        </p:nvSpPr>
        <p:spPr>
          <a:xfrm>
            <a:off x="3593925" y="5496606"/>
            <a:ext cx="1085850" cy="457200"/>
          </a:xfrm>
          <a:prstGeom prst="roundRect">
            <a:avLst>
              <a:gd name="adj" fmla="val 16667"/>
            </a:avLst>
          </a:prstGeom>
          <a:solidFill>
            <a:srgbClr val="FF0000"/>
          </a:solidFill>
          <a:ln w="5715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2</a:t>
            </a:r>
            <a:endParaRPr sz="1050" b="0" i="0" u="none" strike="noStrike" cap="none">
              <a:solidFill>
                <a:srgbClr val="000000"/>
              </a:solidFill>
              <a:latin typeface="Arial"/>
              <a:ea typeface="Arial"/>
              <a:cs typeface="Arial"/>
              <a:sym typeface="Arial"/>
            </a:endParaRPr>
          </a:p>
        </p:txBody>
      </p:sp>
      <p:cxnSp>
        <p:nvCxnSpPr>
          <p:cNvPr id="12" name="Google Shape;195;p34"/>
          <p:cNvCxnSpPr/>
          <p:nvPr/>
        </p:nvCxnSpPr>
        <p:spPr>
          <a:xfrm>
            <a:off x="4065413" y="4525056"/>
            <a:ext cx="0" cy="228600"/>
          </a:xfrm>
          <a:prstGeom prst="straightConnector1">
            <a:avLst/>
          </a:prstGeom>
          <a:noFill/>
          <a:ln w="57150" cap="flat" cmpd="sng">
            <a:solidFill>
              <a:srgbClr val="FFFF00"/>
            </a:solidFill>
            <a:prstDash val="solid"/>
            <a:round/>
            <a:headEnd type="none" w="sm" len="sm"/>
            <a:tailEnd type="triangle" w="med" len="med"/>
          </a:ln>
        </p:spPr>
      </p:cxnSp>
      <p:cxnSp>
        <p:nvCxnSpPr>
          <p:cNvPr id="13" name="Google Shape;196;p34"/>
          <p:cNvCxnSpPr/>
          <p:nvPr/>
        </p:nvCxnSpPr>
        <p:spPr>
          <a:xfrm>
            <a:off x="4108275" y="5210856"/>
            <a:ext cx="0" cy="228600"/>
          </a:xfrm>
          <a:prstGeom prst="straightConnector1">
            <a:avLst/>
          </a:prstGeom>
          <a:noFill/>
          <a:ln w="57150" cap="flat" cmpd="sng">
            <a:solidFill>
              <a:srgbClr val="FFFF00"/>
            </a:solidFill>
            <a:prstDash val="solid"/>
            <a:round/>
            <a:headEnd type="none" w="sm" len="sm"/>
            <a:tailEnd type="triangle" w="med" len="med"/>
          </a:ln>
        </p:spPr>
      </p:cxnSp>
      <p:cxnSp>
        <p:nvCxnSpPr>
          <p:cNvPr id="14" name="Google Shape;197;p34"/>
          <p:cNvCxnSpPr/>
          <p:nvPr/>
        </p:nvCxnSpPr>
        <p:spPr>
          <a:xfrm>
            <a:off x="2679525" y="3896406"/>
            <a:ext cx="800100" cy="0"/>
          </a:xfrm>
          <a:prstGeom prst="straightConnector1">
            <a:avLst/>
          </a:prstGeom>
          <a:noFill/>
          <a:ln w="57150" cap="flat" cmpd="sng">
            <a:solidFill>
              <a:srgbClr val="FFFF00"/>
            </a:solidFill>
            <a:prstDash val="solid"/>
            <a:round/>
            <a:headEnd type="none" w="sm" len="sm"/>
            <a:tailEnd type="triangle" w="med" len="med"/>
          </a:ln>
        </p:spPr>
      </p:cxnSp>
      <p:cxnSp>
        <p:nvCxnSpPr>
          <p:cNvPr id="15" name="Google Shape;198;p34"/>
          <p:cNvCxnSpPr/>
          <p:nvPr/>
        </p:nvCxnSpPr>
        <p:spPr>
          <a:xfrm rot="10800000">
            <a:off x="2665238" y="3867831"/>
            <a:ext cx="0" cy="2457450"/>
          </a:xfrm>
          <a:prstGeom prst="straightConnector1">
            <a:avLst/>
          </a:prstGeom>
          <a:noFill/>
          <a:ln w="57150" cap="flat" cmpd="sng">
            <a:solidFill>
              <a:srgbClr val="FFFF00"/>
            </a:solidFill>
            <a:prstDash val="solid"/>
            <a:round/>
            <a:headEnd type="none" w="sm" len="sm"/>
            <a:tailEnd type="triangle" w="med" len="med"/>
          </a:ln>
        </p:spPr>
      </p:cxnSp>
      <p:cxnSp>
        <p:nvCxnSpPr>
          <p:cNvPr id="16" name="Google Shape;199;p34"/>
          <p:cNvCxnSpPr/>
          <p:nvPr/>
        </p:nvCxnSpPr>
        <p:spPr>
          <a:xfrm rot="10800000">
            <a:off x="2679525" y="6339568"/>
            <a:ext cx="1485900" cy="0"/>
          </a:xfrm>
          <a:prstGeom prst="straightConnector1">
            <a:avLst/>
          </a:prstGeom>
          <a:noFill/>
          <a:ln w="57150" cap="flat" cmpd="sng">
            <a:solidFill>
              <a:srgbClr val="FFFF00"/>
            </a:solidFill>
            <a:prstDash val="solid"/>
            <a:round/>
            <a:headEnd type="none" w="sm" len="sm"/>
            <a:tailEnd type="none" w="sm" len="sm"/>
          </a:ln>
        </p:spPr>
      </p:cxnSp>
      <p:cxnSp>
        <p:nvCxnSpPr>
          <p:cNvPr id="17" name="Google Shape;200;p34"/>
          <p:cNvCxnSpPr/>
          <p:nvPr/>
        </p:nvCxnSpPr>
        <p:spPr>
          <a:xfrm>
            <a:off x="4165425" y="5953806"/>
            <a:ext cx="0" cy="400050"/>
          </a:xfrm>
          <a:prstGeom prst="straightConnector1">
            <a:avLst/>
          </a:prstGeom>
          <a:noFill/>
          <a:ln w="57150" cap="flat" cmpd="sng">
            <a:solidFill>
              <a:srgbClr val="FFFF00"/>
            </a:solidFill>
            <a:prstDash val="solid"/>
            <a:round/>
            <a:headEnd type="none" w="sm" len="sm"/>
            <a:tailEnd type="triangle" w="med" len="med"/>
          </a:ln>
        </p:spPr>
      </p:cxnSp>
      <p:sp>
        <p:nvSpPr>
          <p:cNvPr id="19" name="Google Shape;201;p34"/>
          <p:cNvSpPr txBox="1"/>
          <p:nvPr/>
        </p:nvSpPr>
        <p:spPr>
          <a:xfrm>
            <a:off x="4908375" y="5096556"/>
            <a:ext cx="2543175" cy="438551"/>
          </a:xfrm>
          <a:prstGeom prst="rect">
            <a:avLst/>
          </a:prstGeom>
          <a:solidFill>
            <a:srgbClr val="FF0000"/>
          </a:solidFill>
          <a:ln w="57150" cap="flat" cmpd="sng">
            <a:solidFill>
              <a:srgbClr val="FFFF00"/>
            </a:solidFill>
            <a:prstDash val="solid"/>
            <a:miter lim="800000"/>
            <a:headEnd type="none" w="sm" len="sm"/>
            <a:tailEnd type="none" w="sm" len="sm"/>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US" sz="2400" b="1" i="0" u="none" strike="noStrike" cap="none">
                <a:solidFill>
                  <a:srgbClr val="FFFF00"/>
                </a:solidFill>
                <a:latin typeface="Arial"/>
                <a:ea typeface="Arial"/>
                <a:cs typeface="Arial"/>
                <a:sym typeface="Arial"/>
              </a:rPr>
              <a:t>The Loop Body</a:t>
            </a:r>
            <a:endParaRPr sz="1050" b="0" i="0" u="none" strike="noStrike" cap="none">
              <a:solidFill>
                <a:srgbClr val="000000"/>
              </a:solidFill>
              <a:latin typeface="Arial"/>
              <a:ea typeface="Arial"/>
              <a:cs typeface="Arial"/>
              <a:sym typeface="Arial"/>
            </a:endParaRPr>
          </a:p>
        </p:txBody>
      </p:sp>
      <p:cxnSp>
        <p:nvCxnSpPr>
          <p:cNvPr id="20" name="Google Shape;202;p34"/>
          <p:cNvCxnSpPr/>
          <p:nvPr/>
        </p:nvCxnSpPr>
        <p:spPr>
          <a:xfrm>
            <a:off x="4079700" y="2881993"/>
            <a:ext cx="0" cy="342900"/>
          </a:xfrm>
          <a:prstGeom prst="straightConnector1">
            <a:avLst/>
          </a:prstGeom>
          <a:noFill/>
          <a:ln w="57150" cap="flat" cmpd="sng">
            <a:solidFill>
              <a:srgbClr val="FFFF00"/>
            </a:solidFill>
            <a:prstDash val="solid"/>
            <a:round/>
            <a:headEnd type="none" w="sm" len="sm"/>
            <a:tailEnd type="triangle" w="med" len="med"/>
          </a:ln>
        </p:spPr>
      </p:cxnSp>
      <p:cxnSp>
        <p:nvCxnSpPr>
          <p:cNvPr id="21" name="Google Shape;203;p34"/>
          <p:cNvCxnSpPr/>
          <p:nvPr/>
        </p:nvCxnSpPr>
        <p:spPr>
          <a:xfrm>
            <a:off x="4695254" y="3878547"/>
            <a:ext cx="1371600" cy="0"/>
          </a:xfrm>
          <a:prstGeom prst="straightConnector1">
            <a:avLst/>
          </a:prstGeom>
          <a:noFill/>
          <a:ln w="57150" cap="flat" cmpd="sng">
            <a:solidFill>
              <a:srgbClr val="FFFF00"/>
            </a:solidFill>
            <a:prstDash val="solid"/>
            <a:round/>
            <a:headEnd type="none" w="sm" len="sm"/>
            <a:tailEnd type="triangle" w="med" len="med"/>
          </a:ln>
        </p:spPr>
      </p:cxnSp>
      <p:sp>
        <p:nvSpPr>
          <p:cNvPr id="22" name="Google Shape;204;p34"/>
          <p:cNvSpPr txBox="1"/>
          <p:nvPr/>
        </p:nvSpPr>
        <p:spPr>
          <a:xfrm>
            <a:off x="4194000" y="4310744"/>
            <a:ext cx="857250" cy="346218"/>
          </a:xfrm>
          <a:prstGeom prst="rect">
            <a:avLst/>
          </a:prstGeom>
          <a:solidFill>
            <a:srgbClr val="FF0000"/>
          </a:solidFill>
          <a:ln w="57150" cap="flat" cmpd="sng">
            <a:solidFill>
              <a:srgbClr val="FFFF00"/>
            </a:solidFill>
            <a:prstDash val="solid"/>
            <a:miter lim="800000"/>
            <a:headEnd type="none" w="sm" len="sm"/>
            <a:tailEnd type="none" w="sm" len="sm"/>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US" sz="1800" b="1" i="0" u="none" strike="noStrike" cap="none">
                <a:solidFill>
                  <a:srgbClr val="FFFF00"/>
                </a:solidFill>
                <a:latin typeface="Arial"/>
                <a:ea typeface="Arial"/>
                <a:cs typeface="Arial"/>
                <a:sym typeface="Arial"/>
              </a:rPr>
              <a:t>True</a:t>
            </a:r>
            <a:endParaRPr sz="1050" b="0" i="0" u="none" strike="noStrike" cap="none">
              <a:solidFill>
                <a:srgbClr val="000000"/>
              </a:solidFill>
              <a:latin typeface="Arial"/>
              <a:ea typeface="Arial"/>
              <a:cs typeface="Arial"/>
              <a:sym typeface="Arial"/>
            </a:endParaRPr>
          </a:p>
        </p:txBody>
      </p:sp>
      <p:sp>
        <p:nvSpPr>
          <p:cNvPr id="23" name="Google Shape;205;p34"/>
          <p:cNvSpPr txBox="1"/>
          <p:nvPr/>
        </p:nvSpPr>
        <p:spPr>
          <a:xfrm>
            <a:off x="5938266" y="3339194"/>
            <a:ext cx="857250" cy="346218"/>
          </a:xfrm>
          <a:prstGeom prst="rect">
            <a:avLst/>
          </a:prstGeom>
          <a:solidFill>
            <a:srgbClr val="FF0000"/>
          </a:solidFill>
          <a:ln w="57150" cap="flat" cmpd="sng">
            <a:solidFill>
              <a:srgbClr val="FFFF00"/>
            </a:solidFill>
            <a:prstDash val="solid"/>
            <a:miter lim="800000"/>
            <a:headEnd type="none" w="sm" len="sm"/>
            <a:tailEnd type="none" w="sm" len="sm"/>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US" sz="1800" b="1" i="0" u="none" strike="noStrike" cap="none">
                <a:solidFill>
                  <a:srgbClr val="FFFF00"/>
                </a:solidFill>
                <a:latin typeface="Arial"/>
                <a:ea typeface="Arial"/>
                <a:cs typeface="Arial"/>
                <a:sym typeface="Arial"/>
              </a:rPr>
              <a:t>False</a:t>
            </a:r>
            <a:endParaRPr sz="105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91906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37b5acc6594_0_9" descr="Picture 2"/>
          <p:cNvPicPr preferRelativeResize="0"/>
          <p:nvPr/>
        </p:nvPicPr>
        <p:blipFill rotWithShape="1">
          <a:blip r:embed="rId3">
            <a:alphaModFix/>
          </a:blip>
          <a:srcRect/>
          <a:stretch/>
        </p:blipFill>
        <p:spPr>
          <a:xfrm>
            <a:off x="0" y="18458"/>
            <a:ext cx="9143999" cy="6900864"/>
          </a:xfrm>
          <a:prstGeom prst="rect">
            <a:avLst/>
          </a:prstGeom>
          <a:noFill/>
          <a:ln>
            <a:noFill/>
          </a:ln>
        </p:spPr>
      </p:pic>
      <p:pic>
        <p:nvPicPr>
          <p:cNvPr id="90" name="Google Shape;90;g37b5acc6594_0_9" descr="Picture 6"/>
          <p:cNvPicPr preferRelativeResize="0"/>
          <p:nvPr/>
        </p:nvPicPr>
        <p:blipFill rotWithShape="1">
          <a:blip r:embed="rId4">
            <a:alphaModFix/>
          </a:blip>
          <a:srcRect/>
          <a:stretch/>
        </p:blipFill>
        <p:spPr>
          <a:xfrm>
            <a:off x="1857375" y="2571750"/>
            <a:ext cx="5430837" cy="2803525"/>
          </a:xfrm>
          <a:prstGeom prst="rect">
            <a:avLst/>
          </a:prstGeom>
          <a:noFill/>
          <a:ln>
            <a:noFill/>
          </a:ln>
        </p:spPr>
      </p:pic>
      <p:sp>
        <p:nvSpPr>
          <p:cNvPr id="91" name="Google Shape;91;g37b5acc6594_0_9"/>
          <p:cNvSpPr/>
          <p:nvPr/>
        </p:nvSpPr>
        <p:spPr>
          <a:xfrm>
            <a:off x="2275" y="1524000"/>
            <a:ext cx="9144000" cy="714300"/>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3" name="Google Shape;93;g37b5acc6594_0_9"/>
          <p:cNvSpPr/>
          <p:nvPr/>
        </p:nvSpPr>
        <p:spPr>
          <a:xfrm>
            <a:off x="0" y="2238375"/>
            <a:ext cx="8959500" cy="3545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94" name="Google Shape;94;g37b5acc6594_0_9"/>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210;p35"/>
          <p:cNvSpPr txBox="1">
            <a:spLocks/>
          </p:cNvSpPr>
          <p:nvPr/>
        </p:nvSpPr>
        <p:spPr>
          <a:xfrm>
            <a:off x="763839" y="5375275"/>
            <a:ext cx="6400800" cy="1130300"/>
          </a:xfrm>
          <a:prstGeom prst="rect">
            <a:avLst/>
          </a:prstGeom>
          <a:noFill/>
          <a:ln>
            <a:noFill/>
          </a:ln>
        </p:spPr>
        <p:txBody>
          <a:bodyPr spcFirstLastPara="1" wrap="square" lIns="68550" tIns="34275" rIns="68550" bIns="34275" anchor="ctr" anchorCtr="0">
            <a:normAutofit fontScale="67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b="1" smtClean="0">
                <a:latin typeface="Arial Black"/>
                <a:ea typeface="Arial Black"/>
                <a:cs typeface="Arial Black"/>
                <a:sym typeface="Arial Black"/>
              </a:rPr>
              <a:t>THE SELECTION STATEMENT – IF STATEMENT</a:t>
            </a:r>
            <a:endParaRPr lang="en-US"/>
          </a:p>
        </p:txBody>
      </p:sp>
      <p:sp>
        <p:nvSpPr>
          <p:cNvPr id="9" name="Google Shape;211;p35"/>
          <p:cNvSpPr txBox="1">
            <a:spLocks noGrp="1"/>
          </p:cNvSpPr>
          <p:nvPr>
            <p:ph type="body" idx="1"/>
          </p:nvPr>
        </p:nvSpPr>
        <p:spPr>
          <a:xfrm>
            <a:off x="3494952" y="2560010"/>
            <a:ext cx="4944847" cy="2681913"/>
          </a:xfrm>
          <a:prstGeom prst="rect">
            <a:avLst/>
          </a:prstGeom>
          <a:noFill/>
          <a:ln>
            <a:noFill/>
          </a:ln>
        </p:spPr>
        <p:txBody>
          <a:bodyPr spcFirstLastPara="1" wrap="square" lIns="68550" tIns="34275" rIns="68550" bIns="34275" anchor="ctr" anchorCtr="0">
            <a:normAutofit fontScale="77500" lnSpcReduction="20000"/>
          </a:bodyPr>
          <a:lstStyle/>
          <a:p>
            <a:pPr marL="214313" lvl="0" indent="-214313" algn="l" rtl="0">
              <a:lnSpc>
                <a:spcPct val="100000"/>
              </a:lnSpc>
              <a:spcBef>
                <a:spcPts val="0"/>
              </a:spcBef>
              <a:spcAft>
                <a:spcPts val="0"/>
              </a:spcAft>
              <a:buSzPct val="64516"/>
              <a:buChar char="▶"/>
            </a:pPr>
            <a:r>
              <a:rPr lang="en-US">
                <a:latin typeface="Arial"/>
                <a:ea typeface="Arial"/>
                <a:cs typeface="Arial"/>
                <a:sym typeface="Arial"/>
              </a:rPr>
              <a:t>An if statement test a particular condition, if the condition evaluated  to true, a course of action is followed, i.e., a statement or a set of statement is executed.  Otherwise if the condition evaluated to false then the course of action is ignored.</a:t>
            </a:r>
            <a:endParaRPr/>
          </a:p>
          <a:p>
            <a:pPr marL="214313" lvl="0" indent="-214313" algn="l" rtl="0">
              <a:lnSpc>
                <a:spcPct val="100000"/>
              </a:lnSpc>
              <a:spcBef>
                <a:spcPts val="750"/>
              </a:spcBef>
              <a:spcAft>
                <a:spcPts val="0"/>
              </a:spcAft>
              <a:buSzPct val="64516"/>
              <a:buNone/>
            </a:pPr>
            <a:endParaRPr>
              <a:latin typeface="Arial"/>
              <a:ea typeface="Arial"/>
              <a:cs typeface="Arial"/>
              <a:sym typeface="Arial"/>
            </a:endParaRPr>
          </a:p>
        </p:txBody>
      </p:sp>
      <p:pic>
        <p:nvPicPr>
          <p:cNvPr id="10" name="Google Shape;212;p35" descr="Head with Gears"/>
          <p:cNvPicPr preferRelativeResize="0"/>
          <p:nvPr/>
        </p:nvPicPr>
        <p:blipFill rotWithShape="1">
          <a:blip r:embed="rId5">
            <a:alphaModFix/>
          </a:blip>
          <a:srcRect/>
          <a:stretch/>
        </p:blipFill>
        <p:spPr>
          <a:xfrm>
            <a:off x="844110" y="2703282"/>
            <a:ext cx="2388831" cy="2388831"/>
          </a:xfrm>
          <a:prstGeom prst="rect">
            <a:avLst/>
          </a:prstGeom>
          <a:noFill/>
          <a:ln>
            <a:noFill/>
          </a:ln>
        </p:spPr>
      </p:pic>
    </p:spTree>
    <p:extLst>
      <p:ext uri="{BB962C8B-B14F-4D97-AF65-F5344CB8AC3E}">
        <p14:creationId xmlns:p14="http://schemas.microsoft.com/office/powerpoint/2010/main" val="3923839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2276" y="-27043"/>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218;p36"/>
          <p:cNvSpPr txBox="1">
            <a:spLocks noGrp="1"/>
          </p:cNvSpPr>
          <p:nvPr>
            <p:ph type="body" idx="1"/>
          </p:nvPr>
        </p:nvSpPr>
        <p:spPr>
          <a:xfrm>
            <a:off x="3923928" y="2571750"/>
            <a:ext cx="4716195" cy="3669030"/>
          </a:xfrm>
          <a:prstGeom prst="rect">
            <a:avLst/>
          </a:prstGeom>
          <a:noFill/>
          <a:ln>
            <a:noFill/>
          </a:ln>
        </p:spPr>
        <p:txBody>
          <a:bodyPr spcFirstLastPara="1" wrap="square" lIns="68550" tIns="34275" rIns="68550" bIns="34275" anchor="ctr" anchorCtr="0">
            <a:normAutofit fontScale="77500" lnSpcReduction="20000"/>
          </a:bodyPr>
          <a:lstStyle/>
          <a:p>
            <a:pPr marL="214313" lvl="0" indent="-214313" algn="l" rtl="0">
              <a:lnSpc>
                <a:spcPct val="100000"/>
              </a:lnSpc>
              <a:spcBef>
                <a:spcPts val="0"/>
              </a:spcBef>
              <a:spcAft>
                <a:spcPts val="0"/>
              </a:spcAft>
              <a:buSzPct val="64516"/>
              <a:buChar char="▶"/>
            </a:pPr>
            <a:r>
              <a:rPr lang="en-US" dirty="0">
                <a:solidFill>
                  <a:schemeClr val="tx1">
                    <a:lumMod val="85000"/>
                    <a:lumOff val="15000"/>
                  </a:schemeClr>
                </a:solidFill>
                <a:latin typeface="Arial"/>
                <a:ea typeface="Arial"/>
                <a:cs typeface="Arial"/>
                <a:sym typeface="Arial"/>
              </a:rPr>
              <a:t>if (condition)</a:t>
            </a:r>
            <a:endParaRPr dirty="0">
              <a:solidFill>
                <a:schemeClr val="tx1">
                  <a:lumMod val="85000"/>
                  <a:lumOff val="15000"/>
                </a:schemeClr>
              </a:solidFill>
            </a:endParaRPr>
          </a:p>
          <a:p>
            <a:pPr marL="214313" lvl="0" indent="-214313" algn="l" rtl="0">
              <a:lnSpc>
                <a:spcPct val="100000"/>
              </a:lnSpc>
              <a:spcBef>
                <a:spcPts val="750"/>
              </a:spcBef>
              <a:spcAft>
                <a:spcPts val="0"/>
              </a:spcAft>
              <a:buSzPct val="64516"/>
              <a:buNone/>
            </a:pPr>
            <a:r>
              <a:rPr lang="en-US" dirty="0">
                <a:solidFill>
                  <a:schemeClr val="tx1">
                    <a:lumMod val="85000"/>
                    <a:lumOff val="15000"/>
                  </a:schemeClr>
                </a:solidFill>
                <a:latin typeface="Arial"/>
                <a:ea typeface="Arial"/>
                <a:cs typeface="Arial"/>
                <a:sym typeface="Arial"/>
              </a:rPr>
              <a:t>	statement 1;</a:t>
            </a:r>
            <a:endParaRPr dirty="0">
              <a:solidFill>
                <a:schemeClr val="tx1">
                  <a:lumMod val="85000"/>
                  <a:lumOff val="15000"/>
                </a:schemeClr>
              </a:solidFill>
            </a:endParaRPr>
          </a:p>
          <a:p>
            <a:pPr marL="214313" lvl="0" indent="-214313" algn="l" rtl="0">
              <a:lnSpc>
                <a:spcPct val="100000"/>
              </a:lnSpc>
              <a:spcBef>
                <a:spcPts val="750"/>
              </a:spcBef>
              <a:spcAft>
                <a:spcPts val="0"/>
              </a:spcAft>
              <a:buSzPct val="64516"/>
              <a:buNone/>
            </a:pPr>
            <a:r>
              <a:rPr lang="en-US" dirty="0">
                <a:solidFill>
                  <a:schemeClr val="tx1">
                    <a:lumMod val="85000"/>
                    <a:lumOff val="15000"/>
                  </a:schemeClr>
                </a:solidFill>
                <a:latin typeface="Arial"/>
                <a:ea typeface="Arial"/>
                <a:cs typeface="Arial"/>
                <a:sym typeface="Arial"/>
              </a:rPr>
              <a:t>The statement may consist of single or compound. If the condition evaluates non zero value that is true then the statement 1 is executed otherwise if the condition evaluates zero i.e., false then the statement 1 is ignored.</a:t>
            </a:r>
            <a:endParaRPr dirty="0">
              <a:solidFill>
                <a:schemeClr val="tx1">
                  <a:lumMod val="85000"/>
                  <a:lumOff val="15000"/>
                </a:schemeClr>
              </a:solidFill>
            </a:endParaRPr>
          </a:p>
        </p:txBody>
      </p:sp>
      <p:sp>
        <p:nvSpPr>
          <p:cNvPr id="2" name="Rectangle 1"/>
          <p:cNvSpPr/>
          <p:nvPr/>
        </p:nvSpPr>
        <p:spPr>
          <a:xfrm>
            <a:off x="179512" y="1619577"/>
            <a:ext cx="7920880" cy="523220"/>
          </a:xfrm>
          <a:prstGeom prst="rect">
            <a:avLst/>
          </a:prstGeom>
        </p:spPr>
        <p:txBody>
          <a:bodyPr wrap="square">
            <a:spAutoFit/>
          </a:bodyPr>
          <a:lstStyle/>
          <a:p>
            <a:r>
              <a:rPr lang="en-US" sz="2800" b="1" dirty="0">
                <a:latin typeface="Arial Black"/>
                <a:ea typeface="Arial Black"/>
                <a:cs typeface="Arial Black"/>
                <a:sym typeface="Arial Black"/>
              </a:rPr>
              <a:t>SYNTAX OF </a:t>
            </a:r>
            <a:r>
              <a:rPr lang="en-US" sz="2800" b="1" dirty="0" smtClean="0">
                <a:latin typeface="Arial Black"/>
                <a:ea typeface="Arial Black"/>
                <a:cs typeface="Arial Black"/>
                <a:sym typeface="Arial Black"/>
              </a:rPr>
              <a:t> IF </a:t>
            </a:r>
            <a:r>
              <a:rPr lang="en-US" sz="2800" b="1" dirty="0">
                <a:latin typeface="Arial Black"/>
                <a:ea typeface="Arial Black"/>
                <a:cs typeface="Arial Black"/>
                <a:sym typeface="Arial Black"/>
              </a:rPr>
              <a:t>STATEMENT</a:t>
            </a:r>
            <a:endParaRPr lang="en-IN" sz="2800" dirty="0"/>
          </a:p>
        </p:txBody>
      </p:sp>
    </p:spTree>
    <p:extLst>
      <p:ext uri="{BB962C8B-B14F-4D97-AF65-F5344CB8AC3E}">
        <p14:creationId xmlns:p14="http://schemas.microsoft.com/office/powerpoint/2010/main" val="540070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72008" y="61117"/>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224;p37"/>
          <p:cNvSpPr txBox="1">
            <a:spLocks noGrp="1"/>
          </p:cNvSpPr>
          <p:nvPr>
            <p:ph type="body" idx="1"/>
          </p:nvPr>
        </p:nvSpPr>
        <p:spPr>
          <a:xfrm>
            <a:off x="4716016" y="2492896"/>
            <a:ext cx="4716195" cy="3669030"/>
          </a:xfrm>
          <a:prstGeom prst="rect">
            <a:avLst/>
          </a:prstGeom>
          <a:noFill/>
          <a:ln>
            <a:noFill/>
          </a:ln>
        </p:spPr>
        <p:txBody>
          <a:bodyPr spcFirstLastPara="1" wrap="square" lIns="68550" tIns="34275" rIns="68550" bIns="34275" anchor="ctr" anchorCtr="0">
            <a:normAutofit lnSpcReduction="10000"/>
          </a:bodyPr>
          <a:lstStyle/>
          <a:p>
            <a:pPr marL="214313" lvl="0" indent="-214313" algn="l" rtl="0">
              <a:lnSpc>
                <a:spcPct val="100000"/>
              </a:lnSpc>
              <a:spcBef>
                <a:spcPts val="0"/>
              </a:spcBef>
              <a:spcAft>
                <a:spcPts val="0"/>
              </a:spcAft>
              <a:buSzPts val="1600"/>
              <a:buNone/>
            </a:pPr>
            <a:r>
              <a:rPr lang="en-US" dirty="0">
                <a:solidFill>
                  <a:schemeClr val="tx1">
                    <a:lumMod val="85000"/>
                    <a:lumOff val="15000"/>
                  </a:schemeClr>
                </a:solidFill>
                <a:latin typeface="Arial"/>
                <a:ea typeface="Arial"/>
                <a:cs typeface="Arial"/>
                <a:sym typeface="Arial"/>
              </a:rPr>
              <a:t>Example 1:</a:t>
            </a:r>
            <a:endParaRPr dirty="0">
              <a:solidFill>
                <a:schemeClr val="tx1">
                  <a:lumMod val="85000"/>
                  <a:lumOff val="15000"/>
                </a:schemeClr>
              </a:solidFill>
            </a:endParaRPr>
          </a:p>
          <a:p>
            <a:pPr marL="214313" lvl="0" indent="-214313" algn="l" rtl="0">
              <a:lnSpc>
                <a:spcPct val="100000"/>
              </a:lnSpc>
              <a:spcBef>
                <a:spcPts val="750"/>
              </a:spcBef>
              <a:spcAft>
                <a:spcPts val="0"/>
              </a:spcAft>
              <a:buSzPts val="1600"/>
              <a:buNone/>
            </a:pPr>
            <a:r>
              <a:rPr lang="en-US" dirty="0">
                <a:solidFill>
                  <a:schemeClr val="tx1">
                    <a:lumMod val="85000"/>
                    <a:lumOff val="15000"/>
                  </a:schemeClr>
                </a:solidFill>
                <a:latin typeface="Arial"/>
                <a:ea typeface="Arial"/>
                <a:cs typeface="Arial"/>
                <a:sym typeface="Arial"/>
              </a:rPr>
              <a:t>	if (age&gt;18)</a:t>
            </a:r>
            <a:endParaRPr dirty="0">
              <a:solidFill>
                <a:schemeClr val="tx1">
                  <a:lumMod val="85000"/>
                  <a:lumOff val="15000"/>
                </a:schemeClr>
              </a:solidFill>
            </a:endParaRPr>
          </a:p>
          <a:p>
            <a:pPr marL="214313" lvl="0" indent="-214313" algn="l" rtl="0">
              <a:lnSpc>
                <a:spcPct val="100000"/>
              </a:lnSpc>
              <a:spcBef>
                <a:spcPts val="750"/>
              </a:spcBef>
              <a:spcAft>
                <a:spcPts val="0"/>
              </a:spcAft>
              <a:buSzPts val="1600"/>
              <a:buNone/>
            </a:pPr>
            <a:r>
              <a:rPr lang="en-US" dirty="0">
                <a:solidFill>
                  <a:schemeClr val="tx1">
                    <a:lumMod val="85000"/>
                    <a:lumOff val="15000"/>
                  </a:schemeClr>
                </a:solidFill>
                <a:latin typeface="Arial"/>
                <a:ea typeface="Arial"/>
                <a:cs typeface="Arial"/>
                <a:sym typeface="Arial"/>
              </a:rPr>
              <a:t>	</a:t>
            </a:r>
            <a:r>
              <a:rPr lang="en-US" dirty="0" err="1">
                <a:solidFill>
                  <a:schemeClr val="tx1">
                    <a:lumMod val="85000"/>
                    <a:lumOff val="15000"/>
                  </a:schemeClr>
                </a:solidFill>
                <a:latin typeface="Arial"/>
                <a:ea typeface="Arial"/>
                <a:cs typeface="Arial"/>
                <a:sym typeface="Arial"/>
              </a:rPr>
              <a:t>printf</a:t>
            </a:r>
            <a:r>
              <a:rPr lang="en-US" dirty="0">
                <a:solidFill>
                  <a:schemeClr val="tx1">
                    <a:lumMod val="85000"/>
                    <a:lumOff val="15000"/>
                  </a:schemeClr>
                </a:solidFill>
                <a:latin typeface="Arial"/>
                <a:ea typeface="Arial"/>
                <a:cs typeface="Arial"/>
                <a:sym typeface="Arial"/>
              </a:rPr>
              <a:t>(“The person is eligible for vote”);</a:t>
            </a:r>
            <a:endParaRPr dirty="0">
              <a:solidFill>
                <a:schemeClr val="tx1">
                  <a:lumMod val="85000"/>
                  <a:lumOff val="15000"/>
                </a:schemeClr>
              </a:solidFill>
            </a:endParaRPr>
          </a:p>
          <a:p>
            <a:pPr marL="214313" lvl="0" indent="-214313" algn="l" rtl="0">
              <a:lnSpc>
                <a:spcPct val="100000"/>
              </a:lnSpc>
              <a:spcBef>
                <a:spcPts val="750"/>
              </a:spcBef>
              <a:spcAft>
                <a:spcPts val="0"/>
              </a:spcAft>
              <a:buSzPts val="1600"/>
              <a:buNone/>
            </a:pPr>
            <a:r>
              <a:rPr lang="en-US" dirty="0">
                <a:solidFill>
                  <a:schemeClr val="tx1">
                    <a:lumMod val="85000"/>
                    <a:lumOff val="15000"/>
                  </a:schemeClr>
                </a:solidFill>
                <a:latin typeface="Arial"/>
                <a:ea typeface="Arial"/>
                <a:cs typeface="Arial"/>
                <a:sym typeface="Arial"/>
              </a:rPr>
              <a:t>Example 2:</a:t>
            </a:r>
            <a:endParaRPr dirty="0">
              <a:solidFill>
                <a:schemeClr val="tx1">
                  <a:lumMod val="85000"/>
                  <a:lumOff val="15000"/>
                </a:schemeClr>
              </a:solidFill>
            </a:endParaRPr>
          </a:p>
          <a:p>
            <a:pPr marL="214313" lvl="0" indent="-214313" algn="l" rtl="0">
              <a:lnSpc>
                <a:spcPct val="100000"/>
              </a:lnSpc>
              <a:spcBef>
                <a:spcPts val="750"/>
              </a:spcBef>
              <a:spcAft>
                <a:spcPts val="0"/>
              </a:spcAft>
              <a:buSzPts val="1600"/>
              <a:buNone/>
            </a:pPr>
            <a:r>
              <a:rPr lang="en-US" dirty="0">
                <a:solidFill>
                  <a:schemeClr val="tx1">
                    <a:lumMod val="85000"/>
                    <a:lumOff val="15000"/>
                  </a:schemeClr>
                </a:solidFill>
                <a:latin typeface="Arial"/>
                <a:ea typeface="Arial"/>
                <a:cs typeface="Arial"/>
                <a:sym typeface="Arial"/>
              </a:rPr>
              <a:t>	if(</a:t>
            </a:r>
            <a:r>
              <a:rPr lang="en-US" dirty="0" err="1">
                <a:solidFill>
                  <a:schemeClr val="tx1">
                    <a:lumMod val="85000"/>
                    <a:lumOff val="15000"/>
                  </a:schemeClr>
                </a:solidFill>
                <a:latin typeface="Arial"/>
                <a:ea typeface="Arial"/>
                <a:cs typeface="Arial"/>
                <a:sym typeface="Arial"/>
              </a:rPr>
              <a:t>ch</a:t>
            </a:r>
            <a:r>
              <a:rPr lang="en-US" dirty="0">
                <a:solidFill>
                  <a:schemeClr val="tx1">
                    <a:lumMod val="85000"/>
                    <a:lumOff val="15000"/>
                  </a:schemeClr>
                </a:solidFill>
                <a:latin typeface="Arial"/>
                <a:ea typeface="Arial"/>
                <a:cs typeface="Arial"/>
                <a:sym typeface="Arial"/>
              </a:rPr>
              <a:t>==‘ ‘)</a:t>
            </a:r>
            <a:endParaRPr dirty="0">
              <a:solidFill>
                <a:schemeClr val="tx1">
                  <a:lumMod val="85000"/>
                  <a:lumOff val="15000"/>
                </a:schemeClr>
              </a:solidFill>
            </a:endParaRPr>
          </a:p>
          <a:p>
            <a:pPr marL="214313" lvl="0" indent="-214313" algn="l" rtl="0">
              <a:lnSpc>
                <a:spcPct val="100000"/>
              </a:lnSpc>
              <a:spcBef>
                <a:spcPts val="750"/>
              </a:spcBef>
              <a:spcAft>
                <a:spcPts val="0"/>
              </a:spcAft>
              <a:buSzPts val="1600"/>
              <a:buNone/>
            </a:pPr>
            <a:r>
              <a:rPr lang="en-US" dirty="0">
                <a:solidFill>
                  <a:schemeClr val="tx1">
                    <a:lumMod val="85000"/>
                    <a:lumOff val="15000"/>
                  </a:schemeClr>
                </a:solidFill>
                <a:latin typeface="Arial"/>
                <a:ea typeface="Arial"/>
                <a:cs typeface="Arial"/>
                <a:sym typeface="Arial"/>
              </a:rPr>
              <a:t>	spaces++;</a:t>
            </a:r>
            <a:endParaRPr dirty="0">
              <a:solidFill>
                <a:schemeClr val="tx1">
                  <a:lumMod val="85000"/>
                  <a:lumOff val="15000"/>
                </a:schemeClr>
              </a:solidFill>
            </a:endParaRPr>
          </a:p>
        </p:txBody>
      </p:sp>
      <p:sp>
        <p:nvSpPr>
          <p:cNvPr id="9" name="Google Shape;223;p37"/>
          <p:cNvSpPr txBox="1">
            <a:spLocks/>
          </p:cNvSpPr>
          <p:nvPr/>
        </p:nvSpPr>
        <p:spPr>
          <a:xfrm>
            <a:off x="251520" y="2492896"/>
            <a:ext cx="4392488"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EXAMPLE OF IF STATEMENT</a:t>
            </a:r>
            <a:endParaRPr lang="en-US" dirty="0"/>
          </a:p>
        </p:txBody>
      </p:sp>
    </p:spTree>
    <p:extLst>
      <p:ext uri="{BB962C8B-B14F-4D97-AF65-F5344CB8AC3E}">
        <p14:creationId xmlns:p14="http://schemas.microsoft.com/office/powerpoint/2010/main" val="4098431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138750" y="-21437"/>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2" name="Rectangle 1"/>
          <p:cNvSpPr/>
          <p:nvPr/>
        </p:nvSpPr>
        <p:spPr>
          <a:xfrm>
            <a:off x="1403648" y="1727298"/>
            <a:ext cx="6590266" cy="523220"/>
          </a:xfrm>
          <a:prstGeom prst="rect">
            <a:avLst/>
          </a:prstGeom>
        </p:spPr>
        <p:txBody>
          <a:bodyPr wrap="none">
            <a:spAutoFit/>
          </a:bodyPr>
          <a:lstStyle/>
          <a:p>
            <a:r>
              <a:rPr lang="en-US" sz="2800" dirty="0">
                <a:latin typeface="Arial Black"/>
                <a:ea typeface="Arial Black"/>
                <a:cs typeface="Arial Black"/>
                <a:sym typeface="Arial Black"/>
              </a:rPr>
              <a:t>FLOW CHART OF IF STATEMENT</a:t>
            </a:r>
            <a:endParaRPr lang="en-IN" sz="2800" dirty="0"/>
          </a:p>
        </p:txBody>
      </p:sp>
      <p:sp>
        <p:nvSpPr>
          <p:cNvPr id="9" name="Google Shape;230;p38"/>
          <p:cNvSpPr/>
          <p:nvPr/>
        </p:nvSpPr>
        <p:spPr>
          <a:xfrm>
            <a:off x="2857500" y="2343150"/>
            <a:ext cx="1200150" cy="1314450"/>
          </a:xfrm>
          <a:prstGeom prst="diamond">
            <a:avLst/>
          </a:prstGeom>
          <a:solidFill>
            <a:srgbClr val="FF0000"/>
          </a:solidFill>
          <a:ln w="38100" cap="flat" cmpd="sng">
            <a:solidFill>
              <a:srgbClr val="FFFF00"/>
            </a:solidFill>
            <a:prstDash val="solid"/>
            <a:miter lim="80000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mo"/>
                <a:ea typeface="Arimo"/>
                <a:cs typeface="Arimo"/>
                <a:sym typeface="Arimo"/>
              </a:rPr>
              <a:t> if Condition ?</a:t>
            </a:r>
            <a:endParaRPr sz="1050" b="0" i="0" u="none" strike="noStrike" cap="none">
              <a:solidFill>
                <a:srgbClr val="000000"/>
              </a:solidFill>
              <a:latin typeface="Arial"/>
              <a:ea typeface="Arial"/>
              <a:cs typeface="Arial"/>
              <a:sym typeface="Arial"/>
            </a:endParaRPr>
          </a:p>
        </p:txBody>
      </p:sp>
      <p:sp>
        <p:nvSpPr>
          <p:cNvPr id="10" name="Google Shape;231;p38"/>
          <p:cNvSpPr/>
          <p:nvPr/>
        </p:nvSpPr>
        <p:spPr>
          <a:xfrm>
            <a:off x="4800600" y="2743200"/>
            <a:ext cx="1085850" cy="457200"/>
          </a:xfrm>
          <a:prstGeom prst="roundRect">
            <a:avLst>
              <a:gd name="adj" fmla="val 16667"/>
            </a:avLst>
          </a:prstGeom>
          <a:solidFill>
            <a:srgbClr val="FF0000"/>
          </a:solidFill>
          <a:ln w="3810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1</a:t>
            </a:r>
            <a:endParaRPr sz="1050" b="0" i="0" u="none" strike="noStrike" cap="none">
              <a:solidFill>
                <a:srgbClr val="000000"/>
              </a:solidFill>
              <a:latin typeface="Arial"/>
              <a:ea typeface="Arial"/>
              <a:cs typeface="Arial"/>
              <a:sym typeface="Arial"/>
            </a:endParaRPr>
          </a:p>
        </p:txBody>
      </p:sp>
      <p:sp>
        <p:nvSpPr>
          <p:cNvPr id="11" name="Google Shape;232;p38"/>
          <p:cNvSpPr/>
          <p:nvPr/>
        </p:nvSpPr>
        <p:spPr>
          <a:xfrm>
            <a:off x="6286500" y="2743200"/>
            <a:ext cx="1085850" cy="457200"/>
          </a:xfrm>
          <a:prstGeom prst="roundRect">
            <a:avLst>
              <a:gd name="adj" fmla="val 16667"/>
            </a:avLst>
          </a:prstGeom>
          <a:solidFill>
            <a:srgbClr val="FF0000"/>
          </a:solidFill>
          <a:ln w="3810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2</a:t>
            </a:r>
            <a:endParaRPr sz="1050" b="0" i="0" u="none" strike="noStrike" cap="none">
              <a:solidFill>
                <a:srgbClr val="000000"/>
              </a:solidFill>
              <a:latin typeface="Arial"/>
              <a:ea typeface="Arial"/>
              <a:cs typeface="Arial"/>
              <a:sym typeface="Arial"/>
            </a:endParaRPr>
          </a:p>
        </p:txBody>
      </p:sp>
      <p:sp>
        <p:nvSpPr>
          <p:cNvPr id="12" name="Google Shape;233;p38"/>
          <p:cNvSpPr/>
          <p:nvPr/>
        </p:nvSpPr>
        <p:spPr>
          <a:xfrm>
            <a:off x="2914650" y="3886200"/>
            <a:ext cx="1085850" cy="457200"/>
          </a:xfrm>
          <a:prstGeom prst="roundRect">
            <a:avLst>
              <a:gd name="adj" fmla="val 16667"/>
            </a:avLst>
          </a:prstGeom>
          <a:solidFill>
            <a:srgbClr val="FF0000"/>
          </a:solidFill>
          <a:ln w="3810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1</a:t>
            </a:r>
            <a:endParaRPr sz="1050" b="0" i="0" u="none" strike="noStrike" cap="none">
              <a:solidFill>
                <a:srgbClr val="000000"/>
              </a:solidFill>
              <a:latin typeface="Arial"/>
              <a:ea typeface="Arial"/>
              <a:cs typeface="Arial"/>
              <a:sym typeface="Arial"/>
            </a:endParaRPr>
          </a:p>
        </p:txBody>
      </p:sp>
      <p:sp>
        <p:nvSpPr>
          <p:cNvPr id="13" name="Google Shape;234;p38"/>
          <p:cNvSpPr/>
          <p:nvPr/>
        </p:nvSpPr>
        <p:spPr>
          <a:xfrm>
            <a:off x="2971800" y="4629150"/>
            <a:ext cx="1085850" cy="457200"/>
          </a:xfrm>
          <a:prstGeom prst="roundRect">
            <a:avLst>
              <a:gd name="adj" fmla="val 16667"/>
            </a:avLst>
          </a:prstGeom>
          <a:solidFill>
            <a:srgbClr val="FF0000"/>
          </a:solidFill>
          <a:ln w="38100" cap="flat" cmpd="sng">
            <a:solidFill>
              <a:srgbClr val="FFFF00"/>
            </a:solidFill>
            <a:prstDash val="solid"/>
            <a:round/>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FFFF00"/>
                </a:solidFill>
                <a:latin typeface="Arial"/>
                <a:ea typeface="Arial"/>
                <a:cs typeface="Arial"/>
                <a:sym typeface="Arial"/>
              </a:rPr>
              <a:t>Statement 2</a:t>
            </a:r>
            <a:endParaRPr sz="1050" b="0" i="0" u="none" strike="noStrike" cap="none">
              <a:solidFill>
                <a:srgbClr val="000000"/>
              </a:solidFill>
              <a:latin typeface="Arial"/>
              <a:ea typeface="Arial"/>
              <a:cs typeface="Arial"/>
              <a:sym typeface="Arial"/>
            </a:endParaRPr>
          </a:p>
        </p:txBody>
      </p:sp>
      <p:cxnSp>
        <p:nvCxnSpPr>
          <p:cNvPr id="14" name="Google Shape;235;p38"/>
          <p:cNvCxnSpPr/>
          <p:nvPr/>
        </p:nvCxnSpPr>
        <p:spPr>
          <a:xfrm>
            <a:off x="4057650" y="3014663"/>
            <a:ext cx="742950" cy="0"/>
          </a:xfrm>
          <a:prstGeom prst="straightConnector1">
            <a:avLst/>
          </a:prstGeom>
          <a:noFill/>
          <a:ln w="38100" cap="flat" cmpd="sng">
            <a:solidFill>
              <a:srgbClr val="FFFF00"/>
            </a:solidFill>
            <a:prstDash val="solid"/>
            <a:round/>
            <a:headEnd type="none" w="sm" len="sm"/>
            <a:tailEnd type="triangle" w="med" len="med"/>
          </a:ln>
        </p:spPr>
      </p:cxnSp>
      <p:cxnSp>
        <p:nvCxnSpPr>
          <p:cNvPr id="15" name="Google Shape;236;p38"/>
          <p:cNvCxnSpPr/>
          <p:nvPr/>
        </p:nvCxnSpPr>
        <p:spPr>
          <a:xfrm>
            <a:off x="5886450" y="2971800"/>
            <a:ext cx="400050" cy="0"/>
          </a:xfrm>
          <a:prstGeom prst="straightConnector1">
            <a:avLst/>
          </a:prstGeom>
          <a:noFill/>
          <a:ln w="38100" cap="flat" cmpd="sng">
            <a:solidFill>
              <a:srgbClr val="FFFF00"/>
            </a:solidFill>
            <a:prstDash val="solid"/>
            <a:round/>
            <a:headEnd type="none" w="sm" len="sm"/>
            <a:tailEnd type="triangle" w="med" len="med"/>
          </a:ln>
        </p:spPr>
      </p:cxnSp>
      <p:cxnSp>
        <p:nvCxnSpPr>
          <p:cNvPr id="16" name="Google Shape;237;p38"/>
          <p:cNvCxnSpPr/>
          <p:nvPr/>
        </p:nvCxnSpPr>
        <p:spPr>
          <a:xfrm>
            <a:off x="3443288" y="3657600"/>
            <a:ext cx="0" cy="228600"/>
          </a:xfrm>
          <a:prstGeom prst="straightConnector1">
            <a:avLst/>
          </a:prstGeom>
          <a:noFill/>
          <a:ln w="38100" cap="flat" cmpd="sng">
            <a:solidFill>
              <a:srgbClr val="FFFF00"/>
            </a:solidFill>
            <a:prstDash val="solid"/>
            <a:round/>
            <a:headEnd type="none" w="sm" len="sm"/>
            <a:tailEnd type="triangle" w="med" len="med"/>
          </a:ln>
        </p:spPr>
      </p:cxnSp>
      <p:cxnSp>
        <p:nvCxnSpPr>
          <p:cNvPr id="17" name="Google Shape;238;p38"/>
          <p:cNvCxnSpPr/>
          <p:nvPr/>
        </p:nvCxnSpPr>
        <p:spPr>
          <a:xfrm>
            <a:off x="3486150" y="4343400"/>
            <a:ext cx="0" cy="228600"/>
          </a:xfrm>
          <a:prstGeom prst="straightConnector1">
            <a:avLst/>
          </a:prstGeom>
          <a:noFill/>
          <a:ln w="38100" cap="flat" cmpd="sng">
            <a:solidFill>
              <a:srgbClr val="FFFF00"/>
            </a:solidFill>
            <a:prstDash val="solid"/>
            <a:round/>
            <a:headEnd type="none" w="sm" len="sm"/>
            <a:tailEnd type="triangle" w="med" len="med"/>
          </a:ln>
        </p:spPr>
      </p:cxnSp>
      <p:cxnSp>
        <p:nvCxnSpPr>
          <p:cNvPr id="18" name="Google Shape;239;p38"/>
          <p:cNvCxnSpPr/>
          <p:nvPr/>
        </p:nvCxnSpPr>
        <p:spPr>
          <a:xfrm>
            <a:off x="6858000" y="3200400"/>
            <a:ext cx="0" cy="2114550"/>
          </a:xfrm>
          <a:prstGeom prst="straightConnector1">
            <a:avLst/>
          </a:prstGeom>
          <a:noFill/>
          <a:ln w="38100" cap="flat" cmpd="sng">
            <a:solidFill>
              <a:srgbClr val="FFFF00"/>
            </a:solidFill>
            <a:prstDash val="solid"/>
            <a:round/>
            <a:headEnd type="none" w="sm" len="sm"/>
            <a:tailEnd type="triangle" w="med" len="med"/>
          </a:ln>
        </p:spPr>
      </p:cxnSp>
      <p:cxnSp>
        <p:nvCxnSpPr>
          <p:cNvPr id="19" name="Google Shape;240;p38"/>
          <p:cNvCxnSpPr/>
          <p:nvPr/>
        </p:nvCxnSpPr>
        <p:spPr>
          <a:xfrm>
            <a:off x="3543300" y="5086350"/>
            <a:ext cx="0" cy="514350"/>
          </a:xfrm>
          <a:prstGeom prst="straightConnector1">
            <a:avLst/>
          </a:prstGeom>
          <a:noFill/>
          <a:ln w="38100" cap="flat" cmpd="sng">
            <a:solidFill>
              <a:srgbClr val="FFFF00"/>
            </a:solidFill>
            <a:prstDash val="solid"/>
            <a:round/>
            <a:headEnd type="none" w="sm" len="sm"/>
            <a:tailEnd type="triangle" w="med" len="med"/>
          </a:ln>
        </p:spPr>
      </p:cxnSp>
      <p:cxnSp>
        <p:nvCxnSpPr>
          <p:cNvPr id="20" name="Google Shape;241;p38"/>
          <p:cNvCxnSpPr/>
          <p:nvPr/>
        </p:nvCxnSpPr>
        <p:spPr>
          <a:xfrm rot="10800000">
            <a:off x="3543300" y="5314950"/>
            <a:ext cx="3314700" cy="0"/>
          </a:xfrm>
          <a:prstGeom prst="straightConnector1">
            <a:avLst/>
          </a:prstGeom>
          <a:noFill/>
          <a:ln w="38100" cap="flat" cmpd="sng">
            <a:solidFill>
              <a:srgbClr val="FFFF00"/>
            </a:solidFill>
            <a:prstDash val="solid"/>
            <a:round/>
            <a:headEnd type="none" w="sm" len="sm"/>
            <a:tailEnd type="triangle" w="med" len="med"/>
          </a:ln>
        </p:spPr>
      </p:cxnSp>
      <p:sp>
        <p:nvSpPr>
          <p:cNvPr id="21" name="Google Shape;242;p38"/>
          <p:cNvSpPr txBox="1"/>
          <p:nvPr/>
        </p:nvSpPr>
        <p:spPr>
          <a:xfrm>
            <a:off x="4171950" y="2800351"/>
            <a:ext cx="457200" cy="253885"/>
          </a:xfrm>
          <a:prstGeom prst="rect">
            <a:avLst/>
          </a:prstGeom>
          <a:solidFill>
            <a:srgbClr val="FF0000"/>
          </a:solidFill>
          <a:ln w="38100" cap="flat" cmpd="sng">
            <a:solidFill>
              <a:srgbClr val="FFFF00"/>
            </a:solidFill>
            <a:prstDash val="solid"/>
            <a:miter lim="800000"/>
            <a:headEnd type="none" w="sm" len="sm"/>
            <a:tailEnd type="none" w="sm" len="sm"/>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US" sz="1200" b="1" i="0" u="none" strike="noStrike" cap="none">
                <a:solidFill>
                  <a:srgbClr val="FFFF00"/>
                </a:solidFill>
                <a:latin typeface="Arial"/>
                <a:ea typeface="Arial"/>
                <a:cs typeface="Arial"/>
                <a:sym typeface="Arial"/>
              </a:rPr>
              <a:t>else</a:t>
            </a:r>
            <a:endParaRPr sz="1050" b="0" i="0" u="none" strike="noStrike" cap="none">
              <a:solidFill>
                <a:srgbClr val="000000"/>
              </a:solidFill>
              <a:latin typeface="Arial"/>
              <a:ea typeface="Arial"/>
              <a:cs typeface="Arial"/>
              <a:sym typeface="Arial"/>
            </a:endParaRPr>
          </a:p>
        </p:txBody>
      </p:sp>
      <p:sp>
        <p:nvSpPr>
          <p:cNvPr id="22" name="Google Shape;243;p38"/>
          <p:cNvSpPr txBox="1"/>
          <p:nvPr/>
        </p:nvSpPr>
        <p:spPr>
          <a:xfrm>
            <a:off x="3600450" y="3543301"/>
            <a:ext cx="457200" cy="253885"/>
          </a:xfrm>
          <a:prstGeom prst="rect">
            <a:avLst/>
          </a:prstGeom>
          <a:solidFill>
            <a:srgbClr val="FF0000"/>
          </a:solidFill>
          <a:ln w="38100" cap="flat" cmpd="sng">
            <a:solidFill>
              <a:srgbClr val="FFFF00"/>
            </a:solidFill>
            <a:prstDash val="solid"/>
            <a:miter lim="800000"/>
            <a:headEnd type="none" w="sm" len="sm"/>
            <a:tailEnd type="none" w="sm" len="sm"/>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US" sz="1200" b="1" i="0" u="none" strike="noStrike" cap="none">
                <a:solidFill>
                  <a:srgbClr val="FFFF00"/>
                </a:solidFill>
                <a:latin typeface="Arial"/>
                <a:ea typeface="Arial"/>
                <a:cs typeface="Arial"/>
                <a:sym typeface="Arial"/>
              </a:rPr>
              <a:t>true</a:t>
            </a:r>
            <a:endParaRPr sz="105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06128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138750" y="-21437"/>
            <a:ext cx="9143999" cy="6900864"/>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249;p39"/>
          <p:cNvSpPr txBox="1">
            <a:spLocks noGrp="1"/>
          </p:cNvSpPr>
          <p:nvPr>
            <p:ph type="body" idx="1"/>
          </p:nvPr>
        </p:nvSpPr>
        <p:spPr>
          <a:xfrm>
            <a:off x="3851920" y="2571750"/>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None/>
            </a:pPr>
            <a:r>
              <a:rPr lang="en-US" dirty="0">
                <a:solidFill>
                  <a:schemeClr val="lt1"/>
                </a:solidFill>
                <a:latin typeface="Arial"/>
                <a:ea typeface="Arial"/>
                <a:cs typeface="Arial"/>
                <a:sym typeface="Arial"/>
              </a:rPr>
              <a:t>		</a:t>
            </a:r>
            <a:r>
              <a:rPr lang="en-US" dirty="0">
                <a:solidFill>
                  <a:schemeClr val="tx1">
                    <a:lumMod val="85000"/>
                    <a:lumOff val="15000"/>
                  </a:schemeClr>
                </a:solidFill>
                <a:latin typeface="Arial"/>
                <a:ea typeface="Arial"/>
                <a:cs typeface="Arial"/>
                <a:sym typeface="Arial"/>
              </a:rPr>
              <a:t>if (condition)</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Statement 1</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Statement 2</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else </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 </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Statement 1</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Statement 2	</a:t>
            </a:r>
            <a:endParaRPr dirty="0">
              <a:solidFill>
                <a:schemeClr val="tx1">
                  <a:lumMod val="85000"/>
                  <a:lumOff val="15000"/>
                </a:schemeClr>
              </a:solidFill>
            </a:endParaRPr>
          </a:p>
          <a:p>
            <a:pPr marL="214313" lvl="0" indent="-214313" algn="l" rtl="0">
              <a:lnSpc>
                <a:spcPct val="100000"/>
              </a:lnSpc>
              <a:spcBef>
                <a:spcPts val="750"/>
              </a:spcBef>
              <a:spcAft>
                <a:spcPts val="0"/>
              </a:spcAft>
              <a:buSzPct val="71428"/>
              <a:buNone/>
            </a:pPr>
            <a:r>
              <a:rPr lang="en-US" dirty="0">
                <a:solidFill>
                  <a:schemeClr val="tx1">
                    <a:lumMod val="85000"/>
                    <a:lumOff val="15000"/>
                  </a:schemeClr>
                </a:solidFill>
                <a:latin typeface="Arial"/>
                <a:ea typeface="Arial"/>
                <a:cs typeface="Arial"/>
                <a:sym typeface="Arial"/>
              </a:rPr>
              <a:t>		}</a:t>
            </a:r>
            <a:endParaRPr dirty="0">
              <a:solidFill>
                <a:schemeClr val="tx1">
                  <a:lumMod val="85000"/>
                  <a:lumOff val="15000"/>
                </a:schemeClr>
              </a:solidFill>
            </a:endParaRPr>
          </a:p>
        </p:txBody>
      </p:sp>
      <p:sp>
        <p:nvSpPr>
          <p:cNvPr id="9" name="Google Shape;248;p39"/>
          <p:cNvSpPr txBox="1">
            <a:spLocks/>
          </p:cNvSpPr>
          <p:nvPr/>
        </p:nvSpPr>
        <p:spPr>
          <a:xfrm>
            <a:off x="683568" y="2564904"/>
            <a:ext cx="3266752"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IF - ELSE FORMAT</a:t>
            </a:r>
            <a:endParaRPr lang="en-US" dirty="0"/>
          </a:p>
        </p:txBody>
      </p:sp>
    </p:spTree>
    <p:extLst>
      <p:ext uri="{BB962C8B-B14F-4D97-AF65-F5344CB8AC3E}">
        <p14:creationId xmlns:p14="http://schemas.microsoft.com/office/powerpoint/2010/main" val="676009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138750" y="-21437"/>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254;p40"/>
          <p:cNvSpPr txBox="1">
            <a:spLocks/>
          </p:cNvSpPr>
          <p:nvPr/>
        </p:nvSpPr>
        <p:spPr>
          <a:xfrm>
            <a:off x="513160" y="1371599"/>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EXAMPLE OF IF-ELSE</a:t>
            </a:r>
            <a:endParaRPr lang="en-US" dirty="0"/>
          </a:p>
        </p:txBody>
      </p:sp>
      <p:sp>
        <p:nvSpPr>
          <p:cNvPr id="9" name="Google Shape;255;p40"/>
          <p:cNvSpPr txBox="1">
            <a:spLocks noGrp="1"/>
          </p:cNvSpPr>
          <p:nvPr>
            <p:ph type="body" idx="1"/>
          </p:nvPr>
        </p:nvSpPr>
        <p:spPr>
          <a:xfrm>
            <a:off x="3995936" y="2571750"/>
            <a:ext cx="4716195" cy="3669030"/>
          </a:xfrm>
          <a:prstGeom prst="rect">
            <a:avLst/>
          </a:prstGeom>
          <a:noFill/>
          <a:ln>
            <a:noFill/>
          </a:ln>
        </p:spPr>
        <p:txBody>
          <a:bodyPr spcFirstLastPara="1" wrap="square" lIns="68550" tIns="34275" rIns="68550" bIns="34275" anchor="ctr" anchorCtr="0">
            <a:normAutofit fontScale="55000" lnSpcReduction="20000"/>
          </a:bodyPr>
          <a:lstStyle/>
          <a:p>
            <a:pPr marL="214313" lvl="0" indent="-214313" algn="l" rtl="0">
              <a:lnSpc>
                <a:spcPct val="100000"/>
              </a:lnSpc>
              <a:spcBef>
                <a:spcPts val="0"/>
              </a:spcBef>
              <a:spcAft>
                <a:spcPts val="0"/>
              </a:spcAft>
              <a:buSzPct val="90909"/>
              <a:buNone/>
            </a:pPr>
            <a:r>
              <a:rPr lang="en-US" dirty="0">
                <a:solidFill>
                  <a:schemeClr val="lt1"/>
                </a:solidFill>
                <a:latin typeface="Arial"/>
                <a:ea typeface="Arial"/>
                <a:cs typeface="Arial"/>
                <a:sym typeface="Arial"/>
              </a:rPr>
              <a:t>		</a:t>
            </a:r>
            <a:r>
              <a:rPr lang="en-US" dirty="0">
                <a:solidFill>
                  <a:schemeClr val="tx1">
                    <a:lumMod val="75000"/>
                    <a:lumOff val="25000"/>
                  </a:schemeClr>
                </a:solidFill>
                <a:latin typeface="Arial"/>
                <a:ea typeface="Arial"/>
                <a:cs typeface="Arial"/>
                <a:sym typeface="Arial"/>
              </a:rPr>
              <a:t>If (basic&gt;8000)</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=(40*basic)/100</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gross=</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 + basic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else</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=(40*basic)/100</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gross=</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 + basic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endParaRPr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66827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255;p40"/>
          <p:cNvSpPr txBox="1">
            <a:spLocks noGrp="1"/>
          </p:cNvSpPr>
          <p:nvPr>
            <p:ph type="body" idx="1"/>
          </p:nvPr>
        </p:nvSpPr>
        <p:spPr>
          <a:xfrm>
            <a:off x="3851920" y="2492896"/>
            <a:ext cx="4716195" cy="3669030"/>
          </a:xfrm>
          <a:prstGeom prst="rect">
            <a:avLst/>
          </a:prstGeom>
          <a:noFill/>
          <a:ln>
            <a:noFill/>
          </a:ln>
        </p:spPr>
        <p:txBody>
          <a:bodyPr spcFirstLastPara="1" wrap="square" lIns="68550" tIns="34275" rIns="68550" bIns="34275" anchor="ctr" anchorCtr="0">
            <a:normAutofit fontScale="55000" lnSpcReduction="20000"/>
          </a:bodyPr>
          <a:lstStyle/>
          <a:p>
            <a:pPr marL="214313" lvl="0" indent="-214313" algn="l" rtl="0">
              <a:lnSpc>
                <a:spcPct val="100000"/>
              </a:lnSpc>
              <a:spcBef>
                <a:spcPts val="0"/>
              </a:spcBef>
              <a:spcAft>
                <a:spcPts val="0"/>
              </a:spcAft>
              <a:buSzPct val="90909"/>
              <a:buNone/>
            </a:pPr>
            <a:r>
              <a:rPr lang="en-US" dirty="0">
                <a:solidFill>
                  <a:schemeClr val="lt1"/>
                </a:solidFill>
                <a:latin typeface="Arial"/>
                <a:ea typeface="Arial"/>
                <a:cs typeface="Arial"/>
                <a:sym typeface="Arial"/>
              </a:rPr>
              <a:t>		</a:t>
            </a:r>
            <a:r>
              <a:rPr lang="en-US" dirty="0">
                <a:solidFill>
                  <a:schemeClr val="tx1">
                    <a:lumMod val="75000"/>
                    <a:lumOff val="25000"/>
                  </a:schemeClr>
                </a:solidFill>
                <a:latin typeface="Arial"/>
                <a:ea typeface="Arial"/>
                <a:cs typeface="Arial"/>
                <a:sym typeface="Arial"/>
              </a:rPr>
              <a:t>If (basic&gt;8000)</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=(40*basic)/100</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gross=</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 + basic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else</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=(40*basic)/100</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gross=</a:t>
            </a:r>
            <a:r>
              <a:rPr lang="en-US" dirty="0" err="1">
                <a:solidFill>
                  <a:schemeClr val="tx1">
                    <a:lumMod val="75000"/>
                    <a:lumOff val="25000"/>
                  </a:schemeClr>
                </a:solidFill>
                <a:latin typeface="Arial"/>
                <a:ea typeface="Arial"/>
                <a:cs typeface="Arial"/>
                <a:sym typeface="Arial"/>
              </a:rPr>
              <a:t>total_da</a:t>
            </a:r>
            <a:r>
              <a:rPr lang="en-US" dirty="0">
                <a:solidFill>
                  <a:schemeClr val="tx1">
                    <a:lumMod val="75000"/>
                    <a:lumOff val="25000"/>
                  </a:schemeClr>
                </a:solidFill>
                <a:latin typeface="Arial"/>
                <a:ea typeface="Arial"/>
                <a:cs typeface="Arial"/>
                <a:sym typeface="Arial"/>
              </a:rPr>
              <a:t> + basic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endParaRPr dirty="0">
              <a:solidFill>
                <a:schemeClr val="lt1"/>
              </a:solidFill>
              <a:latin typeface="Arial"/>
              <a:ea typeface="Arial"/>
              <a:cs typeface="Arial"/>
              <a:sym typeface="Arial"/>
            </a:endParaRPr>
          </a:p>
        </p:txBody>
      </p:sp>
      <p:sp>
        <p:nvSpPr>
          <p:cNvPr id="9" name="Google Shape;254;p40"/>
          <p:cNvSpPr txBox="1">
            <a:spLocks/>
          </p:cNvSpPr>
          <p:nvPr/>
        </p:nvSpPr>
        <p:spPr>
          <a:xfrm>
            <a:off x="611560" y="2275696"/>
            <a:ext cx="3312368"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EXAMPLE OF IF-ELSE</a:t>
            </a:r>
            <a:endParaRPr lang="en-US" dirty="0"/>
          </a:p>
        </p:txBody>
      </p:sp>
    </p:spTree>
    <p:extLst>
      <p:ext uri="{BB962C8B-B14F-4D97-AF65-F5344CB8AC3E}">
        <p14:creationId xmlns:p14="http://schemas.microsoft.com/office/powerpoint/2010/main" val="3851527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10" name="Google Shape;261;p41"/>
          <p:cNvSpPr txBox="1">
            <a:spLocks noGrp="1"/>
          </p:cNvSpPr>
          <p:nvPr>
            <p:ph type="body" idx="1"/>
          </p:nvPr>
        </p:nvSpPr>
        <p:spPr>
          <a:xfrm>
            <a:off x="3059832" y="2348881"/>
            <a:ext cx="5626968" cy="3777282"/>
          </a:xfrm>
          <a:prstGeom prst="rect">
            <a:avLst/>
          </a:prstGeom>
          <a:noFill/>
          <a:ln>
            <a:noFill/>
          </a:ln>
        </p:spPr>
        <p:txBody>
          <a:bodyPr spcFirstLastPara="1" wrap="square" lIns="68550" tIns="34275" rIns="68550" bIns="34275" anchor="ctr" anchorCtr="0">
            <a:normAutofit fontScale="47500" lnSpcReduction="20000"/>
          </a:bodyPr>
          <a:lstStyle/>
          <a:p>
            <a:pPr marL="214313" lvl="0" indent="-214313" algn="l" rtl="0">
              <a:lnSpc>
                <a:spcPct val="100000"/>
              </a:lnSpc>
              <a:spcBef>
                <a:spcPts val="0"/>
              </a:spcBef>
              <a:spcAft>
                <a:spcPts val="0"/>
              </a:spcAft>
              <a:buSzPct val="105263"/>
              <a:buChar char="▶"/>
            </a:pPr>
            <a:r>
              <a:rPr lang="en-US" dirty="0">
                <a:solidFill>
                  <a:schemeClr val="tx1">
                    <a:lumMod val="75000"/>
                    <a:lumOff val="25000"/>
                  </a:schemeClr>
                </a:solidFill>
                <a:latin typeface="Arial"/>
                <a:ea typeface="Arial"/>
                <a:cs typeface="Arial"/>
                <a:sym typeface="Arial"/>
              </a:rPr>
              <a:t>A nested if is an if that has another if in its body or in its else body. The nested if can have one of the following three forms</a:t>
            </a:r>
            <a:endParaRPr dirty="0">
              <a:solidFill>
                <a:schemeClr val="tx1">
                  <a:lumMod val="75000"/>
                  <a:lumOff val="25000"/>
                </a:schemeClr>
              </a:solidFill>
            </a:endParaRPr>
          </a:p>
          <a:p>
            <a:pPr marL="214313" lvl="0" indent="-214313" algn="l" rtl="0">
              <a:lnSpc>
                <a:spcPct val="100000"/>
              </a:lnSpc>
              <a:spcBef>
                <a:spcPts val="750"/>
              </a:spcBef>
              <a:spcAft>
                <a:spcPts val="0"/>
              </a:spcAft>
              <a:buSzPct val="105263"/>
              <a:buNone/>
            </a:pPr>
            <a:r>
              <a:rPr lang="en-US" b="1" dirty="0">
                <a:solidFill>
                  <a:schemeClr val="tx1">
                    <a:lumMod val="75000"/>
                    <a:lumOff val="25000"/>
                  </a:schemeClr>
                </a:solidFill>
                <a:latin typeface="Arial"/>
                <a:ea typeface="Arial"/>
                <a:cs typeface="Arial"/>
                <a:sym typeface="Arial"/>
              </a:rPr>
              <a:t>	Form 1 :</a:t>
            </a:r>
            <a:endParaRPr dirty="0">
              <a:solidFill>
                <a:schemeClr val="tx1">
                  <a:lumMod val="75000"/>
                  <a:lumOff val="25000"/>
                </a:schemeClr>
              </a:solidFill>
            </a:endParaRPr>
          </a:p>
          <a:p>
            <a:pPr marL="214313" lvl="0" indent="-214313" algn="l" rtl="0">
              <a:lnSpc>
                <a:spcPct val="100000"/>
              </a:lnSpc>
              <a:spcBef>
                <a:spcPts val="750"/>
              </a:spcBef>
              <a:spcAft>
                <a:spcPts val="0"/>
              </a:spcAft>
              <a:buSzPct val="105263"/>
              <a:buNone/>
            </a:pPr>
            <a:r>
              <a:rPr lang="en-US" b="1" dirty="0">
                <a:solidFill>
                  <a:schemeClr val="tx1">
                    <a:lumMod val="75000"/>
                    <a:lumOff val="25000"/>
                  </a:schemeClr>
                </a:solidFill>
                <a:latin typeface="Arial"/>
                <a:ea typeface="Arial"/>
                <a:cs typeface="Arial"/>
                <a:sym typeface="Arial"/>
              </a:rPr>
              <a:t>			if  (expression 1)</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		if  (expression 2)</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			statement 1</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		else </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			statement 2</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else</a:t>
            </a:r>
            <a:endParaRPr dirty="0">
              <a:solidFill>
                <a:schemeClr val="tx1">
                  <a:lumMod val="75000"/>
                  <a:lumOff val="25000"/>
                </a:schemeClr>
              </a:solidFill>
            </a:endParaRPr>
          </a:p>
          <a:p>
            <a:pPr marL="1500188" lvl="4" indent="-128587" algn="l" rtl="0">
              <a:lnSpc>
                <a:spcPct val="100000"/>
              </a:lnSpc>
              <a:spcBef>
                <a:spcPts val="660"/>
              </a:spcBef>
              <a:spcAft>
                <a:spcPts val="0"/>
              </a:spcAft>
              <a:buSzPct val="73684"/>
              <a:buNone/>
            </a:pPr>
            <a:r>
              <a:rPr lang="en-US" b="1" dirty="0">
                <a:solidFill>
                  <a:schemeClr val="tx1">
                    <a:lumMod val="75000"/>
                    <a:lumOff val="25000"/>
                  </a:schemeClr>
                </a:solidFill>
                <a:latin typeface="Arial"/>
                <a:ea typeface="Arial"/>
                <a:cs typeface="Arial"/>
                <a:sym typeface="Arial"/>
              </a:rPr>
              <a:t>	body of else</a:t>
            </a:r>
            <a:endParaRPr dirty="0">
              <a:solidFill>
                <a:schemeClr val="tx1">
                  <a:lumMod val="75000"/>
                  <a:lumOff val="25000"/>
                </a:schemeClr>
              </a:solidFill>
            </a:endParaRPr>
          </a:p>
          <a:p>
            <a:pPr marL="214313" lvl="0" indent="-214313" algn="l" rtl="0">
              <a:lnSpc>
                <a:spcPct val="100000"/>
              </a:lnSpc>
              <a:spcBef>
                <a:spcPts val="750"/>
              </a:spcBef>
              <a:spcAft>
                <a:spcPts val="0"/>
              </a:spcAft>
              <a:buSzPct val="105263"/>
              <a:buNone/>
            </a:pPr>
            <a:endParaRPr dirty="0">
              <a:solidFill>
                <a:schemeClr val="lt1"/>
              </a:solidFill>
              <a:latin typeface="Arial"/>
              <a:ea typeface="Arial"/>
              <a:cs typeface="Arial"/>
              <a:sym typeface="Arial"/>
            </a:endParaRPr>
          </a:p>
        </p:txBody>
      </p:sp>
      <p:sp>
        <p:nvSpPr>
          <p:cNvPr id="11" name="Google Shape;260;p41"/>
          <p:cNvSpPr txBox="1">
            <a:spLocks/>
          </p:cNvSpPr>
          <p:nvPr/>
        </p:nvSpPr>
        <p:spPr>
          <a:xfrm>
            <a:off x="452208"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NESTED IFS</a:t>
            </a:r>
            <a:endParaRPr lang="en-US" dirty="0"/>
          </a:p>
        </p:txBody>
      </p:sp>
    </p:spTree>
    <p:extLst>
      <p:ext uri="{BB962C8B-B14F-4D97-AF65-F5344CB8AC3E}">
        <p14:creationId xmlns:p14="http://schemas.microsoft.com/office/powerpoint/2010/main" val="462936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21908" y="3788"/>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267;p42"/>
          <p:cNvSpPr txBox="1">
            <a:spLocks noGrp="1"/>
          </p:cNvSpPr>
          <p:nvPr>
            <p:ph type="body" idx="1"/>
          </p:nvPr>
        </p:nvSpPr>
        <p:spPr>
          <a:xfrm>
            <a:off x="4283968" y="2060848"/>
            <a:ext cx="4618856" cy="4525963"/>
          </a:xfrm>
          <a:prstGeom prst="rect">
            <a:avLst/>
          </a:prstGeom>
          <a:noFill/>
          <a:ln>
            <a:noFill/>
          </a:ln>
        </p:spPr>
        <p:txBody>
          <a:bodyPr spcFirstLastPara="1" wrap="square" lIns="68550" tIns="34275" rIns="68550" bIns="34275" anchor="ctr" anchorCtr="0">
            <a:normAutofit/>
          </a:bodyPr>
          <a:lstStyle/>
          <a:p>
            <a:pPr marL="214313" lvl="0" indent="-214313" algn="l" rtl="0">
              <a:lnSpc>
                <a:spcPct val="90000"/>
              </a:lnSpc>
              <a:spcBef>
                <a:spcPts val="0"/>
              </a:spcBef>
              <a:spcAft>
                <a:spcPts val="0"/>
              </a:spcAft>
              <a:buSzPts val="1200"/>
              <a:buChar char="▶"/>
            </a:pPr>
            <a:r>
              <a:rPr lang="en-US" sz="1125" dirty="0">
                <a:solidFill>
                  <a:schemeClr val="tx1">
                    <a:lumMod val="75000"/>
                    <a:lumOff val="25000"/>
                  </a:schemeClr>
                </a:solidFill>
                <a:latin typeface="Arial"/>
                <a:ea typeface="Arial"/>
                <a:cs typeface="Arial"/>
                <a:sym typeface="Arial"/>
              </a:rPr>
              <a:t>Form 2:</a:t>
            </a:r>
            <a:endParaRPr dirty="0">
              <a:solidFill>
                <a:schemeClr val="tx1">
                  <a:lumMod val="75000"/>
                  <a:lumOff val="25000"/>
                </a:schemeClr>
              </a:solidFill>
            </a:endParaRPr>
          </a:p>
          <a:p>
            <a:pPr marL="214313" lvl="0" indent="-214313" algn="l" rtl="0">
              <a:lnSpc>
                <a:spcPct val="90000"/>
              </a:lnSpc>
              <a:spcBef>
                <a:spcPts val="675"/>
              </a:spcBef>
              <a:spcAft>
                <a:spcPts val="0"/>
              </a:spcAft>
              <a:buSzPts val="1200"/>
              <a:buNone/>
            </a:pPr>
            <a:r>
              <a:rPr lang="en-US" sz="1125" dirty="0">
                <a:solidFill>
                  <a:schemeClr val="tx1">
                    <a:lumMod val="75000"/>
                    <a:lumOff val="25000"/>
                  </a:schemeClr>
                </a:solidFill>
                <a:latin typeface="Arial"/>
                <a:ea typeface="Arial"/>
                <a:cs typeface="Arial"/>
                <a:sym typeface="Arial"/>
              </a:rPr>
              <a:t>		</a:t>
            </a:r>
            <a:r>
              <a:rPr lang="en-US" sz="1125" b="1" dirty="0">
                <a:solidFill>
                  <a:schemeClr val="tx1">
                    <a:lumMod val="75000"/>
                    <a:lumOff val="25000"/>
                  </a:schemeClr>
                </a:solidFill>
                <a:latin typeface="Arial"/>
                <a:ea typeface="Arial"/>
                <a:cs typeface="Arial"/>
                <a:sym typeface="Arial"/>
              </a:rPr>
              <a:t>if  (expression 1)</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if  (expression 2)</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statement 1</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else </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statement 2</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else</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if  (expression 2)</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statement 1</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else </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statement 2</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		……….	</a:t>
            </a:r>
            <a:endParaRPr dirty="0">
              <a:solidFill>
                <a:schemeClr val="tx1">
                  <a:lumMod val="75000"/>
                  <a:lumOff val="25000"/>
                </a:schemeClr>
              </a:solidFill>
            </a:endParaRPr>
          </a:p>
          <a:p>
            <a:pPr marL="1500188" lvl="4" indent="-128587" algn="l" rtl="0">
              <a:lnSpc>
                <a:spcPct val="90000"/>
              </a:lnSpc>
              <a:spcBef>
                <a:spcPts val="675"/>
              </a:spcBef>
              <a:spcAft>
                <a:spcPts val="0"/>
              </a:spcAft>
              <a:buSzPts val="1200"/>
              <a:buNone/>
            </a:pPr>
            <a:r>
              <a:rPr lang="en-US" sz="1125"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p:txBody>
      </p:sp>
      <p:sp>
        <p:nvSpPr>
          <p:cNvPr id="9" name="Google Shape;266;p42"/>
          <p:cNvSpPr txBox="1">
            <a:spLocks/>
          </p:cNvSpPr>
          <p:nvPr/>
        </p:nvSpPr>
        <p:spPr>
          <a:xfrm>
            <a:off x="827584" y="257175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NESTED IF CONTD..</a:t>
            </a:r>
            <a:endParaRPr lang="en-US" dirty="0"/>
          </a:p>
        </p:txBody>
      </p:sp>
    </p:spTree>
    <p:extLst>
      <p:ext uri="{BB962C8B-B14F-4D97-AF65-F5344CB8AC3E}">
        <p14:creationId xmlns:p14="http://schemas.microsoft.com/office/powerpoint/2010/main" val="1729507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273;p43"/>
          <p:cNvSpPr txBox="1">
            <a:spLocks noGrp="1"/>
          </p:cNvSpPr>
          <p:nvPr>
            <p:ph type="body" idx="1"/>
          </p:nvPr>
        </p:nvSpPr>
        <p:spPr>
          <a:xfrm>
            <a:off x="3620426" y="2352993"/>
            <a:ext cx="5338936" cy="4525963"/>
          </a:xfrm>
          <a:prstGeom prst="rect">
            <a:avLst/>
          </a:prstGeom>
          <a:noFill/>
          <a:ln>
            <a:noFill/>
          </a:ln>
        </p:spPr>
        <p:txBody>
          <a:bodyPr spcFirstLastPara="1" wrap="square" lIns="68550" tIns="34275" rIns="68550" bIns="34275" anchor="ctr" anchorCtr="0">
            <a:normAutofit/>
          </a:bodyPr>
          <a:lstStyle/>
          <a:p>
            <a:pPr marL="214313" lvl="0" indent="-214313" algn="l" rtl="0">
              <a:lnSpc>
                <a:spcPct val="90000"/>
              </a:lnSpc>
              <a:spcBef>
                <a:spcPts val="0"/>
              </a:spcBef>
              <a:spcAft>
                <a:spcPts val="0"/>
              </a:spcAft>
              <a:buSzPts val="2560"/>
              <a:buChar char="▶"/>
            </a:pPr>
            <a:r>
              <a:rPr lang="en-US" sz="2400">
                <a:solidFill>
                  <a:schemeClr val="tx1">
                    <a:lumMod val="75000"/>
                    <a:lumOff val="25000"/>
                  </a:schemeClr>
                </a:solidFill>
                <a:latin typeface="Arial"/>
                <a:ea typeface="Arial"/>
                <a:cs typeface="Arial"/>
                <a:sym typeface="Arial"/>
              </a:rPr>
              <a:t>Form 3:</a:t>
            </a:r>
            <a:endParaRPr>
              <a:solidFill>
                <a:schemeClr val="tx1">
                  <a:lumMod val="75000"/>
                  <a:lumOff val="25000"/>
                </a:schemeClr>
              </a:solidFill>
            </a:endParaRPr>
          </a:p>
          <a:p>
            <a:pPr marL="214313" lvl="0" indent="-214313" algn="l" rtl="0">
              <a:lnSpc>
                <a:spcPct val="90000"/>
              </a:lnSpc>
              <a:spcBef>
                <a:spcPts val="930"/>
              </a:spcBef>
              <a:spcAft>
                <a:spcPts val="0"/>
              </a:spcAft>
              <a:buSzPts val="2560"/>
              <a:buNone/>
            </a:pPr>
            <a:r>
              <a:rPr lang="en-US" sz="2400">
                <a:solidFill>
                  <a:schemeClr val="tx1">
                    <a:lumMod val="75000"/>
                    <a:lumOff val="25000"/>
                  </a:schemeClr>
                </a:solidFill>
                <a:latin typeface="Arial"/>
                <a:ea typeface="Arial"/>
                <a:cs typeface="Arial"/>
                <a:sym typeface="Arial"/>
              </a:rPr>
              <a:t>		</a:t>
            </a:r>
            <a:r>
              <a:rPr lang="en-US" sz="2400" b="1">
                <a:solidFill>
                  <a:schemeClr val="tx1">
                    <a:lumMod val="75000"/>
                    <a:lumOff val="25000"/>
                  </a:schemeClr>
                </a:solidFill>
                <a:latin typeface="Arial"/>
                <a:ea typeface="Arial"/>
                <a:cs typeface="Arial"/>
                <a:sym typeface="Arial"/>
              </a:rPr>
              <a:t>if  (expression 1)</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		body of if</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else</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		if  (expression 2)</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			statement 1</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		else </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			statement 2</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		……….	</a:t>
            </a:r>
            <a:endParaRPr>
              <a:solidFill>
                <a:schemeClr val="tx1">
                  <a:lumMod val="75000"/>
                  <a:lumOff val="25000"/>
                </a:schemeClr>
              </a:solidFill>
            </a:endParaRPr>
          </a:p>
          <a:p>
            <a:pPr marL="1500188" lvl="4" indent="-128587" algn="l" rtl="0">
              <a:lnSpc>
                <a:spcPct val="90000"/>
              </a:lnSpc>
              <a:spcBef>
                <a:spcPts val="750"/>
              </a:spcBef>
              <a:spcAft>
                <a:spcPts val="0"/>
              </a:spcAft>
              <a:buSzPts val="1600"/>
              <a:buNone/>
            </a:pPr>
            <a:r>
              <a:rPr lang="en-US" sz="1500" b="1">
                <a:solidFill>
                  <a:schemeClr val="tx1">
                    <a:lumMod val="75000"/>
                    <a:lumOff val="25000"/>
                  </a:schemeClr>
                </a:solidFill>
                <a:latin typeface="Arial"/>
                <a:ea typeface="Arial"/>
                <a:cs typeface="Arial"/>
                <a:sym typeface="Arial"/>
              </a:rPr>
              <a:t>}</a:t>
            </a:r>
            <a:endParaRPr>
              <a:solidFill>
                <a:schemeClr val="tx1">
                  <a:lumMod val="75000"/>
                  <a:lumOff val="25000"/>
                </a:schemeClr>
              </a:solidFill>
            </a:endParaRPr>
          </a:p>
          <a:p>
            <a:pPr marL="214313" lvl="0" indent="-92393" algn="l" rtl="0">
              <a:lnSpc>
                <a:spcPct val="90000"/>
              </a:lnSpc>
              <a:spcBef>
                <a:spcPts val="930"/>
              </a:spcBef>
              <a:spcAft>
                <a:spcPts val="0"/>
              </a:spcAft>
              <a:buSzPts val="2560"/>
              <a:buNone/>
            </a:pPr>
            <a:endParaRPr sz="2400">
              <a:solidFill>
                <a:schemeClr val="tx1">
                  <a:lumMod val="75000"/>
                  <a:lumOff val="25000"/>
                </a:schemeClr>
              </a:solidFill>
              <a:latin typeface="Arial"/>
              <a:ea typeface="Arial"/>
              <a:cs typeface="Arial"/>
              <a:sym typeface="Arial"/>
            </a:endParaRPr>
          </a:p>
        </p:txBody>
      </p:sp>
      <p:sp>
        <p:nvSpPr>
          <p:cNvPr id="9" name="Google Shape;272;p43"/>
          <p:cNvSpPr txBox="1">
            <a:spLocks/>
          </p:cNvSpPr>
          <p:nvPr/>
        </p:nvSpPr>
        <p:spPr>
          <a:xfrm>
            <a:off x="611560" y="257175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NESTED IF CONTD..</a:t>
            </a:r>
            <a:endParaRPr lang="en-US" dirty="0"/>
          </a:p>
        </p:txBody>
      </p:sp>
    </p:spTree>
    <p:extLst>
      <p:ext uri="{BB962C8B-B14F-4D97-AF65-F5344CB8AC3E}">
        <p14:creationId xmlns:p14="http://schemas.microsoft.com/office/powerpoint/2010/main" val="2634552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10" name="Google Shape;279;p44"/>
          <p:cNvSpPr txBox="1">
            <a:spLocks noGrp="1"/>
          </p:cNvSpPr>
          <p:nvPr>
            <p:ph type="body" idx="1"/>
          </p:nvPr>
        </p:nvSpPr>
        <p:spPr>
          <a:xfrm>
            <a:off x="3995936" y="2420888"/>
            <a:ext cx="4716195" cy="3669030"/>
          </a:xfrm>
          <a:prstGeom prst="rect">
            <a:avLst/>
          </a:prstGeom>
          <a:noFill/>
          <a:ln>
            <a:noFill/>
          </a:ln>
        </p:spPr>
        <p:txBody>
          <a:bodyPr spcFirstLastPara="1" wrap="square" lIns="68550" tIns="34275" rIns="68550" bIns="34275" anchor="ctr" anchorCtr="0">
            <a:normAutofit fontScale="62500" lnSpcReduction="20000"/>
          </a:bodyPr>
          <a:lstStyle/>
          <a:p>
            <a:pPr marL="214313" lvl="0" indent="-214313" algn="l" rtl="0">
              <a:lnSpc>
                <a:spcPct val="100000"/>
              </a:lnSpc>
              <a:spcBef>
                <a:spcPts val="0"/>
              </a:spcBef>
              <a:spcAft>
                <a:spcPts val="0"/>
              </a:spcAft>
              <a:buSzPct val="80000"/>
              <a:buNone/>
            </a:pPr>
            <a:r>
              <a:rPr lang="en-US" b="1" dirty="0">
                <a:solidFill>
                  <a:schemeClr val="tx1">
                    <a:lumMod val="75000"/>
                    <a:lumOff val="25000"/>
                  </a:schemeClr>
                </a:solidFill>
                <a:latin typeface="Arial"/>
                <a:ea typeface="Arial"/>
                <a:cs typeface="Arial"/>
                <a:sym typeface="Arial"/>
              </a:rPr>
              <a:t>#include&lt;</a:t>
            </a:r>
            <a:r>
              <a:rPr lang="en-US" b="1" dirty="0" err="1">
                <a:solidFill>
                  <a:schemeClr val="tx1">
                    <a:lumMod val="75000"/>
                    <a:lumOff val="25000"/>
                  </a:schemeClr>
                </a:solidFill>
                <a:latin typeface="Arial"/>
                <a:ea typeface="Arial"/>
                <a:cs typeface="Arial"/>
                <a:sym typeface="Arial"/>
              </a:rPr>
              <a:t>iostream.h</a:t>
            </a:r>
            <a:r>
              <a:rPr lang="en-US" b="1" dirty="0">
                <a:solidFill>
                  <a:schemeClr val="tx1">
                    <a:lumMod val="75000"/>
                    <a:lumOff val="25000"/>
                  </a:schemeClr>
                </a:solidFill>
                <a:latin typeface="Arial"/>
                <a:ea typeface="Arial"/>
                <a:cs typeface="Arial"/>
                <a:sym typeface="Arial"/>
              </a:rPr>
              <a:t>&gt;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a:solidFill>
                  <a:schemeClr val="tx1">
                    <a:lumMod val="75000"/>
                    <a:lumOff val="25000"/>
                  </a:schemeClr>
                </a:solidFill>
                <a:latin typeface="Arial"/>
                <a:ea typeface="Arial"/>
                <a:cs typeface="Arial"/>
                <a:sym typeface="Arial"/>
              </a:rPr>
              <a:t>#include&lt;</a:t>
            </a:r>
            <a:r>
              <a:rPr lang="en-US" b="1" dirty="0" err="1">
                <a:solidFill>
                  <a:schemeClr val="tx1">
                    <a:lumMod val="75000"/>
                    <a:lumOff val="25000"/>
                  </a:schemeClr>
                </a:solidFill>
                <a:latin typeface="Arial"/>
                <a:ea typeface="Arial"/>
                <a:cs typeface="Arial"/>
                <a:sym typeface="Arial"/>
              </a:rPr>
              <a:t>conio.h</a:t>
            </a:r>
            <a:r>
              <a:rPr lang="en-US" b="1" dirty="0">
                <a:solidFill>
                  <a:schemeClr val="tx1">
                    <a:lumMod val="75000"/>
                    <a:lumOff val="25000"/>
                  </a:schemeClr>
                </a:solidFill>
                <a:latin typeface="Arial"/>
                <a:ea typeface="Arial"/>
                <a:cs typeface="Arial"/>
                <a:sym typeface="Arial"/>
              </a:rPr>
              <a:t>&gt;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err="1">
                <a:solidFill>
                  <a:schemeClr val="tx1">
                    <a:lumMod val="75000"/>
                    <a:lumOff val="25000"/>
                  </a:schemeClr>
                </a:solidFill>
                <a:latin typeface="Arial"/>
                <a:ea typeface="Arial"/>
                <a:cs typeface="Arial"/>
                <a:sym typeface="Arial"/>
              </a:rPr>
              <a:t>int</a:t>
            </a:r>
            <a:r>
              <a:rPr lang="en-US" b="1" dirty="0">
                <a:solidFill>
                  <a:schemeClr val="tx1">
                    <a:lumMod val="75000"/>
                    <a:lumOff val="25000"/>
                  </a:schemeClr>
                </a:solidFill>
                <a:latin typeface="Arial"/>
                <a:ea typeface="Arial"/>
                <a:cs typeface="Arial"/>
                <a:sym typeface="Arial"/>
              </a:rPr>
              <a:t> main()</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err="1">
                <a:solidFill>
                  <a:schemeClr val="tx1">
                    <a:lumMod val="75000"/>
                    <a:lumOff val="25000"/>
                  </a:schemeClr>
                </a:solidFill>
                <a:latin typeface="Arial"/>
                <a:ea typeface="Arial"/>
                <a:cs typeface="Arial"/>
                <a:sym typeface="Arial"/>
              </a:rPr>
              <a:t>clrscr</a:t>
            </a:r>
            <a:r>
              <a:rPr lang="en-US"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a:solidFill>
                  <a:schemeClr val="tx1">
                    <a:lumMod val="75000"/>
                    <a:lumOff val="25000"/>
                  </a:schemeClr>
                </a:solidFill>
                <a:latin typeface="Arial"/>
                <a:ea typeface="Arial"/>
                <a:cs typeface="Arial"/>
                <a:sym typeface="Arial"/>
              </a:rPr>
              <a:t>char </a:t>
            </a:r>
            <a:r>
              <a:rPr lang="en-US" b="1" dirty="0" err="1">
                <a:solidFill>
                  <a:schemeClr val="tx1">
                    <a:lumMod val="75000"/>
                    <a:lumOff val="25000"/>
                  </a:schemeClr>
                </a:solidFill>
                <a:latin typeface="Arial"/>
                <a:ea typeface="Arial"/>
                <a:cs typeface="Arial"/>
                <a:sym typeface="Arial"/>
              </a:rPr>
              <a:t>ch</a:t>
            </a:r>
            <a:r>
              <a:rPr lang="en-US"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a:solidFill>
                  <a:schemeClr val="tx1">
                    <a:lumMod val="75000"/>
                    <a:lumOff val="25000"/>
                  </a:schemeClr>
                </a:solidFill>
                <a:latin typeface="Arial"/>
                <a:ea typeface="Arial"/>
                <a:cs typeface="Arial"/>
                <a:sym typeface="Arial"/>
              </a:rPr>
              <a:t>float </a:t>
            </a:r>
            <a:r>
              <a:rPr lang="en-US" b="1" dirty="0" err="1">
                <a:solidFill>
                  <a:schemeClr val="tx1">
                    <a:lumMod val="75000"/>
                    <a:lumOff val="25000"/>
                  </a:schemeClr>
                </a:solidFill>
                <a:latin typeface="Arial"/>
                <a:ea typeface="Arial"/>
                <a:cs typeface="Arial"/>
                <a:sym typeface="Arial"/>
              </a:rPr>
              <a:t>a,b</a:t>
            </a:r>
            <a:r>
              <a:rPr lang="en-US" b="1" dirty="0">
                <a:solidFill>
                  <a:schemeClr val="tx1">
                    <a:lumMod val="75000"/>
                    <a:lumOff val="25000"/>
                  </a:schemeClr>
                </a:solidFill>
                <a:latin typeface="Arial"/>
                <a:ea typeface="Arial"/>
                <a:cs typeface="Arial"/>
                <a:sym typeface="Arial"/>
              </a:rPr>
              <a:t>, result;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err="1">
                <a:solidFill>
                  <a:schemeClr val="tx1">
                    <a:lumMod val="75000"/>
                    <a:lumOff val="25000"/>
                  </a:schemeClr>
                </a:solidFill>
                <a:latin typeface="Arial"/>
                <a:ea typeface="Arial"/>
                <a:cs typeface="Arial"/>
                <a:sym typeface="Arial"/>
              </a:rPr>
              <a:t>printf</a:t>
            </a:r>
            <a:r>
              <a:rPr lang="en-US" b="1" dirty="0">
                <a:solidFill>
                  <a:schemeClr val="tx1">
                    <a:lumMod val="75000"/>
                    <a:lumOff val="25000"/>
                  </a:schemeClr>
                </a:solidFill>
                <a:latin typeface="Arial"/>
                <a:ea typeface="Arial"/>
                <a:cs typeface="Arial"/>
                <a:sym typeface="Arial"/>
              </a:rPr>
              <a:t>("Enter the two values“) ;</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err="1">
                <a:solidFill>
                  <a:schemeClr val="tx1">
                    <a:lumMod val="75000"/>
                    <a:lumOff val="25000"/>
                  </a:schemeClr>
                </a:solidFill>
                <a:latin typeface="Arial"/>
                <a:ea typeface="Arial"/>
                <a:cs typeface="Arial"/>
                <a:sym typeface="Arial"/>
              </a:rPr>
              <a:t>scanf</a:t>
            </a:r>
            <a:r>
              <a:rPr lang="en-US" b="1" dirty="0">
                <a:solidFill>
                  <a:schemeClr val="tx1">
                    <a:lumMod val="75000"/>
                    <a:lumOff val="25000"/>
                  </a:schemeClr>
                </a:solidFill>
                <a:latin typeface="Arial"/>
                <a:ea typeface="Arial"/>
                <a:cs typeface="Arial"/>
                <a:sym typeface="Arial"/>
              </a:rPr>
              <a:t>(“%d %</a:t>
            </a:r>
            <a:r>
              <a:rPr lang="en-US" b="1" dirty="0" err="1">
                <a:solidFill>
                  <a:schemeClr val="tx1">
                    <a:lumMod val="75000"/>
                    <a:lumOff val="25000"/>
                  </a:schemeClr>
                </a:solidFill>
                <a:latin typeface="Arial"/>
                <a:ea typeface="Arial"/>
                <a:cs typeface="Arial"/>
                <a:sym typeface="Arial"/>
              </a:rPr>
              <a:t>d”,&amp;a,&amp;b</a:t>
            </a:r>
            <a:r>
              <a:rPr lang="en-US" b="1"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err="1">
                <a:solidFill>
                  <a:schemeClr val="tx1">
                    <a:lumMod val="75000"/>
                    <a:lumOff val="25000"/>
                  </a:schemeClr>
                </a:solidFill>
                <a:latin typeface="Arial"/>
                <a:ea typeface="Arial"/>
                <a:cs typeface="Arial"/>
                <a:sym typeface="Arial"/>
              </a:rPr>
              <a:t>printf</a:t>
            </a:r>
            <a:r>
              <a:rPr lang="en-US" b="1" dirty="0">
                <a:solidFill>
                  <a:schemeClr val="tx1">
                    <a:lumMod val="75000"/>
                    <a:lumOff val="25000"/>
                  </a:schemeClr>
                </a:solidFill>
                <a:latin typeface="Arial"/>
                <a:ea typeface="Arial"/>
                <a:cs typeface="Arial"/>
                <a:sym typeface="Arial"/>
              </a:rPr>
              <a:t>("Enter the Operator [ + - * / ] : “);</a:t>
            </a:r>
            <a:endParaRPr dirty="0">
              <a:solidFill>
                <a:schemeClr val="tx1">
                  <a:lumMod val="75000"/>
                  <a:lumOff val="25000"/>
                </a:schemeClr>
              </a:solidFill>
            </a:endParaRPr>
          </a:p>
        </p:txBody>
      </p:sp>
      <p:sp>
        <p:nvSpPr>
          <p:cNvPr id="3" name="Rectangle 2"/>
          <p:cNvSpPr/>
          <p:nvPr/>
        </p:nvSpPr>
        <p:spPr>
          <a:xfrm>
            <a:off x="323528" y="1619577"/>
            <a:ext cx="7560840" cy="523220"/>
          </a:xfrm>
          <a:prstGeom prst="rect">
            <a:avLst/>
          </a:prstGeom>
        </p:spPr>
        <p:txBody>
          <a:bodyPr wrap="square">
            <a:spAutoFit/>
          </a:bodyPr>
          <a:lstStyle/>
          <a:p>
            <a:r>
              <a:rPr lang="en-US" dirty="0">
                <a:latin typeface="Arial Black"/>
                <a:ea typeface="Arial Black"/>
                <a:cs typeface="Arial Black"/>
                <a:sym typeface="Arial Black"/>
              </a:rPr>
              <a:t>PROGRAM TO CREATE THE EQUIVALENT OF A FOUR FUNCTION CALCULATOR</a:t>
            </a:r>
            <a:endParaRPr lang="en-IN" dirty="0"/>
          </a:p>
        </p:txBody>
      </p:sp>
    </p:spTree>
    <p:extLst>
      <p:ext uri="{BB962C8B-B14F-4D97-AF65-F5344CB8AC3E}">
        <p14:creationId xmlns:p14="http://schemas.microsoft.com/office/powerpoint/2010/main" val="1702206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2915816" y="2571749"/>
            <a:ext cx="5430838" cy="2803525"/>
          </a:xfrm>
          <a:prstGeom prst="rect">
            <a:avLst/>
          </a:prstGeom>
          <a:noFill/>
          <a:ln>
            <a:noFill/>
          </a:ln>
        </p:spPr>
      </p:pic>
      <p:sp>
        <p:nvSpPr>
          <p:cNvPr id="70" name="Google Shape;70;p26"/>
          <p:cNvSpPr/>
          <p:nvPr/>
        </p:nvSpPr>
        <p:spPr>
          <a:xfrm>
            <a:off x="33063" y="1464109"/>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2" name="Rectangle 1"/>
          <p:cNvSpPr/>
          <p:nvPr/>
        </p:nvSpPr>
        <p:spPr>
          <a:xfrm>
            <a:off x="3995936" y="2595834"/>
            <a:ext cx="4572000" cy="3488134"/>
          </a:xfrm>
          <a:prstGeom prst="rect">
            <a:avLst/>
          </a:prstGeom>
        </p:spPr>
        <p:txBody>
          <a:bodyPr>
            <a:spAutoFit/>
          </a:bodyPr>
          <a:lstStyle/>
          <a:p>
            <a:pPr marL="214313" lvl="0" indent="-214313">
              <a:buSzPct val="58823"/>
            </a:pPr>
            <a:r>
              <a:rPr lang="en-US" b="1" dirty="0" err="1">
                <a:solidFill>
                  <a:schemeClr val="tx1">
                    <a:lumMod val="75000"/>
                    <a:lumOff val="25000"/>
                  </a:schemeClr>
                </a:solidFill>
              </a:rPr>
              <a:t>scanf</a:t>
            </a:r>
            <a:r>
              <a:rPr lang="en-US" b="1" dirty="0">
                <a:solidFill>
                  <a:schemeClr val="tx1">
                    <a:lumMod val="75000"/>
                    <a:lumOff val="25000"/>
                  </a:schemeClr>
                </a:solidFill>
              </a:rPr>
              <a:t>(“%c”,</a:t>
            </a:r>
            <a:r>
              <a:rPr lang="en-US" b="1" dirty="0" err="1">
                <a:solidFill>
                  <a:schemeClr val="tx1">
                    <a:lumMod val="75000"/>
                    <a:lumOff val="25000"/>
                  </a:schemeClr>
                </a:solidFill>
              </a:rPr>
              <a:t>ch</a:t>
            </a:r>
            <a:r>
              <a:rPr lang="en-US" b="1" dirty="0">
                <a:solidFill>
                  <a:schemeClr val="tx1">
                    <a:lumMod val="75000"/>
                    <a:lumOff val="25000"/>
                  </a:schemeClr>
                </a:solidFill>
              </a:rPr>
              <a:t>);</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if(</a:t>
            </a:r>
            <a:r>
              <a:rPr lang="en-US" b="1" dirty="0" err="1">
                <a:solidFill>
                  <a:schemeClr val="tx1">
                    <a:lumMod val="75000"/>
                    <a:lumOff val="25000"/>
                  </a:schemeClr>
                </a:solidFill>
              </a:rPr>
              <a:t>ch</a:t>
            </a:r>
            <a:r>
              <a:rPr lang="en-US" b="1" dirty="0">
                <a:solidFill>
                  <a:schemeClr val="tx1">
                    <a:lumMod val="75000"/>
                    <a:lumOff val="25000"/>
                  </a:schemeClr>
                </a:solidFill>
              </a:rPr>
              <a:t>=='+')</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result=</a:t>
            </a:r>
            <a:r>
              <a:rPr lang="en-US" b="1" dirty="0" err="1">
                <a:solidFill>
                  <a:schemeClr val="tx1">
                    <a:lumMod val="75000"/>
                    <a:lumOff val="25000"/>
                  </a:schemeClr>
                </a:solidFill>
              </a:rPr>
              <a:t>a+b</a:t>
            </a:r>
            <a:r>
              <a:rPr lang="en-US" b="1" dirty="0">
                <a:solidFill>
                  <a:schemeClr val="tx1">
                    <a:lumMod val="75000"/>
                    <a:lumOff val="25000"/>
                  </a:schemeClr>
                </a:solidFill>
              </a:rPr>
              <a:t>;</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else</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if(</a:t>
            </a:r>
            <a:r>
              <a:rPr lang="en-US" b="1" dirty="0" err="1">
                <a:solidFill>
                  <a:schemeClr val="tx1">
                    <a:lumMod val="75000"/>
                    <a:lumOff val="25000"/>
                  </a:schemeClr>
                </a:solidFill>
              </a:rPr>
              <a:t>ch</a:t>
            </a:r>
            <a:r>
              <a:rPr lang="en-US" b="1" dirty="0">
                <a:solidFill>
                  <a:schemeClr val="tx1">
                    <a:lumMod val="75000"/>
                    <a:lumOff val="25000"/>
                  </a:schemeClr>
                </a:solidFill>
              </a:rPr>
              <a:t>=='-')</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result=a-b;</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else</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if(</a:t>
            </a:r>
            <a:r>
              <a:rPr lang="en-US" b="1" dirty="0" err="1">
                <a:solidFill>
                  <a:schemeClr val="tx1">
                    <a:lumMod val="75000"/>
                    <a:lumOff val="25000"/>
                  </a:schemeClr>
                </a:solidFill>
              </a:rPr>
              <a:t>ch</a:t>
            </a:r>
            <a:r>
              <a:rPr lang="en-US" b="1" dirty="0">
                <a:solidFill>
                  <a:schemeClr val="tx1">
                    <a:lumMod val="75000"/>
                    <a:lumOff val="25000"/>
                  </a:schemeClr>
                </a:solidFill>
              </a:rPr>
              <a:t>=='*')</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result=a*b;</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else</a:t>
            </a:r>
            <a:endParaRPr lang="en-US" dirty="0">
              <a:solidFill>
                <a:schemeClr val="tx1">
                  <a:lumMod val="75000"/>
                  <a:lumOff val="25000"/>
                </a:schemeClr>
              </a:solidFill>
            </a:endParaRPr>
          </a:p>
          <a:p>
            <a:pPr marL="214313" lvl="0" indent="-214313">
              <a:spcBef>
                <a:spcPts val="750"/>
              </a:spcBef>
              <a:buSzPct val="58823"/>
            </a:pPr>
            <a:r>
              <a:rPr lang="en-US" b="1" dirty="0">
                <a:solidFill>
                  <a:schemeClr val="tx1">
                    <a:lumMod val="75000"/>
                    <a:lumOff val="25000"/>
                  </a:schemeClr>
                </a:solidFill>
              </a:rPr>
              <a:t>if(</a:t>
            </a:r>
            <a:r>
              <a:rPr lang="en-US" b="1" dirty="0" err="1">
                <a:solidFill>
                  <a:schemeClr val="tx1">
                    <a:lumMod val="75000"/>
                    <a:lumOff val="25000"/>
                  </a:schemeClr>
                </a:solidFill>
              </a:rPr>
              <a:t>ch</a:t>
            </a:r>
            <a:r>
              <a:rPr lang="en-US" b="1" dirty="0">
                <a:solidFill>
                  <a:schemeClr val="tx1">
                    <a:lumMod val="75000"/>
                    <a:lumOff val="25000"/>
                  </a:schemeClr>
                </a:solidFill>
              </a:rPr>
              <a:t>=='/')</a:t>
            </a:r>
            <a:endParaRPr lang="en-US" dirty="0">
              <a:solidFill>
                <a:schemeClr val="tx1">
                  <a:lumMod val="75000"/>
                  <a:lumOff val="25000"/>
                </a:schemeClr>
              </a:solidFill>
            </a:endParaRPr>
          </a:p>
        </p:txBody>
      </p:sp>
      <p:sp>
        <p:nvSpPr>
          <p:cNvPr id="8" name="Google Shape;284;p45"/>
          <p:cNvSpPr txBox="1">
            <a:spLocks/>
          </p:cNvSpPr>
          <p:nvPr/>
        </p:nvSpPr>
        <p:spPr>
          <a:xfrm>
            <a:off x="547845" y="2114675"/>
            <a:ext cx="3448091"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PROGRAM CONTD..</a:t>
            </a:r>
            <a:endParaRPr lang="en-US" dirty="0"/>
          </a:p>
        </p:txBody>
      </p:sp>
    </p:spTree>
    <p:extLst>
      <p:ext uri="{BB962C8B-B14F-4D97-AF65-F5344CB8AC3E}">
        <p14:creationId xmlns:p14="http://schemas.microsoft.com/office/powerpoint/2010/main" val="2822267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290;p46"/>
          <p:cNvSpPr txBox="1">
            <a:spLocks/>
          </p:cNvSpPr>
          <p:nvPr/>
        </p:nvSpPr>
        <p:spPr>
          <a:xfrm>
            <a:off x="710228" y="1187887"/>
            <a:ext cx="6400800" cy="113030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ts val="3600"/>
            </a:pPr>
            <a:r>
              <a:rPr lang="en-US" smtClean="0">
                <a:latin typeface="Arial Black"/>
                <a:ea typeface="Arial Black"/>
                <a:cs typeface="Arial Black"/>
                <a:sym typeface="Arial Black"/>
              </a:rPr>
              <a:t>PROGRAM CONTD..</a:t>
            </a:r>
            <a:endParaRPr lang="en-US"/>
          </a:p>
        </p:txBody>
      </p:sp>
      <p:sp>
        <p:nvSpPr>
          <p:cNvPr id="2" name="Rectangle 1"/>
          <p:cNvSpPr/>
          <p:nvPr/>
        </p:nvSpPr>
        <p:spPr>
          <a:xfrm>
            <a:off x="1857375" y="2571750"/>
            <a:ext cx="4572000" cy="2215991"/>
          </a:xfrm>
          <a:prstGeom prst="rect">
            <a:avLst/>
          </a:prstGeom>
        </p:spPr>
        <p:txBody>
          <a:bodyPr>
            <a:spAutoFit/>
          </a:bodyPr>
          <a:lstStyle/>
          <a:p>
            <a:pPr marL="214313" lvl="0" indent="-214313">
              <a:buSzPts val="1600"/>
            </a:pPr>
            <a:r>
              <a:rPr lang="en-US" b="1" dirty="0">
                <a:solidFill>
                  <a:schemeClr val="tx1">
                    <a:lumMod val="75000"/>
                    <a:lumOff val="25000"/>
                  </a:schemeClr>
                </a:solidFill>
              </a:rPr>
              <a:t>result=a/b;</a:t>
            </a:r>
            <a:endParaRPr lang="en-US" dirty="0">
              <a:solidFill>
                <a:schemeClr val="tx1">
                  <a:lumMod val="75000"/>
                  <a:lumOff val="25000"/>
                </a:schemeClr>
              </a:solidFill>
            </a:endParaRPr>
          </a:p>
          <a:p>
            <a:pPr marL="214313" lvl="0" indent="-214313">
              <a:spcBef>
                <a:spcPts val="750"/>
              </a:spcBef>
              <a:buSzPts val="1600"/>
            </a:pPr>
            <a:r>
              <a:rPr lang="en-US" b="1" dirty="0">
                <a:solidFill>
                  <a:schemeClr val="tx1">
                    <a:lumMod val="75000"/>
                    <a:lumOff val="25000"/>
                  </a:schemeClr>
                </a:solidFill>
              </a:rPr>
              <a:t>else</a:t>
            </a:r>
            <a:endParaRPr lang="en-US" dirty="0">
              <a:solidFill>
                <a:schemeClr val="tx1">
                  <a:lumMod val="75000"/>
                  <a:lumOff val="25000"/>
                </a:schemeClr>
              </a:solidFill>
            </a:endParaRPr>
          </a:p>
          <a:p>
            <a:pPr marL="214313" lvl="0" indent="-214313">
              <a:spcBef>
                <a:spcPts val="750"/>
              </a:spcBef>
              <a:buSzPts val="1600"/>
            </a:pPr>
            <a:r>
              <a:rPr lang="en-US" b="1" dirty="0" err="1">
                <a:solidFill>
                  <a:schemeClr val="tx1">
                    <a:lumMod val="75000"/>
                    <a:lumOff val="25000"/>
                  </a:schemeClr>
                </a:solidFill>
              </a:rPr>
              <a:t>Printf</a:t>
            </a:r>
            <a:r>
              <a:rPr lang="en-US" b="1" dirty="0">
                <a:solidFill>
                  <a:schemeClr val="tx1">
                    <a:lumMod val="75000"/>
                    <a:lumOff val="25000"/>
                  </a:schemeClr>
                </a:solidFill>
              </a:rPr>
              <a:t>("Unknown Operation “);</a:t>
            </a:r>
            <a:endParaRPr lang="en-US" dirty="0">
              <a:solidFill>
                <a:schemeClr val="tx1">
                  <a:lumMod val="75000"/>
                  <a:lumOff val="25000"/>
                </a:schemeClr>
              </a:solidFill>
            </a:endParaRPr>
          </a:p>
          <a:p>
            <a:pPr marL="214313" lvl="0" indent="-214313">
              <a:spcBef>
                <a:spcPts val="750"/>
              </a:spcBef>
              <a:buSzPts val="1600"/>
            </a:pPr>
            <a:r>
              <a:rPr lang="en-US" b="1" dirty="0" err="1">
                <a:solidFill>
                  <a:schemeClr val="tx1">
                    <a:lumMod val="75000"/>
                    <a:lumOff val="25000"/>
                  </a:schemeClr>
                </a:solidFill>
              </a:rPr>
              <a:t>Printf</a:t>
            </a:r>
            <a:r>
              <a:rPr lang="en-US" b="1" dirty="0">
                <a:solidFill>
                  <a:schemeClr val="tx1">
                    <a:lumMod val="75000"/>
                    <a:lumOff val="25000"/>
                  </a:schemeClr>
                </a:solidFill>
              </a:rPr>
              <a:t>(“%</a:t>
            </a:r>
            <a:r>
              <a:rPr lang="en-US" b="1" dirty="0" err="1">
                <a:solidFill>
                  <a:schemeClr val="tx1">
                    <a:lumMod val="75000"/>
                    <a:lumOff val="25000"/>
                  </a:schemeClr>
                </a:solidFill>
              </a:rPr>
              <a:t>d”,result</a:t>
            </a:r>
            <a:r>
              <a:rPr lang="en-US" b="1" dirty="0">
                <a:solidFill>
                  <a:schemeClr val="tx1">
                    <a:lumMod val="75000"/>
                    <a:lumOff val="25000"/>
                  </a:schemeClr>
                </a:solidFill>
              </a:rPr>
              <a:t>);</a:t>
            </a:r>
            <a:endParaRPr lang="en-US" dirty="0">
              <a:solidFill>
                <a:schemeClr val="tx1">
                  <a:lumMod val="75000"/>
                  <a:lumOff val="25000"/>
                </a:schemeClr>
              </a:solidFill>
            </a:endParaRPr>
          </a:p>
          <a:p>
            <a:pPr marL="214313" lvl="0" indent="-214313">
              <a:spcBef>
                <a:spcPts val="750"/>
              </a:spcBef>
              <a:buSzPts val="1600"/>
            </a:pPr>
            <a:r>
              <a:rPr lang="en-US" b="1" dirty="0" err="1">
                <a:solidFill>
                  <a:schemeClr val="tx1">
                    <a:lumMod val="75000"/>
                    <a:lumOff val="25000"/>
                  </a:schemeClr>
                </a:solidFill>
              </a:rPr>
              <a:t>getch</a:t>
            </a:r>
            <a:r>
              <a:rPr lang="en-US" b="1" dirty="0">
                <a:solidFill>
                  <a:schemeClr val="tx1">
                    <a:lumMod val="75000"/>
                    <a:lumOff val="25000"/>
                  </a:schemeClr>
                </a:solidFill>
              </a:rPr>
              <a:t>();</a:t>
            </a:r>
            <a:endParaRPr lang="en-US" dirty="0">
              <a:solidFill>
                <a:schemeClr val="tx1">
                  <a:lumMod val="75000"/>
                  <a:lumOff val="25000"/>
                </a:schemeClr>
              </a:solidFill>
            </a:endParaRPr>
          </a:p>
          <a:p>
            <a:pPr marL="214313" lvl="0" indent="-214313">
              <a:spcBef>
                <a:spcPts val="750"/>
              </a:spcBef>
              <a:buSzPts val="1600"/>
            </a:pPr>
            <a:r>
              <a:rPr lang="en-US" b="1" dirty="0">
                <a:solidFill>
                  <a:schemeClr val="tx1">
                    <a:lumMod val="75000"/>
                    <a:lumOff val="25000"/>
                  </a:schemeClr>
                </a:solidFill>
              </a:rPr>
              <a:t>return 0;</a:t>
            </a:r>
            <a:endParaRPr lang="en-US" dirty="0">
              <a:solidFill>
                <a:schemeClr val="tx1">
                  <a:lumMod val="75000"/>
                  <a:lumOff val="25000"/>
                </a:schemeClr>
              </a:solidFill>
            </a:endParaRPr>
          </a:p>
          <a:p>
            <a:pPr marL="214313" lvl="0" indent="-214313">
              <a:spcBef>
                <a:spcPts val="750"/>
              </a:spcBef>
              <a:buSzPts val="1600"/>
            </a:pPr>
            <a:r>
              <a:rPr lang="en-US" b="1" dirty="0">
                <a:solidFill>
                  <a:schemeClr val="tx1">
                    <a:lumMod val="75000"/>
                    <a:lumOff val="25000"/>
                  </a:schemeClr>
                </a:solidFill>
              </a:rPr>
              <a:t>}</a:t>
            </a:r>
            <a:endParaRPr lang="en-US" dirty="0">
              <a:solidFill>
                <a:schemeClr val="tx1">
                  <a:lumMod val="75000"/>
                  <a:lumOff val="25000"/>
                </a:schemeClr>
              </a:solidFill>
            </a:endParaRPr>
          </a:p>
        </p:txBody>
      </p:sp>
    </p:spTree>
    <p:extLst>
      <p:ext uri="{BB962C8B-B14F-4D97-AF65-F5344CB8AC3E}">
        <p14:creationId xmlns:p14="http://schemas.microsoft.com/office/powerpoint/2010/main" val="1415066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2" name="Rectangle 1"/>
          <p:cNvSpPr/>
          <p:nvPr/>
        </p:nvSpPr>
        <p:spPr>
          <a:xfrm>
            <a:off x="4139952" y="2588936"/>
            <a:ext cx="4572000" cy="3408625"/>
          </a:xfrm>
          <a:prstGeom prst="rect">
            <a:avLst/>
          </a:prstGeom>
        </p:spPr>
        <p:txBody>
          <a:bodyPr>
            <a:spAutoFit/>
          </a:bodyPr>
          <a:lstStyle/>
          <a:p>
            <a:pPr marL="214313" lvl="0" indent="-214313">
              <a:buSzPct val="105263"/>
              <a:buChar char="▶"/>
            </a:pPr>
            <a:r>
              <a:rPr lang="en-US" dirty="0">
                <a:solidFill>
                  <a:schemeClr val="tx1">
                    <a:lumMod val="75000"/>
                    <a:lumOff val="25000"/>
                  </a:schemeClr>
                </a:solidFill>
              </a:rPr>
              <a:t>A common programming construct in C is the if-else-if ladder, which is often also called as the if-else-if ladder because of its appearance. It takes the following general form.</a:t>
            </a:r>
          </a:p>
          <a:p>
            <a:pPr marL="214313" lvl="0" indent="-214313">
              <a:spcBef>
                <a:spcPts val="750"/>
              </a:spcBef>
              <a:buSzPct val="105263"/>
            </a:pPr>
            <a:r>
              <a:rPr lang="en-US" dirty="0">
                <a:solidFill>
                  <a:schemeClr val="tx1">
                    <a:lumMod val="75000"/>
                    <a:lumOff val="25000"/>
                  </a:schemeClr>
                </a:solidFill>
              </a:rPr>
              <a:t>	 </a:t>
            </a:r>
            <a:r>
              <a:rPr lang="en-US" b="1" dirty="0">
                <a:solidFill>
                  <a:schemeClr val="tx1">
                    <a:lumMod val="75000"/>
                    <a:lumOff val="25000"/>
                  </a:schemeClr>
                </a:solidFill>
              </a:rPr>
              <a:t>if  (expression 1) 	statement 1;</a:t>
            </a:r>
            <a:endParaRPr lang="en-US" dirty="0">
              <a:solidFill>
                <a:schemeClr val="tx1">
                  <a:lumMod val="75000"/>
                  <a:lumOff val="25000"/>
                </a:schemeClr>
              </a:solidFill>
            </a:endParaRPr>
          </a:p>
          <a:p>
            <a:pPr marL="1500188" lvl="4" indent="-128587">
              <a:spcBef>
                <a:spcPts val="660"/>
              </a:spcBef>
              <a:buSzPct val="73684"/>
            </a:pPr>
            <a:r>
              <a:rPr lang="en-US" b="1" dirty="0">
                <a:solidFill>
                  <a:schemeClr val="tx1">
                    <a:lumMod val="75000"/>
                    <a:lumOff val="25000"/>
                  </a:schemeClr>
                </a:solidFill>
              </a:rPr>
              <a:t>else</a:t>
            </a:r>
            <a:endParaRPr lang="en-US" dirty="0">
              <a:solidFill>
                <a:schemeClr val="tx1">
                  <a:lumMod val="75000"/>
                  <a:lumOff val="25000"/>
                </a:schemeClr>
              </a:solidFill>
            </a:endParaRPr>
          </a:p>
          <a:p>
            <a:pPr marL="1500188" lvl="4" indent="-128587">
              <a:spcBef>
                <a:spcPts val="660"/>
              </a:spcBef>
              <a:buSzPct val="73684"/>
            </a:pPr>
            <a:r>
              <a:rPr lang="en-US" b="1" dirty="0">
                <a:solidFill>
                  <a:schemeClr val="tx1">
                    <a:lumMod val="75000"/>
                    <a:lumOff val="25000"/>
                  </a:schemeClr>
                </a:solidFill>
              </a:rPr>
              <a:t>	if  (expression 2)  statement 2</a:t>
            </a:r>
            <a:endParaRPr lang="en-US" dirty="0">
              <a:solidFill>
                <a:schemeClr val="tx1">
                  <a:lumMod val="75000"/>
                  <a:lumOff val="25000"/>
                </a:schemeClr>
              </a:solidFill>
            </a:endParaRPr>
          </a:p>
          <a:p>
            <a:pPr marL="1500188" lvl="4" indent="-128587">
              <a:spcBef>
                <a:spcPts val="660"/>
              </a:spcBef>
              <a:buSzPct val="73684"/>
            </a:pPr>
            <a:r>
              <a:rPr lang="en-US" b="1" dirty="0">
                <a:solidFill>
                  <a:schemeClr val="tx1">
                    <a:lumMod val="75000"/>
                    <a:lumOff val="25000"/>
                  </a:schemeClr>
                </a:solidFill>
              </a:rPr>
              <a:t>else </a:t>
            </a:r>
            <a:endParaRPr lang="en-US" dirty="0">
              <a:solidFill>
                <a:schemeClr val="tx1">
                  <a:lumMod val="75000"/>
                  <a:lumOff val="25000"/>
                </a:schemeClr>
              </a:solidFill>
            </a:endParaRPr>
          </a:p>
          <a:p>
            <a:pPr marL="1500188" lvl="4" indent="-128587">
              <a:spcBef>
                <a:spcPts val="660"/>
              </a:spcBef>
              <a:buSzPct val="73684"/>
            </a:pPr>
            <a:r>
              <a:rPr lang="en-US" b="1" dirty="0">
                <a:solidFill>
                  <a:schemeClr val="tx1">
                    <a:lumMod val="75000"/>
                    <a:lumOff val="25000"/>
                  </a:schemeClr>
                </a:solidFill>
              </a:rPr>
              <a:t>	if (expression 3)  statement 3</a:t>
            </a:r>
            <a:endParaRPr lang="en-US" dirty="0">
              <a:solidFill>
                <a:schemeClr val="tx1">
                  <a:lumMod val="75000"/>
                  <a:lumOff val="25000"/>
                </a:schemeClr>
              </a:solidFill>
            </a:endParaRPr>
          </a:p>
          <a:p>
            <a:pPr marL="1500188" lvl="4" indent="-128587">
              <a:spcBef>
                <a:spcPts val="660"/>
              </a:spcBef>
              <a:buSzPct val="73684"/>
            </a:pPr>
            <a:r>
              <a:rPr lang="en-US" b="1" dirty="0">
                <a:solidFill>
                  <a:schemeClr val="tx1">
                    <a:lumMod val="75000"/>
                    <a:lumOff val="25000"/>
                  </a:schemeClr>
                </a:solidFill>
              </a:rPr>
              <a:t>		……….	</a:t>
            </a:r>
            <a:endParaRPr lang="en-US" dirty="0">
              <a:solidFill>
                <a:schemeClr val="tx1">
                  <a:lumMod val="75000"/>
                  <a:lumOff val="25000"/>
                </a:schemeClr>
              </a:solidFill>
            </a:endParaRPr>
          </a:p>
          <a:p>
            <a:pPr marL="1500188" lvl="4" indent="-128587">
              <a:spcBef>
                <a:spcPts val="660"/>
              </a:spcBef>
              <a:buSzPct val="73684"/>
            </a:pPr>
            <a:r>
              <a:rPr lang="en-US" b="1" dirty="0">
                <a:solidFill>
                  <a:schemeClr val="tx1">
                    <a:lumMod val="75000"/>
                    <a:lumOff val="25000"/>
                  </a:schemeClr>
                </a:solidFill>
              </a:rPr>
              <a:t>else </a:t>
            </a:r>
            <a:endParaRPr lang="en-US" dirty="0">
              <a:solidFill>
                <a:schemeClr val="tx1">
                  <a:lumMod val="75000"/>
                  <a:lumOff val="25000"/>
                </a:schemeClr>
              </a:solidFill>
            </a:endParaRPr>
          </a:p>
          <a:p>
            <a:pPr marL="1500188" lvl="4" indent="-128587">
              <a:spcBef>
                <a:spcPts val="660"/>
              </a:spcBef>
              <a:buSzPct val="73684"/>
            </a:pPr>
            <a:r>
              <a:rPr lang="en-US" b="1" dirty="0">
                <a:solidFill>
                  <a:schemeClr val="tx1">
                    <a:lumMod val="75000"/>
                    <a:lumOff val="25000"/>
                  </a:schemeClr>
                </a:solidFill>
              </a:rPr>
              <a:t>	Statement 4;</a:t>
            </a:r>
            <a:endParaRPr lang="en-US" dirty="0">
              <a:solidFill>
                <a:schemeClr val="tx1">
                  <a:lumMod val="75000"/>
                  <a:lumOff val="25000"/>
                </a:schemeClr>
              </a:solidFill>
            </a:endParaRPr>
          </a:p>
        </p:txBody>
      </p:sp>
      <p:sp>
        <p:nvSpPr>
          <p:cNvPr id="8" name="Google Shape;296;p47"/>
          <p:cNvSpPr txBox="1">
            <a:spLocks/>
          </p:cNvSpPr>
          <p:nvPr/>
        </p:nvSpPr>
        <p:spPr>
          <a:xfrm>
            <a:off x="683568" y="232853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THE IF-ELSE-IF LADDER</a:t>
            </a:r>
            <a:endParaRPr lang="en-US" dirty="0"/>
          </a:p>
        </p:txBody>
      </p:sp>
    </p:spTree>
    <p:extLst>
      <p:ext uri="{BB962C8B-B14F-4D97-AF65-F5344CB8AC3E}">
        <p14:creationId xmlns:p14="http://schemas.microsoft.com/office/powerpoint/2010/main" val="3645246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02;p48"/>
          <p:cNvSpPr txBox="1">
            <a:spLocks/>
          </p:cNvSpPr>
          <p:nvPr/>
        </p:nvSpPr>
        <p:spPr>
          <a:xfrm>
            <a:off x="452208" y="224770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b="1" smtClean="0">
                <a:latin typeface="Arial Black"/>
                <a:ea typeface="Arial Black"/>
                <a:cs typeface="Arial Black"/>
                <a:sym typeface="Arial Black"/>
              </a:rPr>
              <a:t>THE ? : ALTERNATIVE TO IF</a:t>
            </a:r>
            <a:endParaRPr lang="en-US" dirty="0"/>
          </a:p>
        </p:txBody>
      </p:sp>
      <p:sp>
        <p:nvSpPr>
          <p:cNvPr id="8" name="Google Shape;303;p48"/>
          <p:cNvSpPr txBox="1">
            <a:spLocks noGrp="1"/>
          </p:cNvSpPr>
          <p:nvPr>
            <p:ph type="body" idx="1"/>
          </p:nvPr>
        </p:nvSpPr>
        <p:spPr>
          <a:xfrm>
            <a:off x="3995936" y="2420888"/>
            <a:ext cx="4716195" cy="3669030"/>
          </a:xfrm>
          <a:prstGeom prst="rect">
            <a:avLst/>
          </a:prstGeom>
          <a:noFill/>
          <a:ln>
            <a:noFill/>
          </a:ln>
        </p:spPr>
        <p:txBody>
          <a:bodyPr spcFirstLastPara="1" wrap="square" lIns="68550" tIns="34275" rIns="68550" bIns="34275" anchor="ctr" anchorCtr="0">
            <a:normAutofit fontScale="92500" lnSpcReduction="10000"/>
          </a:bodyPr>
          <a:lstStyle/>
          <a:p>
            <a:pPr marL="214313" lvl="0" indent="-214313" algn="l" rtl="0">
              <a:lnSpc>
                <a:spcPct val="100000"/>
              </a:lnSpc>
              <a:spcBef>
                <a:spcPts val="0"/>
              </a:spcBef>
              <a:spcAft>
                <a:spcPts val="0"/>
              </a:spcAft>
              <a:buSzPct val="54054"/>
              <a:buChar char="▶"/>
            </a:pPr>
            <a:r>
              <a:rPr lang="en-US" dirty="0">
                <a:solidFill>
                  <a:schemeClr val="tx1">
                    <a:lumMod val="75000"/>
                    <a:lumOff val="25000"/>
                  </a:schemeClr>
                </a:solidFill>
                <a:latin typeface="Arial"/>
                <a:ea typeface="Arial"/>
                <a:cs typeface="Arial"/>
                <a:sym typeface="Arial"/>
              </a:rPr>
              <a:t>C has an operator that can be alternative to if statement. The </a:t>
            </a:r>
            <a:r>
              <a:rPr lang="en-US" b="1" dirty="0">
                <a:solidFill>
                  <a:schemeClr val="tx1">
                    <a:lumMod val="75000"/>
                    <a:lumOff val="25000"/>
                  </a:schemeClr>
                </a:solidFill>
                <a:latin typeface="Arial"/>
                <a:ea typeface="Arial"/>
                <a:cs typeface="Arial"/>
                <a:sym typeface="Arial"/>
              </a:rPr>
              <a:t>conditional operator  ? :</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Char char="▶"/>
            </a:pPr>
            <a:r>
              <a:rPr lang="en-US" dirty="0">
                <a:solidFill>
                  <a:schemeClr val="tx1">
                    <a:lumMod val="75000"/>
                    <a:lumOff val="25000"/>
                  </a:schemeClr>
                </a:solidFill>
                <a:latin typeface="Arial"/>
                <a:ea typeface="Arial"/>
                <a:cs typeface="Arial"/>
                <a:sym typeface="Arial"/>
              </a:rPr>
              <a:t>This operator can be used to replace the if statement of C.</a:t>
            </a:r>
            <a:endParaRPr dirty="0">
              <a:solidFill>
                <a:schemeClr val="tx1">
                  <a:lumMod val="75000"/>
                  <a:lumOff val="25000"/>
                </a:schemeClr>
              </a:solidFill>
            </a:endParaRPr>
          </a:p>
        </p:txBody>
      </p:sp>
    </p:spTree>
    <p:extLst>
      <p:ext uri="{BB962C8B-B14F-4D97-AF65-F5344CB8AC3E}">
        <p14:creationId xmlns:p14="http://schemas.microsoft.com/office/powerpoint/2010/main" val="3313765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0"/>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9" name="Google Shape;308;p49"/>
          <p:cNvSpPr txBox="1">
            <a:spLocks/>
          </p:cNvSpPr>
          <p:nvPr/>
        </p:nvSpPr>
        <p:spPr>
          <a:xfrm>
            <a:off x="179512" y="234888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300"/>
            </a:pPr>
            <a:r>
              <a:rPr lang="en-US" sz="2475" dirty="0" smtClean="0">
                <a:latin typeface="Arial Black"/>
                <a:ea typeface="Arial Black"/>
                <a:cs typeface="Arial Black"/>
                <a:sym typeface="Arial Black"/>
              </a:rPr>
              <a:t>CONDITIONAL OPERATOR ? :</a:t>
            </a:r>
            <a:endParaRPr lang="en-US" dirty="0"/>
          </a:p>
        </p:txBody>
      </p:sp>
      <p:sp>
        <p:nvSpPr>
          <p:cNvPr id="10" name="Google Shape;309;p49"/>
          <p:cNvSpPr txBox="1">
            <a:spLocks noGrp="1"/>
          </p:cNvSpPr>
          <p:nvPr>
            <p:ph type="body" idx="1"/>
          </p:nvPr>
        </p:nvSpPr>
        <p:spPr>
          <a:xfrm>
            <a:off x="3779912" y="2559579"/>
            <a:ext cx="4716195" cy="3669030"/>
          </a:xfrm>
          <a:prstGeom prst="rect">
            <a:avLst/>
          </a:prstGeom>
          <a:noFill/>
          <a:ln>
            <a:noFill/>
          </a:ln>
        </p:spPr>
        <p:txBody>
          <a:bodyPr spcFirstLastPara="1" wrap="square" lIns="68550" tIns="34275" rIns="68550" bIns="34275" anchor="ctr" anchorCtr="0">
            <a:normAutofit/>
          </a:bodyPr>
          <a:lstStyle/>
          <a:p>
            <a:pPr marL="1500188" lvl="4" indent="-128587" algn="l" rtl="0">
              <a:lnSpc>
                <a:spcPct val="90000"/>
              </a:lnSpc>
              <a:spcBef>
                <a:spcPts val="0"/>
              </a:spcBef>
              <a:spcAft>
                <a:spcPts val="0"/>
              </a:spcAft>
              <a:buSzPts val="1920"/>
              <a:buNone/>
            </a:pPr>
            <a:r>
              <a:rPr lang="en-US" sz="1800" b="1" dirty="0">
                <a:solidFill>
                  <a:schemeClr val="tx1">
                    <a:lumMod val="75000"/>
                    <a:lumOff val="25000"/>
                  </a:schemeClr>
                </a:solidFill>
                <a:latin typeface="Arial"/>
                <a:ea typeface="Arial"/>
                <a:cs typeface="Arial"/>
                <a:sym typeface="Arial"/>
              </a:rPr>
              <a:t>if  (expression 2)</a:t>
            </a:r>
            <a:endParaRPr dirty="0">
              <a:solidFill>
                <a:schemeClr val="tx1">
                  <a:lumMod val="75000"/>
                  <a:lumOff val="25000"/>
                </a:schemeClr>
              </a:solidFill>
            </a:endParaRPr>
          </a:p>
          <a:p>
            <a:pPr marL="1500188" lvl="4" indent="-128587" algn="l" rtl="0">
              <a:lnSpc>
                <a:spcPct val="90000"/>
              </a:lnSpc>
              <a:spcBef>
                <a:spcPts val="810"/>
              </a:spcBef>
              <a:spcAft>
                <a:spcPts val="0"/>
              </a:spcAft>
              <a:buSzPts val="1920"/>
              <a:buNone/>
            </a:pPr>
            <a:r>
              <a:rPr lang="en-US" sz="1800" b="1" dirty="0">
                <a:solidFill>
                  <a:schemeClr val="tx1">
                    <a:lumMod val="75000"/>
                    <a:lumOff val="25000"/>
                  </a:schemeClr>
                </a:solidFill>
                <a:latin typeface="Arial"/>
                <a:ea typeface="Arial"/>
                <a:cs typeface="Arial"/>
                <a:sym typeface="Arial"/>
              </a:rPr>
              <a:t>			statement 1</a:t>
            </a:r>
            <a:endParaRPr dirty="0">
              <a:solidFill>
                <a:schemeClr val="tx1">
                  <a:lumMod val="75000"/>
                  <a:lumOff val="25000"/>
                </a:schemeClr>
              </a:solidFill>
            </a:endParaRPr>
          </a:p>
          <a:p>
            <a:pPr marL="1500188" lvl="4" indent="-128587" algn="l" rtl="0">
              <a:lnSpc>
                <a:spcPct val="90000"/>
              </a:lnSpc>
              <a:spcBef>
                <a:spcPts val="810"/>
              </a:spcBef>
              <a:spcAft>
                <a:spcPts val="0"/>
              </a:spcAft>
              <a:buSzPts val="1920"/>
              <a:buNone/>
            </a:pPr>
            <a:r>
              <a:rPr lang="en-US" sz="1800" b="1" dirty="0">
                <a:solidFill>
                  <a:schemeClr val="tx1">
                    <a:lumMod val="75000"/>
                    <a:lumOff val="25000"/>
                  </a:schemeClr>
                </a:solidFill>
                <a:latin typeface="Arial"/>
                <a:ea typeface="Arial"/>
                <a:cs typeface="Arial"/>
                <a:sym typeface="Arial"/>
              </a:rPr>
              <a:t>		else </a:t>
            </a:r>
            <a:endParaRPr dirty="0">
              <a:solidFill>
                <a:schemeClr val="tx1">
                  <a:lumMod val="75000"/>
                  <a:lumOff val="25000"/>
                </a:schemeClr>
              </a:solidFill>
            </a:endParaRPr>
          </a:p>
          <a:p>
            <a:pPr marL="1500188" lvl="4" indent="-128587" algn="l" rtl="0">
              <a:lnSpc>
                <a:spcPct val="90000"/>
              </a:lnSpc>
              <a:spcBef>
                <a:spcPts val="810"/>
              </a:spcBef>
              <a:spcAft>
                <a:spcPts val="0"/>
              </a:spcAft>
              <a:buSzPts val="1920"/>
              <a:buNone/>
            </a:pPr>
            <a:r>
              <a:rPr lang="en-US" sz="1800" b="1" dirty="0">
                <a:solidFill>
                  <a:schemeClr val="tx1">
                    <a:lumMod val="75000"/>
                    <a:lumOff val="25000"/>
                  </a:schemeClr>
                </a:solidFill>
                <a:latin typeface="Arial"/>
                <a:ea typeface="Arial"/>
                <a:cs typeface="Arial"/>
                <a:sym typeface="Arial"/>
              </a:rPr>
              <a:t>			statement 2</a:t>
            </a:r>
            <a:endParaRPr dirty="0">
              <a:solidFill>
                <a:schemeClr val="tx1">
                  <a:lumMod val="75000"/>
                  <a:lumOff val="25000"/>
                </a:schemeClr>
              </a:solidFill>
            </a:endParaRPr>
          </a:p>
          <a:p>
            <a:pPr marL="214313" lvl="0" indent="-214313" algn="l" rtl="0">
              <a:lnSpc>
                <a:spcPct val="90000"/>
              </a:lnSpc>
              <a:spcBef>
                <a:spcPts val="990"/>
              </a:spcBef>
              <a:spcAft>
                <a:spcPts val="0"/>
              </a:spcAft>
              <a:buSzPts val="2880"/>
              <a:buChar char="▶"/>
            </a:pPr>
            <a:r>
              <a:rPr lang="en-US" sz="2700" dirty="0">
                <a:solidFill>
                  <a:schemeClr val="tx1">
                    <a:lumMod val="75000"/>
                    <a:lumOff val="25000"/>
                  </a:schemeClr>
                </a:solidFill>
                <a:latin typeface="Arial"/>
                <a:ea typeface="Arial"/>
                <a:cs typeface="Arial"/>
                <a:sym typeface="Arial"/>
              </a:rPr>
              <a:t>The above form of if else statement can be replaced as,</a:t>
            </a:r>
            <a:endParaRPr dirty="0">
              <a:solidFill>
                <a:schemeClr val="tx1">
                  <a:lumMod val="75000"/>
                  <a:lumOff val="25000"/>
                </a:schemeClr>
              </a:solidFill>
            </a:endParaRPr>
          </a:p>
          <a:p>
            <a:pPr marL="214313" lvl="0" indent="-214313" algn="l" rtl="0">
              <a:lnSpc>
                <a:spcPct val="90000"/>
              </a:lnSpc>
              <a:spcBef>
                <a:spcPts val="990"/>
              </a:spcBef>
              <a:spcAft>
                <a:spcPts val="0"/>
              </a:spcAft>
              <a:buSzPts val="2880"/>
              <a:buNone/>
            </a:pPr>
            <a:r>
              <a:rPr lang="en-US" sz="2700" b="1" dirty="0">
                <a:solidFill>
                  <a:schemeClr val="tx1">
                    <a:lumMod val="75000"/>
                    <a:lumOff val="25000"/>
                  </a:schemeClr>
                </a:solidFill>
                <a:latin typeface="Arial"/>
                <a:ea typeface="Arial"/>
                <a:cs typeface="Arial"/>
                <a:sym typeface="Arial"/>
              </a:rPr>
              <a:t>	expression1?expression2:expression3;</a:t>
            </a:r>
            <a:endParaRPr dirty="0">
              <a:solidFill>
                <a:schemeClr val="tx1">
                  <a:lumMod val="75000"/>
                  <a:lumOff val="25000"/>
                </a:schemeClr>
              </a:solidFill>
            </a:endParaRPr>
          </a:p>
        </p:txBody>
      </p:sp>
    </p:spTree>
    <p:extLst>
      <p:ext uri="{BB962C8B-B14F-4D97-AF65-F5344CB8AC3E}">
        <p14:creationId xmlns:p14="http://schemas.microsoft.com/office/powerpoint/2010/main" val="774505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16;p50"/>
          <p:cNvSpPr txBox="1">
            <a:spLocks noGrp="1"/>
          </p:cNvSpPr>
          <p:nvPr>
            <p:ph type="body" idx="1"/>
          </p:nvPr>
        </p:nvSpPr>
        <p:spPr>
          <a:xfrm>
            <a:off x="4067944" y="2571750"/>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Char char="▶"/>
            </a:pPr>
            <a:r>
              <a:rPr lang="en-US" dirty="0">
                <a:solidFill>
                  <a:schemeClr val="tx1">
                    <a:lumMod val="75000"/>
                    <a:lumOff val="25000"/>
                  </a:schemeClr>
                </a:solidFill>
                <a:latin typeface="Arial"/>
                <a:ea typeface="Arial"/>
                <a:cs typeface="Arial"/>
                <a:sym typeface="Arial"/>
              </a:rPr>
              <a:t>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a:t>
            </a:r>
            <a:r>
              <a:rPr lang="en-US" b="1" dirty="0" err="1">
                <a:solidFill>
                  <a:schemeClr val="tx1">
                    <a:lumMod val="75000"/>
                    <a:lumOff val="25000"/>
                  </a:schemeClr>
                </a:solidFill>
                <a:latin typeface="Arial"/>
                <a:ea typeface="Arial"/>
                <a:cs typeface="Arial"/>
                <a:sym typeface="Arial"/>
              </a:rPr>
              <a:t>int</a:t>
            </a:r>
            <a:r>
              <a:rPr lang="en-US" b="1" dirty="0">
                <a:solidFill>
                  <a:schemeClr val="tx1">
                    <a:lumMod val="75000"/>
                    <a:lumOff val="25000"/>
                  </a:schemeClr>
                </a:solidFill>
                <a:latin typeface="Arial"/>
                <a:ea typeface="Arial"/>
                <a:cs typeface="Arial"/>
                <a:sym typeface="Arial"/>
              </a:rPr>
              <a:t> c;</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a:solidFill>
                  <a:schemeClr val="tx1">
                    <a:lumMod val="75000"/>
                    <a:lumOff val="25000"/>
                  </a:schemeClr>
                </a:solidFill>
                <a:latin typeface="Arial"/>
                <a:ea typeface="Arial"/>
                <a:cs typeface="Arial"/>
                <a:sym typeface="Arial"/>
              </a:rPr>
              <a:t>	if (a&gt;b)	</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a:solidFill>
                  <a:schemeClr val="tx1">
                    <a:lumMod val="75000"/>
                    <a:lumOff val="25000"/>
                  </a:schemeClr>
                </a:solidFill>
                <a:latin typeface="Arial"/>
                <a:ea typeface="Arial"/>
                <a:cs typeface="Arial"/>
                <a:sym typeface="Arial"/>
              </a:rPr>
              <a:t>		c=a;</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a:solidFill>
                  <a:schemeClr val="tx1">
                    <a:lumMod val="75000"/>
                    <a:lumOff val="25000"/>
                  </a:schemeClr>
                </a:solidFill>
                <a:latin typeface="Arial"/>
                <a:ea typeface="Arial"/>
                <a:cs typeface="Arial"/>
                <a:sym typeface="Arial"/>
              </a:rPr>
              <a:t>	else</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a:solidFill>
                  <a:schemeClr val="tx1">
                    <a:lumMod val="75000"/>
                    <a:lumOff val="25000"/>
                  </a:schemeClr>
                </a:solidFill>
                <a:latin typeface="Arial"/>
                <a:ea typeface="Arial"/>
                <a:cs typeface="Arial"/>
                <a:sym typeface="Arial"/>
              </a:rPr>
              <a:t>		c=b;</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a:solidFill>
                  <a:schemeClr val="tx1">
                    <a:lumMod val="75000"/>
                    <a:lumOff val="25000"/>
                  </a:schemeClr>
                </a:solidFill>
                <a:latin typeface="Arial"/>
                <a:ea typeface="Arial"/>
                <a:cs typeface="Arial"/>
                <a:sym typeface="Arial"/>
              </a:rPr>
              <a:t>This can be alternatively written as,</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err="1">
                <a:solidFill>
                  <a:schemeClr val="tx1">
                    <a:lumMod val="75000"/>
                    <a:lumOff val="25000"/>
                  </a:schemeClr>
                </a:solidFill>
                <a:latin typeface="Arial"/>
                <a:ea typeface="Arial"/>
                <a:cs typeface="Arial"/>
                <a:sym typeface="Arial"/>
              </a:rPr>
              <a:t>int</a:t>
            </a:r>
            <a:r>
              <a:rPr lang="en-US" b="1" dirty="0">
                <a:solidFill>
                  <a:schemeClr val="tx1">
                    <a:lumMod val="75000"/>
                    <a:lumOff val="25000"/>
                  </a:schemeClr>
                </a:solidFill>
                <a:latin typeface="Arial"/>
                <a:ea typeface="Arial"/>
                <a:cs typeface="Arial"/>
                <a:sym typeface="Arial"/>
              </a:rPr>
              <a:t> c;</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a:solidFill>
                  <a:schemeClr val="tx1">
                    <a:lumMod val="75000"/>
                    <a:lumOff val="25000"/>
                  </a:schemeClr>
                </a:solidFill>
                <a:latin typeface="Arial"/>
                <a:ea typeface="Arial"/>
                <a:cs typeface="Arial"/>
                <a:sym typeface="Arial"/>
              </a:rPr>
              <a:t>c=a&gt;</a:t>
            </a:r>
            <a:r>
              <a:rPr lang="en-US" b="1" dirty="0" err="1">
                <a:solidFill>
                  <a:schemeClr val="tx1">
                    <a:lumMod val="75000"/>
                    <a:lumOff val="25000"/>
                  </a:schemeClr>
                </a:solidFill>
                <a:latin typeface="Arial"/>
                <a:ea typeface="Arial"/>
                <a:cs typeface="Arial"/>
                <a:sym typeface="Arial"/>
              </a:rPr>
              <a:t>b?a</a:t>
            </a:r>
            <a:r>
              <a:rPr lang="en-US" b="1" dirty="0">
                <a:solidFill>
                  <a:schemeClr val="tx1">
                    <a:lumMod val="75000"/>
                    <a:lumOff val="25000"/>
                  </a:schemeClr>
                </a:solidFill>
                <a:latin typeface="Arial"/>
                <a:ea typeface="Arial"/>
                <a:cs typeface="Arial"/>
                <a:sym typeface="Arial"/>
              </a:rPr>
              <a:t> : b;</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endParaRPr dirty="0">
              <a:solidFill>
                <a:schemeClr val="lt1"/>
              </a:solidFill>
              <a:latin typeface="Arial"/>
              <a:ea typeface="Arial"/>
              <a:cs typeface="Arial"/>
              <a:sym typeface="Arial"/>
            </a:endParaRPr>
          </a:p>
        </p:txBody>
      </p:sp>
      <p:sp>
        <p:nvSpPr>
          <p:cNvPr id="8" name="Google Shape;315;p50"/>
          <p:cNvSpPr txBox="1">
            <a:spLocks/>
          </p:cNvSpPr>
          <p:nvPr/>
        </p:nvSpPr>
        <p:spPr>
          <a:xfrm>
            <a:off x="534457" y="217652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300"/>
            </a:pPr>
            <a:r>
              <a:rPr lang="en-US" sz="2475" b="1" smtClean="0">
                <a:latin typeface="Arial Black"/>
                <a:ea typeface="Arial Black"/>
                <a:cs typeface="Arial Black"/>
                <a:sym typeface="Arial Black"/>
              </a:rPr>
              <a:t>CONDITIONAL OPERATOR ? :</a:t>
            </a:r>
            <a:endParaRPr lang="en-US" dirty="0"/>
          </a:p>
        </p:txBody>
      </p:sp>
    </p:spTree>
    <p:extLst>
      <p:ext uri="{BB962C8B-B14F-4D97-AF65-F5344CB8AC3E}">
        <p14:creationId xmlns:p14="http://schemas.microsoft.com/office/powerpoint/2010/main" val="314188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21;p51"/>
          <p:cNvSpPr txBox="1">
            <a:spLocks/>
          </p:cNvSpPr>
          <p:nvPr/>
        </p:nvSpPr>
        <p:spPr>
          <a:xfrm>
            <a:off x="179511" y="1484784"/>
            <a:ext cx="8927975" cy="1130300"/>
          </a:xfrm>
          <a:prstGeom prst="rect">
            <a:avLst/>
          </a:prstGeom>
          <a:noFill/>
          <a:ln>
            <a:noFill/>
          </a:ln>
        </p:spPr>
        <p:txBody>
          <a:bodyPr spcFirstLastPara="1" wrap="square" lIns="68550" tIns="34275" rIns="68550" bIns="34275"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smtClean="0">
                <a:latin typeface="Arial Black"/>
                <a:ea typeface="Arial Black"/>
                <a:cs typeface="Arial Black"/>
                <a:sym typeface="Arial Black"/>
              </a:rPr>
              <a:t>COMPARISON OF IF AND ? :</a:t>
            </a:r>
            <a:endParaRPr lang="en-US"/>
          </a:p>
        </p:txBody>
      </p:sp>
      <p:sp>
        <p:nvSpPr>
          <p:cNvPr id="8" name="Google Shape;322;p51"/>
          <p:cNvSpPr txBox="1">
            <a:spLocks noGrp="1"/>
          </p:cNvSpPr>
          <p:nvPr>
            <p:ph type="body" idx="1"/>
          </p:nvPr>
        </p:nvSpPr>
        <p:spPr>
          <a:xfrm>
            <a:off x="1335738" y="2488980"/>
            <a:ext cx="7124694" cy="3294725"/>
          </a:xfrm>
          <a:prstGeom prst="rect">
            <a:avLst/>
          </a:prstGeom>
          <a:noFill/>
          <a:ln>
            <a:noFill/>
          </a:ln>
        </p:spPr>
        <p:txBody>
          <a:bodyPr spcFirstLastPara="1" wrap="square" lIns="68550" tIns="34275" rIns="68550" bIns="34275" anchor="ctr" anchorCtr="0">
            <a:normAutofit/>
          </a:bodyPr>
          <a:lstStyle/>
          <a:p>
            <a:pPr marL="214313" lvl="0" indent="-214313" algn="just" rtl="0">
              <a:lnSpc>
                <a:spcPct val="100000"/>
              </a:lnSpc>
              <a:spcBef>
                <a:spcPts val="0"/>
              </a:spcBef>
              <a:spcAft>
                <a:spcPts val="0"/>
              </a:spcAft>
              <a:buSzPts val="1600"/>
              <a:buNone/>
            </a:pPr>
            <a:r>
              <a:rPr lang="en-US" sz="1500" b="1" dirty="0">
                <a:solidFill>
                  <a:schemeClr val="tx1">
                    <a:lumMod val="75000"/>
                    <a:lumOff val="25000"/>
                  </a:schemeClr>
                </a:solidFill>
                <a:latin typeface="Arial"/>
                <a:ea typeface="Arial"/>
                <a:cs typeface="Arial"/>
                <a:sym typeface="Arial"/>
              </a:rPr>
              <a:t>1.		compared to if –else sequence, ?: offers more concise, clean and compact code, but it is less obvious as compared to if.</a:t>
            </a:r>
            <a:endParaRPr dirty="0">
              <a:solidFill>
                <a:schemeClr val="tx1">
                  <a:lumMod val="75000"/>
                  <a:lumOff val="25000"/>
                </a:schemeClr>
              </a:solidFill>
            </a:endParaRPr>
          </a:p>
          <a:p>
            <a:pPr marL="214313" lvl="0" indent="-214313" algn="just" rtl="0">
              <a:lnSpc>
                <a:spcPct val="100000"/>
              </a:lnSpc>
              <a:spcBef>
                <a:spcPts val="750"/>
              </a:spcBef>
              <a:spcAft>
                <a:spcPts val="0"/>
              </a:spcAft>
              <a:buSzPts val="1600"/>
              <a:buNone/>
            </a:pPr>
            <a:r>
              <a:rPr lang="en-US" sz="1500" b="1" dirty="0">
                <a:solidFill>
                  <a:schemeClr val="tx1">
                    <a:lumMod val="75000"/>
                    <a:lumOff val="25000"/>
                  </a:schemeClr>
                </a:solidFill>
                <a:latin typeface="Arial"/>
                <a:ea typeface="Arial"/>
                <a:cs typeface="Arial"/>
                <a:sym typeface="Arial"/>
              </a:rPr>
              <a:t>2.		Another difference is that the conditional operator ?: produces an expression, and hence a single value can be assigned or incorporated into a larger expression, where as if is more flexible. if can have multiple statements multiple assignments and expressions (in the form of compound statement) in its body.</a:t>
            </a:r>
            <a:endParaRPr dirty="0">
              <a:solidFill>
                <a:schemeClr val="tx1">
                  <a:lumMod val="75000"/>
                  <a:lumOff val="25000"/>
                </a:schemeClr>
              </a:solidFill>
            </a:endParaRPr>
          </a:p>
          <a:p>
            <a:pPr marL="214313" lvl="0" indent="-214313" algn="just" rtl="0">
              <a:lnSpc>
                <a:spcPct val="100000"/>
              </a:lnSpc>
              <a:spcBef>
                <a:spcPts val="750"/>
              </a:spcBef>
              <a:spcAft>
                <a:spcPts val="0"/>
              </a:spcAft>
              <a:buSzPts val="1600"/>
              <a:buNone/>
            </a:pPr>
            <a:r>
              <a:rPr lang="en-US" sz="1500" b="1" dirty="0">
                <a:solidFill>
                  <a:schemeClr val="tx1">
                    <a:lumMod val="75000"/>
                    <a:lumOff val="25000"/>
                  </a:schemeClr>
                </a:solidFill>
                <a:latin typeface="Arial"/>
                <a:ea typeface="Arial"/>
                <a:cs typeface="Arial"/>
                <a:sym typeface="Arial"/>
              </a:rPr>
              <a:t>3.		When ?: operator is used in its nested form it becomes complex and difficult to understand. Generally ?: is used to conceal (hide) the purpose of the code.</a:t>
            </a:r>
            <a:endParaRPr dirty="0">
              <a:solidFill>
                <a:schemeClr val="tx1">
                  <a:lumMod val="75000"/>
                  <a:lumOff val="25000"/>
                </a:schemeClr>
              </a:solidFill>
            </a:endParaRPr>
          </a:p>
        </p:txBody>
      </p:sp>
    </p:spTree>
    <p:extLst>
      <p:ext uri="{BB962C8B-B14F-4D97-AF65-F5344CB8AC3E}">
        <p14:creationId xmlns:p14="http://schemas.microsoft.com/office/powerpoint/2010/main" val="33038920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48682"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28;p52"/>
          <p:cNvSpPr txBox="1">
            <a:spLocks noGrp="1"/>
          </p:cNvSpPr>
          <p:nvPr>
            <p:ph type="body" idx="1"/>
          </p:nvPr>
        </p:nvSpPr>
        <p:spPr>
          <a:xfrm>
            <a:off x="3995936" y="2559579"/>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Char char="▶"/>
            </a:pPr>
            <a:r>
              <a:rPr lang="en-US" dirty="0">
                <a:solidFill>
                  <a:schemeClr val="tx1">
                    <a:lumMod val="75000"/>
                    <a:lumOff val="25000"/>
                  </a:schemeClr>
                </a:solidFill>
                <a:latin typeface="Arial"/>
                <a:ea typeface="Arial"/>
                <a:cs typeface="Arial"/>
                <a:sym typeface="Arial"/>
              </a:rPr>
              <a:t>C provides </a:t>
            </a:r>
            <a:r>
              <a:rPr lang="en-US" b="1" dirty="0">
                <a:solidFill>
                  <a:schemeClr val="tx1">
                    <a:lumMod val="75000"/>
                    <a:lumOff val="25000"/>
                  </a:schemeClr>
                </a:solidFill>
                <a:latin typeface="Arial"/>
                <a:ea typeface="Arial"/>
                <a:cs typeface="Arial"/>
                <a:sym typeface="Arial"/>
              </a:rPr>
              <a:t>multiple- branch selection statement </a:t>
            </a:r>
            <a:r>
              <a:rPr lang="en-US" dirty="0">
                <a:solidFill>
                  <a:schemeClr val="tx1">
                    <a:lumMod val="75000"/>
                    <a:lumOff val="25000"/>
                  </a:schemeClr>
                </a:solidFill>
                <a:latin typeface="Arial"/>
                <a:ea typeface="Arial"/>
                <a:cs typeface="Arial"/>
                <a:sym typeface="Arial"/>
              </a:rPr>
              <a:t> known as </a:t>
            </a:r>
            <a:r>
              <a:rPr lang="en-US" b="1" dirty="0">
                <a:solidFill>
                  <a:schemeClr val="tx1">
                    <a:lumMod val="75000"/>
                    <a:lumOff val="25000"/>
                  </a:schemeClr>
                </a:solidFill>
                <a:latin typeface="Arial"/>
                <a:ea typeface="Arial"/>
                <a:cs typeface="Arial"/>
                <a:sym typeface="Arial"/>
              </a:rPr>
              <a:t>switch</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b="1" dirty="0">
                <a:solidFill>
                  <a:schemeClr val="tx1">
                    <a:lumMod val="75000"/>
                    <a:lumOff val="25000"/>
                  </a:schemeClr>
                </a:solidFill>
                <a:latin typeface="Arial"/>
                <a:ea typeface="Arial"/>
                <a:cs typeface="Arial"/>
                <a:sym typeface="Arial"/>
              </a:rPr>
              <a:t>				</a:t>
            </a:r>
            <a:r>
              <a:rPr lang="en-US" dirty="0">
                <a:solidFill>
                  <a:schemeClr val="tx1">
                    <a:lumMod val="75000"/>
                    <a:lumOff val="25000"/>
                  </a:schemeClr>
                </a:solidFill>
                <a:latin typeface="Arial"/>
                <a:ea typeface="Arial"/>
                <a:cs typeface="Arial"/>
                <a:sym typeface="Arial"/>
              </a:rPr>
              <a:t>This selection statement successively tests the value of an expression against the list of integer or character constants. When a match is found, the statements associated with that construct are executed.</a:t>
            </a:r>
            <a:endParaRPr b="1" dirty="0">
              <a:solidFill>
                <a:schemeClr val="tx1">
                  <a:lumMod val="75000"/>
                  <a:lumOff val="25000"/>
                </a:schemeClr>
              </a:solidFill>
              <a:latin typeface="Arial"/>
              <a:ea typeface="Arial"/>
              <a:cs typeface="Arial"/>
              <a:sym typeface="Arial"/>
            </a:endParaRPr>
          </a:p>
        </p:txBody>
      </p:sp>
      <p:sp>
        <p:nvSpPr>
          <p:cNvPr id="8" name="Google Shape;327;p52"/>
          <p:cNvSpPr txBox="1">
            <a:spLocks/>
          </p:cNvSpPr>
          <p:nvPr/>
        </p:nvSpPr>
        <p:spPr>
          <a:xfrm>
            <a:off x="542571" y="217652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THE SWITCH STATEMENT</a:t>
            </a:r>
            <a:endParaRPr lang="en-US" dirty="0"/>
          </a:p>
        </p:txBody>
      </p:sp>
    </p:spTree>
    <p:extLst>
      <p:ext uri="{BB962C8B-B14F-4D97-AF65-F5344CB8AC3E}">
        <p14:creationId xmlns:p14="http://schemas.microsoft.com/office/powerpoint/2010/main" val="3719521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34;p53"/>
          <p:cNvSpPr txBox="1">
            <a:spLocks noGrp="1"/>
          </p:cNvSpPr>
          <p:nvPr>
            <p:ph type="body" idx="1"/>
          </p:nvPr>
        </p:nvSpPr>
        <p:spPr>
          <a:xfrm>
            <a:off x="4139952" y="2244865"/>
            <a:ext cx="4716195" cy="3669030"/>
          </a:xfrm>
          <a:prstGeom prst="rect">
            <a:avLst/>
          </a:prstGeom>
          <a:noFill/>
          <a:ln>
            <a:noFill/>
          </a:ln>
        </p:spPr>
        <p:txBody>
          <a:bodyPr spcFirstLastPara="1" wrap="square" lIns="68550" tIns="34275" rIns="68550" bIns="34275" anchor="ctr" anchorCtr="0">
            <a:normAutofit/>
          </a:bodyPr>
          <a:lstStyle/>
          <a:p>
            <a:pPr marL="214313" lvl="0" indent="-214313" algn="l" rtl="0">
              <a:lnSpc>
                <a:spcPct val="90000"/>
              </a:lnSpc>
              <a:spcBef>
                <a:spcPts val="0"/>
              </a:spcBef>
              <a:spcAft>
                <a:spcPts val="0"/>
              </a:spcAft>
              <a:buSzPts val="1360"/>
              <a:buChar char="▶"/>
            </a:pPr>
            <a:r>
              <a:rPr lang="en-US" sz="1275" dirty="0">
                <a:solidFill>
                  <a:schemeClr val="tx1">
                    <a:lumMod val="75000"/>
                    <a:lumOff val="25000"/>
                  </a:schemeClr>
                </a:solidFill>
                <a:latin typeface="Arial"/>
                <a:ea typeface="Arial"/>
                <a:cs typeface="Arial"/>
                <a:sym typeface="Arial"/>
              </a:rPr>
              <a:t>The syntax is,</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switch(expression)</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	</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case constant 1 :statement sequence 1;</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break;</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case constant  2 : statement sequence 2;</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break;</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case constant n-1 :statement sequence n-1;</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break;</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default:	 statement sequence n;</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break;</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b="1"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90000"/>
              </a:lnSpc>
              <a:spcBef>
                <a:spcPts val="705"/>
              </a:spcBef>
              <a:spcAft>
                <a:spcPts val="0"/>
              </a:spcAft>
              <a:buSzPts val="1360"/>
              <a:buNone/>
            </a:pPr>
            <a:r>
              <a:rPr lang="en-US" sz="1275"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p:txBody>
      </p:sp>
      <p:sp>
        <p:nvSpPr>
          <p:cNvPr id="8" name="Google Shape;333;p53"/>
          <p:cNvSpPr txBox="1">
            <a:spLocks/>
          </p:cNvSpPr>
          <p:nvPr/>
        </p:nvSpPr>
        <p:spPr>
          <a:xfrm>
            <a:off x="611560" y="211467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THE SWITCH STATEMENT</a:t>
            </a:r>
            <a:endParaRPr lang="en-US" dirty="0"/>
          </a:p>
        </p:txBody>
      </p:sp>
    </p:spTree>
    <p:extLst>
      <p:ext uri="{BB962C8B-B14F-4D97-AF65-F5344CB8AC3E}">
        <p14:creationId xmlns:p14="http://schemas.microsoft.com/office/powerpoint/2010/main" val="803489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5296" y="-99392"/>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2339752" y="2780928"/>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39;p54"/>
          <p:cNvSpPr txBox="1">
            <a:spLocks/>
          </p:cNvSpPr>
          <p:nvPr/>
        </p:nvSpPr>
        <p:spPr>
          <a:xfrm>
            <a:off x="452208" y="225703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FALL THROUGH</a:t>
            </a:r>
            <a:endParaRPr lang="en-US" dirty="0"/>
          </a:p>
        </p:txBody>
      </p:sp>
      <p:sp>
        <p:nvSpPr>
          <p:cNvPr id="8" name="Google Shape;340;p54"/>
          <p:cNvSpPr txBox="1">
            <a:spLocks noGrp="1"/>
          </p:cNvSpPr>
          <p:nvPr>
            <p:ph type="body" idx="1"/>
          </p:nvPr>
        </p:nvSpPr>
        <p:spPr>
          <a:xfrm>
            <a:off x="3995936" y="2420888"/>
            <a:ext cx="4716195" cy="3669030"/>
          </a:xfrm>
          <a:prstGeom prst="rect">
            <a:avLst/>
          </a:prstGeom>
          <a:noFill/>
          <a:ln>
            <a:noFill/>
          </a:ln>
        </p:spPr>
        <p:txBody>
          <a:bodyPr spcFirstLastPara="1" wrap="square" lIns="68550" tIns="34275" rIns="68550" bIns="34275" anchor="ctr" anchorCtr="0">
            <a:normAutofit fontScale="55000" lnSpcReduction="20000"/>
          </a:bodyPr>
          <a:lstStyle/>
          <a:p>
            <a:pPr marL="214313" lvl="0" indent="-214313" algn="l" rtl="0">
              <a:lnSpc>
                <a:spcPct val="100000"/>
              </a:lnSpc>
              <a:spcBef>
                <a:spcPts val="0"/>
              </a:spcBef>
              <a:spcAft>
                <a:spcPts val="0"/>
              </a:spcAft>
              <a:buSzPct val="90909"/>
              <a:buChar char="▶"/>
            </a:pPr>
            <a:r>
              <a:rPr lang="en-US" dirty="0">
                <a:solidFill>
                  <a:schemeClr val="tx1">
                    <a:lumMod val="75000"/>
                    <a:lumOff val="25000"/>
                  </a:schemeClr>
                </a:solidFill>
                <a:latin typeface="Arial"/>
                <a:ea typeface="Arial"/>
                <a:cs typeface="Arial"/>
                <a:sym typeface="Arial"/>
              </a:rPr>
              <a:t>The expression is evaluated and its values are matched against the values of the constants specified in the case statements. When the match is found, the statement sequence associated with that case is executed until the break statement or the end of switch statement is reached. If a case statement does not include break statement then the control continues right on the next case statement(s)  until either a break is encountered or end of switch is reached this situation(missing break in case statement) is known as</a:t>
            </a:r>
            <a:r>
              <a:rPr lang="en-US" b="1" dirty="0">
                <a:solidFill>
                  <a:schemeClr val="tx1">
                    <a:lumMod val="75000"/>
                    <a:lumOff val="25000"/>
                  </a:schemeClr>
                </a:solidFill>
                <a:latin typeface="Arial"/>
                <a:ea typeface="Arial"/>
                <a:cs typeface="Arial"/>
                <a:sym typeface="Arial"/>
              </a:rPr>
              <a:t> “fall through”. </a:t>
            </a:r>
            <a:endParaRPr dirty="0">
              <a:solidFill>
                <a:schemeClr val="tx1">
                  <a:lumMod val="75000"/>
                  <a:lumOff val="25000"/>
                </a:schemeClr>
              </a:solidFill>
            </a:endParaRPr>
          </a:p>
        </p:txBody>
      </p:sp>
    </p:spTree>
    <p:extLst>
      <p:ext uri="{BB962C8B-B14F-4D97-AF65-F5344CB8AC3E}">
        <p14:creationId xmlns:p14="http://schemas.microsoft.com/office/powerpoint/2010/main" val="1405758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5296"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2" name="Rectangle 1"/>
          <p:cNvSpPr/>
          <p:nvPr/>
        </p:nvSpPr>
        <p:spPr>
          <a:xfrm>
            <a:off x="3779912" y="2456768"/>
            <a:ext cx="4572000" cy="3108543"/>
          </a:xfrm>
          <a:prstGeom prst="rect">
            <a:avLst/>
          </a:prstGeom>
        </p:spPr>
        <p:txBody>
          <a:bodyPr>
            <a:spAutoFit/>
          </a:bodyPr>
          <a:lstStyle/>
          <a:p>
            <a:pPr marL="214313" lvl="0" indent="-214313">
              <a:buSzPts val="1600"/>
              <a:buChar char="▶"/>
            </a:pPr>
            <a:r>
              <a:rPr lang="en-US" sz="2800" b="1" dirty="0">
                <a:solidFill>
                  <a:schemeClr val="tx1">
                    <a:lumMod val="75000"/>
                    <a:lumOff val="25000"/>
                  </a:schemeClr>
                </a:solidFill>
              </a:rPr>
              <a:t>The default statement gets executed when there is no match found. The default is optional, and if it is missing then no action takes place if all matches fail.</a:t>
            </a:r>
            <a:endParaRPr lang="en-US" sz="2800" dirty="0">
              <a:solidFill>
                <a:schemeClr val="tx1">
                  <a:lumMod val="75000"/>
                  <a:lumOff val="25000"/>
                </a:schemeClr>
              </a:solidFill>
            </a:endParaRPr>
          </a:p>
        </p:txBody>
      </p:sp>
      <p:sp>
        <p:nvSpPr>
          <p:cNvPr id="8" name="Google Shape;345;p55"/>
          <p:cNvSpPr txBox="1">
            <a:spLocks/>
          </p:cNvSpPr>
          <p:nvPr/>
        </p:nvSpPr>
        <p:spPr>
          <a:xfrm>
            <a:off x="513160" y="2456768"/>
            <a:ext cx="3050728"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DEFAULT STATEMENT</a:t>
            </a:r>
            <a:endParaRPr lang="en-US" dirty="0"/>
          </a:p>
        </p:txBody>
      </p:sp>
    </p:spTree>
    <p:extLst>
      <p:ext uri="{BB962C8B-B14F-4D97-AF65-F5344CB8AC3E}">
        <p14:creationId xmlns:p14="http://schemas.microsoft.com/office/powerpoint/2010/main" val="2195363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52;p56"/>
          <p:cNvSpPr txBox="1">
            <a:spLocks noGrp="1"/>
          </p:cNvSpPr>
          <p:nvPr>
            <p:ph type="body" idx="1"/>
          </p:nvPr>
        </p:nvSpPr>
        <p:spPr>
          <a:xfrm>
            <a:off x="3995936" y="2603595"/>
            <a:ext cx="4716195" cy="3669030"/>
          </a:xfrm>
          <a:prstGeom prst="rect">
            <a:avLst/>
          </a:prstGeom>
          <a:noFill/>
          <a:ln>
            <a:noFill/>
          </a:ln>
        </p:spPr>
        <p:txBody>
          <a:bodyPr spcFirstLastPara="1" wrap="square" lIns="68550" tIns="34275" rIns="68550" bIns="34275" anchor="ctr" anchorCtr="0">
            <a:normAutofit fontScale="62500" lnSpcReduction="20000"/>
          </a:bodyPr>
          <a:lstStyle/>
          <a:p>
            <a:pPr marL="214313" lvl="0" indent="-214313" algn="l" rtl="0">
              <a:lnSpc>
                <a:spcPct val="100000"/>
              </a:lnSpc>
              <a:spcBef>
                <a:spcPts val="0"/>
              </a:spcBef>
              <a:spcAft>
                <a:spcPts val="0"/>
              </a:spcAft>
              <a:buSzPct val="80000"/>
              <a:buChar char="▶"/>
            </a:pPr>
            <a:r>
              <a:rPr lang="en-US" dirty="0">
                <a:solidFill>
                  <a:schemeClr val="tx1">
                    <a:lumMod val="75000"/>
                    <a:lumOff val="25000"/>
                  </a:schemeClr>
                </a:solidFill>
                <a:latin typeface="Arial"/>
                <a:ea typeface="Arial"/>
                <a:cs typeface="Arial"/>
                <a:sym typeface="Arial"/>
              </a:rPr>
              <a:t>The switch and if-else are selection statements and they both let you select an alternative out of many alternatives by testing an expression. However there are some differences in their operation and they are,</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endParaRPr dirty="0">
              <a:solidFill>
                <a:schemeClr val="tx1">
                  <a:lumMod val="75000"/>
                  <a:lumOff val="25000"/>
                </a:schemeClr>
              </a:solidFill>
              <a:latin typeface="Arial"/>
              <a:ea typeface="Arial"/>
              <a:cs typeface="Arial"/>
              <a:sym typeface="Aria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1.		The switch statement differs from the if statement in that switch can only test for equality where as if can evaluate a relational or logical expressions </a:t>
            </a:r>
            <a:r>
              <a:rPr lang="en-US" dirty="0" err="1">
                <a:solidFill>
                  <a:schemeClr val="tx1">
                    <a:lumMod val="75000"/>
                    <a:lumOff val="25000"/>
                  </a:schemeClr>
                </a:solidFill>
                <a:latin typeface="Arial"/>
                <a:ea typeface="Arial"/>
                <a:cs typeface="Arial"/>
                <a:sym typeface="Arial"/>
              </a:rPr>
              <a:t>i.e</a:t>
            </a:r>
            <a:r>
              <a:rPr lang="en-US" dirty="0">
                <a:solidFill>
                  <a:schemeClr val="tx1">
                    <a:lumMod val="75000"/>
                    <a:lumOff val="25000"/>
                  </a:schemeClr>
                </a:solidFill>
                <a:latin typeface="Arial"/>
                <a:ea typeface="Arial"/>
                <a:cs typeface="Arial"/>
                <a:sym typeface="Arial"/>
              </a:rPr>
              <a:t> multiple conditions.</a:t>
            </a:r>
            <a:endParaRPr dirty="0">
              <a:solidFill>
                <a:schemeClr val="tx1">
                  <a:lumMod val="75000"/>
                  <a:lumOff val="25000"/>
                </a:schemeClr>
              </a:solidFill>
            </a:endParaRPr>
          </a:p>
        </p:txBody>
      </p:sp>
      <p:sp>
        <p:nvSpPr>
          <p:cNvPr id="8" name="Google Shape;351;p56"/>
          <p:cNvSpPr txBox="1">
            <a:spLocks/>
          </p:cNvSpPr>
          <p:nvPr/>
        </p:nvSpPr>
        <p:spPr>
          <a:xfrm>
            <a:off x="683568"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THE SWITCH VS. IF-ELSE</a:t>
            </a:r>
            <a:endParaRPr lang="en-US" dirty="0"/>
          </a:p>
        </p:txBody>
      </p:sp>
    </p:spTree>
    <p:extLst>
      <p:ext uri="{BB962C8B-B14F-4D97-AF65-F5344CB8AC3E}">
        <p14:creationId xmlns:p14="http://schemas.microsoft.com/office/powerpoint/2010/main" val="2827818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2276"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2" name="Rectangle 1"/>
          <p:cNvSpPr/>
          <p:nvPr/>
        </p:nvSpPr>
        <p:spPr>
          <a:xfrm>
            <a:off x="3995936" y="2570138"/>
            <a:ext cx="4572000" cy="3416320"/>
          </a:xfrm>
          <a:prstGeom prst="rect">
            <a:avLst/>
          </a:prstGeom>
        </p:spPr>
        <p:txBody>
          <a:bodyPr>
            <a:spAutoFit/>
          </a:bodyPr>
          <a:lstStyle/>
          <a:p>
            <a:pPr marL="214313" lvl="0" indent="-214313">
              <a:buSzPct val="64516"/>
            </a:pPr>
            <a:r>
              <a:rPr lang="en-US" dirty="0">
                <a:solidFill>
                  <a:schemeClr val="tx1">
                    <a:lumMod val="75000"/>
                    <a:lumOff val="25000"/>
                  </a:schemeClr>
                </a:solidFill>
              </a:rPr>
              <a:t>2.		</a:t>
            </a:r>
            <a:r>
              <a:rPr lang="en-US" sz="2400" dirty="0">
                <a:solidFill>
                  <a:schemeClr val="tx1">
                    <a:lumMod val="75000"/>
                    <a:lumOff val="25000"/>
                  </a:schemeClr>
                </a:solidFill>
              </a:rPr>
              <a:t>The switch statement selects its branches by testing the value of same variable (against the set of constants) where as the if else construction lets you to use a series of expressions that may involve unrelated variables and complex expressions</a:t>
            </a:r>
            <a:r>
              <a:rPr lang="en-US" dirty="0">
                <a:solidFill>
                  <a:schemeClr val="tx1">
                    <a:lumMod val="75000"/>
                    <a:lumOff val="25000"/>
                  </a:schemeClr>
                </a:solidFill>
              </a:rPr>
              <a:t>.</a:t>
            </a:r>
          </a:p>
        </p:txBody>
      </p:sp>
      <p:sp>
        <p:nvSpPr>
          <p:cNvPr id="8" name="Google Shape;357;p57"/>
          <p:cNvSpPr txBox="1">
            <a:spLocks/>
          </p:cNvSpPr>
          <p:nvPr/>
        </p:nvSpPr>
        <p:spPr>
          <a:xfrm>
            <a:off x="683568" y="231742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THE SWITCH VS. IF-ELSE</a:t>
            </a:r>
            <a:endParaRPr lang="en-US" dirty="0"/>
          </a:p>
        </p:txBody>
      </p:sp>
    </p:spTree>
    <p:extLst>
      <p:ext uri="{BB962C8B-B14F-4D97-AF65-F5344CB8AC3E}">
        <p14:creationId xmlns:p14="http://schemas.microsoft.com/office/powerpoint/2010/main" val="3074947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64;p58"/>
          <p:cNvSpPr txBox="1">
            <a:spLocks noGrp="1"/>
          </p:cNvSpPr>
          <p:nvPr>
            <p:ph type="body" idx="1"/>
          </p:nvPr>
        </p:nvSpPr>
        <p:spPr>
          <a:xfrm>
            <a:off x="3995936" y="2550249"/>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400050" lvl="0" indent="-400050" algn="l" rtl="0">
              <a:lnSpc>
                <a:spcPct val="100000"/>
              </a:lnSpc>
              <a:spcBef>
                <a:spcPts val="0"/>
              </a:spcBef>
              <a:spcAft>
                <a:spcPts val="0"/>
              </a:spcAft>
              <a:buSzPct val="71428"/>
              <a:buFont typeface="Arial"/>
              <a:buAutoNum type="arabicPeriod" startAt="3"/>
            </a:pPr>
            <a:r>
              <a:rPr lang="en-US" dirty="0">
                <a:solidFill>
                  <a:schemeClr val="tx1">
                    <a:lumMod val="75000"/>
                    <a:lumOff val="25000"/>
                  </a:schemeClr>
                </a:solidFill>
                <a:latin typeface="Arial"/>
                <a:ea typeface="Arial"/>
                <a:cs typeface="Arial"/>
                <a:sym typeface="Arial"/>
              </a:rPr>
              <a:t>The if-else is more versatile of two statements where as switch cannot. Each switch case label must be a single value.</a:t>
            </a:r>
            <a:endParaRPr dirty="0">
              <a:solidFill>
                <a:schemeClr val="tx1">
                  <a:lumMod val="75000"/>
                  <a:lumOff val="25000"/>
                </a:schemeClr>
              </a:solidFill>
            </a:endParaRPr>
          </a:p>
          <a:p>
            <a:pPr marL="400050" lvl="0" indent="-400050" algn="l" rtl="0">
              <a:lnSpc>
                <a:spcPct val="100000"/>
              </a:lnSpc>
              <a:spcBef>
                <a:spcPts val="750"/>
              </a:spcBef>
              <a:spcAft>
                <a:spcPts val="0"/>
              </a:spcAft>
              <a:buSzPct val="71428"/>
              <a:buNone/>
            </a:pPr>
            <a:endParaRPr dirty="0">
              <a:solidFill>
                <a:schemeClr val="tx1">
                  <a:lumMod val="75000"/>
                  <a:lumOff val="25000"/>
                </a:schemeClr>
              </a:solidFill>
              <a:latin typeface="Arial"/>
              <a:ea typeface="Arial"/>
              <a:cs typeface="Arial"/>
              <a:sym typeface="Arial"/>
            </a:endParaRPr>
          </a:p>
          <a:p>
            <a:pPr marL="400050" lvl="0" indent="-40005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4.		The if-else statement can handle floating point tests also apart from integer and character tests where as switch cannot handle floating point tests. The case labels of switch must be an integer or character. </a:t>
            </a:r>
            <a:endParaRPr dirty="0">
              <a:solidFill>
                <a:schemeClr val="tx1">
                  <a:lumMod val="75000"/>
                  <a:lumOff val="25000"/>
                </a:schemeClr>
              </a:solidFill>
            </a:endParaRPr>
          </a:p>
        </p:txBody>
      </p:sp>
      <p:sp>
        <p:nvSpPr>
          <p:cNvPr id="8" name="Google Shape;363;p58"/>
          <p:cNvSpPr txBox="1">
            <a:spLocks/>
          </p:cNvSpPr>
          <p:nvPr/>
        </p:nvSpPr>
        <p:spPr>
          <a:xfrm>
            <a:off x="611560"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THE SWITCH VS. IF-ELSE</a:t>
            </a:r>
            <a:endParaRPr lang="en-US" dirty="0"/>
          </a:p>
        </p:txBody>
      </p:sp>
    </p:spTree>
    <p:extLst>
      <p:ext uri="{BB962C8B-B14F-4D97-AF65-F5344CB8AC3E}">
        <p14:creationId xmlns:p14="http://schemas.microsoft.com/office/powerpoint/2010/main" val="3369254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70;p59"/>
          <p:cNvSpPr txBox="1">
            <a:spLocks noGrp="1"/>
          </p:cNvSpPr>
          <p:nvPr>
            <p:ph type="body" idx="1"/>
          </p:nvPr>
        </p:nvSpPr>
        <p:spPr>
          <a:xfrm>
            <a:off x="3923928" y="2420888"/>
            <a:ext cx="4671255" cy="3516629"/>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Char char="▶"/>
            </a:pPr>
            <a:r>
              <a:rPr lang="en-US" dirty="0">
                <a:solidFill>
                  <a:schemeClr val="tx1">
                    <a:lumMod val="75000"/>
                    <a:lumOff val="25000"/>
                  </a:schemeClr>
                </a:solidFill>
                <a:latin typeface="Arial"/>
                <a:ea typeface="Arial"/>
                <a:cs typeface="Arial"/>
                <a:sym typeface="Arial"/>
              </a:rPr>
              <a:t>The iteration statement allows instructions to be executed until a certain condition is to be fulfilled.</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The iteration statements are also called as </a:t>
            </a:r>
            <a:r>
              <a:rPr lang="en-US" b="1" dirty="0">
                <a:solidFill>
                  <a:schemeClr val="tx1">
                    <a:lumMod val="75000"/>
                    <a:lumOff val="25000"/>
                  </a:schemeClr>
                </a:solidFill>
                <a:latin typeface="Arial"/>
                <a:ea typeface="Arial"/>
                <a:cs typeface="Arial"/>
                <a:sym typeface="Arial"/>
              </a:rPr>
              <a:t>loops </a:t>
            </a:r>
            <a:r>
              <a:rPr lang="en-US" dirty="0">
                <a:solidFill>
                  <a:schemeClr val="tx1">
                    <a:lumMod val="75000"/>
                    <a:lumOff val="25000"/>
                  </a:schemeClr>
                </a:solidFill>
                <a:latin typeface="Arial"/>
                <a:ea typeface="Arial"/>
                <a:cs typeface="Arial"/>
                <a:sym typeface="Arial"/>
              </a:rPr>
              <a:t>or </a:t>
            </a:r>
            <a:r>
              <a:rPr lang="en-US" b="1" dirty="0">
                <a:solidFill>
                  <a:schemeClr val="tx1">
                    <a:lumMod val="75000"/>
                    <a:lumOff val="25000"/>
                  </a:schemeClr>
                </a:solidFill>
                <a:latin typeface="Arial"/>
                <a:ea typeface="Arial"/>
                <a:cs typeface="Arial"/>
                <a:sym typeface="Arial"/>
              </a:rPr>
              <a:t>Looping statements.</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C  provides three kinds of loops</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for</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while</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do-while</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endParaRPr dirty="0">
              <a:solidFill>
                <a:schemeClr val="lt1"/>
              </a:solidFill>
              <a:latin typeface="Arial"/>
              <a:ea typeface="Arial"/>
              <a:cs typeface="Arial"/>
              <a:sym typeface="Arial"/>
            </a:endParaRPr>
          </a:p>
        </p:txBody>
      </p:sp>
      <p:sp>
        <p:nvSpPr>
          <p:cNvPr id="8" name="Google Shape;369;p59"/>
          <p:cNvSpPr txBox="1">
            <a:spLocks/>
          </p:cNvSpPr>
          <p:nvPr/>
        </p:nvSpPr>
        <p:spPr>
          <a:xfrm>
            <a:off x="549062" y="270892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ITERATION STATEMENT</a:t>
            </a:r>
            <a:endParaRPr lang="en-US" dirty="0"/>
          </a:p>
        </p:txBody>
      </p:sp>
    </p:spTree>
    <p:extLst>
      <p:ext uri="{BB962C8B-B14F-4D97-AF65-F5344CB8AC3E}">
        <p14:creationId xmlns:p14="http://schemas.microsoft.com/office/powerpoint/2010/main" val="26011389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19268"/>
            <a:ext cx="9143999" cy="6900864"/>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75;p60"/>
          <p:cNvSpPr txBox="1">
            <a:spLocks/>
          </p:cNvSpPr>
          <p:nvPr/>
        </p:nvSpPr>
        <p:spPr>
          <a:xfrm>
            <a:off x="683568" y="2780928"/>
            <a:ext cx="3456384" cy="3669030"/>
          </a:xfrm>
          <a:prstGeom prst="rect">
            <a:avLst/>
          </a:prstGeom>
          <a:noFill/>
          <a:ln>
            <a:noFill/>
          </a:ln>
        </p:spPr>
        <p:txBody>
          <a:bodyPr spcFirstLastPara="1" wrap="square" lIns="68550" tIns="34275" rIns="68550" bIns="34275"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ct val="90909"/>
            </a:pPr>
            <a:r>
              <a:rPr lang="en-US" dirty="0" smtClean="0">
                <a:latin typeface="Arial Black"/>
                <a:ea typeface="Arial Black"/>
                <a:cs typeface="Arial Black"/>
                <a:sym typeface="Arial Black"/>
              </a:rPr>
              <a:t>ELEMENTS THAT CONTROL A LOOP</a:t>
            </a:r>
            <a:endParaRPr lang="en-US" dirty="0"/>
          </a:p>
        </p:txBody>
      </p:sp>
      <p:sp>
        <p:nvSpPr>
          <p:cNvPr id="8" name="Google Shape;376;p60"/>
          <p:cNvSpPr txBox="1">
            <a:spLocks noGrp="1"/>
          </p:cNvSpPr>
          <p:nvPr>
            <p:ph type="body" idx="1"/>
          </p:nvPr>
        </p:nvSpPr>
        <p:spPr>
          <a:xfrm>
            <a:off x="4067944" y="2708920"/>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457200" lvl="0" indent="-457200" algn="l" rtl="0">
              <a:lnSpc>
                <a:spcPct val="100000"/>
              </a:lnSpc>
              <a:spcBef>
                <a:spcPts val="0"/>
              </a:spcBef>
              <a:spcAft>
                <a:spcPts val="0"/>
              </a:spcAft>
              <a:buSzPct val="71428"/>
              <a:buChar char="▶"/>
            </a:pPr>
            <a:r>
              <a:rPr lang="en-US" dirty="0">
                <a:solidFill>
                  <a:schemeClr val="tx1">
                    <a:lumMod val="75000"/>
                    <a:lumOff val="25000"/>
                  </a:schemeClr>
                </a:solidFill>
                <a:latin typeface="Arial"/>
                <a:ea typeface="Arial"/>
                <a:cs typeface="Arial"/>
                <a:sym typeface="Arial"/>
              </a:rPr>
              <a:t>Every loop has its elements that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endParaRPr dirty="0">
              <a:solidFill>
                <a:schemeClr val="tx1">
                  <a:lumMod val="75000"/>
                  <a:lumOff val="25000"/>
                </a:schemeClr>
              </a:solidFill>
              <a:latin typeface="Arial"/>
              <a:ea typeface="Arial"/>
              <a:cs typeface="Arial"/>
              <a:sym typeface="Aria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control and govern its execution.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endParaRPr dirty="0">
              <a:solidFill>
                <a:schemeClr val="tx1">
                  <a:lumMod val="75000"/>
                  <a:lumOff val="25000"/>
                </a:schemeClr>
              </a:solidFill>
              <a:latin typeface="Arial"/>
              <a:ea typeface="Arial"/>
              <a:cs typeface="Arial"/>
              <a:sym typeface="Aria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Generally a loop has four elements that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endParaRPr dirty="0">
              <a:solidFill>
                <a:schemeClr val="tx1">
                  <a:lumMod val="75000"/>
                  <a:lumOff val="25000"/>
                </a:schemeClr>
              </a:solidFill>
              <a:latin typeface="Arial"/>
              <a:ea typeface="Arial"/>
              <a:cs typeface="Arial"/>
              <a:sym typeface="Aria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have different purposes, they are,</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endParaRPr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958915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19430" y="-61728"/>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82;p61"/>
          <p:cNvSpPr txBox="1">
            <a:spLocks noGrp="1"/>
          </p:cNvSpPr>
          <p:nvPr>
            <p:ph type="body" idx="1"/>
          </p:nvPr>
        </p:nvSpPr>
        <p:spPr>
          <a:xfrm>
            <a:off x="3851920" y="2238375"/>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457200" lvl="0" indent="-457200" algn="l" rtl="0">
              <a:lnSpc>
                <a:spcPct val="100000"/>
              </a:lnSpc>
              <a:spcBef>
                <a:spcPts val="0"/>
              </a:spcBef>
              <a:spcAft>
                <a:spcPts val="0"/>
              </a:spcAft>
              <a:buSzPct val="71428"/>
              <a:buNone/>
            </a:pPr>
            <a:r>
              <a:rPr lang="en-US" dirty="0">
                <a:solidFill>
                  <a:schemeClr val="lt1"/>
                </a:solidFill>
                <a:latin typeface="Arial"/>
                <a:ea typeface="Arial"/>
                <a:cs typeface="Arial"/>
                <a:sym typeface="Arial"/>
              </a:rPr>
              <a:t>	</a:t>
            </a:r>
            <a:r>
              <a:rPr lang="en-US" dirty="0">
                <a:solidFill>
                  <a:schemeClr val="tx1">
                    <a:lumMod val="75000"/>
                    <a:lumOff val="25000"/>
                  </a:schemeClr>
                </a:solidFill>
                <a:latin typeface="Arial"/>
                <a:ea typeface="Arial"/>
                <a:cs typeface="Arial"/>
                <a:sym typeface="Arial"/>
              </a:rPr>
              <a:t>	Before entering in a loop, its control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variable must be initialized.  The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initialization expression executed at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457200" lvl="0" indent="-457200"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only once.</a:t>
            </a:r>
            <a:endParaRPr dirty="0">
              <a:solidFill>
                <a:schemeClr val="tx1">
                  <a:lumMod val="75000"/>
                  <a:lumOff val="25000"/>
                </a:schemeClr>
              </a:solidFill>
            </a:endParaRPr>
          </a:p>
          <a:p>
            <a:pPr marL="457200" lvl="0" indent="-381000" algn="l" rtl="0">
              <a:lnSpc>
                <a:spcPct val="100000"/>
              </a:lnSpc>
              <a:spcBef>
                <a:spcPts val="750"/>
              </a:spcBef>
              <a:spcAft>
                <a:spcPts val="0"/>
              </a:spcAft>
              <a:buSzPct val="71428"/>
              <a:buNone/>
            </a:pPr>
            <a:endParaRPr dirty="0">
              <a:solidFill>
                <a:schemeClr val="lt1"/>
              </a:solidFill>
              <a:latin typeface="Arial"/>
              <a:ea typeface="Arial"/>
              <a:cs typeface="Arial"/>
              <a:sym typeface="Arial"/>
            </a:endParaRPr>
          </a:p>
        </p:txBody>
      </p:sp>
      <p:sp>
        <p:nvSpPr>
          <p:cNvPr id="8" name="Google Shape;381;p61"/>
          <p:cNvSpPr txBox="1">
            <a:spLocks/>
          </p:cNvSpPr>
          <p:nvPr/>
        </p:nvSpPr>
        <p:spPr>
          <a:xfrm>
            <a:off x="611560" y="211467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300"/>
            </a:pPr>
            <a:r>
              <a:rPr lang="en-US" sz="2475" dirty="0" smtClean="0">
                <a:latin typeface="Arial Black"/>
                <a:ea typeface="Arial Black"/>
                <a:cs typeface="Arial Black"/>
                <a:sym typeface="Arial Black"/>
              </a:rPr>
              <a:t>1. INITILIZATION EXPRESSIONS</a:t>
            </a:r>
            <a:endParaRPr lang="en-US" dirty="0"/>
          </a:p>
        </p:txBody>
      </p:sp>
    </p:spTree>
    <p:extLst>
      <p:ext uri="{BB962C8B-B14F-4D97-AF65-F5344CB8AC3E}">
        <p14:creationId xmlns:p14="http://schemas.microsoft.com/office/powerpoint/2010/main" val="1080365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388;p62"/>
          <p:cNvSpPr txBox="1">
            <a:spLocks noGrp="1"/>
          </p:cNvSpPr>
          <p:nvPr>
            <p:ph type="body" idx="1"/>
          </p:nvPr>
        </p:nvSpPr>
        <p:spPr>
          <a:xfrm>
            <a:off x="3995936" y="2571750"/>
            <a:ext cx="4716195" cy="3669030"/>
          </a:xfrm>
          <a:prstGeom prst="rect">
            <a:avLst/>
          </a:prstGeom>
          <a:noFill/>
          <a:ln>
            <a:noFill/>
          </a:ln>
        </p:spPr>
        <p:txBody>
          <a:bodyPr spcFirstLastPara="1" wrap="square" lIns="68550" tIns="34275" rIns="68550" bIns="34275" anchor="ctr" anchorCtr="0">
            <a:normAutofit fontScale="92500" lnSpcReduction="20000"/>
          </a:bodyPr>
          <a:lstStyle/>
          <a:p>
            <a:pPr marL="214313" lvl="0" indent="-214313" algn="l" rtl="0">
              <a:lnSpc>
                <a:spcPct val="100000"/>
              </a:lnSpc>
              <a:spcBef>
                <a:spcPts val="0"/>
              </a:spcBef>
              <a:spcAft>
                <a:spcPts val="0"/>
              </a:spcAft>
              <a:buSzPct val="54054"/>
              <a:buChar char="▶"/>
            </a:pPr>
            <a:r>
              <a:rPr lang="en-US" dirty="0">
                <a:solidFill>
                  <a:schemeClr val="tx1">
                    <a:lumMod val="75000"/>
                    <a:lumOff val="25000"/>
                  </a:schemeClr>
                </a:solidFill>
                <a:latin typeface="Arial"/>
                <a:ea typeface="Arial"/>
                <a:cs typeface="Arial"/>
                <a:sym typeface="Arial"/>
              </a:rPr>
              <a:t>The test expression is an expression whose truth values decides weather the loop- body will be executed or not. If the test expression evaluates to true I.e., the loop gets executed, otherwise the loop terminated.</a:t>
            </a:r>
            <a:endParaRPr dirty="0">
              <a:solidFill>
                <a:schemeClr val="tx1">
                  <a:lumMod val="75000"/>
                  <a:lumOff val="25000"/>
                </a:schemeClr>
              </a:solidFill>
            </a:endParaRPr>
          </a:p>
        </p:txBody>
      </p:sp>
      <p:sp>
        <p:nvSpPr>
          <p:cNvPr id="8" name="Google Shape;387;p62"/>
          <p:cNvSpPr txBox="1">
            <a:spLocks/>
          </p:cNvSpPr>
          <p:nvPr/>
        </p:nvSpPr>
        <p:spPr>
          <a:xfrm>
            <a:off x="611560"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2. TEST EXPRESSION</a:t>
            </a:r>
            <a:endParaRPr lang="en-US" dirty="0"/>
          </a:p>
        </p:txBody>
      </p:sp>
    </p:spTree>
    <p:extLst>
      <p:ext uri="{BB962C8B-B14F-4D97-AF65-F5344CB8AC3E}">
        <p14:creationId xmlns:p14="http://schemas.microsoft.com/office/powerpoint/2010/main" val="3559173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2" name="Rectangle 1"/>
          <p:cNvSpPr/>
          <p:nvPr/>
        </p:nvSpPr>
        <p:spPr>
          <a:xfrm>
            <a:off x="3851920" y="2903044"/>
            <a:ext cx="4572000" cy="2215991"/>
          </a:xfrm>
          <a:prstGeom prst="rect">
            <a:avLst/>
          </a:prstGeom>
        </p:spPr>
        <p:txBody>
          <a:bodyPr>
            <a:spAutoFit/>
          </a:bodyPr>
          <a:lstStyle/>
          <a:p>
            <a:pPr marL="214313" lvl="0" indent="-214313">
              <a:buSzPct val="71428"/>
            </a:pPr>
            <a:r>
              <a:rPr lang="en-US" dirty="0">
                <a:solidFill>
                  <a:schemeClr val="tx1">
                    <a:lumMod val="75000"/>
                    <a:lumOff val="25000"/>
                  </a:schemeClr>
                </a:solidFill>
              </a:rPr>
              <a:t>The update expression change the </a:t>
            </a:r>
          </a:p>
          <a:p>
            <a:pPr marL="214313" lvl="0" indent="-214313">
              <a:spcBef>
                <a:spcPts val="750"/>
              </a:spcBef>
              <a:buSzPct val="71428"/>
            </a:pPr>
            <a:endParaRPr lang="en-US" dirty="0">
              <a:solidFill>
                <a:schemeClr val="tx1">
                  <a:lumMod val="75000"/>
                  <a:lumOff val="25000"/>
                </a:schemeClr>
              </a:solidFill>
            </a:endParaRPr>
          </a:p>
          <a:p>
            <a:pPr marL="214313" lvl="0" indent="-214313">
              <a:spcBef>
                <a:spcPts val="750"/>
              </a:spcBef>
              <a:buSzPct val="71428"/>
            </a:pPr>
            <a:r>
              <a:rPr lang="en-US" dirty="0">
                <a:solidFill>
                  <a:schemeClr val="tx1">
                    <a:lumMod val="75000"/>
                    <a:lumOff val="25000"/>
                  </a:schemeClr>
                </a:solidFill>
              </a:rPr>
              <a:t>value(s) of  loop variable(s). The update </a:t>
            </a:r>
          </a:p>
          <a:p>
            <a:pPr marL="214313" lvl="0" indent="-214313">
              <a:spcBef>
                <a:spcPts val="750"/>
              </a:spcBef>
              <a:buSzPct val="71428"/>
            </a:pPr>
            <a:endParaRPr lang="en-US" dirty="0">
              <a:solidFill>
                <a:schemeClr val="tx1">
                  <a:lumMod val="75000"/>
                  <a:lumOff val="25000"/>
                </a:schemeClr>
              </a:solidFill>
            </a:endParaRPr>
          </a:p>
          <a:p>
            <a:pPr marL="214313" lvl="0" indent="-214313">
              <a:spcBef>
                <a:spcPts val="750"/>
              </a:spcBef>
              <a:buSzPct val="71428"/>
            </a:pPr>
            <a:r>
              <a:rPr lang="en-US" dirty="0">
                <a:solidFill>
                  <a:schemeClr val="tx1">
                    <a:lumMod val="75000"/>
                    <a:lumOff val="25000"/>
                  </a:schemeClr>
                </a:solidFill>
              </a:rPr>
              <a:t>expression(s) is executed; at the end of </a:t>
            </a:r>
          </a:p>
          <a:p>
            <a:pPr marL="214313" lvl="0" indent="-214313">
              <a:spcBef>
                <a:spcPts val="750"/>
              </a:spcBef>
              <a:buSzPct val="71428"/>
            </a:pPr>
            <a:endParaRPr lang="en-US" dirty="0">
              <a:solidFill>
                <a:schemeClr val="tx1">
                  <a:lumMod val="75000"/>
                  <a:lumOff val="25000"/>
                </a:schemeClr>
              </a:solidFill>
            </a:endParaRPr>
          </a:p>
          <a:p>
            <a:pPr marL="214313" lvl="0" indent="-214313">
              <a:spcBef>
                <a:spcPts val="750"/>
              </a:spcBef>
              <a:buSzPct val="71428"/>
            </a:pPr>
            <a:r>
              <a:rPr lang="en-US" dirty="0">
                <a:solidFill>
                  <a:schemeClr val="tx1">
                    <a:lumMod val="75000"/>
                    <a:lumOff val="25000"/>
                  </a:schemeClr>
                </a:solidFill>
              </a:rPr>
              <a:t>the loop after the loop-body is executed.</a:t>
            </a:r>
          </a:p>
        </p:txBody>
      </p:sp>
      <p:sp>
        <p:nvSpPr>
          <p:cNvPr id="8" name="Google Shape;393;p63"/>
          <p:cNvSpPr txBox="1">
            <a:spLocks/>
          </p:cNvSpPr>
          <p:nvPr/>
        </p:nvSpPr>
        <p:spPr>
          <a:xfrm>
            <a:off x="683568"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3. UPDATED EXPRESSION</a:t>
            </a:r>
            <a:endParaRPr lang="en-US" dirty="0"/>
          </a:p>
        </p:txBody>
      </p:sp>
    </p:spTree>
    <p:extLst>
      <p:ext uri="{BB962C8B-B14F-4D97-AF65-F5344CB8AC3E}">
        <p14:creationId xmlns:p14="http://schemas.microsoft.com/office/powerpoint/2010/main" val="19266654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3" y="-42864"/>
            <a:ext cx="9143999" cy="6900864"/>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400;p64"/>
          <p:cNvSpPr txBox="1">
            <a:spLocks noGrp="1"/>
          </p:cNvSpPr>
          <p:nvPr>
            <p:ph type="body" idx="1"/>
          </p:nvPr>
        </p:nvSpPr>
        <p:spPr>
          <a:xfrm>
            <a:off x="4139952" y="2780928"/>
            <a:ext cx="4716195" cy="3669030"/>
          </a:xfrm>
          <a:prstGeom prst="rect">
            <a:avLst/>
          </a:prstGeom>
          <a:noFill/>
          <a:ln>
            <a:noFill/>
          </a:ln>
        </p:spPr>
        <p:txBody>
          <a:bodyPr spcFirstLastPara="1" wrap="square" lIns="68550" tIns="34275" rIns="68550" bIns="34275" anchor="ctr" anchorCtr="0">
            <a:normAutofit/>
          </a:bodyPr>
          <a:lstStyle/>
          <a:p>
            <a:pPr marL="214313" lvl="0" indent="-214313" algn="l" rtl="0">
              <a:lnSpc>
                <a:spcPct val="100000"/>
              </a:lnSpc>
              <a:spcBef>
                <a:spcPts val="0"/>
              </a:spcBef>
              <a:spcAft>
                <a:spcPts val="0"/>
              </a:spcAft>
              <a:buSzPts val="1600"/>
              <a:buNone/>
            </a:pPr>
            <a:r>
              <a:rPr lang="en-US" dirty="0">
                <a:solidFill>
                  <a:schemeClr val="lt1"/>
                </a:solidFill>
                <a:latin typeface="Arial"/>
                <a:ea typeface="Arial"/>
                <a:cs typeface="Arial"/>
                <a:sym typeface="Arial"/>
              </a:rPr>
              <a:t>		</a:t>
            </a:r>
            <a:r>
              <a:rPr lang="en-US" dirty="0">
                <a:solidFill>
                  <a:schemeClr val="tx1">
                    <a:lumMod val="75000"/>
                    <a:lumOff val="25000"/>
                  </a:schemeClr>
                </a:solidFill>
                <a:latin typeface="Arial"/>
                <a:ea typeface="Arial"/>
                <a:cs typeface="Arial"/>
                <a:sym typeface="Arial"/>
              </a:rPr>
              <a:t>The statements that are executed repeatedly as long as the value of expression is non zero. If it evaluates to zero then the loop is terminated.</a:t>
            </a:r>
            <a:endParaRPr dirty="0">
              <a:solidFill>
                <a:schemeClr val="tx1">
                  <a:lumMod val="75000"/>
                  <a:lumOff val="25000"/>
                </a:schemeClr>
              </a:solidFill>
            </a:endParaRPr>
          </a:p>
          <a:p>
            <a:pPr marL="214313" lvl="0" indent="-214313" algn="l" rtl="0">
              <a:lnSpc>
                <a:spcPct val="100000"/>
              </a:lnSpc>
              <a:spcBef>
                <a:spcPts val="750"/>
              </a:spcBef>
              <a:spcAft>
                <a:spcPts val="0"/>
              </a:spcAft>
              <a:buSzPts val="1600"/>
              <a:buNone/>
            </a:pPr>
            <a:endParaRPr dirty="0">
              <a:solidFill>
                <a:schemeClr val="lt1"/>
              </a:solidFill>
              <a:latin typeface="Arial"/>
              <a:ea typeface="Arial"/>
              <a:cs typeface="Arial"/>
              <a:sym typeface="Arial"/>
            </a:endParaRPr>
          </a:p>
          <a:p>
            <a:pPr marL="214313" lvl="0" indent="-138113" algn="l" rtl="0">
              <a:lnSpc>
                <a:spcPct val="100000"/>
              </a:lnSpc>
              <a:spcBef>
                <a:spcPts val="750"/>
              </a:spcBef>
              <a:spcAft>
                <a:spcPts val="0"/>
              </a:spcAft>
              <a:buSzPts val="1600"/>
              <a:buNone/>
            </a:pPr>
            <a:endParaRPr dirty="0">
              <a:solidFill>
                <a:schemeClr val="lt1"/>
              </a:solidFill>
              <a:latin typeface="Arial"/>
              <a:ea typeface="Arial"/>
              <a:cs typeface="Arial"/>
              <a:sym typeface="Arial"/>
            </a:endParaRPr>
          </a:p>
        </p:txBody>
      </p:sp>
      <p:sp>
        <p:nvSpPr>
          <p:cNvPr id="8" name="Google Shape;399;p64"/>
          <p:cNvSpPr txBox="1">
            <a:spLocks/>
          </p:cNvSpPr>
          <p:nvPr/>
        </p:nvSpPr>
        <p:spPr>
          <a:xfrm>
            <a:off x="513160" y="234888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4. THE BODY OF THE LOOP</a:t>
            </a:r>
            <a:endParaRPr lang="en-US" dirty="0"/>
          </a:p>
        </p:txBody>
      </p:sp>
    </p:spTree>
    <p:extLst>
      <p:ext uri="{BB962C8B-B14F-4D97-AF65-F5344CB8AC3E}">
        <p14:creationId xmlns:p14="http://schemas.microsoft.com/office/powerpoint/2010/main" val="15065128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2" name="Rectangle 1"/>
          <p:cNvSpPr/>
          <p:nvPr/>
        </p:nvSpPr>
        <p:spPr>
          <a:xfrm>
            <a:off x="3995936" y="2996952"/>
            <a:ext cx="4572000" cy="2451953"/>
          </a:xfrm>
          <a:prstGeom prst="rect">
            <a:avLst/>
          </a:prstGeom>
        </p:spPr>
        <p:txBody>
          <a:bodyPr>
            <a:spAutoFit/>
          </a:bodyPr>
          <a:lstStyle/>
          <a:p>
            <a:pPr marL="214313" lvl="0" indent="-214313">
              <a:buSzPct val="54054"/>
            </a:pPr>
            <a:r>
              <a:rPr lang="en-US" sz="2000" dirty="0">
                <a:solidFill>
                  <a:schemeClr val="tx1">
                    <a:lumMod val="75000"/>
                    <a:lumOff val="25000"/>
                  </a:schemeClr>
                </a:solidFill>
              </a:rPr>
              <a:t>The for loop is the easiest to understand of the C++ loops. The general form of for loop is,</a:t>
            </a:r>
          </a:p>
          <a:p>
            <a:pPr marL="214313" lvl="0" indent="-214313">
              <a:spcBef>
                <a:spcPts val="750"/>
              </a:spcBef>
              <a:buSzPct val="54054"/>
            </a:pPr>
            <a:r>
              <a:rPr lang="en-US" sz="2000" b="1" dirty="0">
                <a:solidFill>
                  <a:schemeClr val="tx1">
                    <a:lumMod val="75000"/>
                    <a:lumOff val="25000"/>
                  </a:schemeClr>
                </a:solidFill>
              </a:rPr>
              <a:t>	for(initialization expression(s); test </a:t>
            </a:r>
            <a:r>
              <a:rPr lang="en-US" sz="2000" b="1" dirty="0" err="1">
                <a:solidFill>
                  <a:schemeClr val="tx1">
                    <a:lumMod val="75000"/>
                    <a:lumOff val="25000"/>
                  </a:schemeClr>
                </a:solidFill>
              </a:rPr>
              <a:t>expression;update</a:t>
            </a:r>
            <a:r>
              <a:rPr lang="en-US" sz="2000" b="1" dirty="0">
                <a:solidFill>
                  <a:schemeClr val="tx1">
                    <a:lumMod val="75000"/>
                    <a:lumOff val="25000"/>
                  </a:schemeClr>
                </a:solidFill>
              </a:rPr>
              <a:t> expression)</a:t>
            </a:r>
            <a:endParaRPr lang="en-US" sz="2000" dirty="0">
              <a:solidFill>
                <a:schemeClr val="tx1">
                  <a:lumMod val="75000"/>
                  <a:lumOff val="25000"/>
                </a:schemeClr>
              </a:solidFill>
            </a:endParaRPr>
          </a:p>
          <a:p>
            <a:pPr marL="214313" lvl="0" indent="-214313">
              <a:spcBef>
                <a:spcPts val="750"/>
              </a:spcBef>
              <a:buSzPct val="54054"/>
            </a:pPr>
            <a:r>
              <a:rPr lang="en-US" sz="2000" b="1" dirty="0">
                <a:solidFill>
                  <a:schemeClr val="tx1">
                    <a:lumMod val="75000"/>
                    <a:lumOff val="25000"/>
                  </a:schemeClr>
                </a:solidFill>
              </a:rPr>
              <a:t>	body of for loop</a:t>
            </a:r>
            <a:endParaRPr lang="en-US" sz="2000" dirty="0">
              <a:solidFill>
                <a:schemeClr val="tx1">
                  <a:lumMod val="75000"/>
                  <a:lumOff val="25000"/>
                </a:schemeClr>
              </a:solidFill>
            </a:endParaRPr>
          </a:p>
        </p:txBody>
      </p:sp>
      <p:sp>
        <p:nvSpPr>
          <p:cNvPr id="8" name="Google Shape;405;p65"/>
          <p:cNvSpPr txBox="1">
            <a:spLocks/>
          </p:cNvSpPr>
          <p:nvPr/>
        </p:nvSpPr>
        <p:spPr>
          <a:xfrm>
            <a:off x="827584" y="223837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THE FOR LOOP</a:t>
            </a:r>
            <a:endParaRPr lang="en-US" dirty="0"/>
          </a:p>
        </p:txBody>
      </p:sp>
    </p:spTree>
    <p:extLst>
      <p:ext uri="{BB962C8B-B14F-4D97-AF65-F5344CB8AC3E}">
        <p14:creationId xmlns:p14="http://schemas.microsoft.com/office/powerpoint/2010/main" val="1938507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3"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412;p66"/>
          <p:cNvSpPr txBox="1">
            <a:spLocks noGrp="1"/>
          </p:cNvSpPr>
          <p:nvPr>
            <p:ph type="body" idx="1"/>
          </p:nvPr>
        </p:nvSpPr>
        <p:spPr>
          <a:xfrm>
            <a:off x="4932040" y="2420888"/>
            <a:ext cx="3612429" cy="3652486"/>
          </a:xfrm>
          <a:prstGeom prst="rect">
            <a:avLst/>
          </a:prstGeom>
          <a:noFill/>
          <a:ln>
            <a:noFill/>
          </a:ln>
        </p:spPr>
        <p:txBody>
          <a:bodyPr spcFirstLastPara="1" wrap="square" lIns="68550" tIns="34275" rIns="68550" bIns="34275" anchor="ctr" anchorCtr="0">
            <a:normAutofit/>
          </a:bodyPr>
          <a:lstStyle/>
          <a:p>
            <a:pPr marL="0" lvl="0" indent="0" algn="l" rtl="0">
              <a:lnSpc>
                <a:spcPct val="100000"/>
              </a:lnSpc>
              <a:spcBef>
                <a:spcPts val="0"/>
              </a:spcBef>
              <a:spcAft>
                <a:spcPts val="0"/>
              </a:spcAft>
              <a:buSzPts val="3200"/>
              <a:buNone/>
            </a:pPr>
            <a:r>
              <a:rPr lang="en-US" sz="3000">
                <a:solidFill>
                  <a:schemeClr val="lt2"/>
                </a:solidFill>
              </a:rPr>
              <a:t>C++ offers several variations that increase the flexibility and applicability of for loop </a:t>
            </a:r>
            <a:endParaRPr/>
          </a:p>
        </p:txBody>
      </p:sp>
      <p:sp>
        <p:nvSpPr>
          <p:cNvPr id="8" name="Google Shape;411;p66"/>
          <p:cNvSpPr txBox="1">
            <a:spLocks/>
          </p:cNvSpPr>
          <p:nvPr/>
        </p:nvSpPr>
        <p:spPr>
          <a:xfrm>
            <a:off x="611560" y="2132856"/>
            <a:ext cx="3585860" cy="4181078"/>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5200"/>
            </a:pPr>
            <a:r>
              <a:rPr lang="en-US" sz="3900" dirty="0" smtClean="0"/>
              <a:t>THE FOR LOOP VARIATIONS</a:t>
            </a:r>
            <a:endParaRPr lang="en-US" dirty="0"/>
          </a:p>
        </p:txBody>
      </p:sp>
    </p:spTree>
    <p:extLst>
      <p:ext uri="{BB962C8B-B14F-4D97-AF65-F5344CB8AC3E}">
        <p14:creationId xmlns:p14="http://schemas.microsoft.com/office/powerpoint/2010/main" val="14362086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3" y="0"/>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418;p67"/>
          <p:cNvSpPr txBox="1">
            <a:spLocks noGrp="1"/>
          </p:cNvSpPr>
          <p:nvPr>
            <p:ph type="body" idx="1"/>
          </p:nvPr>
        </p:nvSpPr>
        <p:spPr>
          <a:xfrm>
            <a:off x="4067944" y="2571750"/>
            <a:ext cx="4716195" cy="3669030"/>
          </a:xfrm>
          <a:prstGeom prst="rect">
            <a:avLst/>
          </a:prstGeom>
          <a:noFill/>
          <a:ln>
            <a:noFill/>
          </a:ln>
        </p:spPr>
        <p:txBody>
          <a:bodyPr spcFirstLastPara="1" wrap="square" lIns="68550" tIns="34275" rIns="68550" bIns="34275" anchor="ctr" anchorCtr="0">
            <a:normAutofit fontScale="92500" lnSpcReduction="10000"/>
          </a:bodyPr>
          <a:lstStyle/>
          <a:p>
            <a:pPr marL="214313" lvl="0" indent="-214313" algn="l" rtl="0">
              <a:lnSpc>
                <a:spcPct val="100000"/>
              </a:lnSpc>
              <a:spcBef>
                <a:spcPts val="0"/>
              </a:spcBef>
              <a:spcAft>
                <a:spcPts val="0"/>
              </a:spcAft>
              <a:buSzPct val="54054"/>
              <a:buChar char="▶"/>
            </a:pPr>
            <a:r>
              <a:rPr lang="en-US" dirty="0">
                <a:solidFill>
                  <a:schemeClr val="tx1">
                    <a:lumMod val="75000"/>
                    <a:lumOff val="25000"/>
                  </a:schemeClr>
                </a:solidFill>
                <a:latin typeface="Arial"/>
                <a:ea typeface="Arial"/>
                <a:cs typeface="Arial"/>
                <a:sym typeface="Arial"/>
              </a:rPr>
              <a:t>A for loop may contain multiple initialization and multiple update statements.</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None/>
            </a:pPr>
            <a:r>
              <a:rPr lang="en-US" dirty="0">
                <a:solidFill>
                  <a:schemeClr val="tx1">
                    <a:lumMod val="75000"/>
                    <a:lumOff val="25000"/>
                  </a:schemeClr>
                </a:solidFill>
                <a:latin typeface="Arial"/>
                <a:ea typeface="Arial"/>
                <a:cs typeface="Arial"/>
                <a:sym typeface="Arial"/>
              </a:rPr>
              <a:t>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None/>
            </a:pPr>
            <a:r>
              <a:rPr lang="en-US" dirty="0">
                <a:solidFill>
                  <a:schemeClr val="tx1">
                    <a:lumMod val="75000"/>
                    <a:lumOff val="25000"/>
                  </a:schemeClr>
                </a:solidFill>
                <a:latin typeface="Arial"/>
                <a:ea typeface="Arial"/>
                <a:cs typeface="Arial"/>
                <a:sym typeface="Arial"/>
              </a:rPr>
              <a:t>for(i=1,sum=0;I&lt;=n; sum+=i,++i)</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None/>
            </a:pPr>
            <a:r>
              <a:rPr lang="en-US" dirty="0">
                <a:solidFill>
                  <a:schemeClr val="tx1">
                    <a:lumMod val="75000"/>
                    <a:lumOff val="25000"/>
                  </a:schemeClr>
                </a:solidFill>
                <a:latin typeface="Arial"/>
                <a:ea typeface="Arial"/>
                <a:cs typeface="Arial"/>
                <a:sym typeface="Arial"/>
              </a:rPr>
              <a:t>		</a:t>
            </a:r>
            <a:r>
              <a:rPr lang="en-US" dirty="0" err="1">
                <a:solidFill>
                  <a:schemeClr val="tx1">
                    <a:lumMod val="75000"/>
                    <a:lumOff val="25000"/>
                  </a:schemeClr>
                </a:solidFill>
                <a:latin typeface="Arial"/>
                <a:ea typeface="Arial"/>
                <a:cs typeface="Arial"/>
                <a:sym typeface="Arial"/>
              </a:rPr>
              <a:t>cout</a:t>
            </a:r>
            <a:r>
              <a:rPr lang="en-US" dirty="0">
                <a:solidFill>
                  <a:schemeClr val="tx1">
                    <a:lumMod val="75000"/>
                    <a:lumOff val="25000"/>
                  </a:schemeClr>
                </a:solidFill>
                <a:latin typeface="Arial"/>
                <a:ea typeface="Arial"/>
                <a:cs typeface="Arial"/>
                <a:sym typeface="Arial"/>
              </a:rPr>
              <a:t>&lt;&lt;“\n”&lt;&lt;i;</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None/>
            </a:pPr>
            <a:endParaRPr dirty="0">
              <a:solidFill>
                <a:schemeClr val="lt1"/>
              </a:solidFill>
              <a:latin typeface="Arial"/>
              <a:ea typeface="Arial"/>
              <a:cs typeface="Arial"/>
              <a:sym typeface="Arial"/>
            </a:endParaRPr>
          </a:p>
        </p:txBody>
      </p:sp>
      <p:sp>
        <p:nvSpPr>
          <p:cNvPr id="8" name="Google Shape;417;p67"/>
          <p:cNvSpPr txBox="1">
            <a:spLocks/>
          </p:cNvSpPr>
          <p:nvPr/>
        </p:nvSpPr>
        <p:spPr>
          <a:xfrm>
            <a:off x="513160"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100"/>
            </a:pPr>
            <a:r>
              <a:rPr lang="en-US" sz="2325" b="1" smtClean="0">
                <a:latin typeface="Arial Black"/>
                <a:ea typeface="Arial Black"/>
                <a:cs typeface="Arial Black"/>
                <a:sym typeface="Arial Black"/>
              </a:rPr>
              <a:t>1.MULTIPLE INITIALIZATION &amp; UPDATE EXPRESSIONS.</a:t>
            </a:r>
            <a:r>
              <a:rPr lang="en-US" sz="2325" smtClean="0">
                <a:latin typeface="Arial Black"/>
                <a:ea typeface="Arial Black"/>
                <a:cs typeface="Arial Black"/>
                <a:sym typeface="Arial Black"/>
              </a:rPr>
              <a:t/>
            </a:r>
            <a:br>
              <a:rPr lang="en-US" sz="2325" smtClean="0">
                <a:latin typeface="Arial Black"/>
                <a:ea typeface="Arial Black"/>
                <a:cs typeface="Arial Black"/>
                <a:sym typeface="Arial Black"/>
              </a:rPr>
            </a:br>
            <a:endParaRPr lang="en-US" sz="2325" dirty="0">
              <a:latin typeface="Arial Black"/>
              <a:ea typeface="Arial Black"/>
              <a:cs typeface="Arial Black"/>
              <a:sym typeface="Arial Black"/>
            </a:endParaRPr>
          </a:p>
        </p:txBody>
      </p:sp>
    </p:spTree>
    <p:extLst>
      <p:ext uri="{BB962C8B-B14F-4D97-AF65-F5344CB8AC3E}">
        <p14:creationId xmlns:p14="http://schemas.microsoft.com/office/powerpoint/2010/main" val="3537092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9330"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424;p68"/>
          <p:cNvSpPr txBox="1">
            <a:spLocks noGrp="1"/>
          </p:cNvSpPr>
          <p:nvPr>
            <p:ph type="body" idx="1"/>
          </p:nvPr>
        </p:nvSpPr>
        <p:spPr>
          <a:xfrm>
            <a:off x="4067944" y="2420888"/>
            <a:ext cx="4716195" cy="3669030"/>
          </a:xfrm>
          <a:prstGeom prst="rect">
            <a:avLst/>
          </a:prstGeom>
          <a:noFill/>
          <a:ln>
            <a:noFill/>
          </a:ln>
        </p:spPr>
        <p:txBody>
          <a:bodyPr spcFirstLastPara="1" wrap="square" lIns="68550" tIns="34275" rIns="68550" bIns="34275" anchor="ctr" anchorCtr="0">
            <a:normAutofit fontScale="85000" lnSpcReduction="20000"/>
          </a:bodyPr>
          <a:lstStyle/>
          <a:p>
            <a:pPr marL="214313" lvl="0" indent="-214313" algn="l" rtl="0">
              <a:lnSpc>
                <a:spcPct val="100000"/>
              </a:lnSpc>
              <a:spcBef>
                <a:spcPts val="0"/>
              </a:spcBef>
              <a:spcAft>
                <a:spcPts val="0"/>
              </a:spcAft>
              <a:buSzPct val="58823"/>
              <a:buChar char="▶"/>
            </a:pPr>
            <a:r>
              <a:rPr lang="en-US" dirty="0">
                <a:solidFill>
                  <a:schemeClr val="tx1">
                    <a:lumMod val="75000"/>
                    <a:lumOff val="25000"/>
                  </a:schemeClr>
                </a:solidFill>
                <a:latin typeface="Arial"/>
                <a:ea typeface="Arial"/>
                <a:cs typeface="Arial"/>
                <a:sym typeface="Arial"/>
              </a:rPr>
              <a:t>When you have to simply increment or decrement   value of variable by one, then prefer prefix over postfix that is for ++i or –i. The reason being that when used alone, prefix faster executed than postfix. i.e.,</a:t>
            </a:r>
            <a:endParaRPr dirty="0">
              <a:solidFill>
                <a:schemeClr val="tx1">
                  <a:lumMod val="75000"/>
                  <a:lumOff val="25000"/>
                </a:schemeClr>
              </a:solidFill>
            </a:endParaRPr>
          </a:p>
          <a:p>
            <a:pPr marL="214313" lvl="0" indent="-214313" algn="l" rtl="0">
              <a:lnSpc>
                <a:spcPct val="100000"/>
              </a:lnSpc>
              <a:spcBef>
                <a:spcPts val="750"/>
              </a:spcBef>
              <a:spcAft>
                <a:spcPts val="0"/>
              </a:spcAft>
              <a:buSzPct val="58823"/>
              <a:buChar char="▶"/>
            </a:pPr>
            <a:r>
              <a:rPr lang="en-US" dirty="0">
                <a:solidFill>
                  <a:schemeClr val="tx1">
                    <a:lumMod val="75000"/>
                    <a:lumOff val="25000"/>
                  </a:schemeClr>
                </a:solidFill>
                <a:latin typeface="Arial"/>
                <a:ea typeface="Arial"/>
                <a:cs typeface="Arial"/>
                <a:sym typeface="Arial"/>
              </a:rPr>
              <a:t>for(i=1;i&lt;n;++i) // prefer this </a:t>
            </a:r>
            <a:endParaRPr dirty="0">
              <a:solidFill>
                <a:schemeClr val="tx1">
                  <a:lumMod val="75000"/>
                  <a:lumOff val="25000"/>
                </a:schemeClr>
              </a:solidFill>
            </a:endParaRPr>
          </a:p>
          <a:p>
            <a:pPr marL="214313" lvl="0" indent="-214313" algn="l" rtl="0">
              <a:lnSpc>
                <a:spcPct val="100000"/>
              </a:lnSpc>
              <a:spcBef>
                <a:spcPts val="750"/>
              </a:spcBef>
              <a:spcAft>
                <a:spcPts val="0"/>
              </a:spcAft>
              <a:buSzPct val="58823"/>
              <a:buNone/>
            </a:pPr>
            <a:r>
              <a:rPr lang="en-US" dirty="0">
                <a:solidFill>
                  <a:schemeClr val="tx1">
                    <a:lumMod val="75000"/>
                    <a:lumOff val="25000"/>
                  </a:schemeClr>
                </a:solidFill>
                <a:latin typeface="Arial"/>
                <a:ea typeface="Arial"/>
                <a:cs typeface="Arial"/>
                <a:sym typeface="Arial"/>
              </a:rPr>
              <a:t>Over this, for(i=1;i&lt;</a:t>
            </a:r>
            <a:r>
              <a:rPr lang="en-US" dirty="0" err="1">
                <a:solidFill>
                  <a:schemeClr val="tx1">
                    <a:lumMod val="75000"/>
                    <a:lumOff val="25000"/>
                  </a:schemeClr>
                </a:solidFill>
                <a:latin typeface="Arial"/>
                <a:ea typeface="Arial"/>
                <a:cs typeface="Arial"/>
                <a:sym typeface="Arial"/>
              </a:rPr>
              <a:t>n;i</a:t>
            </a:r>
            <a:r>
              <a:rPr lang="en-US"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p:txBody>
      </p:sp>
      <p:sp>
        <p:nvSpPr>
          <p:cNvPr id="8" name="Google Shape;423;p68"/>
          <p:cNvSpPr txBox="1">
            <a:spLocks/>
          </p:cNvSpPr>
          <p:nvPr/>
        </p:nvSpPr>
        <p:spPr>
          <a:xfrm>
            <a:off x="683568" y="2238374"/>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300"/>
            </a:pPr>
            <a:r>
              <a:rPr lang="en-US" sz="2475" b="1" dirty="0" smtClean="0">
                <a:latin typeface="Arial Black"/>
                <a:ea typeface="Arial Black"/>
                <a:cs typeface="Arial Black"/>
                <a:sym typeface="Arial Black"/>
              </a:rPr>
              <a:t>2. PREFER PREFIX INCREMENT / DECREMENT OPERATOR OVER POSTFIX  WHEN TO BE USED ALONE</a:t>
            </a:r>
            <a:r>
              <a:rPr lang="en-US" sz="2475" b="1" dirty="0" smtClean="0">
                <a:latin typeface="Arial"/>
                <a:ea typeface="Arial"/>
                <a:cs typeface="Arial"/>
                <a:sym typeface="Arial"/>
              </a:rPr>
              <a:t>.</a:t>
            </a:r>
            <a:br>
              <a:rPr lang="en-US" sz="2475" b="1" dirty="0" smtClean="0">
                <a:latin typeface="Arial"/>
                <a:ea typeface="Arial"/>
                <a:cs typeface="Arial"/>
                <a:sym typeface="Arial"/>
              </a:rPr>
            </a:br>
            <a:endParaRPr lang="en-US" sz="2475" b="1" dirty="0">
              <a:latin typeface="Arial"/>
              <a:ea typeface="Arial"/>
              <a:cs typeface="Arial"/>
              <a:sym typeface="Arial"/>
            </a:endParaRPr>
          </a:p>
        </p:txBody>
      </p:sp>
    </p:spTree>
    <p:extLst>
      <p:ext uri="{BB962C8B-B14F-4D97-AF65-F5344CB8AC3E}">
        <p14:creationId xmlns:p14="http://schemas.microsoft.com/office/powerpoint/2010/main" val="12741156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430;p69"/>
          <p:cNvSpPr txBox="1">
            <a:spLocks noGrp="1"/>
          </p:cNvSpPr>
          <p:nvPr>
            <p:ph type="body" idx="1"/>
          </p:nvPr>
        </p:nvSpPr>
        <p:spPr>
          <a:xfrm>
            <a:off x="4067944" y="2568910"/>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Char char="▶"/>
            </a:pPr>
            <a:r>
              <a:rPr lang="en-US" dirty="0">
                <a:solidFill>
                  <a:schemeClr val="tx1">
                    <a:lumMod val="75000"/>
                    <a:lumOff val="25000"/>
                  </a:schemeClr>
                </a:solidFill>
                <a:latin typeface="Arial"/>
                <a:ea typeface="Arial"/>
                <a:cs typeface="Arial"/>
                <a:sym typeface="Arial"/>
              </a:rPr>
              <a:t>In a for loop initialization expression, test expression and update expression are optional. i.e., you can skip any or all of these expressions.</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 for example you have initialize the variables you want to scrap off the initialization expression then you can write as,</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for(; test </a:t>
            </a:r>
            <a:r>
              <a:rPr lang="en-US" dirty="0" err="1">
                <a:solidFill>
                  <a:schemeClr val="tx1">
                    <a:lumMod val="75000"/>
                    <a:lumOff val="25000"/>
                  </a:schemeClr>
                </a:solidFill>
                <a:latin typeface="Arial"/>
                <a:ea typeface="Arial"/>
                <a:cs typeface="Arial"/>
                <a:sym typeface="Arial"/>
              </a:rPr>
              <a:t>expression;update</a:t>
            </a:r>
            <a:r>
              <a:rPr lang="en-US" dirty="0">
                <a:solidFill>
                  <a:schemeClr val="tx1">
                    <a:lumMod val="75000"/>
                    <a:lumOff val="25000"/>
                  </a:schemeClr>
                </a:solidFill>
                <a:latin typeface="Arial"/>
                <a:ea typeface="Arial"/>
                <a:cs typeface="Arial"/>
                <a:sym typeface="Arial"/>
              </a:rPr>
              <a:t> expression)</a:t>
            </a:r>
            <a:endParaRPr dirty="0">
              <a:solidFill>
                <a:schemeClr val="tx1">
                  <a:lumMod val="75000"/>
                  <a:lumOff val="25000"/>
                </a:schemeClr>
              </a:solidFill>
            </a:endParaRPr>
          </a:p>
          <a:p>
            <a:pPr marL="214313" lvl="0" indent="-138113" algn="l" rtl="0">
              <a:lnSpc>
                <a:spcPct val="100000"/>
              </a:lnSpc>
              <a:spcBef>
                <a:spcPts val="750"/>
              </a:spcBef>
              <a:spcAft>
                <a:spcPts val="0"/>
              </a:spcAft>
              <a:buSzPct val="71428"/>
              <a:buNone/>
            </a:pPr>
            <a:endParaRPr dirty="0">
              <a:solidFill>
                <a:schemeClr val="lt1"/>
              </a:solidFill>
              <a:latin typeface="Arial"/>
              <a:ea typeface="Arial"/>
              <a:cs typeface="Arial"/>
              <a:sym typeface="Arial"/>
            </a:endParaRPr>
          </a:p>
        </p:txBody>
      </p:sp>
      <p:sp>
        <p:nvSpPr>
          <p:cNvPr id="8" name="Google Shape;429;p69"/>
          <p:cNvSpPr txBox="1">
            <a:spLocks/>
          </p:cNvSpPr>
          <p:nvPr/>
        </p:nvSpPr>
        <p:spPr>
          <a:xfrm>
            <a:off x="611560" y="1881187"/>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300"/>
            </a:pPr>
            <a:r>
              <a:rPr lang="en-US" sz="2475" smtClean="0">
                <a:latin typeface="Arial Black"/>
                <a:ea typeface="Arial Black"/>
                <a:cs typeface="Arial Black"/>
                <a:sym typeface="Arial Black"/>
              </a:rPr>
              <a:t>3. OPTIONAL EXPRESSIONS</a:t>
            </a:r>
            <a:endParaRPr lang="en-US" dirty="0"/>
          </a:p>
        </p:txBody>
      </p:sp>
    </p:spTree>
    <p:extLst>
      <p:ext uri="{BB962C8B-B14F-4D97-AF65-F5344CB8AC3E}">
        <p14:creationId xmlns:p14="http://schemas.microsoft.com/office/powerpoint/2010/main" val="698179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436;p70"/>
          <p:cNvSpPr txBox="1">
            <a:spLocks noGrp="1"/>
          </p:cNvSpPr>
          <p:nvPr>
            <p:ph type="body" idx="1"/>
          </p:nvPr>
        </p:nvSpPr>
        <p:spPr>
          <a:xfrm>
            <a:off x="3923928" y="2270220"/>
            <a:ext cx="4716195" cy="3669030"/>
          </a:xfrm>
          <a:prstGeom prst="rect">
            <a:avLst/>
          </a:prstGeom>
          <a:noFill/>
          <a:ln>
            <a:noFill/>
          </a:ln>
        </p:spPr>
        <p:txBody>
          <a:bodyPr spcFirstLastPara="1" wrap="square" lIns="68550" tIns="34275" rIns="68550" bIns="34275" anchor="ctr" anchorCtr="0">
            <a:normAutofit fontScale="92500" lnSpcReduction="10000"/>
          </a:bodyPr>
          <a:lstStyle/>
          <a:p>
            <a:pPr marL="214313" lvl="0" indent="-214313" algn="l" rtl="0">
              <a:lnSpc>
                <a:spcPct val="100000"/>
              </a:lnSpc>
              <a:spcBef>
                <a:spcPts val="0"/>
              </a:spcBef>
              <a:spcAft>
                <a:spcPts val="0"/>
              </a:spcAft>
              <a:buSzPct val="54054"/>
              <a:buNone/>
            </a:pPr>
            <a:r>
              <a:rPr lang="en-US" b="1" dirty="0">
                <a:solidFill>
                  <a:schemeClr val="tx1">
                    <a:lumMod val="75000"/>
                    <a:lumOff val="25000"/>
                  </a:schemeClr>
                </a:solidFill>
                <a:latin typeface="Arial"/>
                <a:ea typeface="Arial"/>
                <a:cs typeface="Arial"/>
                <a:sym typeface="Arial"/>
              </a:rPr>
              <a:t>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None/>
            </a:pPr>
            <a:endParaRPr dirty="0">
              <a:solidFill>
                <a:schemeClr val="tx1">
                  <a:lumMod val="75000"/>
                  <a:lumOff val="25000"/>
                </a:schemeClr>
              </a:solidFill>
              <a:latin typeface="Arial"/>
              <a:ea typeface="Arial"/>
              <a:cs typeface="Arial"/>
              <a:sym typeface="Arial"/>
            </a:endParaRPr>
          </a:p>
          <a:p>
            <a:pPr marL="214313" lvl="0" indent="-214313" algn="l" rtl="0">
              <a:lnSpc>
                <a:spcPct val="100000"/>
              </a:lnSpc>
              <a:spcBef>
                <a:spcPts val="750"/>
              </a:spcBef>
              <a:spcAft>
                <a:spcPts val="0"/>
              </a:spcAft>
              <a:buSzPct val="54054"/>
              <a:buNone/>
            </a:pPr>
            <a:r>
              <a:rPr lang="en-US" dirty="0" err="1">
                <a:solidFill>
                  <a:schemeClr val="tx1">
                    <a:lumMod val="75000"/>
                    <a:lumOff val="25000"/>
                  </a:schemeClr>
                </a:solidFill>
                <a:latin typeface="Arial"/>
                <a:ea typeface="Arial"/>
                <a:cs typeface="Arial"/>
                <a:sym typeface="Arial"/>
              </a:rPr>
              <a:t>int</a:t>
            </a:r>
            <a:r>
              <a:rPr lang="en-US" dirty="0">
                <a:solidFill>
                  <a:schemeClr val="tx1">
                    <a:lumMod val="75000"/>
                    <a:lumOff val="25000"/>
                  </a:schemeClr>
                </a:solidFill>
                <a:latin typeface="Arial"/>
                <a:ea typeface="Arial"/>
                <a:cs typeface="Arial"/>
                <a:sym typeface="Arial"/>
              </a:rPr>
              <a:t> i=0,sum=0;</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None/>
            </a:pPr>
            <a:endParaRPr dirty="0">
              <a:solidFill>
                <a:schemeClr val="tx1">
                  <a:lumMod val="75000"/>
                  <a:lumOff val="25000"/>
                </a:schemeClr>
              </a:solidFill>
              <a:latin typeface="Arial"/>
              <a:ea typeface="Arial"/>
              <a:cs typeface="Arial"/>
              <a:sym typeface="Arial"/>
            </a:endParaRPr>
          </a:p>
          <a:p>
            <a:pPr marL="214313" lvl="0" indent="-214313" algn="l" rtl="0">
              <a:lnSpc>
                <a:spcPct val="100000"/>
              </a:lnSpc>
              <a:spcBef>
                <a:spcPts val="750"/>
              </a:spcBef>
              <a:spcAft>
                <a:spcPts val="0"/>
              </a:spcAft>
              <a:buSzPct val="54054"/>
              <a:buNone/>
            </a:pPr>
            <a:r>
              <a:rPr lang="en-US" dirty="0">
                <a:solidFill>
                  <a:schemeClr val="tx1">
                    <a:lumMod val="75000"/>
                    <a:lumOff val="25000"/>
                  </a:schemeClr>
                </a:solidFill>
                <a:latin typeface="Arial"/>
                <a:ea typeface="Arial"/>
                <a:cs typeface="Arial"/>
                <a:sym typeface="Arial"/>
              </a:rPr>
              <a:t>for(;i&lt;=n; sum+=i,++i)</a:t>
            </a:r>
            <a:endParaRPr dirty="0">
              <a:solidFill>
                <a:schemeClr val="tx1">
                  <a:lumMod val="75000"/>
                  <a:lumOff val="25000"/>
                </a:schemeClr>
              </a:solidFill>
            </a:endParaRPr>
          </a:p>
          <a:p>
            <a:pPr marL="214313" lvl="0" indent="-214313" algn="l" rtl="0">
              <a:lnSpc>
                <a:spcPct val="100000"/>
              </a:lnSpc>
              <a:spcBef>
                <a:spcPts val="750"/>
              </a:spcBef>
              <a:spcAft>
                <a:spcPts val="0"/>
              </a:spcAft>
              <a:buSzPct val="54054"/>
              <a:buNone/>
            </a:pPr>
            <a:endParaRPr dirty="0">
              <a:solidFill>
                <a:schemeClr val="tx1">
                  <a:lumMod val="75000"/>
                  <a:lumOff val="25000"/>
                </a:schemeClr>
              </a:solidFill>
              <a:latin typeface="Arial"/>
              <a:ea typeface="Arial"/>
              <a:cs typeface="Arial"/>
              <a:sym typeface="Arial"/>
            </a:endParaRPr>
          </a:p>
          <a:p>
            <a:pPr marL="214313" lvl="0" indent="-214313" algn="l" rtl="0">
              <a:lnSpc>
                <a:spcPct val="100000"/>
              </a:lnSpc>
              <a:spcBef>
                <a:spcPts val="750"/>
              </a:spcBef>
              <a:spcAft>
                <a:spcPts val="0"/>
              </a:spcAft>
              <a:buSzPct val="54054"/>
              <a:buNone/>
            </a:pPr>
            <a:r>
              <a:rPr lang="en-US" dirty="0">
                <a:solidFill>
                  <a:schemeClr val="tx1">
                    <a:lumMod val="75000"/>
                    <a:lumOff val="25000"/>
                  </a:schemeClr>
                </a:solidFill>
                <a:latin typeface="Arial"/>
                <a:ea typeface="Arial"/>
                <a:cs typeface="Arial"/>
                <a:sym typeface="Arial"/>
              </a:rPr>
              <a:t>		</a:t>
            </a:r>
            <a:r>
              <a:rPr lang="en-US" dirty="0" err="1">
                <a:solidFill>
                  <a:schemeClr val="tx1">
                    <a:lumMod val="75000"/>
                    <a:lumOff val="25000"/>
                  </a:schemeClr>
                </a:solidFill>
                <a:latin typeface="Arial"/>
                <a:ea typeface="Arial"/>
                <a:cs typeface="Arial"/>
                <a:sym typeface="Arial"/>
              </a:rPr>
              <a:t>cout</a:t>
            </a:r>
            <a:r>
              <a:rPr lang="en-US" dirty="0">
                <a:solidFill>
                  <a:schemeClr val="tx1">
                    <a:lumMod val="75000"/>
                    <a:lumOff val="25000"/>
                  </a:schemeClr>
                </a:solidFill>
                <a:latin typeface="Arial"/>
                <a:ea typeface="Arial"/>
                <a:cs typeface="Arial"/>
                <a:sym typeface="Arial"/>
              </a:rPr>
              <a:t>&lt;&lt;“\n”&lt;&lt;i;</a:t>
            </a:r>
            <a:endParaRPr dirty="0">
              <a:solidFill>
                <a:schemeClr val="tx1">
                  <a:lumMod val="75000"/>
                  <a:lumOff val="25000"/>
                </a:schemeClr>
              </a:solidFill>
            </a:endParaRPr>
          </a:p>
        </p:txBody>
      </p:sp>
      <p:sp>
        <p:nvSpPr>
          <p:cNvPr id="8" name="Google Shape;435;p70"/>
          <p:cNvSpPr txBox="1">
            <a:spLocks/>
          </p:cNvSpPr>
          <p:nvPr/>
        </p:nvSpPr>
        <p:spPr>
          <a:xfrm>
            <a:off x="611560" y="217652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300"/>
            </a:pPr>
            <a:r>
              <a:rPr lang="en-US" sz="2475" smtClean="0">
                <a:latin typeface="Arial Black"/>
                <a:ea typeface="Arial Black"/>
                <a:cs typeface="Arial Black"/>
                <a:sym typeface="Arial Black"/>
              </a:rPr>
              <a:t>3. OPTIONAL EXPRESSIONS</a:t>
            </a:r>
            <a:endParaRPr lang="en-US" dirty="0"/>
          </a:p>
        </p:txBody>
      </p:sp>
    </p:spTree>
    <p:extLst>
      <p:ext uri="{BB962C8B-B14F-4D97-AF65-F5344CB8AC3E}">
        <p14:creationId xmlns:p14="http://schemas.microsoft.com/office/powerpoint/2010/main" val="22479336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7" name="Google Shape;442;p71"/>
          <p:cNvSpPr txBox="1">
            <a:spLocks noGrp="1"/>
          </p:cNvSpPr>
          <p:nvPr>
            <p:ph type="body" idx="1"/>
          </p:nvPr>
        </p:nvSpPr>
        <p:spPr>
          <a:xfrm>
            <a:off x="3995936" y="2708920"/>
            <a:ext cx="4716195" cy="3669030"/>
          </a:xfrm>
          <a:prstGeom prst="rect">
            <a:avLst/>
          </a:prstGeom>
          <a:noFill/>
          <a:ln>
            <a:noFill/>
          </a:ln>
        </p:spPr>
        <p:txBody>
          <a:bodyPr spcFirstLastPara="1" wrap="square" lIns="68550" tIns="34275" rIns="68550" bIns="34275" anchor="ctr" anchorCtr="0">
            <a:normAutofit fontScale="55000" lnSpcReduction="20000"/>
          </a:bodyPr>
          <a:lstStyle/>
          <a:p>
            <a:pPr marL="214313" lvl="0" indent="-214313" algn="l" rtl="0">
              <a:lnSpc>
                <a:spcPct val="100000"/>
              </a:lnSpc>
              <a:spcBef>
                <a:spcPts val="0"/>
              </a:spcBef>
              <a:spcAft>
                <a:spcPts val="0"/>
              </a:spcAft>
              <a:buSzPct val="90909"/>
              <a:buChar char="▶"/>
            </a:pPr>
            <a:r>
              <a:rPr lang="en-US" dirty="0">
                <a:solidFill>
                  <a:schemeClr val="tx1">
                    <a:lumMod val="75000"/>
                    <a:lumOff val="25000"/>
                  </a:schemeClr>
                </a:solidFill>
                <a:latin typeface="Arial"/>
                <a:ea typeface="Arial"/>
                <a:cs typeface="Arial"/>
                <a:sym typeface="Arial"/>
              </a:rPr>
              <a:t>An infinite for loop can be created by omitting the test expressions.</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Char char="▶"/>
            </a:pPr>
            <a:r>
              <a:rPr lang="en-US" dirty="0">
                <a:solidFill>
                  <a:schemeClr val="tx1">
                    <a:lumMod val="75000"/>
                    <a:lumOff val="25000"/>
                  </a:schemeClr>
                </a:solidFill>
                <a:latin typeface="Arial"/>
                <a:ea typeface="Arial"/>
                <a:cs typeface="Arial"/>
                <a:sym typeface="Arial"/>
              </a:rPr>
              <a:t>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for(j=25;    ;    --i)</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err="1">
                <a:solidFill>
                  <a:schemeClr val="tx1">
                    <a:lumMod val="75000"/>
                    <a:lumOff val="25000"/>
                  </a:schemeClr>
                </a:solidFill>
                <a:latin typeface="Arial"/>
                <a:ea typeface="Arial"/>
                <a:cs typeface="Arial"/>
                <a:sym typeface="Arial"/>
              </a:rPr>
              <a:t>cout</a:t>
            </a:r>
            <a:r>
              <a:rPr lang="en-US" dirty="0">
                <a:solidFill>
                  <a:schemeClr val="tx1">
                    <a:lumMod val="75000"/>
                    <a:lumOff val="25000"/>
                  </a:schemeClr>
                </a:solidFill>
                <a:latin typeface="Arial"/>
                <a:ea typeface="Arial"/>
                <a:cs typeface="Arial"/>
                <a:sym typeface="Arial"/>
              </a:rPr>
              <a:t>&lt;&lt;“An infinite Loop”;</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Similarly the following for loop also infinite loop</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a:solidFill>
                  <a:schemeClr val="tx1">
                    <a:lumMod val="75000"/>
                    <a:lumOff val="25000"/>
                  </a:schemeClr>
                </a:solidFill>
                <a:latin typeface="Arial"/>
                <a:ea typeface="Arial"/>
                <a:cs typeface="Arial"/>
                <a:sym typeface="Arial"/>
              </a:rPr>
              <a:t>for( ; ;) </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dirty="0" err="1">
                <a:solidFill>
                  <a:schemeClr val="tx1">
                    <a:lumMod val="75000"/>
                    <a:lumOff val="25000"/>
                  </a:schemeClr>
                </a:solidFill>
                <a:latin typeface="Arial"/>
                <a:ea typeface="Arial"/>
                <a:cs typeface="Arial"/>
                <a:sym typeface="Arial"/>
              </a:rPr>
              <a:t>cout</a:t>
            </a:r>
            <a:r>
              <a:rPr lang="en-US" dirty="0">
                <a:solidFill>
                  <a:schemeClr val="tx1">
                    <a:lumMod val="75000"/>
                    <a:lumOff val="25000"/>
                  </a:schemeClr>
                </a:solidFill>
                <a:latin typeface="Arial"/>
                <a:ea typeface="Arial"/>
                <a:cs typeface="Arial"/>
                <a:sym typeface="Arial"/>
              </a:rPr>
              <a:t>&lt;&lt;“Endless for loop;</a:t>
            </a:r>
            <a:endParaRPr dirty="0">
              <a:solidFill>
                <a:schemeClr val="tx1">
                  <a:lumMod val="75000"/>
                  <a:lumOff val="25000"/>
                </a:schemeClr>
              </a:solidFill>
            </a:endParaRPr>
          </a:p>
          <a:p>
            <a:pPr marL="214313" lvl="0" indent="-214313" algn="l" rtl="0">
              <a:lnSpc>
                <a:spcPct val="100000"/>
              </a:lnSpc>
              <a:spcBef>
                <a:spcPts val="750"/>
              </a:spcBef>
              <a:spcAft>
                <a:spcPts val="0"/>
              </a:spcAft>
              <a:buSzPct val="90909"/>
              <a:buNone/>
            </a:pPr>
            <a:r>
              <a:rPr lang="en-US" b="1" dirty="0">
                <a:solidFill>
                  <a:schemeClr val="tx1">
                    <a:lumMod val="75000"/>
                    <a:lumOff val="25000"/>
                  </a:schemeClr>
                </a:solidFill>
                <a:latin typeface="Arial"/>
                <a:ea typeface="Arial"/>
                <a:cs typeface="Arial"/>
                <a:sym typeface="Arial"/>
              </a:rPr>
              <a:t>NOTE: PRESS CTRL + BREAK TO  TERMINATE THE PROGRAM EXECUTION</a:t>
            </a:r>
            <a:endParaRPr dirty="0">
              <a:solidFill>
                <a:schemeClr val="tx1">
                  <a:lumMod val="75000"/>
                  <a:lumOff val="25000"/>
                </a:schemeClr>
              </a:solidFill>
            </a:endParaRPr>
          </a:p>
        </p:txBody>
      </p:sp>
      <p:sp>
        <p:nvSpPr>
          <p:cNvPr id="8" name="Google Shape;441;p71"/>
          <p:cNvSpPr txBox="1">
            <a:spLocks/>
          </p:cNvSpPr>
          <p:nvPr/>
        </p:nvSpPr>
        <p:spPr>
          <a:xfrm>
            <a:off x="611560"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4. INFINITE LOOP</a:t>
            </a:r>
            <a:endParaRPr lang="en-US" dirty="0"/>
          </a:p>
        </p:txBody>
      </p:sp>
    </p:spTree>
    <p:extLst>
      <p:ext uri="{BB962C8B-B14F-4D97-AF65-F5344CB8AC3E}">
        <p14:creationId xmlns:p14="http://schemas.microsoft.com/office/powerpoint/2010/main" val="7509458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10" name="Google Shape;448;p72"/>
          <p:cNvSpPr txBox="1">
            <a:spLocks noGrp="1"/>
          </p:cNvSpPr>
          <p:nvPr>
            <p:ph type="body" idx="1"/>
          </p:nvPr>
        </p:nvSpPr>
        <p:spPr>
          <a:xfrm>
            <a:off x="3923928" y="2590817"/>
            <a:ext cx="4716195" cy="3669030"/>
          </a:xfrm>
          <a:prstGeom prst="rect">
            <a:avLst/>
          </a:prstGeom>
          <a:noFill/>
          <a:ln>
            <a:noFill/>
          </a:ln>
        </p:spPr>
        <p:txBody>
          <a:bodyPr spcFirstLastPara="1" wrap="square" lIns="68550" tIns="34275" rIns="68550" bIns="34275" anchor="ctr" anchorCtr="0">
            <a:normAutofit fontScale="62500" lnSpcReduction="20000"/>
          </a:bodyPr>
          <a:lstStyle/>
          <a:p>
            <a:pPr marL="214313" lvl="0" indent="-214313" algn="l" rtl="0">
              <a:lnSpc>
                <a:spcPct val="100000"/>
              </a:lnSpc>
              <a:spcBef>
                <a:spcPts val="0"/>
              </a:spcBef>
              <a:spcAft>
                <a:spcPts val="0"/>
              </a:spcAft>
              <a:buSzPct val="80000"/>
              <a:buChar char="▶"/>
            </a:pPr>
            <a:r>
              <a:rPr lang="en-US" dirty="0">
                <a:solidFill>
                  <a:schemeClr val="tx1">
                    <a:lumMod val="75000"/>
                    <a:lumOff val="25000"/>
                  </a:schemeClr>
                </a:solidFill>
                <a:latin typeface="Arial"/>
                <a:ea typeface="Arial"/>
                <a:cs typeface="Arial"/>
                <a:sym typeface="Arial"/>
              </a:rPr>
              <a:t>If a loop does not contain any statement in its loop-body, it is said to be an empty for loop.</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Char char="▶"/>
            </a:pPr>
            <a:r>
              <a:rPr lang="en-US" dirty="0">
                <a:solidFill>
                  <a:schemeClr val="tx1">
                    <a:lumMod val="75000"/>
                    <a:lumOff val="25000"/>
                  </a:schemeClr>
                </a:solidFill>
                <a:latin typeface="Arial"/>
                <a:ea typeface="Arial"/>
                <a:cs typeface="Arial"/>
                <a:sym typeface="Arial"/>
              </a:rPr>
              <a:t>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Char char="▶"/>
            </a:pPr>
            <a:r>
              <a:rPr lang="en-US" dirty="0">
                <a:solidFill>
                  <a:schemeClr val="tx1">
                    <a:lumMod val="75000"/>
                    <a:lumOff val="25000"/>
                  </a:schemeClr>
                </a:solidFill>
                <a:latin typeface="Arial"/>
                <a:ea typeface="Arial"/>
                <a:cs typeface="Arial"/>
                <a:sym typeface="Arial"/>
              </a:rPr>
              <a:t>for( j = 20; ( j ) ; --j ); // j tests for non </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						//zero value of j.</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Char char="▶"/>
            </a:pPr>
            <a:r>
              <a:rPr lang="en-US" dirty="0">
                <a:solidFill>
                  <a:schemeClr val="tx1">
                    <a:lumMod val="75000"/>
                    <a:lumOff val="25000"/>
                  </a:schemeClr>
                </a:solidFill>
                <a:latin typeface="Arial"/>
                <a:ea typeface="Arial"/>
                <a:cs typeface="Arial"/>
                <a:sym typeface="Arial"/>
              </a:rPr>
              <a:t>See here the loop body contains null statement. An empty for loop has an application in pointer manipulation where you need to increment or decrement the pointer position without doing anything else</a:t>
            </a:r>
            <a:r>
              <a:rPr lang="en-US" dirty="0">
                <a:solidFill>
                  <a:schemeClr val="lt1"/>
                </a:solidFill>
                <a:latin typeface="Arial"/>
                <a:ea typeface="Arial"/>
                <a:cs typeface="Arial"/>
                <a:sym typeface="Arial"/>
              </a:rPr>
              <a:t>.</a:t>
            </a:r>
            <a:endParaRPr dirty="0"/>
          </a:p>
        </p:txBody>
      </p:sp>
      <p:sp>
        <p:nvSpPr>
          <p:cNvPr id="11" name="Google Shape;447;p72"/>
          <p:cNvSpPr txBox="1">
            <a:spLocks/>
          </p:cNvSpPr>
          <p:nvPr/>
        </p:nvSpPr>
        <p:spPr>
          <a:xfrm>
            <a:off x="755576" y="234888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5. EMPTY FOR LOOP</a:t>
            </a:r>
            <a:endParaRPr lang="en-US" dirty="0"/>
          </a:p>
        </p:txBody>
      </p:sp>
    </p:spTree>
    <p:extLst>
      <p:ext uri="{BB962C8B-B14F-4D97-AF65-F5344CB8AC3E}">
        <p14:creationId xmlns:p14="http://schemas.microsoft.com/office/powerpoint/2010/main" val="36808631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454;p73"/>
          <p:cNvSpPr txBox="1">
            <a:spLocks noGrp="1"/>
          </p:cNvSpPr>
          <p:nvPr>
            <p:ph type="body" idx="1"/>
          </p:nvPr>
        </p:nvSpPr>
        <p:spPr>
          <a:xfrm>
            <a:off x="4067944" y="2568910"/>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Char char="▶"/>
            </a:pPr>
            <a:r>
              <a:rPr lang="en-US" dirty="0">
                <a:solidFill>
                  <a:schemeClr val="tx1">
                    <a:lumMod val="75000"/>
                    <a:lumOff val="25000"/>
                  </a:schemeClr>
                </a:solidFill>
                <a:latin typeface="Arial"/>
                <a:ea typeface="Arial"/>
                <a:cs typeface="Arial"/>
                <a:sym typeface="Arial"/>
              </a:rPr>
              <a:t>Time delay loops are often used in the programs. It is created by using for loop</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 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Char char="▶"/>
            </a:pPr>
            <a:r>
              <a:rPr lang="en-US" dirty="0">
                <a:solidFill>
                  <a:schemeClr val="tx1">
                    <a:lumMod val="75000"/>
                    <a:lumOff val="25000"/>
                  </a:schemeClr>
                </a:solidFill>
                <a:latin typeface="Arial"/>
                <a:ea typeface="Arial"/>
                <a:cs typeface="Arial"/>
                <a:sym typeface="Arial"/>
              </a:rPr>
              <a:t>For(t=0;t&lt;300;++t);</a:t>
            </a:r>
            <a:endParaRPr dirty="0">
              <a:solidFill>
                <a:schemeClr val="tx1">
                  <a:lumMod val="75000"/>
                  <a:lumOff val="25000"/>
                </a:schemeClr>
              </a:solidFill>
            </a:endParaRPr>
          </a:p>
          <a:p>
            <a:pPr marL="214313" lvl="0" indent="-214313" algn="l" rtl="0">
              <a:lnSpc>
                <a:spcPct val="100000"/>
              </a:lnSpc>
              <a:spcBef>
                <a:spcPts val="750"/>
              </a:spcBef>
              <a:spcAft>
                <a:spcPts val="0"/>
              </a:spcAft>
              <a:buSzPct val="71428"/>
              <a:buNone/>
            </a:pPr>
            <a:r>
              <a:rPr lang="en-US" dirty="0">
                <a:solidFill>
                  <a:schemeClr val="tx1">
                    <a:lumMod val="75000"/>
                    <a:lumOff val="25000"/>
                  </a:schemeClr>
                </a:solidFill>
                <a:latin typeface="Arial"/>
                <a:ea typeface="Arial"/>
                <a:cs typeface="Arial"/>
                <a:sym typeface="Arial"/>
              </a:rPr>
              <a:t>	That means if you put a semicolon after </a:t>
            </a:r>
            <a:r>
              <a:rPr lang="en-US" dirty="0" err="1">
                <a:solidFill>
                  <a:schemeClr val="tx1">
                    <a:lumMod val="75000"/>
                    <a:lumOff val="25000"/>
                  </a:schemeClr>
                </a:solidFill>
                <a:latin typeface="Arial"/>
                <a:ea typeface="Arial"/>
                <a:cs typeface="Arial"/>
                <a:sym typeface="Arial"/>
              </a:rPr>
              <a:t>for’s</a:t>
            </a:r>
            <a:r>
              <a:rPr lang="en-US" dirty="0">
                <a:solidFill>
                  <a:schemeClr val="tx1">
                    <a:lumMod val="75000"/>
                    <a:lumOff val="25000"/>
                  </a:schemeClr>
                </a:solidFill>
                <a:latin typeface="Arial"/>
                <a:ea typeface="Arial"/>
                <a:cs typeface="Arial"/>
                <a:sym typeface="Arial"/>
              </a:rPr>
              <a:t> parenthesis it repeats only for counting the control variable and if you put a block of statements after such a loop then it is not a part of for loop. </a:t>
            </a:r>
            <a:endParaRPr dirty="0">
              <a:solidFill>
                <a:schemeClr val="tx1">
                  <a:lumMod val="75000"/>
                  <a:lumOff val="25000"/>
                </a:schemeClr>
              </a:solidFill>
            </a:endParaRPr>
          </a:p>
        </p:txBody>
      </p:sp>
      <p:sp>
        <p:nvSpPr>
          <p:cNvPr id="9" name="Google Shape;453;p73"/>
          <p:cNvSpPr txBox="1">
            <a:spLocks/>
          </p:cNvSpPr>
          <p:nvPr/>
        </p:nvSpPr>
        <p:spPr>
          <a:xfrm>
            <a:off x="899592"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TIME DELAY LOOPS</a:t>
            </a:r>
            <a:endParaRPr lang="en-US" dirty="0"/>
          </a:p>
        </p:txBody>
      </p:sp>
    </p:spTree>
    <p:extLst>
      <p:ext uri="{BB962C8B-B14F-4D97-AF65-F5344CB8AC3E}">
        <p14:creationId xmlns:p14="http://schemas.microsoft.com/office/powerpoint/2010/main" val="31564750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5498"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460;p74"/>
          <p:cNvSpPr txBox="1">
            <a:spLocks noGrp="1"/>
          </p:cNvSpPr>
          <p:nvPr>
            <p:ph type="body" idx="1"/>
          </p:nvPr>
        </p:nvSpPr>
        <p:spPr>
          <a:xfrm>
            <a:off x="4067944" y="2636912"/>
            <a:ext cx="4716195" cy="3669030"/>
          </a:xfrm>
          <a:prstGeom prst="rect">
            <a:avLst/>
          </a:prstGeom>
          <a:noFill/>
          <a:ln>
            <a:noFill/>
          </a:ln>
        </p:spPr>
        <p:txBody>
          <a:bodyPr spcFirstLastPara="1" wrap="square" lIns="68550" tIns="34275" rIns="68550" bIns="34275" anchor="ctr" anchorCtr="0">
            <a:normAutofit fontScale="77500" lnSpcReduction="20000"/>
          </a:bodyPr>
          <a:lstStyle/>
          <a:p>
            <a:pPr marL="214313" lvl="0" indent="-214313" algn="l" rtl="0">
              <a:lnSpc>
                <a:spcPct val="100000"/>
              </a:lnSpc>
              <a:spcBef>
                <a:spcPts val="0"/>
              </a:spcBef>
              <a:spcAft>
                <a:spcPts val="0"/>
              </a:spcAft>
              <a:buSzPct val="64516"/>
              <a:buNone/>
            </a:pPr>
            <a:r>
              <a:rPr lang="en-US" dirty="0">
                <a:solidFill>
                  <a:schemeClr val="lt1"/>
                </a:solidFill>
                <a:latin typeface="Arial"/>
                <a:ea typeface="Arial"/>
                <a:cs typeface="Arial"/>
                <a:sym typeface="Arial"/>
              </a:rPr>
              <a:t>	</a:t>
            </a:r>
            <a:r>
              <a:rPr lang="en-US" dirty="0">
                <a:solidFill>
                  <a:schemeClr val="tx1">
                    <a:lumMod val="75000"/>
                    <a:lumOff val="25000"/>
                  </a:schemeClr>
                </a:solidFill>
                <a:latin typeface="Arial"/>
                <a:ea typeface="Arial"/>
                <a:cs typeface="Arial"/>
                <a:sym typeface="Arial"/>
              </a:rPr>
              <a:t>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r>
              <a:rPr lang="en-US" dirty="0">
                <a:solidFill>
                  <a:schemeClr val="tx1">
                    <a:lumMod val="75000"/>
                    <a:lumOff val="25000"/>
                  </a:schemeClr>
                </a:solidFill>
                <a:latin typeface="Arial"/>
                <a:ea typeface="Arial"/>
                <a:cs typeface="Arial"/>
                <a:sym typeface="Arial"/>
              </a:rPr>
              <a:t>for(i=0;i&lt;10;++i) ;        this semicolon ends </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r>
              <a:rPr lang="en-US" dirty="0">
                <a:solidFill>
                  <a:schemeClr val="tx1">
                    <a:lumMod val="75000"/>
                    <a:lumOff val="25000"/>
                  </a:schemeClr>
                </a:solidFill>
                <a:latin typeface="Arial"/>
                <a:ea typeface="Arial"/>
                <a:cs typeface="Arial"/>
                <a:sym typeface="Arial"/>
              </a:rPr>
              <a:t>					the loop here only.</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r>
              <a:rPr lang="en-US"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r>
              <a:rPr lang="en-US" dirty="0" err="1">
                <a:solidFill>
                  <a:schemeClr val="tx1">
                    <a:lumMod val="75000"/>
                    <a:lumOff val="25000"/>
                  </a:schemeClr>
                </a:solidFill>
                <a:latin typeface="Arial"/>
                <a:ea typeface="Arial"/>
                <a:cs typeface="Arial"/>
                <a:sym typeface="Arial"/>
              </a:rPr>
              <a:t>cout”I</a:t>
            </a:r>
            <a:r>
              <a:rPr lang="en-US" dirty="0">
                <a:solidFill>
                  <a:schemeClr val="tx1">
                    <a:lumMod val="75000"/>
                    <a:lumOff val="25000"/>
                  </a:schemeClr>
                </a:solidFill>
                <a:latin typeface="Arial"/>
                <a:ea typeface="Arial"/>
                <a:cs typeface="Arial"/>
                <a:sym typeface="Arial"/>
              </a:rPr>
              <a:t>=“&lt;&lt;i;&lt;&lt;</a:t>
            </a:r>
            <a:r>
              <a:rPr lang="en-US" dirty="0" err="1">
                <a:solidFill>
                  <a:schemeClr val="tx1">
                    <a:lumMod val="75000"/>
                    <a:lumOff val="25000"/>
                  </a:schemeClr>
                </a:solidFill>
                <a:latin typeface="Arial"/>
                <a:ea typeface="Arial"/>
                <a:cs typeface="Arial"/>
                <a:sym typeface="Arial"/>
              </a:rPr>
              <a:t>endl</a:t>
            </a:r>
            <a:r>
              <a:rPr lang="en-US" dirty="0">
                <a:solidFill>
                  <a:schemeClr val="tx1">
                    <a:lumMod val="75000"/>
                    <a:lumOff val="25000"/>
                  </a:schemeClr>
                </a:solidFill>
                <a:latin typeface="Arial"/>
                <a:ea typeface="Arial"/>
                <a:cs typeface="Arial"/>
                <a:sym typeface="Arial"/>
              </a:rPr>
              <a:t>;  this is not a body of </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r>
              <a:rPr lang="en-US" dirty="0">
                <a:solidFill>
                  <a:schemeClr val="tx1">
                    <a:lumMod val="75000"/>
                    <a:lumOff val="25000"/>
                  </a:schemeClr>
                </a:solidFill>
                <a:latin typeface="Arial"/>
                <a:ea typeface="Arial"/>
                <a:cs typeface="Arial"/>
                <a:sym typeface="Arial"/>
              </a:rPr>
              <a:t>}					for loop.</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endParaRPr dirty="0">
              <a:solidFill>
                <a:schemeClr val="lt1"/>
              </a:solidFill>
              <a:latin typeface="Arial"/>
              <a:ea typeface="Arial"/>
              <a:cs typeface="Arial"/>
              <a:sym typeface="Arial"/>
            </a:endParaRPr>
          </a:p>
        </p:txBody>
      </p:sp>
      <p:sp>
        <p:nvSpPr>
          <p:cNvPr id="9" name="Google Shape;459;p74"/>
          <p:cNvSpPr txBox="1">
            <a:spLocks/>
          </p:cNvSpPr>
          <p:nvPr/>
        </p:nvSpPr>
        <p:spPr>
          <a:xfrm>
            <a:off x="683568" y="223837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TIME DELAY LOOPS</a:t>
            </a:r>
            <a:endParaRPr lang="en-US" dirty="0"/>
          </a:p>
        </p:txBody>
      </p:sp>
    </p:spTree>
    <p:extLst>
      <p:ext uri="{BB962C8B-B14F-4D97-AF65-F5344CB8AC3E}">
        <p14:creationId xmlns:p14="http://schemas.microsoft.com/office/powerpoint/2010/main" val="11221831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466;p75"/>
          <p:cNvSpPr txBox="1">
            <a:spLocks noGrp="1"/>
          </p:cNvSpPr>
          <p:nvPr>
            <p:ph type="body" idx="1"/>
          </p:nvPr>
        </p:nvSpPr>
        <p:spPr>
          <a:xfrm>
            <a:off x="4067944" y="2571750"/>
            <a:ext cx="4716195" cy="3669030"/>
          </a:xfrm>
          <a:prstGeom prst="rect">
            <a:avLst/>
          </a:prstGeom>
          <a:noFill/>
          <a:ln>
            <a:noFill/>
          </a:ln>
        </p:spPr>
        <p:txBody>
          <a:bodyPr spcFirstLastPara="1" wrap="square" lIns="68550" tIns="34275" rIns="68550" bIns="34275" anchor="ctr" anchorCtr="0">
            <a:normAutofit fontScale="77500" lnSpcReduction="20000"/>
          </a:bodyPr>
          <a:lstStyle/>
          <a:p>
            <a:pPr marL="214313" lvl="0" indent="-214313" algn="l" rtl="0">
              <a:lnSpc>
                <a:spcPct val="100000"/>
              </a:lnSpc>
              <a:spcBef>
                <a:spcPts val="0"/>
              </a:spcBef>
              <a:spcAft>
                <a:spcPts val="0"/>
              </a:spcAft>
              <a:buSzPct val="64516"/>
              <a:buChar char="▶"/>
            </a:pPr>
            <a:r>
              <a:rPr lang="en-US" dirty="0">
                <a:solidFill>
                  <a:schemeClr val="tx1">
                    <a:lumMod val="75000"/>
                    <a:lumOff val="25000"/>
                  </a:schemeClr>
                </a:solidFill>
                <a:latin typeface="Arial"/>
                <a:ea typeface="Arial"/>
                <a:cs typeface="Arial"/>
                <a:sym typeface="Arial"/>
              </a:rPr>
              <a:t>C++ allows to declare variables anywhere in a program. So they are generally declared immediately before there first reference.</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Char char="▶"/>
            </a:pPr>
            <a:r>
              <a:rPr lang="en-US" dirty="0">
                <a:solidFill>
                  <a:schemeClr val="tx1">
                    <a:lumMod val="75000"/>
                    <a:lumOff val="25000"/>
                  </a:schemeClr>
                </a:solidFill>
                <a:latin typeface="Arial"/>
                <a:ea typeface="Arial"/>
                <a:cs typeface="Arial"/>
                <a:sym typeface="Arial"/>
              </a:rPr>
              <a:t>For example</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r>
              <a:rPr lang="en-US" dirty="0">
                <a:solidFill>
                  <a:schemeClr val="tx1">
                    <a:lumMod val="75000"/>
                    <a:lumOff val="25000"/>
                  </a:schemeClr>
                </a:solidFill>
                <a:latin typeface="Arial"/>
                <a:ea typeface="Arial"/>
                <a:cs typeface="Arial"/>
                <a:sym typeface="Arial"/>
              </a:rPr>
              <a:t>			for(</a:t>
            </a:r>
            <a:r>
              <a:rPr lang="en-US" dirty="0" err="1">
                <a:solidFill>
                  <a:schemeClr val="tx1">
                    <a:lumMod val="75000"/>
                    <a:lumOff val="25000"/>
                  </a:schemeClr>
                </a:solidFill>
                <a:latin typeface="Arial"/>
                <a:ea typeface="Arial"/>
                <a:cs typeface="Arial"/>
                <a:sym typeface="Arial"/>
              </a:rPr>
              <a:t>int</a:t>
            </a:r>
            <a:r>
              <a:rPr lang="en-US" dirty="0">
                <a:solidFill>
                  <a:schemeClr val="tx1">
                    <a:lumMod val="75000"/>
                    <a:lumOff val="25000"/>
                  </a:schemeClr>
                </a:solidFill>
                <a:latin typeface="Arial"/>
                <a:ea typeface="Arial"/>
                <a:cs typeface="Arial"/>
                <a:sym typeface="Arial"/>
              </a:rPr>
              <a:t> i=0;i&lt;10;++i)</a:t>
            </a:r>
            <a:endParaRPr dirty="0">
              <a:solidFill>
                <a:schemeClr val="tx1">
                  <a:lumMod val="75000"/>
                  <a:lumOff val="25000"/>
                </a:schemeClr>
              </a:solidFill>
            </a:endParaRPr>
          </a:p>
          <a:p>
            <a:pPr marL="214313" lvl="0" indent="-214313" algn="l" rtl="0">
              <a:lnSpc>
                <a:spcPct val="100000"/>
              </a:lnSpc>
              <a:spcBef>
                <a:spcPts val="750"/>
              </a:spcBef>
              <a:spcAft>
                <a:spcPts val="0"/>
              </a:spcAft>
              <a:buSzPct val="64516"/>
              <a:buNone/>
            </a:pPr>
            <a:r>
              <a:rPr lang="en-US" dirty="0">
                <a:solidFill>
                  <a:schemeClr val="tx1">
                    <a:lumMod val="75000"/>
                    <a:lumOff val="25000"/>
                  </a:schemeClr>
                </a:solidFill>
                <a:latin typeface="Arial"/>
                <a:ea typeface="Arial"/>
                <a:cs typeface="Arial"/>
                <a:sym typeface="Arial"/>
              </a:rPr>
              <a:t>NOTE : Variables can be accessed  only in the block where it has been declared.</a:t>
            </a:r>
            <a:endParaRPr dirty="0">
              <a:solidFill>
                <a:schemeClr val="tx1">
                  <a:lumMod val="75000"/>
                  <a:lumOff val="25000"/>
                </a:schemeClr>
              </a:solidFill>
            </a:endParaRPr>
          </a:p>
        </p:txBody>
      </p:sp>
      <p:sp>
        <p:nvSpPr>
          <p:cNvPr id="9" name="Google Shape;465;p75"/>
          <p:cNvSpPr txBox="1">
            <a:spLocks/>
          </p:cNvSpPr>
          <p:nvPr/>
        </p:nvSpPr>
        <p:spPr>
          <a:xfrm>
            <a:off x="683568"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300"/>
            </a:pPr>
            <a:r>
              <a:rPr lang="en-US" sz="2475" smtClean="0">
                <a:latin typeface="Arial Black"/>
                <a:ea typeface="Arial Black"/>
                <a:cs typeface="Arial Black"/>
                <a:sym typeface="Arial Black"/>
              </a:rPr>
              <a:t>6. DECLARATION OF VARIABLES IN THE LOOP</a:t>
            </a:r>
            <a:endParaRPr lang="en-US" dirty="0"/>
          </a:p>
        </p:txBody>
      </p:sp>
    </p:spTree>
    <p:extLst>
      <p:ext uri="{BB962C8B-B14F-4D97-AF65-F5344CB8AC3E}">
        <p14:creationId xmlns:p14="http://schemas.microsoft.com/office/powerpoint/2010/main" val="29753776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28603"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472;p76"/>
          <p:cNvSpPr txBox="1">
            <a:spLocks noGrp="1"/>
          </p:cNvSpPr>
          <p:nvPr>
            <p:ph type="body" idx="1"/>
          </p:nvPr>
        </p:nvSpPr>
        <p:spPr>
          <a:xfrm>
            <a:off x="5300143" y="2852936"/>
            <a:ext cx="3659219" cy="3452813"/>
          </a:xfrm>
          <a:prstGeom prst="rect">
            <a:avLst/>
          </a:prstGeom>
          <a:noFill/>
          <a:ln>
            <a:noFill/>
          </a:ln>
        </p:spPr>
        <p:txBody>
          <a:bodyPr spcFirstLastPara="1" wrap="square" lIns="68550" tIns="34275" rIns="68550" bIns="34275" anchor="ctr" anchorCtr="0">
            <a:normAutofit/>
          </a:bodyPr>
          <a:lstStyle/>
          <a:p>
            <a:pPr marL="214313" lvl="0" indent="-214313" algn="l" rtl="0">
              <a:lnSpc>
                <a:spcPct val="100000"/>
              </a:lnSpc>
              <a:spcBef>
                <a:spcPts val="0"/>
              </a:spcBef>
              <a:spcAft>
                <a:spcPts val="0"/>
              </a:spcAft>
              <a:buSzPts val="1600"/>
              <a:buChar char="▶"/>
            </a:pPr>
            <a:r>
              <a:rPr lang="en-US" dirty="0">
                <a:solidFill>
                  <a:schemeClr val="tx1">
                    <a:lumMod val="75000"/>
                    <a:lumOff val="25000"/>
                  </a:schemeClr>
                </a:solidFill>
                <a:latin typeface="Arial"/>
                <a:ea typeface="Arial"/>
                <a:cs typeface="Arial"/>
                <a:sym typeface="Arial"/>
              </a:rPr>
              <a:t>The program area inside which a variable can be accessed, is called </a:t>
            </a:r>
            <a:r>
              <a:rPr lang="en-US" b="1" dirty="0">
                <a:solidFill>
                  <a:schemeClr val="tx1">
                    <a:lumMod val="75000"/>
                    <a:lumOff val="25000"/>
                  </a:schemeClr>
                </a:solidFill>
                <a:latin typeface="Arial"/>
                <a:ea typeface="Arial"/>
                <a:cs typeface="Arial"/>
                <a:sym typeface="Arial"/>
              </a:rPr>
              <a:t>variable’s scope</a:t>
            </a:r>
            <a:r>
              <a:rPr lang="en-US"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ts val="1600"/>
              <a:buNone/>
            </a:pPr>
            <a:endParaRPr dirty="0">
              <a:solidFill>
                <a:schemeClr val="tx1">
                  <a:lumMod val="75000"/>
                  <a:lumOff val="25000"/>
                </a:schemeClr>
              </a:solidFill>
              <a:latin typeface="Arial"/>
              <a:ea typeface="Arial"/>
              <a:cs typeface="Arial"/>
              <a:sym typeface="Arial"/>
            </a:endParaRPr>
          </a:p>
        </p:txBody>
      </p:sp>
      <p:sp>
        <p:nvSpPr>
          <p:cNvPr id="9" name="Google Shape;471;p76"/>
          <p:cNvSpPr txBox="1">
            <a:spLocks/>
          </p:cNvSpPr>
          <p:nvPr/>
        </p:nvSpPr>
        <p:spPr>
          <a:xfrm>
            <a:off x="480218" y="2060848"/>
            <a:ext cx="3613992" cy="3452812"/>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5200"/>
            </a:pPr>
            <a:r>
              <a:rPr lang="en-US" sz="3900" dirty="0" smtClean="0">
                <a:latin typeface="Arial Black"/>
                <a:ea typeface="Arial Black"/>
                <a:cs typeface="Arial Black"/>
                <a:sym typeface="Arial Black"/>
              </a:rPr>
              <a:t>VARIABLE’S SCOPE</a:t>
            </a:r>
            <a:endParaRPr lang="en-US" dirty="0"/>
          </a:p>
        </p:txBody>
      </p:sp>
    </p:spTree>
    <p:extLst>
      <p:ext uri="{BB962C8B-B14F-4D97-AF65-F5344CB8AC3E}">
        <p14:creationId xmlns:p14="http://schemas.microsoft.com/office/powerpoint/2010/main" val="15748527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3" y="0"/>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478;p77"/>
          <p:cNvSpPr txBox="1">
            <a:spLocks noGrp="1"/>
          </p:cNvSpPr>
          <p:nvPr>
            <p:ph type="body" idx="1"/>
          </p:nvPr>
        </p:nvSpPr>
        <p:spPr>
          <a:xfrm>
            <a:off x="3923928" y="2571750"/>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Char char="▶"/>
            </a:pPr>
            <a:r>
              <a:rPr lang="en-US" dirty="0">
                <a:solidFill>
                  <a:schemeClr val="tx1">
                    <a:lumMod val="75000"/>
                    <a:lumOff val="25000"/>
                  </a:schemeClr>
                </a:solidFill>
                <a:latin typeface="Arial"/>
                <a:ea typeface="Arial"/>
                <a:cs typeface="Arial"/>
                <a:sym typeface="Arial"/>
              </a:rPr>
              <a:t>Up till now, a variable declared in the for or while loop could be accessed after the statement because the variable declaration had not taken place within the braces of the loop block, the item would still be in scope when the loop terminates. That means the same variable could not be declared in another loop in the same scope. </a:t>
            </a:r>
            <a:endParaRPr dirty="0">
              <a:solidFill>
                <a:schemeClr val="tx1">
                  <a:lumMod val="75000"/>
                  <a:lumOff val="25000"/>
                </a:schemeClr>
              </a:solidFill>
            </a:endParaRPr>
          </a:p>
        </p:txBody>
      </p:sp>
      <p:sp>
        <p:nvSpPr>
          <p:cNvPr id="9" name="Google Shape;477;p77"/>
          <p:cNvSpPr txBox="1">
            <a:spLocks/>
          </p:cNvSpPr>
          <p:nvPr/>
        </p:nvSpPr>
        <p:spPr>
          <a:xfrm>
            <a:off x="827584" y="2238375"/>
            <a:ext cx="2810333" cy="3669030"/>
          </a:xfrm>
          <a:prstGeom prst="rect">
            <a:avLst/>
          </a:prstGeom>
          <a:noFill/>
          <a:ln>
            <a:noFill/>
          </a:ln>
        </p:spPr>
        <p:txBody>
          <a:bodyPr spcFirstLastPara="1" wrap="square" lIns="68550" tIns="34275" rIns="68550" bIns="34275"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ct val="90909"/>
            </a:pPr>
            <a:r>
              <a:rPr lang="en-US" smtClean="0">
                <a:latin typeface="Arial Black"/>
                <a:ea typeface="Arial Black"/>
                <a:cs typeface="Arial Black"/>
                <a:sym typeface="Arial Black"/>
              </a:rPr>
              <a:t>THE SCOPE OF LOCAL LOOP VARIABLE</a:t>
            </a:r>
            <a:endParaRPr lang="en-US" dirty="0"/>
          </a:p>
        </p:txBody>
      </p:sp>
    </p:spTree>
    <p:extLst>
      <p:ext uri="{BB962C8B-B14F-4D97-AF65-F5344CB8AC3E}">
        <p14:creationId xmlns:p14="http://schemas.microsoft.com/office/powerpoint/2010/main" val="26773970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203"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366554"/>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484;p78"/>
          <p:cNvSpPr txBox="1">
            <a:spLocks noGrp="1"/>
          </p:cNvSpPr>
          <p:nvPr>
            <p:ph type="body" idx="1"/>
          </p:nvPr>
        </p:nvSpPr>
        <p:spPr>
          <a:xfrm>
            <a:off x="3995936" y="2420888"/>
            <a:ext cx="4716195" cy="3669030"/>
          </a:xfrm>
          <a:prstGeom prst="rect">
            <a:avLst/>
          </a:prstGeom>
          <a:noFill/>
          <a:ln>
            <a:noFill/>
          </a:ln>
        </p:spPr>
        <p:txBody>
          <a:bodyPr spcFirstLastPara="1" wrap="square" lIns="68550" tIns="34275" rIns="68550" bIns="34275" anchor="ctr" anchorCtr="0">
            <a:normAutofit fontScale="85000" lnSpcReduction="20000"/>
          </a:bodyPr>
          <a:lstStyle/>
          <a:p>
            <a:pPr marL="214313" lvl="0" indent="-214313" algn="l" rtl="0">
              <a:lnSpc>
                <a:spcPct val="100000"/>
              </a:lnSpc>
              <a:spcBef>
                <a:spcPts val="0"/>
              </a:spcBef>
              <a:spcAft>
                <a:spcPts val="0"/>
              </a:spcAft>
              <a:buSzPct val="58823"/>
              <a:buChar char="▶"/>
            </a:pPr>
            <a:r>
              <a:rPr lang="en-US" dirty="0">
                <a:solidFill>
                  <a:schemeClr val="tx1">
                    <a:lumMod val="75000"/>
                    <a:lumOff val="25000"/>
                  </a:schemeClr>
                </a:solidFill>
                <a:latin typeface="Arial"/>
                <a:ea typeface="Arial"/>
                <a:cs typeface="Arial"/>
                <a:sym typeface="Arial"/>
              </a:rPr>
              <a:t>As per the latest ANSI/ISO specifications, the variables declared inside the parenthesis of for and while loops are not accessible after the loop is </a:t>
            </a:r>
            <a:r>
              <a:rPr lang="en-US" dirty="0" err="1">
                <a:solidFill>
                  <a:schemeClr val="tx1">
                    <a:lumMod val="75000"/>
                    <a:lumOff val="25000"/>
                  </a:schemeClr>
                </a:solidFill>
                <a:latin typeface="Arial"/>
                <a:ea typeface="Arial"/>
                <a:cs typeface="Arial"/>
                <a:sym typeface="Arial"/>
              </a:rPr>
              <a:t>over.but</a:t>
            </a:r>
            <a:r>
              <a:rPr lang="en-US" dirty="0">
                <a:solidFill>
                  <a:schemeClr val="tx1">
                    <a:lumMod val="75000"/>
                    <a:lumOff val="25000"/>
                  </a:schemeClr>
                </a:solidFill>
                <a:latin typeface="Arial"/>
                <a:ea typeface="Arial"/>
                <a:cs typeface="Arial"/>
                <a:sym typeface="Arial"/>
              </a:rPr>
              <a:t> this would be implemented in newer versions of the compilers.</a:t>
            </a:r>
            <a:endParaRPr dirty="0">
              <a:solidFill>
                <a:schemeClr val="tx1">
                  <a:lumMod val="75000"/>
                  <a:lumOff val="25000"/>
                </a:schemeClr>
              </a:solidFill>
            </a:endParaRPr>
          </a:p>
          <a:p>
            <a:pPr marL="214313" lvl="0" indent="-214313" algn="l" rtl="0">
              <a:lnSpc>
                <a:spcPct val="100000"/>
              </a:lnSpc>
              <a:spcBef>
                <a:spcPts val="750"/>
              </a:spcBef>
              <a:spcAft>
                <a:spcPts val="0"/>
              </a:spcAft>
              <a:buSzPct val="58823"/>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p:txBody>
      </p:sp>
      <p:sp>
        <p:nvSpPr>
          <p:cNvPr id="9" name="Google Shape;483;p78"/>
          <p:cNvSpPr txBox="1">
            <a:spLocks/>
          </p:cNvSpPr>
          <p:nvPr/>
        </p:nvSpPr>
        <p:spPr>
          <a:xfrm>
            <a:off x="683568" y="2060848"/>
            <a:ext cx="2810333" cy="3669030"/>
          </a:xfrm>
          <a:prstGeom prst="rect">
            <a:avLst/>
          </a:prstGeom>
          <a:noFill/>
          <a:ln>
            <a:noFill/>
          </a:ln>
        </p:spPr>
        <p:txBody>
          <a:bodyPr spcFirstLastPara="1" wrap="square" lIns="68550" tIns="34275" rIns="68550" bIns="34275"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ct val="90909"/>
            </a:pPr>
            <a:r>
              <a:rPr lang="en-US" dirty="0" smtClean="0">
                <a:latin typeface="Arial Black"/>
                <a:ea typeface="Arial Black"/>
                <a:cs typeface="Arial Black"/>
                <a:sym typeface="Arial Black"/>
              </a:rPr>
              <a:t>THE SCOPE OF LOCAL LOOP VARIABLE</a:t>
            </a:r>
            <a:endParaRPr lang="en-US" dirty="0"/>
          </a:p>
        </p:txBody>
      </p:sp>
    </p:spTree>
    <p:extLst>
      <p:ext uri="{BB962C8B-B14F-4D97-AF65-F5344CB8AC3E}">
        <p14:creationId xmlns:p14="http://schemas.microsoft.com/office/powerpoint/2010/main" val="1997763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490;p79"/>
          <p:cNvSpPr txBox="1">
            <a:spLocks noGrp="1"/>
          </p:cNvSpPr>
          <p:nvPr>
            <p:ph type="body" idx="1"/>
          </p:nvPr>
        </p:nvSpPr>
        <p:spPr>
          <a:xfrm>
            <a:off x="4139952" y="2568910"/>
            <a:ext cx="4716195" cy="3669030"/>
          </a:xfrm>
          <a:prstGeom prst="rect">
            <a:avLst/>
          </a:prstGeom>
          <a:noFill/>
          <a:ln>
            <a:noFill/>
          </a:ln>
        </p:spPr>
        <p:txBody>
          <a:bodyPr spcFirstLastPara="1" wrap="square" lIns="68550" tIns="34275" rIns="68550" bIns="34275" anchor="ctr" anchorCtr="0">
            <a:normAutofit fontScale="62500" lnSpcReduction="20000"/>
          </a:bodyPr>
          <a:lstStyle/>
          <a:p>
            <a:pPr marL="214313" lvl="0" indent="-214313" algn="l" rtl="0">
              <a:lnSpc>
                <a:spcPct val="100000"/>
              </a:lnSpc>
              <a:spcBef>
                <a:spcPts val="0"/>
              </a:spcBef>
              <a:spcAft>
                <a:spcPts val="0"/>
              </a:spcAft>
              <a:buSzPct val="80000"/>
              <a:buChar char="▶"/>
            </a:pPr>
            <a:r>
              <a:rPr lang="en-US" dirty="0">
                <a:solidFill>
                  <a:schemeClr val="tx1">
                    <a:lumMod val="75000"/>
                    <a:lumOff val="25000"/>
                  </a:schemeClr>
                </a:solidFill>
                <a:latin typeface="Arial"/>
                <a:ea typeface="Arial"/>
                <a:cs typeface="Arial"/>
                <a:sym typeface="Arial"/>
              </a:rPr>
              <a:t>The second loop available in C++ is the while loop. The while loop is an entry controlled loop the syntax of while is,</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		</a:t>
            </a:r>
            <a:r>
              <a:rPr lang="en-US" b="1" dirty="0">
                <a:solidFill>
                  <a:schemeClr val="tx1">
                    <a:lumMod val="75000"/>
                    <a:lumOff val="25000"/>
                  </a:schemeClr>
                </a:solidFill>
                <a:latin typeface="Arial"/>
                <a:ea typeface="Arial"/>
                <a:cs typeface="Arial"/>
                <a:sym typeface="Arial"/>
              </a:rPr>
              <a:t>while(expression)</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b="1" dirty="0">
                <a:solidFill>
                  <a:schemeClr val="tx1">
                    <a:lumMod val="75000"/>
                    <a:lumOff val="25000"/>
                  </a:schemeClr>
                </a:solidFill>
                <a:latin typeface="Arial"/>
                <a:ea typeface="Arial"/>
                <a:cs typeface="Arial"/>
                <a:sym typeface="Arial"/>
              </a:rPr>
              <a:t>			Loop body</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	Where, loop body contain the single statement or set of statements (compound statement) or an empty statement. The loop iterates while the expression evaluates to </a:t>
            </a:r>
            <a:r>
              <a:rPr lang="en-US" b="1" dirty="0">
                <a:solidFill>
                  <a:schemeClr val="tx1">
                    <a:lumMod val="75000"/>
                    <a:lumOff val="25000"/>
                  </a:schemeClr>
                </a:solidFill>
                <a:latin typeface="Arial"/>
                <a:ea typeface="Arial"/>
                <a:cs typeface="Arial"/>
                <a:sym typeface="Arial"/>
              </a:rPr>
              <a:t>true, </a:t>
            </a:r>
            <a:r>
              <a:rPr lang="en-US" dirty="0">
                <a:solidFill>
                  <a:schemeClr val="tx1">
                    <a:lumMod val="75000"/>
                    <a:lumOff val="25000"/>
                  </a:schemeClr>
                </a:solidFill>
                <a:latin typeface="Arial"/>
                <a:ea typeface="Arial"/>
                <a:cs typeface="Arial"/>
                <a:sym typeface="Arial"/>
              </a:rPr>
              <a:t>when expression becomes </a:t>
            </a:r>
            <a:r>
              <a:rPr lang="en-US" b="1" dirty="0">
                <a:solidFill>
                  <a:schemeClr val="tx1">
                    <a:lumMod val="75000"/>
                    <a:lumOff val="25000"/>
                  </a:schemeClr>
                </a:solidFill>
                <a:latin typeface="Arial"/>
                <a:ea typeface="Arial"/>
                <a:cs typeface="Arial"/>
                <a:sym typeface="Arial"/>
              </a:rPr>
              <a:t>false </a:t>
            </a:r>
            <a:r>
              <a:rPr lang="en-US" dirty="0">
                <a:solidFill>
                  <a:schemeClr val="tx1">
                    <a:lumMod val="75000"/>
                    <a:lumOff val="25000"/>
                  </a:schemeClr>
                </a:solidFill>
                <a:latin typeface="Arial"/>
                <a:ea typeface="Arial"/>
                <a:cs typeface="Arial"/>
                <a:sym typeface="Arial"/>
              </a:rPr>
              <a:t>the loop terminates.</a:t>
            </a:r>
            <a:endParaRPr b="1" dirty="0">
              <a:solidFill>
                <a:schemeClr val="tx1">
                  <a:lumMod val="75000"/>
                  <a:lumOff val="25000"/>
                </a:schemeClr>
              </a:solidFill>
              <a:latin typeface="Arial"/>
              <a:ea typeface="Arial"/>
              <a:cs typeface="Arial"/>
              <a:sym typeface="Arial"/>
            </a:endParaRPr>
          </a:p>
        </p:txBody>
      </p:sp>
      <p:sp>
        <p:nvSpPr>
          <p:cNvPr id="9" name="Google Shape;489;p79"/>
          <p:cNvSpPr txBox="1">
            <a:spLocks/>
          </p:cNvSpPr>
          <p:nvPr/>
        </p:nvSpPr>
        <p:spPr>
          <a:xfrm>
            <a:off x="971600" y="2571750"/>
            <a:ext cx="2810333" cy="3669030"/>
          </a:xfrm>
          <a:prstGeom prst="rect">
            <a:avLst/>
          </a:prstGeom>
          <a:noFill/>
          <a:ln>
            <a:noFill/>
          </a:ln>
        </p:spPr>
        <p:txBody>
          <a:bodyPr spcFirstLastPara="1" wrap="square" lIns="68550" tIns="34275" rIns="68550" bIns="34275" anchor="ctr" anchorCtr="0">
            <a:normAutofit fontScale="825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ct val="90909"/>
            </a:pPr>
            <a:r>
              <a:rPr lang="en-US" smtClean="0">
                <a:latin typeface="Arial Black"/>
                <a:ea typeface="Arial Black"/>
                <a:cs typeface="Arial Black"/>
                <a:sym typeface="Arial Black"/>
              </a:rPr>
              <a:t>THE WHILE LOOP – AN ENTRY CONTROLLED LOOP</a:t>
            </a:r>
            <a:endParaRPr lang="en-US" dirty="0"/>
          </a:p>
        </p:txBody>
      </p:sp>
    </p:spTree>
    <p:extLst>
      <p:ext uri="{BB962C8B-B14F-4D97-AF65-F5344CB8AC3E}">
        <p14:creationId xmlns:p14="http://schemas.microsoft.com/office/powerpoint/2010/main" val="33095700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40571"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496;p80"/>
          <p:cNvSpPr txBox="1">
            <a:spLocks noGrp="1"/>
          </p:cNvSpPr>
          <p:nvPr>
            <p:ph type="body" idx="1"/>
          </p:nvPr>
        </p:nvSpPr>
        <p:spPr>
          <a:xfrm>
            <a:off x="3851920" y="2578240"/>
            <a:ext cx="4716195" cy="3669030"/>
          </a:xfrm>
          <a:prstGeom prst="rect">
            <a:avLst/>
          </a:prstGeom>
          <a:noFill/>
          <a:ln>
            <a:noFill/>
          </a:ln>
        </p:spPr>
        <p:txBody>
          <a:bodyPr spcFirstLastPara="1" wrap="square" lIns="68550" tIns="34275" rIns="68550" bIns="34275" anchor="ctr" anchorCtr="0">
            <a:normAutofit fontScale="85000" lnSpcReduction="10000"/>
          </a:bodyPr>
          <a:lstStyle/>
          <a:p>
            <a:pPr marL="457200" lvl="0" indent="-457200" algn="l" rtl="0">
              <a:lnSpc>
                <a:spcPct val="100000"/>
              </a:lnSpc>
              <a:spcBef>
                <a:spcPts val="0"/>
              </a:spcBef>
              <a:spcAft>
                <a:spcPts val="0"/>
              </a:spcAft>
              <a:buSzPct val="58823"/>
              <a:buChar char="▶"/>
            </a:pPr>
            <a:r>
              <a:rPr lang="en-US" dirty="0">
                <a:solidFill>
                  <a:schemeClr val="tx1">
                    <a:lumMod val="75000"/>
                    <a:lumOff val="25000"/>
                  </a:schemeClr>
                </a:solidFill>
                <a:latin typeface="Arial"/>
                <a:ea typeface="Arial"/>
                <a:cs typeface="Arial"/>
                <a:sym typeface="Arial"/>
              </a:rPr>
              <a:t>A while loop can also have variations.it can be</a:t>
            </a:r>
            <a:endParaRPr dirty="0">
              <a:solidFill>
                <a:schemeClr val="tx1">
                  <a:lumMod val="75000"/>
                  <a:lumOff val="25000"/>
                </a:schemeClr>
              </a:solidFill>
            </a:endParaRPr>
          </a:p>
          <a:p>
            <a:pPr marL="457200" lvl="0" indent="-457200" algn="l" rtl="0">
              <a:lnSpc>
                <a:spcPct val="100000"/>
              </a:lnSpc>
              <a:spcBef>
                <a:spcPts val="750"/>
              </a:spcBef>
              <a:spcAft>
                <a:spcPts val="0"/>
              </a:spcAft>
              <a:buSzPct val="58823"/>
              <a:buFont typeface="Arial"/>
              <a:buAutoNum type="arabicPeriod"/>
            </a:pPr>
            <a:r>
              <a:rPr lang="en-US" dirty="0">
                <a:solidFill>
                  <a:schemeClr val="tx1">
                    <a:lumMod val="75000"/>
                    <a:lumOff val="25000"/>
                  </a:schemeClr>
                </a:solidFill>
                <a:latin typeface="Arial"/>
                <a:ea typeface="Arial"/>
                <a:cs typeface="Arial"/>
                <a:sym typeface="Arial"/>
              </a:rPr>
              <a:t>Empty loop : it does not contain any statement in its body.</a:t>
            </a:r>
            <a:endParaRPr dirty="0">
              <a:solidFill>
                <a:schemeClr val="tx1">
                  <a:lumMod val="75000"/>
                  <a:lumOff val="25000"/>
                </a:schemeClr>
              </a:solidFill>
            </a:endParaRPr>
          </a:p>
          <a:p>
            <a:pPr marL="457200" lvl="0" indent="-457200" algn="l" rtl="0">
              <a:lnSpc>
                <a:spcPct val="100000"/>
              </a:lnSpc>
              <a:spcBef>
                <a:spcPts val="750"/>
              </a:spcBef>
              <a:spcAft>
                <a:spcPts val="0"/>
              </a:spcAft>
              <a:buSzPct val="58823"/>
              <a:buFont typeface="Arial"/>
              <a:buAutoNum type="arabicPeriod"/>
            </a:pPr>
            <a:r>
              <a:rPr lang="en-US" dirty="0">
                <a:solidFill>
                  <a:schemeClr val="tx1">
                    <a:lumMod val="75000"/>
                    <a:lumOff val="25000"/>
                  </a:schemeClr>
                </a:solidFill>
                <a:latin typeface="Arial"/>
                <a:ea typeface="Arial"/>
                <a:cs typeface="Arial"/>
                <a:sym typeface="Arial"/>
              </a:rPr>
              <a:t>An infinite loop : while can be infinite if you forget to update expression inside the body of the loop.</a:t>
            </a:r>
            <a:endParaRPr dirty="0">
              <a:solidFill>
                <a:schemeClr val="tx1">
                  <a:lumMod val="75000"/>
                  <a:lumOff val="25000"/>
                </a:schemeClr>
              </a:solidFill>
            </a:endParaRPr>
          </a:p>
          <a:p>
            <a:pPr marL="457200" lvl="0" indent="-457200" algn="l" rtl="0">
              <a:lnSpc>
                <a:spcPct val="100000"/>
              </a:lnSpc>
              <a:spcBef>
                <a:spcPts val="750"/>
              </a:spcBef>
              <a:spcAft>
                <a:spcPts val="0"/>
              </a:spcAft>
              <a:buSzPct val="58823"/>
              <a:buNone/>
            </a:pPr>
            <a:endParaRPr dirty="0">
              <a:solidFill>
                <a:schemeClr val="lt1"/>
              </a:solidFill>
              <a:latin typeface="Arial"/>
              <a:ea typeface="Arial"/>
              <a:cs typeface="Arial"/>
              <a:sym typeface="Arial"/>
            </a:endParaRPr>
          </a:p>
        </p:txBody>
      </p:sp>
      <p:sp>
        <p:nvSpPr>
          <p:cNvPr id="9" name="Google Shape;495;p80"/>
          <p:cNvSpPr txBox="1">
            <a:spLocks/>
          </p:cNvSpPr>
          <p:nvPr/>
        </p:nvSpPr>
        <p:spPr>
          <a:xfrm>
            <a:off x="683568" y="211467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VARIATIONS IN WHILE LOOP</a:t>
            </a:r>
            <a:endParaRPr lang="en-US" dirty="0"/>
          </a:p>
        </p:txBody>
      </p:sp>
    </p:spTree>
    <p:extLst>
      <p:ext uri="{BB962C8B-B14F-4D97-AF65-F5344CB8AC3E}">
        <p14:creationId xmlns:p14="http://schemas.microsoft.com/office/powerpoint/2010/main" val="5272113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02;p81"/>
          <p:cNvSpPr txBox="1">
            <a:spLocks noGrp="1"/>
          </p:cNvSpPr>
          <p:nvPr>
            <p:ph type="body" idx="1"/>
          </p:nvPr>
        </p:nvSpPr>
        <p:spPr>
          <a:xfrm>
            <a:off x="4139952" y="2420888"/>
            <a:ext cx="4716195" cy="3669030"/>
          </a:xfrm>
          <a:prstGeom prst="rect">
            <a:avLst/>
          </a:prstGeom>
          <a:noFill/>
          <a:ln>
            <a:noFill/>
          </a:ln>
        </p:spPr>
        <p:txBody>
          <a:bodyPr spcFirstLastPara="1" wrap="square" lIns="68550" tIns="34275" rIns="68550" bIns="34275" anchor="ctr" anchorCtr="0">
            <a:normAutofit fontScale="85000" lnSpcReduction="20000"/>
          </a:bodyPr>
          <a:lstStyle/>
          <a:p>
            <a:pPr marL="214313" lvl="0" indent="-214313" algn="l" rtl="0">
              <a:lnSpc>
                <a:spcPct val="100000"/>
              </a:lnSpc>
              <a:spcBef>
                <a:spcPts val="0"/>
              </a:spcBef>
              <a:spcAft>
                <a:spcPts val="0"/>
              </a:spcAft>
              <a:buSzPct val="58823"/>
              <a:buNone/>
            </a:pPr>
            <a:r>
              <a:rPr lang="en-US" dirty="0">
                <a:solidFill>
                  <a:schemeClr val="lt1"/>
                </a:solidFill>
                <a:latin typeface="Arial"/>
                <a:ea typeface="Arial"/>
                <a:cs typeface="Arial"/>
                <a:sym typeface="Arial"/>
              </a:rPr>
              <a:t>			</a:t>
            </a:r>
            <a:r>
              <a:rPr lang="en-US"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ct val="58823"/>
              <a:buNone/>
            </a:pPr>
            <a:r>
              <a:rPr lang="en-US" dirty="0">
                <a:solidFill>
                  <a:schemeClr val="tx1">
                    <a:lumMod val="75000"/>
                    <a:lumOff val="25000"/>
                  </a:schemeClr>
                </a:solidFill>
                <a:latin typeface="Arial"/>
                <a:ea typeface="Arial"/>
                <a:cs typeface="Arial"/>
                <a:sym typeface="Arial"/>
              </a:rPr>
              <a:t>			….</a:t>
            </a:r>
            <a:endParaRPr dirty="0">
              <a:solidFill>
                <a:schemeClr val="tx1">
                  <a:lumMod val="75000"/>
                  <a:lumOff val="25000"/>
                </a:schemeClr>
              </a:solidFill>
            </a:endParaRPr>
          </a:p>
          <a:p>
            <a:pPr marL="214313" lvl="0" indent="-214313" algn="l" rtl="0">
              <a:lnSpc>
                <a:spcPct val="100000"/>
              </a:lnSpc>
              <a:spcBef>
                <a:spcPts val="750"/>
              </a:spcBef>
              <a:spcAft>
                <a:spcPts val="0"/>
              </a:spcAft>
              <a:buSzPct val="58823"/>
              <a:buNone/>
            </a:pPr>
            <a:r>
              <a:rPr lang="en-US" dirty="0">
                <a:solidFill>
                  <a:schemeClr val="tx1">
                    <a:lumMod val="75000"/>
                    <a:lumOff val="25000"/>
                  </a:schemeClr>
                </a:solidFill>
                <a:latin typeface="Arial"/>
                <a:ea typeface="Arial"/>
                <a:cs typeface="Arial"/>
                <a:sym typeface="Arial"/>
              </a:rPr>
              <a:t>			long wait=0;</a:t>
            </a:r>
            <a:endParaRPr dirty="0">
              <a:solidFill>
                <a:schemeClr val="tx1">
                  <a:lumMod val="75000"/>
                  <a:lumOff val="25000"/>
                </a:schemeClr>
              </a:solidFill>
            </a:endParaRPr>
          </a:p>
          <a:p>
            <a:pPr marL="214313" lvl="0" indent="-214313" algn="l" rtl="0">
              <a:lnSpc>
                <a:spcPct val="100000"/>
              </a:lnSpc>
              <a:spcBef>
                <a:spcPts val="750"/>
              </a:spcBef>
              <a:spcAft>
                <a:spcPts val="0"/>
              </a:spcAft>
              <a:buSzPct val="58823"/>
              <a:buNone/>
            </a:pPr>
            <a:r>
              <a:rPr lang="en-US" dirty="0">
                <a:solidFill>
                  <a:schemeClr val="tx1">
                    <a:lumMod val="75000"/>
                    <a:lumOff val="25000"/>
                  </a:schemeClr>
                </a:solidFill>
                <a:latin typeface="Arial"/>
                <a:ea typeface="Arial"/>
                <a:cs typeface="Arial"/>
                <a:sym typeface="Arial"/>
              </a:rPr>
              <a:t>		while (++wait&lt;10000)</a:t>
            </a:r>
            <a:endParaRPr dirty="0">
              <a:solidFill>
                <a:schemeClr val="tx1">
                  <a:lumMod val="75000"/>
                  <a:lumOff val="25000"/>
                </a:schemeClr>
              </a:solidFill>
            </a:endParaRPr>
          </a:p>
          <a:p>
            <a:pPr marL="214313" lvl="0" indent="-214313" algn="l" rtl="0">
              <a:lnSpc>
                <a:spcPct val="100000"/>
              </a:lnSpc>
              <a:spcBef>
                <a:spcPts val="750"/>
              </a:spcBef>
              <a:spcAft>
                <a:spcPts val="0"/>
              </a:spcAft>
              <a:buSzPct val="58823"/>
              <a:buNone/>
            </a:pPr>
            <a:endParaRPr dirty="0">
              <a:solidFill>
                <a:schemeClr val="tx1">
                  <a:lumMod val="75000"/>
                  <a:lumOff val="25000"/>
                </a:schemeClr>
              </a:solidFill>
              <a:latin typeface="Arial"/>
              <a:ea typeface="Arial"/>
              <a:cs typeface="Arial"/>
              <a:sym typeface="Arial"/>
            </a:endParaRPr>
          </a:p>
          <a:p>
            <a:pPr marL="214313" lvl="0" indent="-214313" algn="l" rtl="0">
              <a:lnSpc>
                <a:spcPct val="100000"/>
              </a:lnSpc>
              <a:spcBef>
                <a:spcPts val="750"/>
              </a:spcBef>
              <a:spcAft>
                <a:spcPts val="0"/>
              </a:spcAft>
              <a:buSzPct val="58823"/>
              <a:buNone/>
            </a:pPr>
            <a:r>
              <a:rPr lang="en-US" dirty="0">
                <a:solidFill>
                  <a:schemeClr val="tx1">
                    <a:lumMod val="75000"/>
                    <a:lumOff val="25000"/>
                  </a:schemeClr>
                </a:solidFill>
                <a:latin typeface="Arial"/>
                <a:ea typeface="Arial"/>
                <a:cs typeface="Arial"/>
                <a:sym typeface="Arial"/>
              </a:rPr>
              <a:t>	The above given is the </a:t>
            </a:r>
            <a:r>
              <a:rPr lang="en-US" b="1" dirty="0">
                <a:solidFill>
                  <a:schemeClr val="tx1">
                    <a:lumMod val="75000"/>
                    <a:lumOff val="25000"/>
                  </a:schemeClr>
                </a:solidFill>
                <a:latin typeface="Arial"/>
                <a:ea typeface="Arial"/>
                <a:cs typeface="Arial"/>
                <a:sym typeface="Arial"/>
              </a:rPr>
              <a:t>TIME DELAY LOOP. </a:t>
            </a:r>
            <a:r>
              <a:rPr lang="en-US" dirty="0">
                <a:solidFill>
                  <a:schemeClr val="tx1">
                    <a:lumMod val="75000"/>
                    <a:lumOff val="25000"/>
                  </a:schemeClr>
                </a:solidFill>
                <a:latin typeface="Arial"/>
                <a:ea typeface="Arial"/>
                <a:cs typeface="Arial"/>
                <a:sym typeface="Arial"/>
              </a:rPr>
              <a:t>It is useful for pausing the program for some time.</a:t>
            </a:r>
            <a:endParaRPr b="1" dirty="0">
              <a:solidFill>
                <a:schemeClr val="tx1">
                  <a:lumMod val="75000"/>
                  <a:lumOff val="25000"/>
                </a:schemeClr>
              </a:solidFill>
              <a:latin typeface="Arial"/>
              <a:ea typeface="Arial"/>
              <a:cs typeface="Arial"/>
              <a:sym typeface="Arial"/>
            </a:endParaRPr>
          </a:p>
        </p:txBody>
      </p:sp>
      <p:sp>
        <p:nvSpPr>
          <p:cNvPr id="9" name="Google Shape;501;p81"/>
          <p:cNvSpPr txBox="1">
            <a:spLocks/>
          </p:cNvSpPr>
          <p:nvPr/>
        </p:nvSpPr>
        <p:spPr>
          <a:xfrm>
            <a:off x="683568" y="223837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EXAMPLE  : EMPTY LOOP</a:t>
            </a:r>
            <a:endParaRPr lang="en-US" dirty="0"/>
          </a:p>
        </p:txBody>
      </p:sp>
    </p:spTree>
    <p:extLst>
      <p:ext uri="{BB962C8B-B14F-4D97-AF65-F5344CB8AC3E}">
        <p14:creationId xmlns:p14="http://schemas.microsoft.com/office/powerpoint/2010/main" val="33149341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3"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508;p82"/>
          <p:cNvSpPr txBox="1">
            <a:spLocks noGrp="1"/>
          </p:cNvSpPr>
          <p:nvPr>
            <p:ph type="body" idx="1"/>
          </p:nvPr>
        </p:nvSpPr>
        <p:spPr>
          <a:xfrm>
            <a:off x="3995936" y="2348880"/>
            <a:ext cx="4716195" cy="3669030"/>
          </a:xfrm>
          <a:prstGeom prst="rect">
            <a:avLst/>
          </a:prstGeom>
          <a:noFill/>
          <a:ln>
            <a:noFill/>
          </a:ln>
        </p:spPr>
        <p:txBody>
          <a:bodyPr spcFirstLastPara="1" wrap="square" lIns="68550" tIns="34275" rIns="68550" bIns="34275" anchor="ctr" anchorCtr="0">
            <a:normAutofit fontScale="62500" lnSpcReduction="20000"/>
          </a:bodyPr>
          <a:lstStyle/>
          <a:p>
            <a:pPr marL="214313" lvl="0" indent="-214313" algn="l" rtl="0">
              <a:lnSpc>
                <a:spcPct val="100000"/>
              </a:lnSpc>
              <a:spcBef>
                <a:spcPts val="0"/>
              </a:spcBef>
              <a:spcAft>
                <a:spcPts val="0"/>
              </a:spcAft>
              <a:buSzPct val="80000"/>
              <a:buChar char="▶"/>
            </a:pPr>
            <a:r>
              <a:rPr lang="en-US" dirty="0">
                <a:solidFill>
                  <a:schemeClr val="tx1">
                    <a:lumMod val="75000"/>
                    <a:lumOff val="25000"/>
                  </a:schemeClr>
                </a:solidFill>
                <a:latin typeface="Arial"/>
                <a:ea typeface="Arial"/>
                <a:cs typeface="Arial"/>
                <a:sym typeface="Arial"/>
              </a:rPr>
              <a:t>Unlike the for and while the do-while loop is an exit controlled loop. i.e., it evaluates its test expression at the bottom of the loop after executing its loop –body statements.</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Char char="▶"/>
            </a:pPr>
            <a:r>
              <a:rPr lang="en-US" dirty="0">
                <a:solidFill>
                  <a:schemeClr val="tx1">
                    <a:lumMod val="75000"/>
                    <a:lumOff val="25000"/>
                  </a:schemeClr>
                </a:solidFill>
                <a:latin typeface="Arial"/>
                <a:ea typeface="Arial"/>
                <a:cs typeface="Arial"/>
                <a:sym typeface="Arial"/>
              </a:rPr>
              <a:t>The syntax is,</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		do</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Statements</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None/>
            </a:pPr>
            <a:r>
              <a:rPr lang="en-US" dirty="0">
                <a:solidFill>
                  <a:schemeClr val="tx1">
                    <a:lumMod val="75000"/>
                    <a:lumOff val="25000"/>
                  </a:schemeClr>
                </a:solidFill>
                <a:latin typeface="Arial"/>
                <a:ea typeface="Arial"/>
                <a:cs typeface="Arial"/>
                <a:sym typeface="Arial"/>
              </a:rPr>
              <a:t>}while(test expression);   // here semicolon must</a:t>
            </a:r>
            <a:endParaRPr dirty="0">
              <a:solidFill>
                <a:schemeClr val="tx1">
                  <a:lumMod val="75000"/>
                  <a:lumOff val="25000"/>
                </a:schemeClr>
              </a:solidFill>
            </a:endParaRPr>
          </a:p>
        </p:txBody>
      </p:sp>
      <p:sp>
        <p:nvSpPr>
          <p:cNvPr id="9" name="Google Shape;507;p82"/>
          <p:cNvSpPr txBox="1">
            <a:spLocks/>
          </p:cNvSpPr>
          <p:nvPr/>
        </p:nvSpPr>
        <p:spPr>
          <a:xfrm>
            <a:off x="755576" y="2247705"/>
            <a:ext cx="2810333" cy="3669030"/>
          </a:xfrm>
          <a:prstGeom prst="rect">
            <a:avLst/>
          </a:prstGeom>
          <a:noFill/>
          <a:ln>
            <a:noFill/>
          </a:ln>
        </p:spPr>
        <p:txBody>
          <a:bodyPr spcFirstLastPara="1" wrap="square" lIns="68550" tIns="34275" rIns="68550" bIns="34275"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ct val="90909"/>
            </a:pPr>
            <a:r>
              <a:rPr lang="en-US" dirty="0" smtClean="0">
                <a:latin typeface="Arial Black"/>
                <a:ea typeface="Arial Black"/>
                <a:cs typeface="Arial Black"/>
                <a:sym typeface="Arial Black"/>
              </a:rPr>
              <a:t>THE DO-WHILE LOOP – AN EXIT CONTROLLED LOOP</a:t>
            </a:r>
            <a:endParaRPr lang="en-US" dirty="0"/>
          </a:p>
        </p:txBody>
      </p:sp>
    </p:spTree>
    <p:extLst>
      <p:ext uri="{BB962C8B-B14F-4D97-AF65-F5344CB8AC3E}">
        <p14:creationId xmlns:p14="http://schemas.microsoft.com/office/powerpoint/2010/main" val="9778367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26775" y="-17712"/>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14;p83"/>
          <p:cNvSpPr txBox="1">
            <a:spLocks noGrp="1"/>
          </p:cNvSpPr>
          <p:nvPr>
            <p:ph type="body" idx="1"/>
          </p:nvPr>
        </p:nvSpPr>
        <p:spPr>
          <a:xfrm>
            <a:off x="4243167" y="2571750"/>
            <a:ext cx="4716195" cy="3669030"/>
          </a:xfrm>
          <a:prstGeom prst="rect">
            <a:avLst/>
          </a:prstGeom>
          <a:noFill/>
          <a:ln>
            <a:noFill/>
          </a:ln>
        </p:spPr>
        <p:txBody>
          <a:bodyPr spcFirstLastPara="1" wrap="square" lIns="68550" tIns="34275" rIns="68550" bIns="34275" anchor="ctr" anchorCtr="0">
            <a:normAutofit fontScale="62500" lnSpcReduction="20000"/>
          </a:bodyPr>
          <a:lstStyle/>
          <a:p>
            <a:pPr marL="214313" lvl="0" indent="-214313" algn="l" rtl="0">
              <a:lnSpc>
                <a:spcPct val="100000"/>
              </a:lnSpc>
              <a:spcBef>
                <a:spcPts val="0"/>
              </a:spcBef>
              <a:spcAft>
                <a:spcPts val="0"/>
              </a:spcAft>
              <a:buSzPct val="80000"/>
              <a:buChar char="▶"/>
            </a:pPr>
            <a:r>
              <a:rPr lang="en-US" dirty="0">
                <a:solidFill>
                  <a:schemeClr val="tx1">
                    <a:lumMod val="75000"/>
                    <a:lumOff val="25000"/>
                  </a:schemeClr>
                </a:solidFill>
                <a:latin typeface="Arial"/>
                <a:ea typeface="Arial"/>
                <a:cs typeface="Arial"/>
                <a:sym typeface="Arial"/>
              </a:rPr>
              <a:t>The for loop is appropriate when you know in advance how many times the loop will be executed.</a:t>
            </a:r>
            <a:endParaRPr dirty="0">
              <a:solidFill>
                <a:schemeClr val="tx1">
                  <a:lumMod val="75000"/>
                  <a:lumOff val="25000"/>
                </a:schemeClr>
              </a:solidFill>
            </a:endParaRPr>
          </a:p>
          <a:p>
            <a:pPr marL="214313" lvl="0" indent="-214313" algn="l" rtl="0">
              <a:lnSpc>
                <a:spcPct val="100000"/>
              </a:lnSpc>
              <a:spcBef>
                <a:spcPts val="750"/>
              </a:spcBef>
              <a:spcAft>
                <a:spcPts val="0"/>
              </a:spcAft>
              <a:buSzPct val="80000"/>
              <a:buChar char="▶"/>
            </a:pPr>
            <a:r>
              <a:rPr lang="en-US" dirty="0">
                <a:solidFill>
                  <a:schemeClr val="tx1">
                    <a:lumMod val="75000"/>
                    <a:lumOff val="25000"/>
                  </a:schemeClr>
                </a:solidFill>
                <a:latin typeface="Arial"/>
                <a:ea typeface="Arial"/>
                <a:cs typeface="Arial"/>
                <a:sym typeface="Arial"/>
              </a:rPr>
              <a:t>The other two loops while and do-while are more suitable in the situations where it is known before –hand when the loop will terminate. The while should be preferred when you may not want to execute the loop body even once (in case test condition is false), and the do-while loop should be preferred when you are sure you want to execute the loop body at least once. </a:t>
            </a:r>
            <a:endParaRPr dirty="0">
              <a:solidFill>
                <a:schemeClr val="tx1">
                  <a:lumMod val="75000"/>
                  <a:lumOff val="25000"/>
                </a:schemeClr>
              </a:solidFill>
            </a:endParaRPr>
          </a:p>
        </p:txBody>
      </p:sp>
      <p:sp>
        <p:nvSpPr>
          <p:cNvPr id="9" name="Google Shape;513;p83"/>
          <p:cNvSpPr txBox="1">
            <a:spLocks/>
          </p:cNvSpPr>
          <p:nvPr/>
        </p:nvSpPr>
        <p:spPr>
          <a:xfrm>
            <a:off x="755576" y="2348880"/>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COMPARISON OF LOOPS</a:t>
            </a:r>
            <a:endParaRPr lang="en-US" dirty="0"/>
          </a:p>
        </p:txBody>
      </p:sp>
    </p:spTree>
    <p:extLst>
      <p:ext uri="{BB962C8B-B14F-4D97-AF65-F5344CB8AC3E}">
        <p14:creationId xmlns:p14="http://schemas.microsoft.com/office/powerpoint/2010/main" val="39214834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3" y="-14200"/>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20;p84"/>
          <p:cNvSpPr txBox="1">
            <a:spLocks noGrp="1"/>
          </p:cNvSpPr>
          <p:nvPr>
            <p:ph type="body" idx="1"/>
          </p:nvPr>
        </p:nvSpPr>
        <p:spPr>
          <a:xfrm>
            <a:off x="4067944" y="2578240"/>
            <a:ext cx="4716195" cy="3669030"/>
          </a:xfrm>
          <a:prstGeom prst="rect">
            <a:avLst/>
          </a:prstGeom>
          <a:noFill/>
          <a:ln>
            <a:noFill/>
          </a:ln>
        </p:spPr>
        <p:txBody>
          <a:bodyPr spcFirstLastPara="1" wrap="square" lIns="68550" tIns="34275" rIns="68550" bIns="34275" anchor="ctr" anchorCtr="0">
            <a:normAutofit fontScale="55000" lnSpcReduction="20000"/>
          </a:bodyPr>
          <a:lstStyle/>
          <a:p>
            <a:pPr marL="214313" lvl="0" indent="-214313" algn="l" rtl="0">
              <a:lnSpc>
                <a:spcPct val="100000"/>
              </a:lnSpc>
              <a:spcBef>
                <a:spcPts val="0"/>
              </a:spcBef>
              <a:spcAft>
                <a:spcPts val="0"/>
              </a:spcAft>
              <a:buSzPct val="90909"/>
              <a:buChar char="▶"/>
            </a:pPr>
            <a:r>
              <a:rPr lang="en-US" dirty="0">
                <a:solidFill>
                  <a:schemeClr val="tx1"/>
                </a:solidFill>
                <a:latin typeface="Arial"/>
                <a:ea typeface="Arial"/>
                <a:cs typeface="Arial"/>
                <a:sym typeface="Arial"/>
              </a:rPr>
              <a:t>The </a:t>
            </a: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statement is rarely used in the programming.</a:t>
            </a:r>
            <a:endParaRPr dirty="0">
              <a:solidFill>
                <a:schemeClr val="tx1"/>
              </a:solidFill>
            </a:endParaRPr>
          </a:p>
          <a:p>
            <a:pPr marL="214313" lvl="0" indent="-214313" algn="l" rtl="0">
              <a:lnSpc>
                <a:spcPct val="100000"/>
              </a:lnSpc>
              <a:spcBef>
                <a:spcPts val="750"/>
              </a:spcBef>
              <a:spcAft>
                <a:spcPts val="0"/>
              </a:spcAft>
              <a:buSzPct val="90909"/>
              <a:buChar char="▶"/>
            </a:pPr>
            <a:r>
              <a:rPr lang="en-US" dirty="0">
                <a:solidFill>
                  <a:schemeClr val="tx1"/>
                </a:solidFill>
                <a:latin typeface="Arial"/>
                <a:ea typeface="Arial"/>
                <a:cs typeface="Arial"/>
                <a:sym typeface="Arial"/>
              </a:rPr>
              <a:t>A </a:t>
            </a: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statement can transfer the program control anywhere in the program. The target destination of a </a:t>
            </a: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statement is marked by the label. The syntax is,</a:t>
            </a:r>
            <a:endParaRPr dirty="0">
              <a:solidFill>
                <a:schemeClr val="tx1"/>
              </a:solidFill>
            </a:endParaRPr>
          </a:p>
          <a:p>
            <a:pPr marL="214313" lvl="0" indent="-214313" algn="l" rtl="0">
              <a:lnSpc>
                <a:spcPct val="100000"/>
              </a:lnSpc>
              <a:spcBef>
                <a:spcPts val="750"/>
              </a:spcBef>
              <a:spcAft>
                <a:spcPts val="0"/>
              </a:spcAft>
              <a:buSzPct val="90909"/>
              <a:buNone/>
            </a:pPr>
            <a:r>
              <a:rPr lang="en-US" dirty="0">
                <a:solidFill>
                  <a:schemeClr val="tx1"/>
                </a:solidFill>
                <a:latin typeface="Arial"/>
                <a:ea typeface="Arial"/>
                <a:cs typeface="Arial"/>
                <a:sym typeface="Arial"/>
              </a:rPr>
              <a:t>		</a:t>
            </a: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label;   //here you put </a:t>
            </a:r>
            <a:r>
              <a:rPr lang="en-US" b="1" dirty="0">
                <a:solidFill>
                  <a:schemeClr val="tx1"/>
                </a:solidFill>
                <a:latin typeface="Arial"/>
                <a:ea typeface="Arial"/>
                <a:cs typeface="Arial"/>
                <a:sym typeface="Arial"/>
              </a:rPr>
              <a:t>semicolon</a:t>
            </a:r>
            <a:endParaRPr dirty="0">
              <a:solidFill>
                <a:schemeClr val="tx1"/>
              </a:solidFill>
            </a:endParaRPr>
          </a:p>
          <a:p>
            <a:pPr marL="214313" lvl="0" indent="-214313" algn="l" rtl="0">
              <a:lnSpc>
                <a:spcPct val="100000"/>
              </a:lnSpc>
              <a:spcBef>
                <a:spcPts val="750"/>
              </a:spcBef>
              <a:spcAft>
                <a:spcPts val="0"/>
              </a:spcAft>
              <a:buSzPct val="90909"/>
              <a:buNone/>
            </a:pPr>
            <a:r>
              <a:rPr lang="en-US" dirty="0">
                <a:solidFill>
                  <a:schemeClr val="tx1"/>
                </a:solidFill>
                <a:latin typeface="Arial"/>
                <a:ea typeface="Arial"/>
                <a:cs typeface="Arial"/>
                <a:sym typeface="Arial"/>
              </a:rPr>
              <a:t>			…….</a:t>
            </a:r>
            <a:endParaRPr dirty="0">
              <a:solidFill>
                <a:schemeClr val="tx1"/>
              </a:solidFill>
            </a:endParaRPr>
          </a:p>
          <a:p>
            <a:pPr marL="214313" lvl="0" indent="-214313" algn="l" rtl="0">
              <a:lnSpc>
                <a:spcPct val="100000"/>
              </a:lnSpc>
              <a:spcBef>
                <a:spcPts val="750"/>
              </a:spcBef>
              <a:spcAft>
                <a:spcPts val="0"/>
              </a:spcAft>
              <a:buSzPct val="90909"/>
              <a:buNone/>
            </a:pPr>
            <a:r>
              <a:rPr lang="en-US" dirty="0">
                <a:solidFill>
                  <a:schemeClr val="tx1"/>
                </a:solidFill>
                <a:latin typeface="Arial"/>
                <a:ea typeface="Arial"/>
                <a:cs typeface="Arial"/>
                <a:sym typeface="Arial"/>
              </a:rPr>
              <a:t>			…….</a:t>
            </a:r>
            <a:endParaRPr dirty="0">
              <a:solidFill>
                <a:schemeClr val="tx1"/>
              </a:solidFill>
            </a:endParaRPr>
          </a:p>
          <a:p>
            <a:pPr marL="214313" lvl="0" indent="-214313" algn="l" rtl="0">
              <a:lnSpc>
                <a:spcPct val="100000"/>
              </a:lnSpc>
              <a:spcBef>
                <a:spcPts val="750"/>
              </a:spcBef>
              <a:spcAft>
                <a:spcPts val="0"/>
              </a:spcAft>
              <a:buSzPct val="90909"/>
              <a:buNone/>
            </a:pPr>
            <a:r>
              <a:rPr lang="en-US" dirty="0">
                <a:solidFill>
                  <a:schemeClr val="tx1"/>
                </a:solidFill>
                <a:latin typeface="Arial"/>
                <a:ea typeface="Arial"/>
                <a:cs typeface="Arial"/>
                <a:sym typeface="Arial"/>
              </a:rPr>
              <a:t>			…….</a:t>
            </a:r>
            <a:endParaRPr dirty="0">
              <a:solidFill>
                <a:schemeClr val="tx1"/>
              </a:solidFill>
            </a:endParaRPr>
          </a:p>
          <a:p>
            <a:pPr marL="214313" lvl="0" indent="-214313" algn="l" rtl="0">
              <a:lnSpc>
                <a:spcPct val="100000"/>
              </a:lnSpc>
              <a:spcBef>
                <a:spcPts val="750"/>
              </a:spcBef>
              <a:spcAft>
                <a:spcPts val="0"/>
              </a:spcAft>
              <a:buSzPct val="90909"/>
              <a:buNone/>
            </a:pPr>
            <a:r>
              <a:rPr lang="en-US" dirty="0">
                <a:solidFill>
                  <a:schemeClr val="tx1"/>
                </a:solidFill>
                <a:latin typeface="Arial"/>
                <a:ea typeface="Arial"/>
                <a:cs typeface="Arial"/>
                <a:sym typeface="Arial"/>
              </a:rPr>
              <a:t>			label </a:t>
            </a:r>
            <a:r>
              <a:rPr lang="en-US" b="1" dirty="0">
                <a:solidFill>
                  <a:schemeClr val="tx1"/>
                </a:solidFill>
                <a:latin typeface="Arial"/>
                <a:ea typeface="Arial"/>
                <a:cs typeface="Arial"/>
                <a:sym typeface="Arial"/>
              </a:rPr>
              <a:t>:	//</a:t>
            </a:r>
            <a:r>
              <a:rPr lang="en-US" dirty="0">
                <a:solidFill>
                  <a:schemeClr val="tx1"/>
                </a:solidFill>
                <a:latin typeface="Arial"/>
                <a:ea typeface="Arial"/>
                <a:cs typeface="Arial"/>
                <a:sym typeface="Arial"/>
              </a:rPr>
              <a:t>here you put</a:t>
            </a:r>
            <a:r>
              <a:rPr lang="en-US" b="1" dirty="0">
                <a:solidFill>
                  <a:schemeClr val="tx1"/>
                </a:solidFill>
                <a:latin typeface="Arial"/>
                <a:ea typeface="Arial"/>
                <a:cs typeface="Arial"/>
                <a:sym typeface="Arial"/>
              </a:rPr>
              <a:t> colon</a:t>
            </a:r>
            <a:endParaRPr dirty="0">
              <a:solidFill>
                <a:schemeClr val="tx1"/>
              </a:solidFill>
            </a:endParaRPr>
          </a:p>
        </p:txBody>
      </p:sp>
      <p:sp>
        <p:nvSpPr>
          <p:cNvPr id="9" name="Google Shape;519;p84"/>
          <p:cNvSpPr txBox="1">
            <a:spLocks/>
          </p:cNvSpPr>
          <p:nvPr/>
        </p:nvSpPr>
        <p:spPr>
          <a:xfrm>
            <a:off x="683568"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JUMP STATEMENT - GOTO</a:t>
            </a:r>
            <a:endParaRPr lang="en-US" dirty="0"/>
          </a:p>
        </p:txBody>
      </p:sp>
    </p:spTree>
    <p:extLst>
      <p:ext uri="{BB962C8B-B14F-4D97-AF65-F5344CB8AC3E}">
        <p14:creationId xmlns:p14="http://schemas.microsoft.com/office/powerpoint/2010/main" val="25736855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526;p85"/>
          <p:cNvSpPr txBox="1">
            <a:spLocks noGrp="1"/>
          </p:cNvSpPr>
          <p:nvPr>
            <p:ph type="body" idx="1"/>
          </p:nvPr>
        </p:nvSpPr>
        <p:spPr>
          <a:xfrm>
            <a:off x="4067944" y="2708920"/>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None/>
            </a:pPr>
            <a:r>
              <a:rPr lang="en-US" dirty="0">
                <a:solidFill>
                  <a:schemeClr val="tx1"/>
                </a:solidFill>
                <a:latin typeface="Arial"/>
                <a:ea typeface="Arial"/>
                <a:cs typeface="Arial"/>
                <a:sym typeface="Arial"/>
              </a:rPr>
              <a:t>Label may not immediately precede the closing right brace. If so then a null statement may be used.</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For example</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		…….</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		{ </a:t>
            </a: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last;</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		….. </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		…..</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		last:   // wrong!</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		}</a:t>
            </a:r>
            <a:endParaRPr dirty="0">
              <a:solidFill>
                <a:schemeClr val="tx1"/>
              </a:solidFill>
            </a:endParaRPr>
          </a:p>
          <a:p>
            <a:pPr marL="214313" lvl="0" indent="-138113" algn="l" rtl="0">
              <a:lnSpc>
                <a:spcPct val="100000"/>
              </a:lnSpc>
              <a:spcBef>
                <a:spcPts val="750"/>
              </a:spcBef>
              <a:spcAft>
                <a:spcPts val="0"/>
              </a:spcAft>
              <a:buSzPct val="71428"/>
              <a:buNone/>
            </a:pPr>
            <a:endParaRPr dirty="0">
              <a:solidFill>
                <a:schemeClr val="tx1"/>
              </a:solidFill>
              <a:latin typeface="Arial"/>
              <a:ea typeface="Arial"/>
              <a:cs typeface="Arial"/>
              <a:sym typeface="Arial"/>
            </a:endParaRPr>
          </a:p>
        </p:txBody>
      </p:sp>
      <p:sp>
        <p:nvSpPr>
          <p:cNvPr id="9" name="Google Shape;525;p85"/>
          <p:cNvSpPr txBox="1">
            <a:spLocks/>
          </p:cNvSpPr>
          <p:nvPr/>
        </p:nvSpPr>
        <p:spPr>
          <a:xfrm>
            <a:off x="533240" y="2275696"/>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NOTE:</a:t>
            </a:r>
            <a:endParaRPr lang="en-US" dirty="0"/>
          </a:p>
        </p:txBody>
      </p:sp>
    </p:spTree>
    <p:extLst>
      <p:ext uri="{BB962C8B-B14F-4D97-AF65-F5344CB8AC3E}">
        <p14:creationId xmlns:p14="http://schemas.microsoft.com/office/powerpoint/2010/main" val="8261199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1239"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32;p86"/>
          <p:cNvSpPr txBox="1">
            <a:spLocks noGrp="1"/>
          </p:cNvSpPr>
          <p:nvPr>
            <p:ph type="body" idx="1"/>
          </p:nvPr>
        </p:nvSpPr>
        <p:spPr>
          <a:xfrm>
            <a:off x="3995936" y="2636912"/>
            <a:ext cx="4716195" cy="3669030"/>
          </a:xfrm>
          <a:prstGeom prst="rect">
            <a:avLst/>
          </a:prstGeom>
          <a:noFill/>
          <a:ln>
            <a:noFill/>
          </a:ln>
        </p:spPr>
        <p:txBody>
          <a:bodyPr spcFirstLastPara="1" wrap="square" lIns="68550" tIns="34275" rIns="68550" bIns="34275" anchor="ctr" anchorCtr="0">
            <a:normAutofit fontScale="92500" lnSpcReduction="20000"/>
          </a:bodyPr>
          <a:lstStyle/>
          <a:p>
            <a:pPr marL="214313" lvl="0" indent="-214313" algn="l" rtl="0">
              <a:lnSpc>
                <a:spcPct val="100000"/>
              </a:lnSpc>
              <a:spcBef>
                <a:spcPts val="0"/>
              </a:spcBef>
              <a:spcAft>
                <a:spcPts val="0"/>
              </a:spcAft>
              <a:buSzPct val="54054"/>
              <a:buNone/>
            </a:pPr>
            <a:r>
              <a:rPr lang="en-US" dirty="0">
                <a:solidFill>
                  <a:schemeClr val="tx1"/>
                </a:solidFill>
                <a:latin typeface="Arial"/>
                <a:ea typeface="Arial"/>
                <a:cs typeface="Arial"/>
                <a:sym typeface="Arial"/>
              </a:rPr>
              <a:t>For example</a:t>
            </a:r>
            <a:endParaRPr dirty="0">
              <a:solidFill>
                <a:schemeClr val="tx1"/>
              </a:solidFill>
            </a:endParaRPr>
          </a:p>
          <a:p>
            <a:pPr marL="214313" lvl="0" indent="-214313" algn="l" rtl="0">
              <a:lnSpc>
                <a:spcPct val="100000"/>
              </a:lnSpc>
              <a:spcBef>
                <a:spcPts val="750"/>
              </a:spcBef>
              <a:spcAft>
                <a:spcPts val="0"/>
              </a:spcAft>
              <a:buSzPct val="54054"/>
              <a:buNone/>
            </a:pPr>
            <a:r>
              <a:rPr lang="en-US" dirty="0">
                <a:solidFill>
                  <a:schemeClr val="tx1"/>
                </a:solidFill>
                <a:latin typeface="Arial"/>
                <a:ea typeface="Arial"/>
                <a:cs typeface="Arial"/>
                <a:sym typeface="Arial"/>
              </a:rPr>
              <a:t>		…….</a:t>
            </a:r>
            <a:endParaRPr dirty="0">
              <a:solidFill>
                <a:schemeClr val="tx1"/>
              </a:solidFill>
            </a:endParaRPr>
          </a:p>
          <a:p>
            <a:pPr marL="214313" lvl="0" indent="-214313" algn="l" rtl="0">
              <a:lnSpc>
                <a:spcPct val="100000"/>
              </a:lnSpc>
              <a:spcBef>
                <a:spcPts val="750"/>
              </a:spcBef>
              <a:spcAft>
                <a:spcPts val="0"/>
              </a:spcAft>
              <a:buSzPct val="54054"/>
              <a:buNone/>
            </a:pPr>
            <a:r>
              <a:rPr lang="en-US" dirty="0">
                <a:solidFill>
                  <a:schemeClr val="tx1"/>
                </a:solidFill>
                <a:latin typeface="Arial"/>
                <a:ea typeface="Arial"/>
                <a:cs typeface="Arial"/>
                <a:sym typeface="Arial"/>
              </a:rPr>
              <a:t>		{ </a:t>
            </a: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last;</a:t>
            </a:r>
            <a:endParaRPr dirty="0">
              <a:solidFill>
                <a:schemeClr val="tx1"/>
              </a:solidFill>
            </a:endParaRPr>
          </a:p>
          <a:p>
            <a:pPr marL="214313" lvl="0" indent="-214313" algn="l" rtl="0">
              <a:lnSpc>
                <a:spcPct val="100000"/>
              </a:lnSpc>
              <a:spcBef>
                <a:spcPts val="750"/>
              </a:spcBef>
              <a:spcAft>
                <a:spcPts val="0"/>
              </a:spcAft>
              <a:buSzPct val="54054"/>
              <a:buNone/>
            </a:pPr>
            <a:r>
              <a:rPr lang="en-US" dirty="0">
                <a:solidFill>
                  <a:schemeClr val="tx1"/>
                </a:solidFill>
                <a:latin typeface="Arial"/>
                <a:ea typeface="Arial"/>
                <a:cs typeface="Arial"/>
                <a:sym typeface="Arial"/>
              </a:rPr>
              <a:t>		….. </a:t>
            </a:r>
            <a:endParaRPr dirty="0">
              <a:solidFill>
                <a:schemeClr val="tx1"/>
              </a:solidFill>
            </a:endParaRPr>
          </a:p>
          <a:p>
            <a:pPr marL="214313" lvl="0" indent="-214313" algn="l" rtl="0">
              <a:lnSpc>
                <a:spcPct val="100000"/>
              </a:lnSpc>
              <a:spcBef>
                <a:spcPts val="750"/>
              </a:spcBef>
              <a:spcAft>
                <a:spcPts val="0"/>
              </a:spcAft>
              <a:buSzPct val="54054"/>
              <a:buNone/>
            </a:pPr>
            <a:r>
              <a:rPr lang="en-US" dirty="0">
                <a:solidFill>
                  <a:schemeClr val="tx1"/>
                </a:solidFill>
                <a:latin typeface="Arial"/>
                <a:ea typeface="Arial"/>
                <a:cs typeface="Arial"/>
                <a:sym typeface="Arial"/>
              </a:rPr>
              <a:t>		…..</a:t>
            </a:r>
            <a:endParaRPr dirty="0">
              <a:solidFill>
                <a:schemeClr val="tx1"/>
              </a:solidFill>
            </a:endParaRPr>
          </a:p>
          <a:p>
            <a:pPr marL="214313" lvl="0" indent="-214313" algn="l" rtl="0">
              <a:lnSpc>
                <a:spcPct val="100000"/>
              </a:lnSpc>
              <a:spcBef>
                <a:spcPts val="750"/>
              </a:spcBef>
              <a:spcAft>
                <a:spcPts val="0"/>
              </a:spcAft>
              <a:buSzPct val="54054"/>
              <a:buNone/>
            </a:pPr>
            <a:r>
              <a:rPr lang="en-US" dirty="0">
                <a:solidFill>
                  <a:schemeClr val="tx1"/>
                </a:solidFill>
                <a:latin typeface="Arial"/>
                <a:ea typeface="Arial"/>
                <a:cs typeface="Arial"/>
                <a:sym typeface="Arial"/>
              </a:rPr>
              <a:t>		last:    ;  // null statement right!</a:t>
            </a:r>
            <a:endParaRPr dirty="0">
              <a:solidFill>
                <a:schemeClr val="tx1"/>
              </a:solidFill>
            </a:endParaRPr>
          </a:p>
          <a:p>
            <a:pPr marL="214313" lvl="0" indent="-214313" algn="l" rtl="0">
              <a:lnSpc>
                <a:spcPct val="100000"/>
              </a:lnSpc>
              <a:spcBef>
                <a:spcPts val="750"/>
              </a:spcBef>
              <a:spcAft>
                <a:spcPts val="0"/>
              </a:spcAft>
              <a:buSzPct val="54054"/>
              <a:buNone/>
            </a:pPr>
            <a:r>
              <a:rPr lang="en-US" dirty="0">
                <a:solidFill>
                  <a:schemeClr val="tx1"/>
                </a:solidFill>
                <a:latin typeface="Arial"/>
                <a:ea typeface="Arial"/>
                <a:cs typeface="Arial"/>
                <a:sym typeface="Arial"/>
              </a:rPr>
              <a:t>		}</a:t>
            </a:r>
            <a:endParaRPr dirty="0">
              <a:solidFill>
                <a:schemeClr val="tx1"/>
              </a:solidFill>
            </a:endParaRPr>
          </a:p>
          <a:p>
            <a:pPr marL="214313" lvl="0" indent="-138113" algn="l" rtl="0">
              <a:lnSpc>
                <a:spcPct val="100000"/>
              </a:lnSpc>
              <a:spcBef>
                <a:spcPts val="750"/>
              </a:spcBef>
              <a:spcAft>
                <a:spcPts val="0"/>
              </a:spcAft>
              <a:buSzPct val="54054"/>
              <a:buNone/>
            </a:pPr>
            <a:endParaRPr dirty="0">
              <a:solidFill>
                <a:schemeClr val="lt1"/>
              </a:solidFill>
              <a:latin typeface="Arial"/>
              <a:ea typeface="Arial"/>
              <a:cs typeface="Arial"/>
              <a:sym typeface="Arial"/>
            </a:endParaRPr>
          </a:p>
        </p:txBody>
      </p:sp>
      <p:sp>
        <p:nvSpPr>
          <p:cNvPr id="9" name="Google Shape;531;p86"/>
          <p:cNvSpPr txBox="1">
            <a:spLocks/>
          </p:cNvSpPr>
          <p:nvPr/>
        </p:nvSpPr>
        <p:spPr>
          <a:xfrm>
            <a:off x="513160" y="2420888"/>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NOTE:</a:t>
            </a:r>
            <a:endParaRPr lang="en-US" dirty="0"/>
          </a:p>
        </p:txBody>
      </p:sp>
    </p:spTree>
    <p:extLst>
      <p:ext uri="{BB962C8B-B14F-4D97-AF65-F5344CB8AC3E}">
        <p14:creationId xmlns:p14="http://schemas.microsoft.com/office/powerpoint/2010/main" val="41540681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538;p87"/>
          <p:cNvSpPr txBox="1">
            <a:spLocks noGrp="1"/>
          </p:cNvSpPr>
          <p:nvPr>
            <p:ph type="body" idx="1"/>
          </p:nvPr>
        </p:nvSpPr>
        <p:spPr>
          <a:xfrm>
            <a:off x="3851920" y="2420888"/>
            <a:ext cx="4716195" cy="3669030"/>
          </a:xfrm>
          <a:prstGeom prst="rect">
            <a:avLst/>
          </a:prstGeom>
          <a:noFill/>
          <a:ln>
            <a:noFill/>
          </a:ln>
        </p:spPr>
        <p:txBody>
          <a:bodyPr spcFirstLastPara="1" wrap="square" lIns="68550" tIns="34275" rIns="68550" bIns="34275" anchor="ctr" anchorCtr="0">
            <a:normAutofit fontScale="70000" lnSpcReduction="20000"/>
          </a:bodyPr>
          <a:lstStyle/>
          <a:p>
            <a:pPr marL="214313" lvl="0" indent="-214313" algn="l" rtl="0">
              <a:lnSpc>
                <a:spcPct val="100000"/>
              </a:lnSpc>
              <a:spcBef>
                <a:spcPts val="0"/>
              </a:spcBef>
              <a:spcAft>
                <a:spcPts val="0"/>
              </a:spcAft>
              <a:buSzPct val="71428"/>
              <a:buChar char="▶"/>
            </a:pP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statement may not jump forward over the variable definition.</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main()</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a:t>
            </a:r>
            <a:endParaRPr dirty="0">
              <a:solidFill>
                <a:schemeClr val="tx1"/>
              </a:solidFill>
            </a:endParaRPr>
          </a:p>
          <a:p>
            <a:pPr marL="214313" lvl="0" indent="-214313" algn="l" rtl="0">
              <a:lnSpc>
                <a:spcPct val="100000"/>
              </a:lnSpc>
              <a:spcBef>
                <a:spcPts val="750"/>
              </a:spcBef>
              <a:spcAft>
                <a:spcPts val="0"/>
              </a:spcAft>
              <a:buSzPct val="71428"/>
              <a:buNone/>
            </a:pPr>
            <a:r>
              <a:rPr lang="en-US" dirty="0" err="1">
                <a:solidFill>
                  <a:schemeClr val="tx1"/>
                </a:solidFill>
                <a:latin typeface="Arial"/>
                <a:ea typeface="Arial"/>
                <a:cs typeface="Arial"/>
                <a:sym typeface="Arial"/>
              </a:rPr>
              <a:t>goto</a:t>
            </a:r>
            <a:r>
              <a:rPr lang="en-US" dirty="0">
                <a:solidFill>
                  <a:schemeClr val="tx1"/>
                </a:solidFill>
                <a:latin typeface="Arial"/>
                <a:ea typeface="Arial"/>
                <a:cs typeface="Arial"/>
                <a:sym typeface="Arial"/>
              </a:rPr>
              <a:t> last;  </a:t>
            </a:r>
            <a:r>
              <a:rPr lang="en-US" b="1" dirty="0">
                <a:solidFill>
                  <a:schemeClr val="tx1"/>
                </a:solidFill>
                <a:latin typeface="Arial"/>
                <a:ea typeface="Arial"/>
                <a:cs typeface="Arial"/>
                <a:sym typeface="Arial"/>
              </a:rPr>
              <a:t>// Wrong! Jumping over the variable definition</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char </a:t>
            </a:r>
            <a:r>
              <a:rPr lang="en-US" dirty="0" err="1">
                <a:solidFill>
                  <a:schemeClr val="tx1"/>
                </a:solidFill>
                <a:latin typeface="Arial"/>
                <a:ea typeface="Arial"/>
                <a:cs typeface="Arial"/>
                <a:sym typeface="Arial"/>
              </a:rPr>
              <a:t>ch</a:t>
            </a:r>
            <a:r>
              <a:rPr lang="en-US" dirty="0">
                <a:solidFill>
                  <a:schemeClr val="tx1"/>
                </a:solidFill>
                <a:latin typeface="Arial"/>
                <a:ea typeface="Arial"/>
                <a:cs typeface="Arial"/>
                <a:sym typeface="Arial"/>
              </a:rPr>
              <a:t>=‘a’;</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last:</a:t>
            </a:r>
            <a:endParaRPr dirty="0">
              <a:solidFill>
                <a:schemeClr val="tx1"/>
              </a:solidFill>
            </a:endParaRPr>
          </a:p>
          <a:p>
            <a:pPr marL="214313" lvl="0" indent="-214313" algn="l" rtl="0">
              <a:lnSpc>
                <a:spcPct val="100000"/>
              </a:lnSpc>
              <a:spcBef>
                <a:spcPts val="750"/>
              </a:spcBef>
              <a:spcAft>
                <a:spcPts val="0"/>
              </a:spcAft>
              <a:buSzPct val="71428"/>
              <a:buNone/>
            </a:pPr>
            <a:r>
              <a:rPr lang="en-US" dirty="0">
                <a:solidFill>
                  <a:schemeClr val="tx1"/>
                </a:solidFill>
                <a:latin typeface="Arial"/>
                <a:ea typeface="Arial"/>
                <a:cs typeface="Arial"/>
                <a:sym typeface="Arial"/>
              </a:rPr>
              <a:t>}</a:t>
            </a:r>
            <a:endParaRPr dirty="0">
              <a:solidFill>
                <a:schemeClr val="tx1"/>
              </a:solidFill>
            </a:endParaRPr>
          </a:p>
        </p:txBody>
      </p:sp>
      <p:sp>
        <p:nvSpPr>
          <p:cNvPr id="9" name="Google Shape;537;p87"/>
          <p:cNvSpPr txBox="1">
            <a:spLocks/>
          </p:cNvSpPr>
          <p:nvPr/>
        </p:nvSpPr>
        <p:spPr>
          <a:xfrm>
            <a:off x="493281" y="2151996"/>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smtClean="0">
                <a:latin typeface="Arial Black"/>
                <a:ea typeface="Arial Black"/>
                <a:cs typeface="Arial Black"/>
                <a:sym typeface="Arial Black"/>
              </a:rPr>
              <a:t>NOTE:</a:t>
            </a:r>
            <a:endParaRPr lang="en-US" dirty="0"/>
          </a:p>
        </p:txBody>
      </p:sp>
    </p:spTree>
    <p:extLst>
      <p:ext uri="{BB962C8B-B14F-4D97-AF65-F5344CB8AC3E}">
        <p14:creationId xmlns:p14="http://schemas.microsoft.com/office/powerpoint/2010/main" val="39974694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92319" y="-4286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544;p88"/>
          <p:cNvSpPr txBox="1">
            <a:spLocks noGrp="1"/>
          </p:cNvSpPr>
          <p:nvPr>
            <p:ph type="body" idx="1"/>
          </p:nvPr>
        </p:nvSpPr>
        <p:spPr>
          <a:xfrm>
            <a:off x="3779912" y="2420888"/>
            <a:ext cx="4716195" cy="3669030"/>
          </a:xfrm>
          <a:prstGeom prst="rect">
            <a:avLst/>
          </a:prstGeom>
          <a:noFill/>
          <a:ln>
            <a:noFill/>
          </a:ln>
        </p:spPr>
        <p:txBody>
          <a:bodyPr spcFirstLastPara="1" wrap="square" lIns="68550" tIns="34275" rIns="68550" bIns="34275" anchor="ctr" anchorCtr="0">
            <a:normAutofit fontScale="92500" lnSpcReduction="10000"/>
          </a:bodyPr>
          <a:lstStyle/>
          <a:p>
            <a:pPr marL="214313" lvl="0" indent="-138113" algn="l" rtl="0">
              <a:lnSpc>
                <a:spcPct val="100000"/>
              </a:lnSpc>
              <a:spcBef>
                <a:spcPts val="0"/>
              </a:spcBef>
              <a:spcAft>
                <a:spcPts val="0"/>
              </a:spcAft>
              <a:buSzPct val="54054"/>
              <a:buNone/>
            </a:pPr>
            <a:endParaRPr dirty="0">
              <a:solidFill>
                <a:schemeClr val="lt1"/>
              </a:solidFill>
              <a:latin typeface="Arial"/>
              <a:ea typeface="Arial"/>
              <a:cs typeface="Arial"/>
              <a:sym typeface="Arial"/>
            </a:endParaRPr>
          </a:p>
          <a:p>
            <a:pPr marL="214313" lvl="0" indent="-214313" algn="l" rtl="0">
              <a:lnSpc>
                <a:spcPct val="100000"/>
              </a:lnSpc>
              <a:spcBef>
                <a:spcPts val="750"/>
              </a:spcBef>
              <a:spcAft>
                <a:spcPts val="0"/>
              </a:spcAft>
              <a:buSzPct val="54054"/>
              <a:buNone/>
            </a:pPr>
            <a:r>
              <a:rPr lang="en-US" dirty="0">
                <a:solidFill>
                  <a:schemeClr val="lt1"/>
                </a:solidFill>
                <a:latin typeface="Arial"/>
                <a:ea typeface="Arial"/>
                <a:cs typeface="Arial"/>
                <a:sym typeface="Arial"/>
              </a:rPr>
              <a:t>		</a:t>
            </a:r>
            <a:r>
              <a:rPr lang="en-US" dirty="0">
                <a:solidFill>
                  <a:schemeClr val="tx1"/>
                </a:solidFill>
                <a:latin typeface="Arial"/>
                <a:ea typeface="Arial"/>
                <a:cs typeface="Arial"/>
                <a:sym typeface="Arial"/>
              </a:rPr>
              <a:t>The break statement enables the program to skip over the part of the code. A break statement terminates the smallest enclosing </a:t>
            </a:r>
            <a:r>
              <a:rPr lang="en-US" dirty="0" err="1">
                <a:solidFill>
                  <a:schemeClr val="tx1"/>
                </a:solidFill>
                <a:latin typeface="Arial"/>
                <a:ea typeface="Arial"/>
                <a:cs typeface="Arial"/>
                <a:sym typeface="Arial"/>
              </a:rPr>
              <a:t>while,do</a:t>
            </a:r>
            <a:r>
              <a:rPr lang="en-US" dirty="0">
                <a:solidFill>
                  <a:schemeClr val="tx1"/>
                </a:solidFill>
                <a:latin typeface="Arial"/>
                <a:ea typeface="Arial"/>
                <a:cs typeface="Arial"/>
                <a:sym typeface="Arial"/>
              </a:rPr>
              <a:t>-while for or switch statement,</a:t>
            </a:r>
            <a:endParaRPr dirty="0">
              <a:solidFill>
                <a:schemeClr val="tx1"/>
              </a:solidFill>
            </a:endParaRPr>
          </a:p>
          <a:p>
            <a:pPr marL="214313" lvl="0" indent="-214313" algn="l" rtl="0">
              <a:lnSpc>
                <a:spcPct val="100000"/>
              </a:lnSpc>
              <a:spcBef>
                <a:spcPts val="750"/>
              </a:spcBef>
              <a:spcAft>
                <a:spcPts val="0"/>
              </a:spcAft>
              <a:buSzPct val="54054"/>
              <a:buNone/>
            </a:pPr>
            <a:endParaRPr dirty="0">
              <a:solidFill>
                <a:schemeClr val="lt1"/>
              </a:solidFill>
              <a:latin typeface="Arial"/>
              <a:ea typeface="Arial"/>
              <a:cs typeface="Arial"/>
              <a:sym typeface="Arial"/>
            </a:endParaRPr>
          </a:p>
        </p:txBody>
      </p:sp>
      <p:sp>
        <p:nvSpPr>
          <p:cNvPr id="9" name="Google Shape;543;p88"/>
          <p:cNvSpPr txBox="1">
            <a:spLocks/>
          </p:cNvSpPr>
          <p:nvPr/>
        </p:nvSpPr>
        <p:spPr>
          <a:xfrm>
            <a:off x="513160" y="1371599"/>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BREAK STATEMENT</a:t>
            </a:r>
            <a:endParaRPr lang="en-US" dirty="0"/>
          </a:p>
        </p:txBody>
      </p:sp>
    </p:spTree>
    <p:extLst>
      <p:ext uri="{BB962C8B-B14F-4D97-AF65-F5344CB8AC3E}">
        <p14:creationId xmlns:p14="http://schemas.microsoft.com/office/powerpoint/2010/main" val="16949394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50;p89"/>
          <p:cNvSpPr txBox="1">
            <a:spLocks noGrp="1"/>
          </p:cNvSpPr>
          <p:nvPr>
            <p:ph type="body" idx="1"/>
          </p:nvPr>
        </p:nvSpPr>
        <p:spPr>
          <a:xfrm>
            <a:off x="2543349" y="2924944"/>
            <a:ext cx="6400800" cy="2711450"/>
          </a:xfrm>
          <a:prstGeom prst="rect">
            <a:avLst/>
          </a:prstGeom>
          <a:noFill/>
          <a:ln>
            <a:noFill/>
          </a:ln>
        </p:spPr>
        <p:txBody>
          <a:bodyPr spcFirstLastPara="1" wrap="square" lIns="68550" tIns="34275" rIns="68550" bIns="34275" anchor="ctr" anchorCtr="0">
            <a:normAutofit/>
          </a:bodyPr>
          <a:lstStyle/>
          <a:p>
            <a:pPr marL="214313" lvl="0" indent="-214313" algn="l" rtl="0">
              <a:lnSpc>
                <a:spcPct val="70000"/>
              </a:lnSpc>
              <a:spcBef>
                <a:spcPts val="0"/>
              </a:spcBef>
              <a:spcAft>
                <a:spcPts val="0"/>
              </a:spcAft>
              <a:buSzPts val="1904"/>
              <a:buNone/>
            </a:pPr>
            <a:r>
              <a:rPr lang="en-US" sz="1785" dirty="0">
                <a:solidFill>
                  <a:schemeClr val="dk1"/>
                </a:solidFill>
                <a:latin typeface="Arial"/>
                <a:ea typeface="Arial"/>
                <a:cs typeface="Arial"/>
                <a:sym typeface="Arial"/>
              </a:rPr>
              <a:t>	</a:t>
            </a:r>
            <a:r>
              <a:rPr lang="en-US" sz="1785" dirty="0">
                <a:solidFill>
                  <a:schemeClr val="tx1"/>
                </a:solidFill>
                <a:latin typeface="Arial"/>
                <a:ea typeface="Arial"/>
                <a:cs typeface="Arial"/>
                <a:sym typeface="Arial"/>
              </a:rPr>
              <a:t>while (test expression)</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		if(</a:t>
            </a:r>
            <a:r>
              <a:rPr lang="en-US" sz="1785" dirty="0" err="1">
                <a:solidFill>
                  <a:schemeClr val="tx1"/>
                </a:solidFill>
                <a:latin typeface="Arial"/>
                <a:ea typeface="Arial"/>
                <a:cs typeface="Arial"/>
                <a:sym typeface="Arial"/>
              </a:rPr>
              <a:t>val</a:t>
            </a:r>
            <a:r>
              <a:rPr lang="en-US" sz="1785" dirty="0">
                <a:solidFill>
                  <a:schemeClr val="tx1"/>
                </a:solidFill>
                <a:latin typeface="Arial"/>
                <a:ea typeface="Arial"/>
                <a:cs typeface="Arial"/>
                <a:sym typeface="Arial"/>
              </a:rPr>
              <a:t>&gt;2000)</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		break;</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a:t>
            </a:r>
            <a:endParaRPr dirty="0">
              <a:solidFill>
                <a:schemeClr val="tx1"/>
              </a:solidFill>
            </a:endParaRPr>
          </a:p>
          <a:p>
            <a:pPr marL="214313" lvl="0" indent="-214313" algn="l" rtl="0">
              <a:lnSpc>
                <a:spcPct val="70000"/>
              </a:lnSpc>
              <a:spcBef>
                <a:spcPts val="807"/>
              </a:spcBef>
              <a:spcAft>
                <a:spcPts val="0"/>
              </a:spcAft>
              <a:buSzPts val="1904"/>
              <a:buNone/>
            </a:pPr>
            <a:r>
              <a:rPr lang="en-US" sz="1785" dirty="0">
                <a:solidFill>
                  <a:schemeClr val="tx1"/>
                </a:solidFill>
                <a:latin typeface="Arial"/>
                <a:ea typeface="Arial"/>
                <a:cs typeface="Arial"/>
                <a:sym typeface="Arial"/>
              </a:rPr>
              <a:t>statement 3;</a:t>
            </a:r>
            <a:endParaRPr dirty="0">
              <a:solidFill>
                <a:schemeClr val="tx1"/>
              </a:solidFill>
            </a:endParaRPr>
          </a:p>
        </p:txBody>
      </p:sp>
      <p:sp>
        <p:nvSpPr>
          <p:cNvPr id="9" name="Google Shape;549;p89"/>
          <p:cNvSpPr txBox="1">
            <a:spLocks/>
          </p:cNvSpPr>
          <p:nvPr/>
        </p:nvSpPr>
        <p:spPr>
          <a:xfrm>
            <a:off x="513158" y="1524000"/>
            <a:ext cx="8235305" cy="1130300"/>
          </a:xfrm>
          <a:prstGeom prst="rect">
            <a:avLst/>
          </a:prstGeom>
          <a:noFill/>
          <a:ln>
            <a:noFill/>
          </a:ln>
        </p:spPr>
        <p:txBody>
          <a:bodyPr spcFirstLastPara="1" wrap="square" lIns="68550" tIns="34275" rIns="68550" bIns="34275"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smtClean="0">
                <a:latin typeface="Arial Black"/>
                <a:ea typeface="Arial Black"/>
                <a:cs typeface="Arial Black"/>
                <a:sym typeface="Arial Black"/>
              </a:rPr>
              <a:t>BREAK STATEMENT -EXAMPLE</a:t>
            </a:r>
            <a:endParaRPr lang="en-US" dirty="0"/>
          </a:p>
        </p:txBody>
      </p:sp>
    </p:spTree>
    <p:extLst>
      <p:ext uri="{BB962C8B-B14F-4D97-AF65-F5344CB8AC3E}">
        <p14:creationId xmlns:p14="http://schemas.microsoft.com/office/powerpoint/2010/main" val="38701379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56;p90"/>
          <p:cNvSpPr txBox="1">
            <a:spLocks noGrp="1"/>
          </p:cNvSpPr>
          <p:nvPr>
            <p:ph type="body" idx="1"/>
          </p:nvPr>
        </p:nvSpPr>
        <p:spPr>
          <a:xfrm>
            <a:off x="2558562" y="2924944"/>
            <a:ext cx="6400800" cy="2711450"/>
          </a:xfrm>
          <a:prstGeom prst="rect">
            <a:avLst/>
          </a:prstGeom>
          <a:noFill/>
          <a:ln>
            <a:noFill/>
          </a:ln>
        </p:spPr>
        <p:txBody>
          <a:bodyPr spcFirstLastPara="1" wrap="square" lIns="68550" tIns="34275" rIns="68550" bIns="34275" anchor="ctr" anchorCtr="0">
            <a:normAutofit/>
          </a:bodyPr>
          <a:lstStyle/>
          <a:p>
            <a:pPr marL="214313" lvl="0" indent="-214313" algn="l" rtl="0">
              <a:lnSpc>
                <a:spcPct val="70000"/>
              </a:lnSpc>
              <a:spcBef>
                <a:spcPts val="0"/>
              </a:spcBef>
              <a:spcAft>
                <a:spcPts val="0"/>
              </a:spcAft>
              <a:buSzPts val="1736"/>
              <a:buNone/>
            </a:pPr>
            <a:r>
              <a:rPr lang="en-US" sz="1627" dirty="0">
                <a:solidFill>
                  <a:schemeClr val="tx1"/>
                </a:solidFill>
                <a:latin typeface="Arial"/>
                <a:ea typeface="Arial"/>
                <a:cs typeface="Arial"/>
                <a:sym typeface="Arial"/>
              </a:rPr>
              <a:t>for( </a:t>
            </a:r>
            <a:r>
              <a:rPr lang="en-US" sz="1627" dirty="0" err="1">
                <a:solidFill>
                  <a:schemeClr val="tx1"/>
                </a:solidFill>
                <a:latin typeface="Arial"/>
                <a:ea typeface="Arial"/>
                <a:cs typeface="Arial"/>
                <a:sym typeface="Arial"/>
              </a:rPr>
              <a:t>int;test</a:t>
            </a:r>
            <a:r>
              <a:rPr lang="en-US" sz="1627" dirty="0">
                <a:solidFill>
                  <a:schemeClr val="tx1"/>
                </a:solidFill>
                <a:latin typeface="Arial"/>
                <a:ea typeface="Arial"/>
                <a:cs typeface="Arial"/>
                <a:sym typeface="Arial"/>
              </a:rPr>
              <a:t> </a:t>
            </a:r>
            <a:r>
              <a:rPr lang="en-US" sz="1627" dirty="0" err="1">
                <a:solidFill>
                  <a:schemeClr val="tx1"/>
                </a:solidFill>
                <a:latin typeface="Arial"/>
                <a:ea typeface="Arial"/>
                <a:cs typeface="Arial"/>
                <a:sym typeface="Arial"/>
              </a:rPr>
              <a:t>expression;update</a:t>
            </a:r>
            <a:r>
              <a:rPr lang="en-US" sz="1627" dirty="0">
                <a:solidFill>
                  <a:schemeClr val="tx1"/>
                </a:solidFill>
                <a:latin typeface="Arial"/>
                <a:ea typeface="Arial"/>
                <a:cs typeface="Arial"/>
                <a:sym typeface="Arial"/>
              </a:rPr>
              <a:t> expression)</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if(</a:t>
            </a:r>
            <a:r>
              <a:rPr lang="en-US" sz="1627" dirty="0" err="1">
                <a:solidFill>
                  <a:schemeClr val="tx1"/>
                </a:solidFill>
                <a:latin typeface="Arial"/>
                <a:ea typeface="Arial"/>
                <a:cs typeface="Arial"/>
                <a:sym typeface="Arial"/>
              </a:rPr>
              <a:t>val</a:t>
            </a:r>
            <a:r>
              <a:rPr lang="en-US" sz="1627" dirty="0">
                <a:solidFill>
                  <a:schemeClr val="tx1"/>
                </a:solidFill>
                <a:latin typeface="Arial"/>
                <a:ea typeface="Arial"/>
                <a:cs typeface="Arial"/>
                <a:sym typeface="Arial"/>
              </a:rPr>
              <a:t>&gt;2000)</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break;</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statement 3;</a:t>
            </a:r>
            <a:endParaRPr dirty="0">
              <a:solidFill>
                <a:schemeClr val="tx1"/>
              </a:solidFill>
            </a:endParaRPr>
          </a:p>
          <a:p>
            <a:pPr marL="214313" lvl="0" indent="-214313" algn="l" rtl="0">
              <a:lnSpc>
                <a:spcPct val="70000"/>
              </a:lnSpc>
              <a:spcBef>
                <a:spcPts val="776"/>
              </a:spcBef>
              <a:spcAft>
                <a:spcPts val="0"/>
              </a:spcAft>
              <a:buSzPts val="1736"/>
              <a:buNone/>
            </a:pPr>
            <a:endParaRPr sz="1627" dirty="0">
              <a:solidFill>
                <a:schemeClr val="lt1"/>
              </a:solidFill>
              <a:latin typeface="Arial"/>
              <a:ea typeface="Arial"/>
              <a:cs typeface="Arial"/>
              <a:sym typeface="Arial"/>
            </a:endParaRPr>
          </a:p>
        </p:txBody>
      </p:sp>
      <p:sp>
        <p:nvSpPr>
          <p:cNvPr id="9" name="Google Shape;555;p90"/>
          <p:cNvSpPr txBox="1">
            <a:spLocks/>
          </p:cNvSpPr>
          <p:nvPr/>
        </p:nvSpPr>
        <p:spPr>
          <a:xfrm>
            <a:off x="395536" y="1538644"/>
            <a:ext cx="6400800" cy="1130300"/>
          </a:xfrm>
          <a:prstGeom prst="rect">
            <a:avLst/>
          </a:prstGeom>
          <a:noFill/>
          <a:ln>
            <a:noFill/>
          </a:ln>
        </p:spPr>
        <p:txBody>
          <a:bodyPr spcFirstLastPara="1" wrap="square" lIns="68550" tIns="34275" rIns="68550" bIns="34275"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smtClean="0">
                <a:latin typeface="Arial Black"/>
                <a:ea typeface="Arial Black"/>
                <a:cs typeface="Arial Black"/>
                <a:sym typeface="Arial Black"/>
              </a:rPr>
              <a:t>BREAK STATEMENT -EXAMPLE</a:t>
            </a:r>
            <a:endParaRPr lang="en-US" dirty="0"/>
          </a:p>
        </p:txBody>
      </p:sp>
    </p:spTree>
    <p:extLst>
      <p:ext uri="{BB962C8B-B14F-4D97-AF65-F5344CB8AC3E}">
        <p14:creationId xmlns:p14="http://schemas.microsoft.com/office/powerpoint/2010/main" val="11738470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562;p91"/>
          <p:cNvSpPr txBox="1">
            <a:spLocks noGrp="1"/>
          </p:cNvSpPr>
          <p:nvPr>
            <p:ph type="body" idx="1"/>
          </p:nvPr>
        </p:nvSpPr>
        <p:spPr>
          <a:xfrm>
            <a:off x="2987824" y="2543555"/>
            <a:ext cx="5829300" cy="3086100"/>
          </a:xfrm>
          <a:prstGeom prst="rect">
            <a:avLst/>
          </a:prstGeom>
          <a:noFill/>
          <a:ln>
            <a:noFill/>
          </a:ln>
        </p:spPr>
        <p:txBody>
          <a:bodyPr spcFirstLastPara="1" wrap="square" lIns="68550" tIns="34275" rIns="68550" bIns="34275" anchor="ctr" anchorCtr="0">
            <a:normAutofit/>
          </a:bodyPr>
          <a:lstStyle/>
          <a:p>
            <a:pPr marL="214313" lvl="0" indent="-214313" algn="l" rtl="0">
              <a:lnSpc>
                <a:spcPct val="90000"/>
              </a:lnSpc>
              <a:spcBef>
                <a:spcPts val="0"/>
              </a:spcBef>
              <a:spcAft>
                <a:spcPts val="0"/>
              </a:spcAft>
              <a:buSzPts val="2072"/>
              <a:buNone/>
            </a:pPr>
            <a:r>
              <a:rPr lang="en-US" sz="1943" dirty="0">
                <a:solidFill>
                  <a:schemeClr val="lt1"/>
                </a:solidFill>
                <a:latin typeface="Arial"/>
                <a:ea typeface="Arial"/>
                <a:cs typeface="Arial"/>
                <a:sym typeface="Arial"/>
              </a:rPr>
              <a:t>	</a:t>
            </a:r>
            <a:r>
              <a:rPr lang="en-US" sz="1943" dirty="0">
                <a:solidFill>
                  <a:schemeClr val="tx1"/>
                </a:solidFill>
                <a:latin typeface="Arial"/>
                <a:ea typeface="Arial"/>
                <a:cs typeface="Arial"/>
                <a:sym typeface="Arial"/>
              </a:rPr>
              <a:t>do {</a:t>
            </a:r>
            <a:endParaRPr dirty="0">
              <a:solidFill>
                <a:schemeClr val="tx1"/>
              </a:solidFill>
            </a:endParaRPr>
          </a:p>
          <a:p>
            <a:pPr marL="214313" lvl="0" indent="-214313" algn="l" rtl="0">
              <a:lnSpc>
                <a:spcPct val="90000"/>
              </a:lnSpc>
              <a:spcBef>
                <a:spcPts val="839"/>
              </a:spcBef>
              <a:spcAft>
                <a:spcPts val="0"/>
              </a:spcAft>
              <a:buSzPts val="2072"/>
              <a:buNone/>
            </a:pPr>
            <a:r>
              <a:rPr lang="en-US" sz="1943"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90000"/>
              </a:lnSpc>
              <a:spcBef>
                <a:spcPts val="839"/>
              </a:spcBef>
              <a:spcAft>
                <a:spcPts val="0"/>
              </a:spcAft>
              <a:buSzPts val="2072"/>
              <a:buNone/>
            </a:pPr>
            <a:r>
              <a:rPr lang="en-US" sz="1943" dirty="0">
                <a:solidFill>
                  <a:schemeClr val="tx1"/>
                </a:solidFill>
                <a:latin typeface="Arial"/>
                <a:ea typeface="Arial"/>
                <a:cs typeface="Arial"/>
                <a:sym typeface="Arial"/>
              </a:rPr>
              <a:t>		if(</a:t>
            </a:r>
            <a:r>
              <a:rPr lang="en-US" sz="1943" dirty="0" err="1">
                <a:solidFill>
                  <a:schemeClr val="tx1"/>
                </a:solidFill>
                <a:latin typeface="Arial"/>
                <a:ea typeface="Arial"/>
                <a:cs typeface="Arial"/>
                <a:sym typeface="Arial"/>
              </a:rPr>
              <a:t>val</a:t>
            </a:r>
            <a:r>
              <a:rPr lang="en-US" sz="1943" dirty="0">
                <a:solidFill>
                  <a:schemeClr val="tx1"/>
                </a:solidFill>
                <a:latin typeface="Arial"/>
                <a:ea typeface="Arial"/>
                <a:cs typeface="Arial"/>
                <a:sym typeface="Arial"/>
              </a:rPr>
              <a:t>&gt;2000)</a:t>
            </a:r>
            <a:endParaRPr dirty="0">
              <a:solidFill>
                <a:schemeClr val="tx1"/>
              </a:solidFill>
            </a:endParaRPr>
          </a:p>
          <a:p>
            <a:pPr marL="214313" lvl="0" indent="-214313" algn="l" rtl="0">
              <a:lnSpc>
                <a:spcPct val="90000"/>
              </a:lnSpc>
              <a:spcBef>
                <a:spcPts val="839"/>
              </a:spcBef>
              <a:spcAft>
                <a:spcPts val="0"/>
              </a:spcAft>
              <a:buSzPts val="2072"/>
              <a:buNone/>
            </a:pPr>
            <a:r>
              <a:rPr lang="en-US" sz="1943" dirty="0">
                <a:solidFill>
                  <a:schemeClr val="tx1"/>
                </a:solidFill>
                <a:latin typeface="Arial"/>
                <a:ea typeface="Arial"/>
                <a:cs typeface="Arial"/>
                <a:sym typeface="Arial"/>
              </a:rPr>
              <a:t>		break;</a:t>
            </a:r>
            <a:endParaRPr dirty="0">
              <a:solidFill>
                <a:schemeClr val="tx1"/>
              </a:solidFill>
            </a:endParaRPr>
          </a:p>
          <a:p>
            <a:pPr marL="214313" lvl="0" indent="-214313" algn="l" rtl="0">
              <a:lnSpc>
                <a:spcPct val="90000"/>
              </a:lnSpc>
              <a:spcBef>
                <a:spcPts val="839"/>
              </a:spcBef>
              <a:spcAft>
                <a:spcPts val="0"/>
              </a:spcAft>
              <a:buSzPts val="2072"/>
              <a:buNone/>
            </a:pPr>
            <a:r>
              <a:rPr lang="en-US" sz="1943" dirty="0">
                <a:solidFill>
                  <a:schemeClr val="tx1"/>
                </a:solidFill>
                <a:latin typeface="Arial"/>
                <a:ea typeface="Arial"/>
                <a:cs typeface="Arial"/>
                <a:sym typeface="Arial"/>
              </a:rPr>
              <a:t> 		…..</a:t>
            </a:r>
            <a:endParaRPr dirty="0">
              <a:solidFill>
                <a:schemeClr val="tx1"/>
              </a:solidFill>
            </a:endParaRPr>
          </a:p>
          <a:p>
            <a:pPr marL="214313" lvl="0" indent="-214313" algn="l" rtl="0">
              <a:lnSpc>
                <a:spcPct val="90000"/>
              </a:lnSpc>
              <a:spcBef>
                <a:spcPts val="839"/>
              </a:spcBef>
              <a:spcAft>
                <a:spcPts val="0"/>
              </a:spcAft>
              <a:buSzPts val="2072"/>
              <a:buNone/>
            </a:pPr>
            <a:r>
              <a:rPr lang="en-US" sz="1943"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90000"/>
              </a:lnSpc>
              <a:spcBef>
                <a:spcPts val="839"/>
              </a:spcBef>
              <a:spcAft>
                <a:spcPts val="0"/>
              </a:spcAft>
              <a:buSzPts val="2072"/>
              <a:buNone/>
            </a:pPr>
            <a:r>
              <a:rPr lang="en-US" sz="1943" dirty="0">
                <a:solidFill>
                  <a:schemeClr val="tx1"/>
                </a:solidFill>
                <a:latin typeface="Arial"/>
                <a:ea typeface="Arial"/>
                <a:cs typeface="Arial"/>
                <a:sym typeface="Arial"/>
              </a:rPr>
              <a:t>		} while (test expression);</a:t>
            </a:r>
            <a:endParaRPr dirty="0">
              <a:solidFill>
                <a:schemeClr val="tx1"/>
              </a:solidFill>
            </a:endParaRPr>
          </a:p>
          <a:p>
            <a:pPr marL="214313" lvl="0" indent="-214313" algn="l" rtl="0">
              <a:lnSpc>
                <a:spcPct val="90000"/>
              </a:lnSpc>
              <a:spcBef>
                <a:spcPts val="839"/>
              </a:spcBef>
              <a:spcAft>
                <a:spcPts val="0"/>
              </a:spcAft>
              <a:buSzPts val="2072"/>
              <a:buNone/>
            </a:pPr>
            <a:r>
              <a:rPr lang="en-US" sz="1943" dirty="0">
                <a:solidFill>
                  <a:schemeClr val="tx1"/>
                </a:solidFill>
                <a:latin typeface="Arial"/>
                <a:ea typeface="Arial"/>
                <a:cs typeface="Arial"/>
                <a:sym typeface="Arial"/>
              </a:rPr>
              <a:t>statement 3;</a:t>
            </a:r>
            <a:endParaRPr dirty="0">
              <a:solidFill>
                <a:schemeClr val="tx1"/>
              </a:solidFill>
            </a:endParaRPr>
          </a:p>
          <a:p>
            <a:pPr marL="214313" lvl="0" indent="-115634" algn="l" rtl="0">
              <a:lnSpc>
                <a:spcPct val="90000"/>
              </a:lnSpc>
              <a:spcBef>
                <a:spcPts val="839"/>
              </a:spcBef>
              <a:spcAft>
                <a:spcPts val="0"/>
              </a:spcAft>
              <a:buSzPts val="2072"/>
              <a:buNone/>
            </a:pPr>
            <a:endParaRPr sz="1943" dirty="0">
              <a:solidFill>
                <a:schemeClr val="lt1"/>
              </a:solidFill>
              <a:latin typeface="Arial"/>
              <a:ea typeface="Arial"/>
              <a:cs typeface="Arial"/>
              <a:sym typeface="Arial"/>
            </a:endParaRPr>
          </a:p>
        </p:txBody>
      </p:sp>
      <p:sp>
        <p:nvSpPr>
          <p:cNvPr id="9" name="Google Shape;561;p91"/>
          <p:cNvSpPr txBox="1">
            <a:spLocks/>
          </p:cNvSpPr>
          <p:nvPr/>
        </p:nvSpPr>
        <p:spPr>
          <a:xfrm>
            <a:off x="179512" y="1456094"/>
            <a:ext cx="6400800" cy="1130300"/>
          </a:xfrm>
          <a:prstGeom prst="rect">
            <a:avLst/>
          </a:prstGeom>
          <a:noFill/>
          <a:ln>
            <a:noFill/>
          </a:ln>
        </p:spPr>
        <p:txBody>
          <a:bodyPr spcFirstLastPara="1" wrap="square" lIns="68550" tIns="34275" rIns="68550" bIns="34275" anchor="ctr" anchorCtr="0">
            <a:normAutofit fontScale="9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smtClean="0">
                <a:latin typeface="Arial Black"/>
                <a:ea typeface="Arial Black"/>
                <a:cs typeface="Arial Black"/>
                <a:sym typeface="Arial Black"/>
              </a:rPr>
              <a:t>BREAK STATEMENT -EXAMPLE</a:t>
            </a:r>
            <a:endParaRPr lang="en-US" dirty="0"/>
          </a:p>
        </p:txBody>
      </p:sp>
    </p:spTree>
    <p:extLst>
      <p:ext uri="{BB962C8B-B14F-4D97-AF65-F5344CB8AC3E}">
        <p14:creationId xmlns:p14="http://schemas.microsoft.com/office/powerpoint/2010/main" val="11400591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14604"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9" name="Google Shape;568;p92"/>
          <p:cNvSpPr txBox="1">
            <a:spLocks noGrp="1"/>
          </p:cNvSpPr>
          <p:nvPr>
            <p:ph type="body" idx="1"/>
          </p:nvPr>
        </p:nvSpPr>
        <p:spPr>
          <a:xfrm>
            <a:off x="4139952" y="2420888"/>
            <a:ext cx="4716195" cy="3669030"/>
          </a:xfrm>
          <a:prstGeom prst="rect">
            <a:avLst/>
          </a:prstGeom>
          <a:noFill/>
          <a:ln>
            <a:noFill/>
          </a:ln>
        </p:spPr>
        <p:txBody>
          <a:bodyPr spcFirstLastPara="1" wrap="square" lIns="68550" tIns="34275" rIns="68550" bIns="34275" anchor="ctr" anchorCtr="0">
            <a:normAutofit fontScale="77500" lnSpcReduction="20000"/>
          </a:bodyPr>
          <a:lstStyle/>
          <a:p>
            <a:pPr marL="214313" lvl="0" indent="-214313" algn="l" rtl="0">
              <a:lnSpc>
                <a:spcPct val="100000"/>
              </a:lnSpc>
              <a:spcBef>
                <a:spcPts val="0"/>
              </a:spcBef>
              <a:spcAft>
                <a:spcPts val="0"/>
              </a:spcAft>
              <a:buSzPct val="64516"/>
              <a:buChar char="▶"/>
            </a:pPr>
            <a:r>
              <a:rPr lang="en-US" dirty="0" smtClean="0">
                <a:solidFill>
                  <a:schemeClr val="tx1"/>
                </a:solidFill>
                <a:latin typeface="Arial"/>
                <a:ea typeface="Arial"/>
                <a:cs typeface="Arial"/>
                <a:sym typeface="Arial"/>
              </a:rPr>
              <a:t>The continue statement is the another jump statement like the break as the both the statements skips over the part of code but the continue statement is some what different than the break. Instead of forcing for termination it forces for the next iteration of the loop to take place.</a:t>
            </a:r>
            <a:endParaRPr dirty="0">
              <a:solidFill>
                <a:schemeClr val="tx1"/>
              </a:solidFill>
            </a:endParaRPr>
          </a:p>
        </p:txBody>
      </p:sp>
      <p:sp>
        <p:nvSpPr>
          <p:cNvPr id="10" name="Google Shape;567;p92"/>
          <p:cNvSpPr txBox="1">
            <a:spLocks/>
          </p:cNvSpPr>
          <p:nvPr/>
        </p:nvSpPr>
        <p:spPr>
          <a:xfrm>
            <a:off x="683568" y="2114675"/>
            <a:ext cx="2810333" cy="3669030"/>
          </a:xfrm>
          <a:prstGeom prst="rect">
            <a:avLst/>
          </a:prstGeom>
          <a:noFill/>
          <a:ln>
            <a:noFill/>
          </a:ln>
        </p:spPr>
        <p:txBody>
          <a:bodyPr spcFirstLastPara="1" wrap="square" lIns="68550" tIns="34275" rIns="68550" bIns="34275"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r">
              <a:buClr>
                <a:schemeClr val="lt1"/>
              </a:buClr>
              <a:buSzPts val="3600"/>
            </a:pPr>
            <a:r>
              <a:rPr lang="en-US" dirty="0" smtClean="0">
                <a:latin typeface="Arial Black"/>
                <a:ea typeface="Arial Black"/>
                <a:cs typeface="Arial Black"/>
                <a:sym typeface="Arial Black"/>
              </a:rPr>
              <a:t>THE CONTINUE STATEMENT</a:t>
            </a:r>
            <a:endParaRPr lang="en-US" dirty="0"/>
          </a:p>
        </p:txBody>
      </p:sp>
    </p:spTree>
    <p:extLst>
      <p:ext uri="{BB962C8B-B14F-4D97-AF65-F5344CB8AC3E}">
        <p14:creationId xmlns:p14="http://schemas.microsoft.com/office/powerpoint/2010/main" val="4020256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lvl="0" algn="ctr">
              <a:buSzPts val="1800"/>
            </a:pPr>
            <a:r>
              <a:rPr lang="en-US" sz="1800" dirty="0">
                <a:latin typeface="Arial Black"/>
                <a:ea typeface="Arial Black"/>
                <a:cs typeface="Arial Black"/>
                <a:sym typeface="Arial Black"/>
              </a:rPr>
              <a:t>THE CONTINUE STATEMENT EXAMPLE</a:t>
            </a:r>
            <a:endParaRPr sz="1800" b="0" i="0" u="none" strike="noStrike" cap="none" dirty="0">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74;p93"/>
          <p:cNvSpPr txBox="1">
            <a:spLocks noGrp="1"/>
          </p:cNvSpPr>
          <p:nvPr>
            <p:ph type="body" idx="1"/>
          </p:nvPr>
        </p:nvSpPr>
        <p:spPr>
          <a:xfrm>
            <a:off x="2411760" y="3078745"/>
            <a:ext cx="6400800" cy="2711450"/>
          </a:xfrm>
          <a:prstGeom prst="rect">
            <a:avLst/>
          </a:prstGeom>
          <a:noFill/>
          <a:ln>
            <a:noFill/>
          </a:ln>
        </p:spPr>
        <p:txBody>
          <a:bodyPr spcFirstLastPara="1" wrap="square" lIns="68550" tIns="34275" rIns="68550" bIns="34275" anchor="ctr" anchorCtr="0">
            <a:normAutofit/>
          </a:bodyPr>
          <a:lstStyle/>
          <a:p>
            <a:pPr marL="214313" lvl="0" indent="-214313" algn="l" rtl="0">
              <a:lnSpc>
                <a:spcPct val="70000"/>
              </a:lnSpc>
              <a:spcBef>
                <a:spcPts val="0"/>
              </a:spcBef>
              <a:spcAft>
                <a:spcPts val="0"/>
              </a:spcAft>
              <a:buSzPts val="1736"/>
              <a:buNone/>
            </a:pPr>
            <a:r>
              <a:rPr lang="en-US" sz="1627" dirty="0">
                <a:solidFill>
                  <a:schemeClr val="tx1"/>
                </a:solidFill>
                <a:latin typeface="Arial"/>
                <a:ea typeface="Arial"/>
                <a:cs typeface="Arial"/>
                <a:sym typeface="Arial"/>
              </a:rPr>
              <a:t>while (test expression)</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if(condition)</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continue;</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statement 3;</a:t>
            </a:r>
            <a:endParaRPr dirty="0">
              <a:solidFill>
                <a:schemeClr val="tx1"/>
              </a:solidFill>
            </a:endParaRPr>
          </a:p>
          <a:p>
            <a:pPr marL="214313" lvl="0" indent="-131636" algn="l" rtl="0">
              <a:lnSpc>
                <a:spcPct val="70000"/>
              </a:lnSpc>
              <a:spcBef>
                <a:spcPts val="776"/>
              </a:spcBef>
              <a:spcAft>
                <a:spcPts val="0"/>
              </a:spcAft>
              <a:buSzPts val="1736"/>
              <a:buNone/>
            </a:pPr>
            <a:endParaRPr sz="1627"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50102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lvl="0" algn="ctr">
              <a:buSzPts val="1800"/>
            </a:pPr>
            <a:r>
              <a:rPr lang="en-US" sz="1800" dirty="0">
                <a:latin typeface="Arial Black"/>
                <a:ea typeface="Arial Black"/>
                <a:cs typeface="Arial Black"/>
                <a:sym typeface="Arial Black"/>
              </a:rPr>
              <a:t>THE CONTINUE STATEMENT EXAMPLE</a:t>
            </a:r>
            <a:endParaRPr sz="1800" b="0" i="0" u="none" strike="noStrike" cap="none" dirty="0">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80;p94"/>
          <p:cNvSpPr txBox="1">
            <a:spLocks noGrp="1"/>
          </p:cNvSpPr>
          <p:nvPr>
            <p:ph type="body" idx="1"/>
          </p:nvPr>
        </p:nvSpPr>
        <p:spPr>
          <a:xfrm>
            <a:off x="2699792" y="2780928"/>
            <a:ext cx="5829300" cy="3086100"/>
          </a:xfrm>
          <a:prstGeom prst="rect">
            <a:avLst/>
          </a:prstGeom>
          <a:noFill/>
          <a:ln>
            <a:noFill/>
          </a:ln>
        </p:spPr>
        <p:txBody>
          <a:bodyPr spcFirstLastPara="1" wrap="square" lIns="68550" tIns="34275" rIns="68550" bIns="34275" anchor="ctr" anchorCtr="0">
            <a:normAutofit/>
          </a:bodyPr>
          <a:lstStyle/>
          <a:p>
            <a:pPr marL="214313" lvl="0" indent="-214313" algn="l" rtl="0">
              <a:lnSpc>
                <a:spcPct val="70000"/>
              </a:lnSpc>
              <a:spcBef>
                <a:spcPts val="0"/>
              </a:spcBef>
              <a:spcAft>
                <a:spcPts val="0"/>
              </a:spcAft>
              <a:buSzPts val="2072"/>
              <a:buNone/>
            </a:pPr>
            <a:r>
              <a:rPr lang="en-US" sz="1943" dirty="0">
                <a:solidFill>
                  <a:schemeClr val="tx1"/>
                </a:solidFill>
                <a:latin typeface="Arial"/>
                <a:ea typeface="Arial"/>
                <a:cs typeface="Arial"/>
                <a:sym typeface="Arial"/>
              </a:rPr>
              <a:t>for (</a:t>
            </a:r>
            <a:r>
              <a:rPr lang="en-US" sz="1943" dirty="0" err="1">
                <a:solidFill>
                  <a:schemeClr val="tx1"/>
                </a:solidFill>
                <a:latin typeface="Arial"/>
                <a:ea typeface="Arial"/>
                <a:cs typeface="Arial"/>
                <a:sym typeface="Arial"/>
              </a:rPr>
              <a:t>int</a:t>
            </a:r>
            <a:r>
              <a:rPr lang="en-US" sz="1943" dirty="0">
                <a:solidFill>
                  <a:schemeClr val="tx1"/>
                </a:solidFill>
                <a:latin typeface="Arial"/>
                <a:ea typeface="Arial"/>
                <a:cs typeface="Arial"/>
                <a:sym typeface="Arial"/>
              </a:rPr>
              <a:t>;      test expression; </a:t>
            </a:r>
            <a:r>
              <a:rPr lang="en-US" sz="1943" dirty="0" err="1">
                <a:solidFill>
                  <a:schemeClr val="tx1"/>
                </a:solidFill>
                <a:latin typeface="Arial"/>
                <a:ea typeface="Arial"/>
                <a:cs typeface="Arial"/>
                <a:sym typeface="Arial"/>
              </a:rPr>
              <a:t>updateexpression</a:t>
            </a:r>
            <a:r>
              <a:rPr lang="en-US" sz="1943"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		if(condition)</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		continue;</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a:t>
            </a:r>
            <a:endParaRPr dirty="0">
              <a:solidFill>
                <a:schemeClr val="tx1"/>
              </a:solidFill>
            </a:endParaRPr>
          </a:p>
          <a:p>
            <a:pPr marL="214313" lvl="0" indent="-214313" algn="l" rtl="0">
              <a:lnSpc>
                <a:spcPct val="70000"/>
              </a:lnSpc>
              <a:spcBef>
                <a:spcPts val="839"/>
              </a:spcBef>
              <a:spcAft>
                <a:spcPts val="0"/>
              </a:spcAft>
              <a:buSzPts val="2072"/>
              <a:buNone/>
            </a:pPr>
            <a:r>
              <a:rPr lang="en-US" sz="1943" dirty="0">
                <a:solidFill>
                  <a:schemeClr val="tx1"/>
                </a:solidFill>
                <a:latin typeface="Arial"/>
                <a:ea typeface="Arial"/>
                <a:cs typeface="Arial"/>
                <a:sym typeface="Arial"/>
              </a:rPr>
              <a:t>statement 3;</a:t>
            </a:r>
            <a:endParaRPr dirty="0">
              <a:solidFill>
                <a:schemeClr val="tx1"/>
              </a:solidFill>
            </a:endParaRPr>
          </a:p>
          <a:p>
            <a:pPr marL="214313" lvl="0" indent="-115634" algn="l" rtl="0">
              <a:lnSpc>
                <a:spcPct val="70000"/>
              </a:lnSpc>
              <a:spcBef>
                <a:spcPts val="839"/>
              </a:spcBef>
              <a:spcAft>
                <a:spcPts val="0"/>
              </a:spcAft>
              <a:buSzPts val="2072"/>
              <a:buNone/>
            </a:pPr>
            <a:endParaRPr sz="1943"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1940368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lvl="0" algn="ctr">
              <a:buSzPts val="1800"/>
            </a:pPr>
            <a:r>
              <a:rPr lang="en-US" sz="1800" dirty="0">
                <a:latin typeface="Arial Black"/>
                <a:ea typeface="Arial Black"/>
                <a:cs typeface="Arial Black"/>
                <a:sym typeface="Arial Black"/>
              </a:rPr>
              <a:t>THE CONTINUE STATEMENT EXAMPLE</a:t>
            </a:r>
            <a:endParaRPr sz="1800" b="0" i="0" u="none" strike="noStrike" cap="none" dirty="0">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dirty="0">
                <a:solidFill>
                  <a:srgbClr val="FFFFFF"/>
                </a:solidFill>
                <a:latin typeface="Arial Black"/>
                <a:ea typeface="Arial Black"/>
                <a:cs typeface="Arial Black"/>
                <a:sym typeface="Arial Black"/>
              </a:rPr>
              <a:t>SEQUENCE</a:t>
            </a:r>
            <a:endParaRPr dirty="0"/>
          </a:p>
        </p:txBody>
      </p:sp>
      <p:sp>
        <p:nvSpPr>
          <p:cNvPr id="8" name="Google Shape;586;p95"/>
          <p:cNvSpPr txBox="1">
            <a:spLocks noGrp="1"/>
          </p:cNvSpPr>
          <p:nvPr>
            <p:ph type="body" idx="1"/>
          </p:nvPr>
        </p:nvSpPr>
        <p:spPr>
          <a:xfrm>
            <a:off x="2411760" y="3072255"/>
            <a:ext cx="6400800" cy="2711450"/>
          </a:xfrm>
          <a:prstGeom prst="rect">
            <a:avLst/>
          </a:prstGeom>
          <a:noFill/>
          <a:ln>
            <a:noFill/>
          </a:ln>
        </p:spPr>
        <p:txBody>
          <a:bodyPr spcFirstLastPara="1" wrap="square" lIns="68550" tIns="34275" rIns="68550" bIns="34275" anchor="ctr" anchorCtr="0">
            <a:normAutofit/>
          </a:bodyPr>
          <a:lstStyle/>
          <a:p>
            <a:pPr marL="214313" lvl="0" indent="-214313" algn="l" rtl="0">
              <a:lnSpc>
                <a:spcPct val="70000"/>
              </a:lnSpc>
              <a:spcBef>
                <a:spcPts val="0"/>
              </a:spcBef>
              <a:spcAft>
                <a:spcPts val="0"/>
              </a:spcAft>
              <a:buSzPts val="1736"/>
              <a:buNone/>
            </a:pPr>
            <a:r>
              <a:rPr lang="en-US" sz="1627" dirty="0">
                <a:solidFill>
                  <a:schemeClr val="tx1"/>
                </a:solidFill>
                <a:latin typeface="Arial"/>
                <a:ea typeface="Arial"/>
                <a:cs typeface="Arial"/>
                <a:sym typeface="Arial"/>
              </a:rPr>
              <a:t>do</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if(condition)</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continue;</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statement;</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 while (test expression);</a:t>
            </a:r>
            <a:endParaRPr dirty="0">
              <a:solidFill>
                <a:schemeClr val="tx1"/>
              </a:solidFill>
            </a:endParaRPr>
          </a:p>
          <a:p>
            <a:pPr marL="214313" lvl="0" indent="-214313" algn="l" rtl="0">
              <a:lnSpc>
                <a:spcPct val="70000"/>
              </a:lnSpc>
              <a:spcBef>
                <a:spcPts val="776"/>
              </a:spcBef>
              <a:spcAft>
                <a:spcPts val="0"/>
              </a:spcAft>
              <a:buSzPts val="1736"/>
              <a:buNone/>
            </a:pPr>
            <a:r>
              <a:rPr lang="en-US" sz="1627" dirty="0">
                <a:solidFill>
                  <a:schemeClr val="tx1"/>
                </a:solidFill>
                <a:latin typeface="Arial"/>
                <a:ea typeface="Arial"/>
                <a:cs typeface="Arial"/>
                <a:sym typeface="Arial"/>
              </a:rPr>
              <a:t>statement 3;</a:t>
            </a:r>
            <a:endParaRPr dirty="0">
              <a:solidFill>
                <a:schemeClr val="tx1"/>
              </a:solidFill>
            </a:endParaRPr>
          </a:p>
          <a:p>
            <a:pPr marL="214313" lvl="0" indent="-131636" algn="l" rtl="0">
              <a:lnSpc>
                <a:spcPct val="70000"/>
              </a:lnSpc>
              <a:spcBef>
                <a:spcPts val="776"/>
              </a:spcBef>
              <a:spcAft>
                <a:spcPts val="0"/>
              </a:spcAft>
              <a:buSzPts val="1736"/>
              <a:buNone/>
            </a:pPr>
            <a:endParaRPr sz="1627"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940813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26" descr="Picture 2"/>
          <p:cNvPicPr preferRelativeResize="0"/>
          <p:nvPr/>
        </p:nvPicPr>
        <p:blipFill rotWithShape="1">
          <a:blip r:embed="rId3">
            <a:alphaModFix/>
          </a:blip>
          <a:srcRect/>
          <a:stretch/>
        </p:blipFill>
        <p:spPr>
          <a:xfrm>
            <a:off x="-36512" y="-27384"/>
            <a:ext cx="9143999" cy="6900864"/>
          </a:xfrm>
          <a:prstGeom prst="rect">
            <a:avLst/>
          </a:prstGeom>
          <a:noFill/>
          <a:ln>
            <a:noFill/>
          </a:ln>
        </p:spPr>
      </p:pic>
      <p:pic>
        <p:nvPicPr>
          <p:cNvPr id="69" name="Google Shape;69;p26" descr="Picture 6"/>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70" name="Google Shape;70;p26"/>
          <p:cNvSpPr/>
          <p:nvPr/>
        </p:nvSpPr>
        <p:spPr>
          <a:xfrm>
            <a:off x="2275" y="1524000"/>
            <a:ext cx="9144000" cy="714375"/>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2" name="Google Shape;72;p26"/>
          <p:cNvSpPr/>
          <p:nvPr/>
        </p:nvSpPr>
        <p:spPr>
          <a:xfrm>
            <a:off x="0" y="2238375"/>
            <a:ext cx="8959362" cy="354533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73" name="Google Shape;73;p26"/>
          <p:cNvSpPr txBox="1">
            <a:spLocks noGrp="1"/>
          </p:cNvSpPr>
          <p:nvPr>
            <p:ph type="title"/>
          </p:nvPr>
        </p:nvSpPr>
        <p:spPr>
          <a:xfrm>
            <a:off x="5649533" y="1322792"/>
            <a:ext cx="2740500" cy="2649600"/>
          </a:xfrm>
          <a:prstGeom prst="rect">
            <a:avLst/>
          </a:prstGeom>
          <a:noFill/>
          <a:ln>
            <a:noFill/>
          </a:ln>
        </p:spPr>
        <p:txBody>
          <a:bodyPr spcFirstLastPara="1" wrap="square" lIns="68550" tIns="34275" rIns="68550" bIns="34275" anchor="b" anchorCtr="0">
            <a:normAutofit/>
          </a:bodyPr>
          <a:lstStyle/>
          <a:p>
            <a:pPr marL="0" lvl="0" indent="0" algn="l" rtl="0">
              <a:lnSpc>
                <a:spcPct val="100000"/>
              </a:lnSpc>
              <a:spcBef>
                <a:spcPts val="0"/>
              </a:spcBef>
              <a:spcAft>
                <a:spcPts val="0"/>
              </a:spcAft>
              <a:buClr>
                <a:srgbClr val="FFFFFF"/>
              </a:buClr>
              <a:buSzPts val="3600"/>
              <a:buNone/>
            </a:pPr>
            <a:r>
              <a:rPr lang="en-US" b="1">
                <a:solidFill>
                  <a:srgbClr val="FFFFFF"/>
                </a:solidFill>
                <a:latin typeface="Arial Black"/>
                <a:ea typeface="Arial Black"/>
                <a:cs typeface="Arial Black"/>
                <a:sym typeface="Arial Black"/>
              </a:rPr>
              <a:t>SEQUENCE</a:t>
            </a:r>
            <a:endParaRPr/>
          </a:p>
        </p:txBody>
      </p:sp>
      <p:sp>
        <p:nvSpPr>
          <p:cNvPr id="8" name="Google Shape;592;p96"/>
          <p:cNvSpPr txBox="1">
            <a:spLocks noGrp="1"/>
          </p:cNvSpPr>
          <p:nvPr>
            <p:ph type="body" idx="1"/>
          </p:nvPr>
        </p:nvSpPr>
        <p:spPr>
          <a:xfrm>
            <a:off x="2339752" y="2852936"/>
            <a:ext cx="6400800" cy="2711450"/>
          </a:xfrm>
          <a:prstGeom prst="rect">
            <a:avLst/>
          </a:prstGeom>
          <a:noFill/>
          <a:ln>
            <a:noFill/>
          </a:ln>
        </p:spPr>
        <p:txBody>
          <a:bodyPr spcFirstLastPara="1" wrap="square" lIns="68550" tIns="34275" rIns="68550" bIns="34275" anchor="ctr" anchorCtr="0">
            <a:normAutofit fontScale="85000" lnSpcReduction="20000"/>
          </a:bodyPr>
          <a:lstStyle/>
          <a:p>
            <a:pPr marL="214313" lvl="0" indent="-214313" algn="just" rtl="0">
              <a:lnSpc>
                <a:spcPct val="100000"/>
              </a:lnSpc>
              <a:spcBef>
                <a:spcPts val="0"/>
              </a:spcBef>
              <a:spcAft>
                <a:spcPts val="0"/>
              </a:spcAft>
              <a:buSzPct val="58823"/>
              <a:buChar char="▶"/>
            </a:pPr>
            <a:r>
              <a:rPr lang="en-US" dirty="0">
                <a:solidFill>
                  <a:schemeClr val="tx1"/>
                </a:solidFill>
                <a:latin typeface="Arial"/>
                <a:ea typeface="Arial"/>
                <a:cs typeface="Arial"/>
                <a:sym typeface="Arial"/>
              </a:rPr>
              <a:t>The exit() function causes the program to terminate as soon as it is encountered.</a:t>
            </a:r>
            <a:endParaRPr dirty="0">
              <a:solidFill>
                <a:schemeClr val="tx1"/>
              </a:solidFill>
            </a:endParaRPr>
          </a:p>
          <a:p>
            <a:pPr marL="214313" lvl="0" indent="-214313" algn="just" rtl="0">
              <a:lnSpc>
                <a:spcPct val="100000"/>
              </a:lnSpc>
              <a:spcBef>
                <a:spcPts val="750"/>
              </a:spcBef>
              <a:spcAft>
                <a:spcPts val="0"/>
              </a:spcAft>
              <a:buSzPct val="58823"/>
              <a:buChar char="▶"/>
            </a:pPr>
            <a:r>
              <a:rPr lang="en-US" dirty="0">
                <a:solidFill>
                  <a:schemeClr val="tx1"/>
                </a:solidFill>
                <a:latin typeface="Arial"/>
                <a:ea typeface="Arial"/>
                <a:cs typeface="Arial"/>
                <a:sym typeface="Arial"/>
              </a:rPr>
              <a:t>The exit() function is a C standard library function defined in </a:t>
            </a:r>
            <a:r>
              <a:rPr lang="en-US" dirty="0" err="1">
                <a:solidFill>
                  <a:schemeClr val="tx1"/>
                </a:solidFill>
                <a:latin typeface="Arial"/>
                <a:ea typeface="Arial"/>
                <a:cs typeface="Arial"/>
                <a:sym typeface="Arial"/>
              </a:rPr>
              <a:t>process.h</a:t>
            </a:r>
            <a:r>
              <a:rPr lang="en-US" dirty="0">
                <a:solidFill>
                  <a:schemeClr val="tx1"/>
                </a:solidFill>
                <a:latin typeface="Arial"/>
                <a:ea typeface="Arial"/>
                <a:cs typeface="Arial"/>
                <a:sym typeface="Arial"/>
              </a:rPr>
              <a:t> file.</a:t>
            </a:r>
            <a:endParaRPr dirty="0">
              <a:solidFill>
                <a:schemeClr val="tx1"/>
              </a:solidFill>
            </a:endParaRPr>
          </a:p>
          <a:p>
            <a:pPr marL="214313" lvl="0" indent="-214313" algn="just" rtl="0">
              <a:lnSpc>
                <a:spcPct val="100000"/>
              </a:lnSpc>
              <a:spcBef>
                <a:spcPts val="750"/>
              </a:spcBef>
              <a:spcAft>
                <a:spcPts val="0"/>
              </a:spcAft>
              <a:buSzPct val="58823"/>
              <a:buNone/>
            </a:pPr>
            <a:r>
              <a:rPr lang="en-US" dirty="0">
                <a:solidFill>
                  <a:schemeClr val="tx1"/>
                </a:solidFill>
                <a:latin typeface="Arial"/>
                <a:ea typeface="Arial"/>
                <a:cs typeface="Arial"/>
                <a:sym typeface="Arial"/>
              </a:rPr>
              <a:t>	which must be included in the program that uses exit() function</a:t>
            </a:r>
            <a:endParaRPr dirty="0">
              <a:solidFill>
                <a:schemeClr val="tx1"/>
              </a:solidFill>
            </a:endParaRPr>
          </a:p>
        </p:txBody>
      </p:sp>
      <p:sp>
        <p:nvSpPr>
          <p:cNvPr id="9" name="Google Shape;591;p96"/>
          <p:cNvSpPr txBox="1">
            <a:spLocks/>
          </p:cNvSpPr>
          <p:nvPr/>
        </p:nvSpPr>
        <p:spPr>
          <a:xfrm>
            <a:off x="323528" y="1425899"/>
            <a:ext cx="6400800" cy="1130300"/>
          </a:xfrm>
          <a:prstGeom prst="rect">
            <a:avLst/>
          </a:prstGeom>
          <a:noFill/>
          <a:ln>
            <a:noFill/>
          </a:ln>
        </p:spPr>
        <p:txBody>
          <a:bodyPr spcFirstLastPara="1" wrap="square" lIns="68550" tIns="34275" rIns="68550" bIns="34275" anchor="ctr" anchorCtr="0">
            <a:normAutofit fontScale="975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800"/>
              <a:buFont typeface="Calibri"/>
              <a:buNone/>
              <a:defRPr sz="4400" b="0" i="0" u="none" strike="noStrike" cap="none">
                <a:solidFill>
                  <a:srgbClr val="000000"/>
                </a:solidFill>
                <a:latin typeface="Calibri"/>
                <a:ea typeface="Calibri"/>
                <a:cs typeface="Calibri"/>
                <a:sym typeface="Calibri"/>
              </a:defRPr>
            </a:lvl9pPr>
          </a:lstStyle>
          <a:p>
            <a:pPr algn="l">
              <a:buClr>
                <a:schemeClr val="lt1"/>
              </a:buClr>
              <a:buSzPct val="90909"/>
            </a:pPr>
            <a:r>
              <a:rPr lang="en-US" dirty="0" smtClean="0">
                <a:latin typeface="Arial Black"/>
                <a:ea typeface="Arial Black"/>
                <a:cs typeface="Arial Black"/>
                <a:sym typeface="Arial Black"/>
              </a:rPr>
              <a:t>THE EXIT() FUNTION</a:t>
            </a:r>
            <a:endParaRPr lang="en-US" dirty="0"/>
          </a:p>
        </p:txBody>
      </p:sp>
    </p:spTree>
    <p:extLst>
      <p:ext uri="{BB962C8B-B14F-4D97-AF65-F5344CB8AC3E}">
        <p14:creationId xmlns:p14="http://schemas.microsoft.com/office/powerpoint/2010/main" val="465127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13"/>
          <p:cNvSpPr/>
          <p:nvPr/>
        </p:nvSpPr>
        <p:spPr>
          <a:xfrm>
            <a:off x="0" y="3214688"/>
            <a:ext cx="9144000" cy="3643313"/>
          </a:xfrm>
          <a:prstGeom prst="rect">
            <a:avLst/>
          </a:prstGeom>
          <a:solidFill>
            <a:srgbClr val="1F497D"/>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598" name="Google Shape;598;p13" descr="Picture 2"/>
          <p:cNvPicPr preferRelativeResize="0"/>
          <p:nvPr/>
        </p:nvPicPr>
        <p:blipFill rotWithShape="1">
          <a:blip r:embed="rId3">
            <a:alphaModFix/>
          </a:blip>
          <a:srcRect/>
          <a:stretch/>
        </p:blipFill>
        <p:spPr>
          <a:xfrm>
            <a:off x="1219200" y="361950"/>
            <a:ext cx="6705600" cy="2857500"/>
          </a:xfrm>
          <a:prstGeom prst="rect">
            <a:avLst/>
          </a:prstGeom>
          <a:noFill/>
          <a:ln>
            <a:noFill/>
          </a:ln>
        </p:spPr>
      </p:pic>
      <p:pic>
        <p:nvPicPr>
          <p:cNvPr id="599" name="Google Shape;599;p13" descr="Picture 3"/>
          <p:cNvPicPr preferRelativeResize="0"/>
          <p:nvPr/>
        </p:nvPicPr>
        <p:blipFill rotWithShape="1">
          <a:blip r:embed="rId4">
            <a:alphaModFix/>
          </a:blip>
          <a:srcRect/>
          <a:stretch/>
        </p:blipFill>
        <p:spPr>
          <a:xfrm>
            <a:off x="2433638" y="4000500"/>
            <a:ext cx="4276726" cy="571500"/>
          </a:xfrm>
          <a:prstGeom prst="rect">
            <a:avLst/>
          </a:prstGeom>
          <a:noFill/>
          <a:ln>
            <a:noFill/>
          </a:ln>
        </p:spPr>
      </p:pic>
      <p:pic>
        <p:nvPicPr>
          <p:cNvPr id="600" name="Google Shape;600;p13" descr="Picture 4"/>
          <p:cNvPicPr preferRelativeResize="0"/>
          <p:nvPr/>
        </p:nvPicPr>
        <p:blipFill rotWithShape="1">
          <a:blip r:embed="rId5">
            <a:alphaModFix/>
          </a:blip>
          <a:srcRect/>
          <a:stretch/>
        </p:blipFill>
        <p:spPr>
          <a:xfrm>
            <a:off x="3038475" y="4946650"/>
            <a:ext cx="3067050" cy="260350"/>
          </a:xfrm>
          <a:prstGeom prst="rect">
            <a:avLst/>
          </a:prstGeom>
          <a:noFill/>
          <a:ln>
            <a:noFill/>
          </a:ln>
        </p:spPr>
      </p:pic>
      <p:sp>
        <p:nvSpPr>
          <p:cNvPr id="601" name="Google Shape;601;p13"/>
          <p:cNvSpPr/>
          <p:nvPr/>
        </p:nvSpPr>
        <p:spPr>
          <a:xfrm>
            <a:off x="0" y="6003924"/>
            <a:ext cx="9144000" cy="357190"/>
          </a:xfrm>
          <a:prstGeom prst="rect">
            <a:avLst/>
          </a:prstGeom>
          <a:solidFill>
            <a:srgbClr val="FFFFFF"/>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2" name="Google Shape;602;p13"/>
          <p:cNvSpPr txBox="1"/>
          <p:nvPr/>
        </p:nvSpPr>
        <p:spPr>
          <a:xfrm>
            <a:off x="3249613" y="5997574"/>
            <a:ext cx="2644776" cy="624841"/>
          </a:xfrm>
          <a:prstGeom prst="rect">
            <a:avLst/>
          </a:prstGeom>
          <a:noFill/>
          <a:ln>
            <a:noFill/>
          </a:ln>
        </p:spPr>
        <p:txBody>
          <a:bodyPr spcFirstLastPara="1" wrap="square" lIns="45700" tIns="45700" rIns="45700" bIns="45700" anchor="t" anchorCtr="0">
            <a:spAutoFit/>
          </a:bodyPr>
          <a:lstStyle/>
          <a:p>
            <a:pPr marL="0" marR="0" lvl="0" indent="0" algn="ctr" rtl="0">
              <a:lnSpc>
                <a:spcPct val="100000"/>
              </a:lnSpc>
              <a:spcBef>
                <a:spcPts val="0"/>
              </a:spcBef>
              <a:spcAft>
                <a:spcPts val="0"/>
              </a:spcAft>
              <a:buClr>
                <a:srgbClr val="1F497D"/>
              </a:buClr>
              <a:buSzPts val="1800"/>
              <a:buFont typeface="Calibri"/>
              <a:buNone/>
            </a:pPr>
            <a:r>
              <a:rPr lang="en-US" sz="1800" b="0" i="0" u="none" strike="noStrike" cap="none">
                <a:solidFill>
                  <a:srgbClr val="1F497D"/>
                </a:solidFill>
                <a:latin typeface="Calibri"/>
                <a:ea typeface="Calibri"/>
                <a:cs typeface="Calibri"/>
                <a:sym typeface="Calibri"/>
              </a:rPr>
              <a:t>www.paruluniversity.ac.in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568</TotalTime>
  <Words>2048</Words>
  <Application>Microsoft Office PowerPoint</Application>
  <PresentationFormat>On-screen Show (4:3)</PresentationFormat>
  <Paragraphs>532</Paragraphs>
  <Slides>73</Slides>
  <Notes>73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Arial</vt:lpstr>
      <vt:lpstr>Calibri</vt:lpstr>
      <vt:lpstr>Arimo</vt:lpstr>
      <vt:lpstr>Century Gothic</vt:lpstr>
      <vt:lpstr>Arial Black</vt:lpstr>
      <vt:lpstr>Times New Roman</vt:lpstr>
      <vt:lpstr>Office Theme</vt:lpstr>
      <vt:lpstr>PowerPoint Presentation</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SEQUENCE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Prexa Desai</dc:creator>
  <cp:lastModifiedBy>HP</cp:lastModifiedBy>
  <cp:revision>16</cp:revision>
  <dcterms:modified xsi:type="dcterms:W3CDTF">2025-08-21T08:22:14Z</dcterms:modified>
</cp:coreProperties>
</file>