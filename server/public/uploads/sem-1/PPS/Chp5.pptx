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1"/>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84" r:id="rId24"/>
    <p:sldId id="285" r:id="rId25"/>
    <p:sldId id="313" r:id="rId26"/>
    <p:sldId id="299" r:id="rId27"/>
    <p:sldId id="303" r:id="rId28"/>
    <p:sldId id="312" r:id="rId29"/>
    <p:sldId id="314" r:id="rId30"/>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74" autoAdjust="0"/>
    <p:restoredTop sz="94660"/>
  </p:normalViewPr>
  <p:slideViewPr>
    <p:cSldViewPr>
      <p:cViewPr varScale="1">
        <p:scale>
          <a:sx n="82" d="100"/>
          <a:sy n="82" d="100"/>
        </p:scale>
        <p:origin x="-701" y="-91"/>
      </p:cViewPr>
      <p:guideLst>
        <p:guide orient="horz" pos="2880"/>
        <p:guide pos="216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55224BE2-C752-4BEE-B1A2-F34F53A8866C}" type="datetimeFigureOut">
              <a:rPr lang="en-IN" smtClean="0"/>
              <a:pPr/>
              <a:t>17-12-2025</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56340352-485C-40FA-B6D1-B2D1B844C9C5}" type="slidenum">
              <a:rPr lang="en-IN" smtClean="0"/>
              <a:pPr/>
              <a:t>‹#›</a:t>
            </a:fld>
            <a:endParaRPr lang="en-IN"/>
          </a:p>
        </p:txBody>
      </p:sp>
    </p:spTree>
    <p:extLst>
      <p:ext uri="{BB962C8B-B14F-4D97-AF65-F5344CB8AC3E}">
        <p14:creationId xmlns:p14="http://schemas.microsoft.com/office/powerpoint/2010/main" val="36823568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56340352-485C-40FA-B6D1-B2D1B844C9C5}" type="slidenum">
              <a:rPr lang="en-IN" smtClean="0"/>
              <a:pPr/>
              <a:t>23</a:t>
            </a:fld>
            <a:endParaRPr lang="en-IN"/>
          </a:p>
        </p:txBody>
      </p:sp>
    </p:spTree>
    <p:extLst>
      <p:ext uri="{BB962C8B-B14F-4D97-AF65-F5344CB8AC3E}">
        <p14:creationId xmlns:p14="http://schemas.microsoft.com/office/powerpoint/2010/main" val="38166947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56340352-485C-40FA-B6D1-B2D1B844C9C5}" type="slidenum">
              <a:rPr lang="en-IN" smtClean="0"/>
              <a:pPr/>
              <a:t>29</a:t>
            </a:fld>
            <a:endParaRPr lang="en-IN"/>
          </a:p>
        </p:txBody>
      </p:sp>
    </p:spTree>
    <p:extLst>
      <p:ext uri="{BB962C8B-B14F-4D97-AF65-F5344CB8AC3E}">
        <p14:creationId xmlns:p14="http://schemas.microsoft.com/office/powerpoint/2010/main" val="22843781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ctrTitle"/>
          </p:nvPr>
        </p:nvSpPr>
        <p:spPr>
          <a:xfrm>
            <a:off x="5046980" y="3079750"/>
            <a:ext cx="2098040" cy="559435"/>
          </a:xfrm>
          <a:prstGeom prst="rect">
            <a:avLst/>
          </a:prstGeom>
        </p:spPr>
        <p:txBody>
          <a:bodyPr wrap="square" lIns="0" tIns="0" rIns="0" bIns="0">
            <a:spAutoFit/>
          </a:bodyPr>
          <a:lstStyle>
            <a:lvl1pPr>
              <a:defRPr sz="3500" b="1" i="0">
                <a:solidFill>
                  <a:schemeClr val="tx1"/>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12/17/2025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bg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1700" b="1"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12/17/2025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bg1"/>
                </a:solidFill>
                <a:latin typeface="Calibri"/>
                <a:cs typeface="Calibri"/>
              </a:defRPr>
            </a:lvl1pPr>
          </a:lstStyle>
          <a:p>
            <a:endParaRPr/>
          </a:p>
        </p:txBody>
      </p:sp>
      <p:sp>
        <p:nvSpPr>
          <p:cNvPr id="3" name="Holder 3"/>
          <p:cNvSpPr>
            <a:spLocks noGrp="1"/>
          </p:cNvSpPr>
          <p:nvPr>
            <p:ph sz="half" idx="2"/>
          </p:nvPr>
        </p:nvSpPr>
        <p:spPr>
          <a:xfrm>
            <a:off x="1767077" y="2499105"/>
            <a:ext cx="3320415" cy="3578225"/>
          </a:xfrm>
          <a:prstGeom prst="rect">
            <a:avLst/>
          </a:prstGeom>
        </p:spPr>
        <p:txBody>
          <a:bodyPr wrap="square" lIns="0" tIns="0" rIns="0" bIns="0">
            <a:spAutoFit/>
          </a:bodyPr>
          <a:lstStyle>
            <a:lvl1pPr>
              <a:defRPr sz="1800" b="0" i="0">
                <a:solidFill>
                  <a:schemeClr val="tx1"/>
                </a:solidFill>
                <a:latin typeface="Arial MT"/>
                <a:cs typeface="Arial MT"/>
              </a:defRPr>
            </a:lvl1pPr>
          </a:lstStyle>
          <a:p>
            <a:endParaRPr/>
          </a:p>
        </p:txBody>
      </p:sp>
      <p:sp>
        <p:nvSpPr>
          <p:cNvPr id="4" name="Holder 4"/>
          <p:cNvSpPr>
            <a:spLocks noGrp="1"/>
          </p:cNvSpPr>
          <p:nvPr>
            <p:ph sz="half" idx="3"/>
          </p:nvPr>
        </p:nvSpPr>
        <p:spPr>
          <a:xfrm>
            <a:off x="6181344" y="2474976"/>
            <a:ext cx="4784090" cy="3773804"/>
          </a:xfrm>
          <a:prstGeom prst="rect">
            <a:avLst/>
          </a:prstGeom>
        </p:spPr>
        <p:txBody>
          <a:bodyPr wrap="square" lIns="0" tIns="0" rIns="0" bIns="0">
            <a:spAutoFit/>
          </a:bodyPr>
          <a:lstStyle>
            <a:lvl1pPr>
              <a:defRPr b="0" i="0">
                <a:solidFill>
                  <a:schemeClr val="tx1"/>
                </a:solidFill>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12/17/2025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bg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12/17/2025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12/17/2025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2191999" cy="6857997"/>
          </a:xfrm>
          <a:prstGeom prst="rect">
            <a:avLst/>
          </a:prstGeom>
        </p:spPr>
      </p:pic>
      <p:sp>
        <p:nvSpPr>
          <p:cNvPr id="17" name="bg object 17"/>
          <p:cNvSpPr/>
          <p:nvPr/>
        </p:nvSpPr>
        <p:spPr>
          <a:xfrm>
            <a:off x="0" y="1642872"/>
            <a:ext cx="12192000" cy="643255"/>
          </a:xfrm>
          <a:custGeom>
            <a:avLst/>
            <a:gdLst/>
            <a:ahLst/>
            <a:cxnLst/>
            <a:rect l="l" t="t" r="r" b="b"/>
            <a:pathLst>
              <a:path w="12192000" h="643255">
                <a:moveTo>
                  <a:pt x="12192000" y="0"/>
                </a:moveTo>
                <a:lnTo>
                  <a:pt x="0" y="0"/>
                </a:lnTo>
                <a:lnTo>
                  <a:pt x="0" y="643127"/>
                </a:lnTo>
                <a:lnTo>
                  <a:pt x="12192000" y="643127"/>
                </a:lnTo>
                <a:lnTo>
                  <a:pt x="12192000" y="0"/>
                </a:lnTo>
                <a:close/>
              </a:path>
            </a:pathLst>
          </a:custGeom>
          <a:solidFill>
            <a:srgbClr val="1F487C"/>
          </a:solidFill>
        </p:spPr>
        <p:txBody>
          <a:bodyPr wrap="square" lIns="0" tIns="0" rIns="0" bIns="0" rtlCol="0"/>
          <a:lstStyle/>
          <a:p>
            <a:endParaRPr/>
          </a:p>
        </p:txBody>
      </p:sp>
      <p:sp>
        <p:nvSpPr>
          <p:cNvPr id="2" name="Holder 2"/>
          <p:cNvSpPr>
            <a:spLocks noGrp="1"/>
          </p:cNvSpPr>
          <p:nvPr>
            <p:ph type="title"/>
          </p:nvPr>
        </p:nvSpPr>
        <p:spPr>
          <a:xfrm>
            <a:off x="332638" y="1695069"/>
            <a:ext cx="11526723" cy="513714"/>
          </a:xfrm>
          <a:prstGeom prst="rect">
            <a:avLst/>
          </a:prstGeom>
        </p:spPr>
        <p:txBody>
          <a:bodyPr wrap="square" lIns="0" tIns="0" rIns="0" bIns="0">
            <a:spAutoFit/>
          </a:bodyPr>
          <a:lstStyle>
            <a:lvl1pPr>
              <a:defRPr sz="3200" b="1" i="0">
                <a:solidFill>
                  <a:schemeClr val="bg1"/>
                </a:solidFill>
                <a:latin typeface="Calibri"/>
                <a:cs typeface="Calibri"/>
              </a:defRPr>
            </a:lvl1pPr>
          </a:lstStyle>
          <a:p>
            <a:endParaRPr/>
          </a:p>
        </p:txBody>
      </p:sp>
      <p:sp>
        <p:nvSpPr>
          <p:cNvPr id="3" name="Holder 3"/>
          <p:cNvSpPr>
            <a:spLocks noGrp="1"/>
          </p:cNvSpPr>
          <p:nvPr>
            <p:ph type="body" idx="1"/>
          </p:nvPr>
        </p:nvSpPr>
        <p:spPr>
          <a:xfrm>
            <a:off x="2782760" y="2274159"/>
            <a:ext cx="6626478" cy="3596004"/>
          </a:xfrm>
          <a:prstGeom prst="rect">
            <a:avLst/>
          </a:prstGeom>
        </p:spPr>
        <p:txBody>
          <a:bodyPr wrap="square" lIns="0" tIns="0" rIns="0" bIns="0">
            <a:spAutoFit/>
          </a:bodyPr>
          <a:lstStyle>
            <a:lvl1pPr>
              <a:defRPr sz="1700" b="1" i="0">
                <a:solidFill>
                  <a:schemeClr val="tx1"/>
                </a:solidFill>
                <a:latin typeface="Arial"/>
                <a:cs typeface="Aria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12/17/2025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www.geeksforgeeks.org/c-library-functions/" TargetMode="Externa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1999" cy="6857997"/>
          </a:xfrm>
          <a:prstGeom prst="rect">
            <a:avLst/>
          </a:prstGeom>
        </p:spPr>
      </p:pic>
      <p:grpSp>
        <p:nvGrpSpPr>
          <p:cNvPr id="3" name="object 3"/>
          <p:cNvGrpSpPr/>
          <p:nvPr/>
        </p:nvGrpSpPr>
        <p:grpSpPr>
          <a:xfrm>
            <a:off x="0" y="2572511"/>
            <a:ext cx="12192000" cy="2802636"/>
            <a:chOff x="0" y="2572511"/>
            <a:chExt cx="12192000" cy="2802636"/>
          </a:xfrm>
        </p:grpSpPr>
        <p:pic>
          <p:nvPicPr>
            <p:cNvPr id="4" name="object 4"/>
            <p:cNvPicPr/>
            <p:nvPr/>
          </p:nvPicPr>
          <p:blipFill>
            <a:blip r:embed="rId3" cstate="print"/>
            <a:stretch>
              <a:fillRect/>
            </a:stretch>
          </p:blipFill>
          <p:spPr>
            <a:xfrm>
              <a:off x="2476500" y="2572511"/>
              <a:ext cx="7240524" cy="2802636"/>
            </a:xfrm>
            <a:prstGeom prst="rect">
              <a:avLst/>
            </a:prstGeom>
          </p:spPr>
        </p:pic>
        <p:sp>
          <p:nvSpPr>
            <p:cNvPr id="5" name="object 5"/>
            <p:cNvSpPr/>
            <p:nvPr/>
          </p:nvSpPr>
          <p:spPr>
            <a:xfrm>
              <a:off x="0" y="3715511"/>
              <a:ext cx="12192000" cy="1056332"/>
            </a:xfrm>
            <a:custGeom>
              <a:avLst/>
              <a:gdLst/>
              <a:ahLst/>
              <a:cxnLst/>
              <a:rect l="l" t="t" r="r" b="b"/>
              <a:pathLst>
                <a:path w="12192000" h="713739">
                  <a:moveTo>
                    <a:pt x="12192000" y="0"/>
                  </a:moveTo>
                  <a:lnTo>
                    <a:pt x="0" y="0"/>
                  </a:lnTo>
                  <a:lnTo>
                    <a:pt x="0" y="713232"/>
                  </a:lnTo>
                  <a:lnTo>
                    <a:pt x="12192000" y="713232"/>
                  </a:lnTo>
                  <a:lnTo>
                    <a:pt x="12192000" y="0"/>
                  </a:lnTo>
                  <a:close/>
                </a:path>
              </a:pathLst>
            </a:custGeom>
            <a:solidFill>
              <a:srgbClr val="1F487C"/>
            </a:solidFill>
          </p:spPr>
          <p:txBody>
            <a:bodyPr wrap="square" lIns="0" tIns="0" rIns="0" bIns="0" rtlCol="0"/>
            <a:lstStyle/>
            <a:p>
              <a:endParaRPr>
                <a:solidFill>
                  <a:schemeClr val="accent1">
                    <a:lumMod val="40000"/>
                    <a:lumOff val="60000"/>
                  </a:schemeClr>
                </a:solidFill>
              </a:endParaRPr>
            </a:p>
          </p:txBody>
        </p:sp>
      </p:grpSp>
      <p:sp>
        <p:nvSpPr>
          <p:cNvPr id="6" name="object 6"/>
          <p:cNvSpPr txBox="1"/>
          <p:nvPr/>
        </p:nvSpPr>
        <p:spPr>
          <a:xfrm>
            <a:off x="381000" y="3705169"/>
            <a:ext cx="11582400" cy="566822"/>
          </a:xfrm>
          <a:prstGeom prst="rect">
            <a:avLst/>
          </a:prstGeom>
          <a:solidFill>
            <a:schemeClr val="accent1">
              <a:lumMod val="40000"/>
              <a:lumOff val="60000"/>
            </a:schemeClr>
          </a:solidFill>
        </p:spPr>
        <p:txBody>
          <a:bodyPr vert="horz" wrap="square" lIns="0" tIns="12700" rIns="0" bIns="0" rtlCol="0">
            <a:spAutoFit/>
          </a:bodyPr>
          <a:lstStyle/>
          <a:p>
            <a:pPr marL="12700" algn="ctr">
              <a:lnSpc>
                <a:spcPct val="100000"/>
              </a:lnSpc>
              <a:spcBef>
                <a:spcPts val="100"/>
              </a:spcBef>
            </a:pPr>
            <a:r>
              <a:rPr lang="en-US" sz="3500" b="1" spc="-5" dirty="0">
                <a:solidFill>
                  <a:srgbClr val="FFFFFF"/>
                </a:solidFill>
                <a:cs typeface="Calibri"/>
              </a:rPr>
              <a:t> </a:t>
            </a:r>
            <a:r>
              <a:rPr lang="en-IN" sz="3600" b="1" dirty="0"/>
              <a:t>Functions &amp; Recursion</a:t>
            </a:r>
            <a:endParaRPr sz="3500" dirty="0">
              <a:latin typeface="Calibri"/>
              <a:cs typeface="Calibri"/>
            </a:endParaRPr>
          </a:p>
        </p:txBody>
      </p:sp>
      <p:sp>
        <p:nvSpPr>
          <p:cNvPr id="7" name="object 7"/>
          <p:cNvSpPr txBox="1">
            <a:spLocks noGrp="1"/>
          </p:cNvSpPr>
          <p:nvPr>
            <p:ph type="ctrTitle"/>
          </p:nvPr>
        </p:nvSpPr>
        <p:spPr>
          <a:prstGeom prst="rect">
            <a:avLst/>
          </a:prstGeom>
        </p:spPr>
        <p:txBody>
          <a:bodyPr vert="horz" wrap="square" lIns="0" tIns="13335" rIns="0" bIns="0" rtlCol="0">
            <a:spAutoFit/>
          </a:bodyPr>
          <a:lstStyle/>
          <a:p>
            <a:pPr marL="13970">
              <a:lnSpc>
                <a:spcPct val="100000"/>
              </a:lnSpc>
              <a:spcBef>
                <a:spcPts val="105"/>
              </a:spcBef>
            </a:pPr>
            <a:r>
              <a:rPr spc="-5" dirty="0"/>
              <a:t>CHAPTER-</a:t>
            </a:r>
            <a:r>
              <a:rPr lang="en-US" spc="-5" dirty="0"/>
              <a:t>5</a:t>
            </a:r>
            <a:endParaRPr spc="-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2638" y="1695069"/>
            <a:ext cx="1545590" cy="513715"/>
          </a:xfrm>
          <a:prstGeom prst="rect">
            <a:avLst/>
          </a:prstGeom>
        </p:spPr>
        <p:txBody>
          <a:bodyPr vert="horz" wrap="square" lIns="0" tIns="13335" rIns="0" bIns="0" rtlCol="0">
            <a:spAutoFit/>
          </a:bodyPr>
          <a:lstStyle/>
          <a:p>
            <a:pPr marL="12700">
              <a:lnSpc>
                <a:spcPct val="100000"/>
              </a:lnSpc>
              <a:spcBef>
                <a:spcPts val="105"/>
              </a:spcBef>
            </a:pPr>
            <a:r>
              <a:rPr spc="-5" dirty="0"/>
              <a:t>Contents</a:t>
            </a:r>
          </a:p>
        </p:txBody>
      </p:sp>
      <p:sp>
        <p:nvSpPr>
          <p:cNvPr id="3" name="object 3"/>
          <p:cNvSpPr txBox="1"/>
          <p:nvPr/>
        </p:nvSpPr>
        <p:spPr>
          <a:xfrm>
            <a:off x="489610" y="2618612"/>
            <a:ext cx="9416390" cy="1515158"/>
          </a:xfrm>
          <a:prstGeom prst="rect">
            <a:avLst/>
          </a:prstGeom>
        </p:spPr>
        <p:txBody>
          <a:bodyPr vert="horz" wrap="square" lIns="0" tIns="12065" rIns="0" bIns="0" rtlCol="0">
            <a:spAutoFit/>
          </a:bodyPr>
          <a:lstStyle/>
          <a:p>
            <a:pPr marL="526416" indent="-514350">
              <a:lnSpc>
                <a:spcPct val="100000"/>
              </a:lnSpc>
              <a:spcBef>
                <a:spcPts val="95"/>
              </a:spcBef>
              <a:buAutoNum type="arabicPeriod"/>
              <a:tabLst>
                <a:tab pos="419100" algn="l"/>
                <a:tab pos="419734" algn="l"/>
              </a:tabLst>
            </a:pPr>
            <a:r>
              <a:rPr lang="en-IN" sz="3200" b="1" dirty="0"/>
              <a:t>Functions </a:t>
            </a:r>
          </a:p>
          <a:p>
            <a:pPr marL="526416" indent="-514350">
              <a:lnSpc>
                <a:spcPct val="100000"/>
              </a:lnSpc>
              <a:spcBef>
                <a:spcPts val="95"/>
              </a:spcBef>
              <a:buAutoNum type="arabicPeriod"/>
              <a:tabLst>
                <a:tab pos="419100" algn="l"/>
                <a:tab pos="419734" algn="l"/>
              </a:tabLst>
            </a:pPr>
            <a:r>
              <a:rPr lang="en-IN" sz="3200" b="1" dirty="0"/>
              <a:t>Recursion </a:t>
            </a:r>
            <a:endParaRPr lang="en-US" sz="3200" b="1" spc="-5" dirty="0">
              <a:cs typeface="Calibri"/>
            </a:endParaRPr>
          </a:p>
          <a:p>
            <a:pPr marL="419100" indent="-407034">
              <a:lnSpc>
                <a:spcPct val="100000"/>
              </a:lnSpc>
              <a:spcBef>
                <a:spcPts val="95"/>
              </a:spcBef>
              <a:buAutoNum type="arabicPeriod"/>
              <a:tabLst>
                <a:tab pos="419100" algn="l"/>
                <a:tab pos="419734" algn="l"/>
              </a:tabLst>
            </a:pPr>
            <a:endParaRPr sz="3200" dirty="0">
              <a:cs typeface="Calibri"/>
            </a:endParaRPr>
          </a:p>
        </p:txBody>
      </p:sp>
      <p:sp>
        <p:nvSpPr>
          <p:cNvPr id="4" name="object 4"/>
          <p:cNvSpPr/>
          <p:nvPr/>
        </p:nvSpPr>
        <p:spPr>
          <a:xfrm>
            <a:off x="8752331" y="6071615"/>
            <a:ext cx="60960" cy="215265"/>
          </a:xfrm>
          <a:custGeom>
            <a:avLst/>
            <a:gdLst/>
            <a:ahLst/>
            <a:cxnLst/>
            <a:rect l="l" t="t" r="r" b="b"/>
            <a:pathLst>
              <a:path w="60959" h="215264">
                <a:moveTo>
                  <a:pt x="60959" y="0"/>
                </a:moveTo>
                <a:lnTo>
                  <a:pt x="0" y="0"/>
                </a:lnTo>
                <a:lnTo>
                  <a:pt x="0" y="214884"/>
                </a:lnTo>
                <a:lnTo>
                  <a:pt x="60959" y="214884"/>
                </a:lnTo>
                <a:lnTo>
                  <a:pt x="60959" y="0"/>
                </a:lnTo>
                <a:close/>
              </a:path>
            </a:pathLst>
          </a:custGeom>
          <a:solidFill>
            <a:srgbClr val="F1F1F1"/>
          </a:solidFill>
        </p:spPr>
        <p:txBody>
          <a:bodyPr wrap="square" lIns="0" tIns="0" rIns="0" bIns="0" rtlCol="0"/>
          <a:lstStyle/>
          <a:p>
            <a:endParaRPr/>
          </a:p>
        </p:txBody>
      </p:sp>
      <p:grpSp>
        <p:nvGrpSpPr>
          <p:cNvPr id="5" name="object 5"/>
          <p:cNvGrpSpPr/>
          <p:nvPr/>
        </p:nvGrpSpPr>
        <p:grpSpPr>
          <a:xfrm>
            <a:off x="8859011" y="6073140"/>
            <a:ext cx="3333115" cy="346075"/>
            <a:chOff x="8859011" y="6073140"/>
            <a:chExt cx="3333115" cy="346075"/>
          </a:xfrm>
        </p:grpSpPr>
        <p:sp>
          <p:nvSpPr>
            <p:cNvPr id="6" name="object 6"/>
            <p:cNvSpPr/>
            <p:nvPr/>
          </p:nvSpPr>
          <p:spPr>
            <a:xfrm>
              <a:off x="8859011" y="6073140"/>
              <a:ext cx="3333115" cy="215265"/>
            </a:xfrm>
            <a:custGeom>
              <a:avLst/>
              <a:gdLst/>
              <a:ahLst/>
              <a:cxnLst/>
              <a:rect l="l" t="t" r="r" b="b"/>
              <a:pathLst>
                <a:path w="3333115" h="215264">
                  <a:moveTo>
                    <a:pt x="3332988" y="0"/>
                  </a:moveTo>
                  <a:lnTo>
                    <a:pt x="0" y="0"/>
                  </a:lnTo>
                  <a:lnTo>
                    <a:pt x="0" y="214884"/>
                  </a:lnTo>
                  <a:lnTo>
                    <a:pt x="3332988" y="214884"/>
                  </a:lnTo>
                  <a:lnTo>
                    <a:pt x="3332988" y="0"/>
                  </a:lnTo>
                  <a:close/>
                </a:path>
              </a:pathLst>
            </a:custGeom>
            <a:solidFill>
              <a:srgbClr val="F1F1F1"/>
            </a:solidFill>
          </p:spPr>
          <p:txBody>
            <a:bodyPr wrap="square" lIns="0" tIns="0" rIns="0" bIns="0" rtlCol="0"/>
            <a:lstStyle/>
            <a:p>
              <a:endParaRPr/>
            </a:p>
          </p:txBody>
        </p:sp>
        <p:pic>
          <p:nvPicPr>
            <p:cNvPr id="7" name="object 7"/>
            <p:cNvPicPr/>
            <p:nvPr/>
          </p:nvPicPr>
          <p:blipFill>
            <a:blip r:embed="rId2" cstate="print"/>
            <a:stretch>
              <a:fillRect/>
            </a:stretch>
          </p:blipFill>
          <p:spPr>
            <a:xfrm>
              <a:off x="11399519" y="6214872"/>
              <a:ext cx="202692" cy="204215"/>
            </a:xfrm>
            <a:prstGeom prst="rect">
              <a:avLst/>
            </a:prstGeom>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8546" y="1695069"/>
            <a:ext cx="3240405" cy="513715"/>
          </a:xfrm>
          <a:prstGeom prst="rect">
            <a:avLst/>
          </a:prstGeom>
        </p:spPr>
        <p:txBody>
          <a:bodyPr vert="horz" wrap="square" lIns="0" tIns="13335" rIns="0" bIns="0" rtlCol="0">
            <a:spAutoFit/>
          </a:bodyPr>
          <a:lstStyle/>
          <a:p>
            <a:pPr marL="12700">
              <a:lnSpc>
                <a:spcPct val="100000"/>
              </a:lnSpc>
              <a:spcBef>
                <a:spcPts val="105"/>
              </a:spcBef>
            </a:pPr>
            <a:r>
              <a:rPr spc="-5" dirty="0"/>
              <a:t>1.</a:t>
            </a:r>
            <a:r>
              <a:rPr spc="170" dirty="0"/>
              <a:t> </a:t>
            </a:r>
            <a:r>
              <a:rPr lang="en-US" spc="-5" dirty="0"/>
              <a:t>Function :</a:t>
            </a:r>
            <a:endParaRPr spc="-5" dirty="0"/>
          </a:p>
        </p:txBody>
      </p:sp>
      <p:sp>
        <p:nvSpPr>
          <p:cNvPr id="3" name="object 3"/>
          <p:cNvSpPr txBox="1"/>
          <p:nvPr/>
        </p:nvSpPr>
        <p:spPr>
          <a:xfrm>
            <a:off x="630427" y="2627844"/>
            <a:ext cx="10215880" cy="3041217"/>
          </a:xfrm>
          <a:prstGeom prst="rect">
            <a:avLst/>
          </a:prstGeom>
        </p:spPr>
        <p:txBody>
          <a:bodyPr vert="horz" wrap="square" lIns="0" tIns="12065" rIns="0" bIns="0" rtlCol="0">
            <a:spAutoFit/>
          </a:bodyPr>
          <a:lstStyle/>
          <a:p>
            <a:pPr marL="381000" indent="-368935">
              <a:lnSpc>
                <a:spcPct val="100000"/>
              </a:lnSpc>
              <a:spcBef>
                <a:spcPts val="95"/>
              </a:spcBef>
              <a:buFont typeface="Times New Roman"/>
              <a:buChar char="●"/>
              <a:tabLst>
                <a:tab pos="381000" algn="l"/>
                <a:tab pos="381635" algn="l"/>
              </a:tabLst>
            </a:pPr>
            <a:r>
              <a:rPr lang="en-IN" sz="2800" dirty="0"/>
              <a:t>A </a:t>
            </a:r>
            <a:r>
              <a:rPr lang="en-IN" sz="2800" b="1" dirty="0"/>
              <a:t>function in C </a:t>
            </a:r>
            <a:r>
              <a:rPr lang="en-IN" sz="2800" dirty="0"/>
              <a:t>is a set of statements that when called perform some specific task. </a:t>
            </a:r>
          </a:p>
          <a:p>
            <a:pPr marL="381000" indent="-368935">
              <a:lnSpc>
                <a:spcPct val="100000"/>
              </a:lnSpc>
              <a:spcBef>
                <a:spcPts val="95"/>
              </a:spcBef>
              <a:buFont typeface="Times New Roman"/>
              <a:buChar char="●"/>
              <a:tabLst>
                <a:tab pos="381000" algn="l"/>
                <a:tab pos="381635" algn="l"/>
              </a:tabLst>
            </a:pPr>
            <a:r>
              <a:rPr lang="en-IN" sz="2800" dirty="0"/>
              <a:t>It is the basic building block of a C program that provides modularity and code reusability. The programming statements of a function are enclosed within </a:t>
            </a:r>
            <a:r>
              <a:rPr lang="en-IN" sz="2800" b="1" dirty="0"/>
              <a:t>{ } braces</a:t>
            </a:r>
            <a:r>
              <a:rPr lang="en-IN" sz="2800" dirty="0"/>
              <a:t>, having certain meanings and performing certain operations. </a:t>
            </a:r>
          </a:p>
          <a:p>
            <a:pPr marL="381000" indent="-368935">
              <a:lnSpc>
                <a:spcPct val="100000"/>
              </a:lnSpc>
              <a:spcBef>
                <a:spcPts val="95"/>
              </a:spcBef>
              <a:buFont typeface="Times New Roman"/>
              <a:buChar char="●"/>
              <a:tabLst>
                <a:tab pos="381000" algn="l"/>
                <a:tab pos="381635" algn="l"/>
              </a:tabLst>
            </a:pPr>
            <a:r>
              <a:rPr lang="en-IN" sz="2800" dirty="0"/>
              <a:t>They are also called subroutines or procedures in other languages.</a:t>
            </a:r>
            <a:endParaRPr sz="2800" dirty="0">
              <a:cs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2638" y="1695069"/>
            <a:ext cx="5229962" cy="998350"/>
          </a:xfrm>
          <a:prstGeom prst="rect">
            <a:avLst/>
          </a:prstGeom>
        </p:spPr>
        <p:txBody>
          <a:bodyPr vert="horz" wrap="square" lIns="0" tIns="13335" rIns="0" bIns="0" rtlCol="0">
            <a:spAutoFit/>
          </a:bodyPr>
          <a:lstStyle/>
          <a:p>
            <a:pPr marL="12700">
              <a:spcBef>
                <a:spcPts val="105"/>
              </a:spcBef>
            </a:pPr>
            <a:r>
              <a:rPr lang="en-IN" dirty="0"/>
              <a:t>Syntax of Functions in C</a:t>
            </a:r>
            <a:br>
              <a:rPr lang="en-IN" dirty="0"/>
            </a:br>
            <a:endParaRPr dirty="0"/>
          </a:p>
        </p:txBody>
      </p:sp>
      <p:grpSp>
        <p:nvGrpSpPr>
          <p:cNvPr id="3" name="object 3"/>
          <p:cNvGrpSpPr/>
          <p:nvPr/>
        </p:nvGrpSpPr>
        <p:grpSpPr>
          <a:xfrm>
            <a:off x="1185481" y="2467165"/>
            <a:ext cx="11006646" cy="3956685"/>
            <a:chOff x="1185481" y="2467165"/>
            <a:chExt cx="11006646" cy="3956685"/>
          </a:xfrm>
        </p:grpSpPr>
        <p:sp>
          <p:nvSpPr>
            <p:cNvPr id="4" name="object 4"/>
            <p:cNvSpPr/>
            <p:nvPr/>
          </p:nvSpPr>
          <p:spPr>
            <a:xfrm>
              <a:off x="8859012" y="6073139"/>
              <a:ext cx="3333115" cy="215265"/>
            </a:xfrm>
            <a:custGeom>
              <a:avLst/>
              <a:gdLst/>
              <a:ahLst/>
              <a:cxnLst/>
              <a:rect l="l" t="t" r="r" b="b"/>
              <a:pathLst>
                <a:path w="3333115" h="215264">
                  <a:moveTo>
                    <a:pt x="3332988" y="0"/>
                  </a:moveTo>
                  <a:lnTo>
                    <a:pt x="0" y="0"/>
                  </a:lnTo>
                  <a:lnTo>
                    <a:pt x="0" y="214884"/>
                  </a:lnTo>
                  <a:lnTo>
                    <a:pt x="3332988" y="214884"/>
                  </a:lnTo>
                  <a:lnTo>
                    <a:pt x="3332988" y="0"/>
                  </a:lnTo>
                  <a:close/>
                </a:path>
              </a:pathLst>
            </a:custGeom>
            <a:solidFill>
              <a:srgbClr val="F1F1F1"/>
            </a:solidFill>
          </p:spPr>
          <p:txBody>
            <a:bodyPr wrap="square" lIns="0" tIns="0" rIns="0" bIns="0" rtlCol="0"/>
            <a:lstStyle/>
            <a:p>
              <a:endParaRPr/>
            </a:p>
          </p:txBody>
        </p:sp>
        <p:pic>
          <p:nvPicPr>
            <p:cNvPr id="5" name="object 5"/>
            <p:cNvPicPr/>
            <p:nvPr/>
          </p:nvPicPr>
          <p:blipFill>
            <a:blip r:embed="rId2" cstate="print"/>
            <a:stretch>
              <a:fillRect/>
            </a:stretch>
          </p:blipFill>
          <p:spPr>
            <a:xfrm>
              <a:off x="11399520" y="6214872"/>
              <a:ext cx="202692" cy="204215"/>
            </a:xfrm>
            <a:prstGeom prst="rect">
              <a:avLst/>
            </a:prstGeom>
          </p:spPr>
        </p:pic>
        <p:sp>
          <p:nvSpPr>
            <p:cNvPr id="6" name="object 6"/>
            <p:cNvSpPr/>
            <p:nvPr/>
          </p:nvSpPr>
          <p:spPr>
            <a:xfrm>
              <a:off x="8752332" y="6071616"/>
              <a:ext cx="60960" cy="215265"/>
            </a:xfrm>
            <a:custGeom>
              <a:avLst/>
              <a:gdLst/>
              <a:ahLst/>
              <a:cxnLst/>
              <a:rect l="l" t="t" r="r" b="b"/>
              <a:pathLst>
                <a:path w="60959" h="215264">
                  <a:moveTo>
                    <a:pt x="60959" y="0"/>
                  </a:moveTo>
                  <a:lnTo>
                    <a:pt x="0" y="0"/>
                  </a:lnTo>
                  <a:lnTo>
                    <a:pt x="0" y="214884"/>
                  </a:lnTo>
                  <a:lnTo>
                    <a:pt x="60959" y="214884"/>
                  </a:lnTo>
                  <a:lnTo>
                    <a:pt x="60959" y="0"/>
                  </a:lnTo>
                  <a:close/>
                </a:path>
              </a:pathLst>
            </a:custGeom>
            <a:solidFill>
              <a:srgbClr val="F1F1F1"/>
            </a:solidFill>
          </p:spPr>
          <p:txBody>
            <a:bodyPr wrap="square" lIns="0" tIns="0" rIns="0" bIns="0" rtlCol="0"/>
            <a:lstStyle/>
            <a:p>
              <a:endParaRPr/>
            </a:p>
          </p:txBody>
        </p:sp>
        <p:sp>
          <p:nvSpPr>
            <p:cNvPr id="8" name="object 8"/>
            <p:cNvSpPr/>
            <p:nvPr/>
          </p:nvSpPr>
          <p:spPr>
            <a:xfrm>
              <a:off x="1185481" y="2467165"/>
              <a:ext cx="9845675" cy="3956685"/>
            </a:xfrm>
            <a:custGeom>
              <a:avLst/>
              <a:gdLst/>
              <a:ahLst/>
              <a:cxnLst/>
              <a:rect l="l" t="t" r="r" b="b"/>
              <a:pathLst>
                <a:path w="9845675" h="3956685">
                  <a:moveTo>
                    <a:pt x="0" y="3956685"/>
                  </a:moveTo>
                  <a:lnTo>
                    <a:pt x="9845421" y="3956685"/>
                  </a:lnTo>
                  <a:lnTo>
                    <a:pt x="9845421" y="0"/>
                  </a:lnTo>
                  <a:lnTo>
                    <a:pt x="0" y="0"/>
                  </a:lnTo>
                  <a:lnTo>
                    <a:pt x="0" y="3956685"/>
                  </a:lnTo>
                  <a:close/>
                </a:path>
              </a:pathLst>
            </a:custGeom>
            <a:ln w="9525">
              <a:solidFill>
                <a:srgbClr val="666666"/>
              </a:solidFill>
            </a:ln>
          </p:spPr>
          <p:txBody>
            <a:bodyPr wrap="square" lIns="0" tIns="0" rIns="0" bIns="0" rtlCol="0"/>
            <a:lstStyle/>
            <a:p>
              <a:endParaRPr/>
            </a:p>
          </p:txBody>
        </p:sp>
      </p:grpSp>
      <p:sp>
        <p:nvSpPr>
          <p:cNvPr id="10" name="TextBox 9"/>
          <p:cNvSpPr txBox="1"/>
          <p:nvPr/>
        </p:nvSpPr>
        <p:spPr>
          <a:xfrm>
            <a:off x="1752600" y="2743200"/>
            <a:ext cx="7924800" cy="332841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en-IN" dirty="0"/>
          </a:p>
        </p:txBody>
      </p:sp>
      <p:sp>
        <p:nvSpPr>
          <p:cNvPr id="11" name="TextBox 10"/>
          <p:cNvSpPr txBox="1"/>
          <p:nvPr/>
        </p:nvSpPr>
        <p:spPr>
          <a:xfrm>
            <a:off x="2514600" y="3377624"/>
            <a:ext cx="6096000" cy="2031325"/>
          </a:xfrm>
          <a:prstGeom prst="rect">
            <a:avLst/>
          </a:prstGeom>
          <a:noFill/>
        </p:spPr>
        <p:txBody>
          <a:bodyPr wrap="square" rtlCol="0">
            <a:spAutoFit/>
          </a:bodyPr>
          <a:lstStyle/>
          <a:p>
            <a:endParaRPr lang="en-IN" b="1" dirty="0"/>
          </a:p>
          <a:p>
            <a:pPr fontAlgn="base"/>
            <a:r>
              <a:rPr lang="en-IN" dirty="0"/>
              <a:t>The syntax of function can be divided into 3 aspects:</a:t>
            </a:r>
          </a:p>
          <a:p>
            <a:pPr fontAlgn="base"/>
            <a:r>
              <a:rPr lang="en-IN" b="1" dirty="0"/>
              <a:t>Function Declaration</a:t>
            </a:r>
            <a:endParaRPr lang="en-IN" dirty="0"/>
          </a:p>
          <a:p>
            <a:pPr fontAlgn="base"/>
            <a:r>
              <a:rPr lang="en-IN" b="1" dirty="0"/>
              <a:t>Function Definition</a:t>
            </a:r>
            <a:endParaRPr lang="en-IN" dirty="0"/>
          </a:p>
          <a:p>
            <a:pPr fontAlgn="base"/>
            <a:r>
              <a:rPr lang="en-IN" b="1" dirty="0"/>
              <a:t>Function Calls</a:t>
            </a:r>
            <a:endParaRPr lang="en-IN" dirty="0"/>
          </a:p>
          <a:p>
            <a:endParaRPr lang="en-IN" b="1" dirty="0"/>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2638" y="1695069"/>
            <a:ext cx="3740150" cy="998350"/>
          </a:xfrm>
          <a:prstGeom prst="rect">
            <a:avLst/>
          </a:prstGeom>
        </p:spPr>
        <p:txBody>
          <a:bodyPr vert="horz" wrap="square" lIns="0" tIns="13335" rIns="0" bIns="0" rtlCol="0">
            <a:spAutoFit/>
          </a:bodyPr>
          <a:lstStyle/>
          <a:p>
            <a:pPr marL="12700">
              <a:spcBef>
                <a:spcPts val="105"/>
              </a:spcBef>
            </a:pPr>
            <a:r>
              <a:rPr lang="en-IN" dirty="0"/>
              <a:t>Function Declarations</a:t>
            </a:r>
            <a:br>
              <a:rPr lang="en-IN" dirty="0"/>
            </a:br>
            <a:endParaRPr dirty="0"/>
          </a:p>
        </p:txBody>
      </p:sp>
      <p:sp>
        <p:nvSpPr>
          <p:cNvPr id="3" name="object 3"/>
          <p:cNvSpPr txBox="1"/>
          <p:nvPr/>
        </p:nvSpPr>
        <p:spPr>
          <a:xfrm>
            <a:off x="644144" y="2503122"/>
            <a:ext cx="4031108" cy="3590085"/>
          </a:xfrm>
          <a:prstGeom prst="rect">
            <a:avLst/>
          </a:prstGeom>
        </p:spPr>
        <p:txBody>
          <a:bodyPr vert="horz" wrap="square" lIns="0" tIns="12065" rIns="0" bIns="0" rtlCol="0">
            <a:spAutoFit/>
          </a:bodyPr>
          <a:lstStyle/>
          <a:p>
            <a:pPr marL="367665" marR="5080" indent="-355600">
              <a:lnSpc>
                <a:spcPct val="114999"/>
              </a:lnSpc>
              <a:spcBef>
                <a:spcPts val="95"/>
              </a:spcBef>
              <a:buFont typeface="Times New Roman"/>
              <a:buChar char="●"/>
              <a:tabLst>
                <a:tab pos="367665" algn="l"/>
                <a:tab pos="368300" algn="l"/>
              </a:tabLst>
            </a:pPr>
            <a:r>
              <a:rPr lang="en-IN" dirty="0"/>
              <a:t>In a function declaration, we must provide the function name, its return type, and the number and type of its parameters.</a:t>
            </a:r>
          </a:p>
          <a:p>
            <a:pPr marL="367665" marR="5080" indent="-355600">
              <a:lnSpc>
                <a:spcPct val="114999"/>
              </a:lnSpc>
              <a:spcBef>
                <a:spcPts val="95"/>
              </a:spcBef>
              <a:buFont typeface="Times New Roman"/>
              <a:buChar char="●"/>
              <a:tabLst>
                <a:tab pos="367665" algn="l"/>
                <a:tab pos="368300" algn="l"/>
              </a:tabLst>
            </a:pPr>
            <a:r>
              <a:rPr lang="en-IN" dirty="0"/>
              <a:t> A function declaration tells the compiler that there is a function with the given name defined somewhere else in the program.</a:t>
            </a:r>
          </a:p>
          <a:p>
            <a:pPr marL="367665" marR="5080" indent="-355600">
              <a:lnSpc>
                <a:spcPct val="114999"/>
              </a:lnSpc>
              <a:spcBef>
                <a:spcPts val="95"/>
              </a:spcBef>
              <a:buFont typeface="Times New Roman"/>
              <a:buChar char="●"/>
              <a:tabLst>
                <a:tab pos="367665" algn="l"/>
                <a:tab pos="368300" algn="l"/>
              </a:tabLst>
            </a:pPr>
            <a:r>
              <a:rPr lang="en-IN" sz="2000" b="1" u="sng" spc="55" dirty="0">
                <a:solidFill>
                  <a:schemeClr val="accent2">
                    <a:lumMod val="50000"/>
                  </a:schemeClr>
                </a:solidFill>
                <a:cs typeface="Roboto"/>
              </a:rPr>
              <a:t>Syntax:</a:t>
            </a:r>
          </a:p>
          <a:p>
            <a:pPr marL="367665" marR="5080" indent="-355600">
              <a:lnSpc>
                <a:spcPct val="114999"/>
              </a:lnSpc>
              <a:spcBef>
                <a:spcPts val="95"/>
              </a:spcBef>
              <a:buFont typeface="Times New Roman"/>
              <a:buChar char="●"/>
              <a:tabLst>
                <a:tab pos="367665" algn="l"/>
                <a:tab pos="368300" algn="l"/>
              </a:tabLst>
            </a:pPr>
            <a:r>
              <a:rPr lang="en-IN" b="1" spc="55" dirty="0" err="1">
                <a:solidFill>
                  <a:srgbClr val="434343"/>
                </a:solidFill>
                <a:cs typeface="Roboto"/>
              </a:rPr>
              <a:t>return_type</a:t>
            </a:r>
            <a:r>
              <a:rPr lang="en-IN" b="1" spc="55" dirty="0">
                <a:solidFill>
                  <a:srgbClr val="434343"/>
                </a:solidFill>
                <a:cs typeface="Roboto"/>
              </a:rPr>
              <a:t> </a:t>
            </a:r>
            <a:r>
              <a:rPr lang="en-IN" b="1" spc="55" dirty="0" err="1">
                <a:solidFill>
                  <a:srgbClr val="434343"/>
                </a:solidFill>
                <a:cs typeface="Roboto"/>
              </a:rPr>
              <a:t>name_of_the_function</a:t>
            </a:r>
            <a:r>
              <a:rPr lang="en-IN" b="1" spc="55" dirty="0">
                <a:solidFill>
                  <a:srgbClr val="434343"/>
                </a:solidFill>
                <a:cs typeface="Roboto"/>
              </a:rPr>
              <a:t> (parameter_1, parameter_2);</a:t>
            </a:r>
            <a:endParaRPr lang="en-US" b="1" spc="55" dirty="0">
              <a:solidFill>
                <a:srgbClr val="434343"/>
              </a:solidFill>
              <a:cs typeface="Roboto"/>
            </a:endParaRPr>
          </a:p>
        </p:txBody>
      </p:sp>
      <p:grpSp>
        <p:nvGrpSpPr>
          <p:cNvPr id="4" name="object 4"/>
          <p:cNvGrpSpPr/>
          <p:nvPr/>
        </p:nvGrpSpPr>
        <p:grpSpPr>
          <a:xfrm>
            <a:off x="11311128" y="6073140"/>
            <a:ext cx="881380" cy="346075"/>
            <a:chOff x="11311128" y="6073140"/>
            <a:chExt cx="881380" cy="346075"/>
          </a:xfrm>
        </p:grpSpPr>
        <p:sp>
          <p:nvSpPr>
            <p:cNvPr id="5" name="object 5"/>
            <p:cNvSpPr/>
            <p:nvPr/>
          </p:nvSpPr>
          <p:spPr>
            <a:xfrm>
              <a:off x="11311128" y="6073140"/>
              <a:ext cx="881380" cy="215265"/>
            </a:xfrm>
            <a:custGeom>
              <a:avLst/>
              <a:gdLst/>
              <a:ahLst/>
              <a:cxnLst/>
              <a:rect l="l" t="t" r="r" b="b"/>
              <a:pathLst>
                <a:path w="881379" h="215264">
                  <a:moveTo>
                    <a:pt x="0" y="214884"/>
                  </a:moveTo>
                  <a:lnTo>
                    <a:pt x="880872" y="214884"/>
                  </a:lnTo>
                  <a:lnTo>
                    <a:pt x="880872" y="0"/>
                  </a:lnTo>
                  <a:lnTo>
                    <a:pt x="0" y="0"/>
                  </a:lnTo>
                  <a:lnTo>
                    <a:pt x="0" y="214884"/>
                  </a:lnTo>
                  <a:close/>
                </a:path>
              </a:pathLst>
            </a:custGeom>
            <a:solidFill>
              <a:srgbClr val="F1F1F1"/>
            </a:solidFill>
          </p:spPr>
          <p:txBody>
            <a:bodyPr wrap="square" lIns="0" tIns="0" rIns="0" bIns="0" rtlCol="0"/>
            <a:lstStyle/>
            <a:p>
              <a:endParaRPr/>
            </a:p>
          </p:txBody>
        </p:sp>
        <p:pic>
          <p:nvPicPr>
            <p:cNvPr id="6" name="object 6"/>
            <p:cNvPicPr/>
            <p:nvPr/>
          </p:nvPicPr>
          <p:blipFill>
            <a:blip r:embed="rId2" cstate="print"/>
            <a:stretch>
              <a:fillRect/>
            </a:stretch>
          </p:blipFill>
          <p:spPr>
            <a:xfrm>
              <a:off x="11399520" y="6214872"/>
              <a:ext cx="202692" cy="204215"/>
            </a:xfrm>
            <a:prstGeom prst="rect">
              <a:avLst/>
            </a:prstGeom>
          </p:spPr>
        </p:pic>
      </p:grpSp>
      <p:sp>
        <p:nvSpPr>
          <p:cNvPr id="7" name="object 7"/>
          <p:cNvSpPr txBox="1"/>
          <p:nvPr/>
        </p:nvSpPr>
        <p:spPr>
          <a:xfrm rot="10800000">
            <a:off x="5566112" y="1868803"/>
            <a:ext cx="6547484" cy="730328"/>
          </a:xfrm>
          <a:prstGeom prst="rect">
            <a:avLst/>
          </a:prstGeom>
          <a:solidFill>
            <a:srgbClr val="CCCCCC"/>
          </a:solidFill>
        </p:spPr>
        <p:txBody>
          <a:bodyPr vert="horz" wrap="square" lIns="0" tIns="85725" rIns="0" bIns="0" rtlCol="0">
            <a:spAutoFit/>
          </a:bodyPr>
          <a:lstStyle/>
          <a:p>
            <a:pPr marL="91440" marR="4690745">
              <a:lnSpc>
                <a:spcPct val="100000"/>
              </a:lnSpc>
              <a:spcBef>
                <a:spcPts val="675"/>
              </a:spcBef>
            </a:pPr>
            <a:endParaRPr lang="en-US" b="1" dirty="0">
              <a:solidFill>
                <a:schemeClr val="bg1"/>
              </a:solidFill>
              <a:cs typeface="Arial MT"/>
            </a:endParaRPr>
          </a:p>
          <a:p>
            <a:pPr marL="91440" marR="4690745">
              <a:lnSpc>
                <a:spcPct val="100000"/>
              </a:lnSpc>
              <a:spcBef>
                <a:spcPts val="675"/>
              </a:spcBef>
            </a:pPr>
            <a:endParaRPr b="1" dirty="0">
              <a:solidFill>
                <a:schemeClr val="bg1"/>
              </a:solidFill>
              <a:cs typeface="Arial MT"/>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35417" y="2729813"/>
            <a:ext cx="6515710" cy="3835148"/>
          </a:xfrm>
          <a:prstGeom prst="rect">
            <a:avLst/>
          </a:prstGeom>
        </p:spPr>
      </p:pic>
      <p:sp>
        <p:nvSpPr>
          <p:cNvPr id="11" name="TextBox 10"/>
          <p:cNvSpPr txBox="1"/>
          <p:nvPr/>
        </p:nvSpPr>
        <p:spPr>
          <a:xfrm>
            <a:off x="5594037" y="1868802"/>
            <a:ext cx="6369364" cy="923330"/>
          </a:xfrm>
          <a:prstGeom prst="rect">
            <a:avLst/>
          </a:prstGeom>
          <a:noFill/>
        </p:spPr>
        <p:txBody>
          <a:bodyPr wrap="square" rtlCol="0">
            <a:spAutoFit/>
          </a:bodyPr>
          <a:lstStyle/>
          <a:p>
            <a:r>
              <a:rPr lang="en-IN" dirty="0">
                <a:solidFill>
                  <a:schemeClr val="tx2"/>
                </a:solidFill>
              </a:rPr>
              <a:t>The parameter name is not mandatory while declaring functions. We can also declare the function without using the name of the data variables.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2638" y="1695069"/>
            <a:ext cx="3705225" cy="513715"/>
          </a:xfrm>
          <a:prstGeom prst="rect">
            <a:avLst/>
          </a:prstGeom>
        </p:spPr>
        <p:txBody>
          <a:bodyPr vert="horz" wrap="square" lIns="0" tIns="13335" rIns="0" bIns="0" rtlCol="0">
            <a:spAutoFit/>
          </a:bodyPr>
          <a:lstStyle/>
          <a:p>
            <a:pPr fontAlgn="base"/>
            <a:r>
              <a:rPr lang="en-IN" dirty="0"/>
              <a:t>Function Definition</a:t>
            </a:r>
          </a:p>
        </p:txBody>
      </p:sp>
      <p:sp>
        <p:nvSpPr>
          <p:cNvPr id="10" name="object 9"/>
          <p:cNvSpPr txBox="1"/>
          <p:nvPr/>
        </p:nvSpPr>
        <p:spPr>
          <a:xfrm>
            <a:off x="609600" y="3962400"/>
            <a:ext cx="5486400" cy="1932580"/>
          </a:xfrm>
          <a:prstGeom prst="rect">
            <a:avLst/>
          </a:prstGeom>
          <a:solidFill>
            <a:srgbClr val="A3C2F4"/>
          </a:solidFill>
          <a:ln w="9525">
            <a:solidFill>
              <a:srgbClr val="434343"/>
            </a:solidFill>
          </a:ln>
        </p:spPr>
        <p:txBody>
          <a:bodyPr vert="horz" wrap="square" lIns="0" tIns="85090" rIns="0" bIns="0" rtlCol="0">
            <a:spAutoFit/>
          </a:bodyPr>
          <a:lstStyle/>
          <a:p>
            <a:pPr marL="90805">
              <a:lnSpc>
                <a:spcPct val="100000"/>
              </a:lnSpc>
              <a:spcBef>
                <a:spcPts val="670"/>
              </a:spcBef>
            </a:pPr>
            <a:r>
              <a:rPr lang="en-IN" sz="2000" dirty="0"/>
              <a:t>A C function is generally defined and declared in a single step because the function definition always starts with the function declaration so we do not need to declare it explicitly. The below example serves as both a function definition and a declaration.</a:t>
            </a:r>
            <a:endParaRPr sz="1800" dirty="0">
              <a:latin typeface="Arial MT"/>
              <a:cs typeface="Arial MT"/>
            </a:endParaRPr>
          </a:p>
        </p:txBody>
      </p:sp>
      <p:sp>
        <p:nvSpPr>
          <p:cNvPr id="12" name="TextBox 11"/>
          <p:cNvSpPr txBox="1"/>
          <p:nvPr/>
        </p:nvSpPr>
        <p:spPr>
          <a:xfrm>
            <a:off x="364483" y="2231600"/>
            <a:ext cx="7425112" cy="1366528"/>
          </a:xfrm>
          <a:prstGeom prst="rect">
            <a:avLst/>
          </a:prstGeom>
          <a:noFill/>
        </p:spPr>
        <p:txBody>
          <a:bodyPr wrap="square" rtlCol="0">
            <a:spAutoFit/>
          </a:bodyPr>
          <a:lstStyle/>
          <a:p>
            <a:pPr marL="12065" marR="5080">
              <a:lnSpc>
                <a:spcPct val="114999"/>
              </a:lnSpc>
              <a:spcBef>
                <a:spcPts val="95"/>
              </a:spcBef>
              <a:tabLst>
                <a:tab pos="367665" algn="l"/>
                <a:tab pos="368300" algn="l"/>
              </a:tabLst>
            </a:pPr>
            <a:r>
              <a:rPr lang="en-IN" sz="2400" dirty="0"/>
              <a:t>The function definition consists of actual statements which are executed when the function is called (i.e. when the program control comes to the function).</a:t>
            </a:r>
            <a:endParaRPr lang="en-US" sz="2400" b="1" spc="55" dirty="0">
              <a:solidFill>
                <a:srgbClr val="434343"/>
              </a:solidFill>
              <a:cs typeface="Roboto"/>
            </a:endParaRPr>
          </a:p>
        </p:txBody>
      </p:sp>
      <p:sp>
        <p:nvSpPr>
          <p:cNvPr id="3" name="TextBox 2"/>
          <p:cNvSpPr txBox="1"/>
          <p:nvPr/>
        </p:nvSpPr>
        <p:spPr>
          <a:xfrm>
            <a:off x="7543800" y="3598128"/>
            <a:ext cx="4267200" cy="1938992"/>
          </a:xfrm>
          <a:prstGeom prst="rect">
            <a:avLst/>
          </a:prstGeom>
          <a:noFill/>
        </p:spPr>
        <p:txBody>
          <a:bodyPr wrap="square" rtlCol="0">
            <a:spAutoFit/>
          </a:bodyPr>
          <a:lstStyle/>
          <a:p>
            <a:r>
              <a:rPr lang="en-IN" sz="2000" b="1" dirty="0" err="1">
                <a:solidFill>
                  <a:srgbClr val="FF0000"/>
                </a:solidFill>
              </a:rPr>
              <a:t>return_type</a:t>
            </a:r>
            <a:r>
              <a:rPr lang="en-IN" sz="2000" b="1" dirty="0">
                <a:solidFill>
                  <a:srgbClr val="FF0000"/>
                </a:solidFill>
              </a:rPr>
              <a:t> </a:t>
            </a:r>
            <a:r>
              <a:rPr lang="en-IN" sz="2000" b="1" dirty="0" err="1">
                <a:solidFill>
                  <a:srgbClr val="FF0000"/>
                </a:solidFill>
              </a:rPr>
              <a:t>function_name</a:t>
            </a:r>
            <a:r>
              <a:rPr lang="en-IN" sz="2000" b="1" dirty="0">
                <a:solidFill>
                  <a:srgbClr val="FF0000"/>
                </a:solidFill>
              </a:rPr>
              <a:t> (para1_type para1_name, para2_type para2_name)</a:t>
            </a:r>
          </a:p>
          <a:p>
            <a:r>
              <a:rPr lang="en-IN" sz="2000" b="1" dirty="0">
                <a:solidFill>
                  <a:srgbClr val="FF0000"/>
                </a:solidFill>
              </a:rPr>
              <a:t>{</a:t>
            </a:r>
          </a:p>
          <a:p>
            <a:r>
              <a:rPr lang="en-IN" sz="2000" b="1" dirty="0">
                <a:solidFill>
                  <a:srgbClr val="FF0000"/>
                </a:solidFill>
              </a:rPr>
              <a:t>    // body of the function</a:t>
            </a:r>
          </a:p>
          <a:p>
            <a:r>
              <a:rPr lang="en-IN" sz="2000" b="1" dirty="0">
                <a:solidFill>
                  <a:srgbClr val="FF0000"/>
                </a:solidFill>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2638" y="1695069"/>
            <a:ext cx="4737735" cy="513715"/>
          </a:xfrm>
          <a:prstGeom prst="rect">
            <a:avLst/>
          </a:prstGeom>
        </p:spPr>
        <p:txBody>
          <a:bodyPr vert="horz" wrap="square" lIns="0" tIns="13335" rIns="0" bIns="0" rtlCol="0">
            <a:spAutoFit/>
          </a:bodyPr>
          <a:lstStyle/>
          <a:p>
            <a:pPr marL="12700">
              <a:lnSpc>
                <a:spcPct val="100000"/>
              </a:lnSpc>
              <a:spcBef>
                <a:spcPts val="105"/>
              </a:spcBef>
            </a:pPr>
            <a:r>
              <a:rPr lang="en-US" dirty="0"/>
              <a:t>Structure :</a:t>
            </a:r>
            <a:endParaRPr dirty="0"/>
          </a:p>
        </p:txBody>
      </p:sp>
      <p:grpSp>
        <p:nvGrpSpPr>
          <p:cNvPr id="3" name="object 3"/>
          <p:cNvGrpSpPr/>
          <p:nvPr/>
        </p:nvGrpSpPr>
        <p:grpSpPr>
          <a:xfrm>
            <a:off x="10553700" y="6073140"/>
            <a:ext cx="1638300" cy="346075"/>
            <a:chOff x="10553700" y="6073140"/>
            <a:chExt cx="1638300" cy="346075"/>
          </a:xfrm>
        </p:grpSpPr>
        <p:sp>
          <p:nvSpPr>
            <p:cNvPr id="4" name="object 4"/>
            <p:cNvSpPr/>
            <p:nvPr/>
          </p:nvSpPr>
          <p:spPr>
            <a:xfrm>
              <a:off x="10553700" y="6073140"/>
              <a:ext cx="1638300" cy="215265"/>
            </a:xfrm>
            <a:custGeom>
              <a:avLst/>
              <a:gdLst/>
              <a:ahLst/>
              <a:cxnLst/>
              <a:rect l="l" t="t" r="r" b="b"/>
              <a:pathLst>
                <a:path w="1638300" h="215264">
                  <a:moveTo>
                    <a:pt x="0" y="214884"/>
                  </a:moveTo>
                  <a:lnTo>
                    <a:pt x="1638300" y="214884"/>
                  </a:lnTo>
                  <a:lnTo>
                    <a:pt x="1638300" y="0"/>
                  </a:lnTo>
                  <a:lnTo>
                    <a:pt x="0" y="0"/>
                  </a:lnTo>
                  <a:lnTo>
                    <a:pt x="0" y="214884"/>
                  </a:lnTo>
                  <a:close/>
                </a:path>
              </a:pathLst>
            </a:custGeom>
            <a:solidFill>
              <a:srgbClr val="F1F1F1"/>
            </a:solidFill>
          </p:spPr>
          <p:txBody>
            <a:bodyPr wrap="square" lIns="0" tIns="0" rIns="0" bIns="0" rtlCol="0"/>
            <a:lstStyle/>
            <a:p>
              <a:endParaRPr/>
            </a:p>
          </p:txBody>
        </p:sp>
        <p:pic>
          <p:nvPicPr>
            <p:cNvPr id="5" name="object 5"/>
            <p:cNvPicPr/>
            <p:nvPr/>
          </p:nvPicPr>
          <p:blipFill>
            <a:blip r:embed="rId2" cstate="print"/>
            <a:stretch>
              <a:fillRect/>
            </a:stretch>
          </p:blipFill>
          <p:spPr>
            <a:xfrm>
              <a:off x="11399519" y="6214872"/>
              <a:ext cx="202692" cy="204215"/>
            </a:xfrm>
            <a:prstGeom prst="rect">
              <a:avLst/>
            </a:prstGeom>
          </p:spPr>
        </p:pic>
      </p:grpSp>
      <p:sp>
        <p:nvSpPr>
          <p:cNvPr id="6" name="object 6"/>
          <p:cNvSpPr txBox="1"/>
          <p:nvPr/>
        </p:nvSpPr>
        <p:spPr>
          <a:xfrm>
            <a:off x="472440" y="2455823"/>
            <a:ext cx="10081260" cy="362279"/>
          </a:xfrm>
          <a:prstGeom prst="rect">
            <a:avLst/>
          </a:prstGeom>
          <a:solidFill>
            <a:srgbClr val="999999"/>
          </a:solidFill>
          <a:ln w="9525">
            <a:solidFill>
              <a:srgbClr val="434343"/>
            </a:solidFill>
          </a:ln>
        </p:spPr>
        <p:txBody>
          <a:bodyPr vert="horz" wrap="square" lIns="0" tIns="84455" rIns="0" bIns="0" rtlCol="0">
            <a:spAutoFit/>
          </a:bodyPr>
          <a:lstStyle/>
          <a:p>
            <a:pPr marL="90805">
              <a:lnSpc>
                <a:spcPct val="100000"/>
              </a:lnSpc>
              <a:spcBef>
                <a:spcPts val="665"/>
              </a:spcBef>
            </a:pPr>
            <a:endParaRPr dirty="0">
              <a:solidFill>
                <a:schemeClr val="bg1"/>
              </a:solidFill>
              <a:cs typeface="Arial MT"/>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3600" y="2468402"/>
            <a:ext cx="7151645" cy="395443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2638" y="1695069"/>
            <a:ext cx="5158740" cy="513715"/>
          </a:xfrm>
          <a:prstGeom prst="rect">
            <a:avLst/>
          </a:prstGeom>
        </p:spPr>
        <p:txBody>
          <a:bodyPr vert="horz" wrap="square" lIns="0" tIns="13335" rIns="0" bIns="0" rtlCol="0">
            <a:spAutoFit/>
          </a:bodyPr>
          <a:lstStyle/>
          <a:p>
            <a:pPr fontAlgn="base"/>
            <a:r>
              <a:rPr lang="en-IN" dirty="0"/>
              <a:t>Function Call:</a:t>
            </a:r>
          </a:p>
        </p:txBody>
      </p:sp>
      <p:sp>
        <p:nvSpPr>
          <p:cNvPr id="3" name="object 3"/>
          <p:cNvSpPr txBox="1"/>
          <p:nvPr/>
        </p:nvSpPr>
        <p:spPr>
          <a:xfrm>
            <a:off x="598423" y="2477414"/>
            <a:ext cx="10202545" cy="3029034"/>
          </a:xfrm>
          <a:prstGeom prst="rect">
            <a:avLst/>
          </a:prstGeom>
        </p:spPr>
        <p:txBody>
          <a:bodyPr vert="horz" wrap="square" lIns="0" tIns="12700" rIns="0" bIns="0" rtlCol="0">
            <a:spAutoFit/>
          </a:bodyPr>
          <a:lstStyle/>
          <a:p>
            <a:pPr fontAlgn="base"/>
            <a:r>
              <a:rPr lang="en-IN" sz="2800" dirty="0"/>
              <a:t>A function call is a statement that instructs the compiler to execute the function. We use the function name and parameters in the function call.</a:t>
            </a:r>
          </a:p>
          <a:p>
            <a:pPr fontAlgn="base"/>
            <a:r>
              <a:rPr lang="en-IN" sz="2800" dirty="0"/>
              <a:t>In the below example, the first sum function is called and 10,30 are passed to the sum function. After the function call sum of a and b is returned and control is also returned back to the main function of the program.</a:t>
            </a:r>
          </a:p>
        </p:txBody>
      </p:sp>
      <p:sp>
        <p:nvSpPr>
          <p:cNvPr id="4" name="object 4"/>
          <p:cNvSpPr/>
          <p:nvPr/>
        </p:nvSpPr>
        <p:spPr>
          <a:xfrm>
            <a:off x="8752331" y="6071615"/>
            <a:ext cx="60960" cy="215265"/>
          </a:xfrm>
          <a:custGeom>
            <a:avLst/>
            <a:gdLst/>
            <a:ahLst/>
            <a:cxnLst/>
            <a:rect l="l" t="t" r="r" b="b"/>
            <a:pathLst>
              <a:path w="60959" h="215264">
                <a:moveTo>
                  <a:pt x="60959" y="0"/>
                </a:moveTo>
                <a:lnTo>
                  <a:pt x="0" y="0"/>
                </a:lnTo>
                <a:lnTo>
                  <a:pt x="0" y="214884"/>
                </a:lnTo>
                <a:lnTo>
                  <a:pt x="60959" y="214884"/>
                </a:lnTo>
                <a:lnTo>
                  <a:pt x="60959" y="0"/>
                </a:lnTo>
                <a:close/>
              </a:path>
            </a:pathLst>
          </a:custGeom>
          <a:solidFill>
            <a:srgbClr val="F1F1F1"/>
          </a:solidFill>
        </p:spPr>
        <p:txBody>
          <a:bodyPr wrap="square" lIns="0" tIns="0" rIns="0" bIns="0" rtlCol="0"/>
          <a:lstStyle/>
          <a:p>
            <a:endParaRPr/>
          </a:p>
        </p:txBody>
      </p:sp>
      <p:grpSp>
        <p:nvGrpSpPr>
          <p:cNvPr id="5" name="object 5"/>
          <p:cNvGrpSpPr/>
          <p:nvPr/>
        </p:nvGrpSpPr>
        <p:grpSpPr>
          <a:xfrm>
            <a:off x="8859011" y="6073140"/>
            <a:ext cx="3333115" cy="346075"/>
            <a:chOff x="8859011" y="6073140"/>
            <a:chExt cx="3333115" cy="346075"/>
          </a:xfrm>
        </p:grpSpPr>
        <p:sp>
          <p:nvSpPr>
            <p:cNvPr id="6" name="object 6"/>
            <p:cNvSpPr/>
            <p:nvPr/>
          </p:nvSpPr>
          <p:spPr>
            <a:xfrm>
              <a:off x="8859011" y="6073140"/>
              <a:ext cx="3333115" cy="215265"/>
            </a:xfrm>
            <a:custGeom>
              <a:avLst/>
              <a:gdLst/>
              <a:ahLst/>
              <a:cxnLst/>
              <a:rect l="l" t="t" r="r" b="b"/>
              <a:pathLst>
                <a:path w="3333115" h="215264">
                  <a:moveTo>
                    <a:pt x="3332988" y="0"/>
                  </a:moveTo>
                  <a:lnTo>
                    <a:pt x="0" y="0"/>
                  </a:lnTo>
                  <a:lnTo>
                    <a:pt x="0" y="214884"/>
                  </a:lnTo>
                  <a:lnTo>
                    <a:pt x="3332988" y="214884"/>
                  </a:lnTo>
                  <a:lnTo>
                    <a:pt x="3332988" y="0"/>
                  </a:lnTo>
                  <a:close/>
                </a:path>
              </a:pathLst>
            </a:custGeom>
            <a:solidFill>
              <a:srgbClr val="F1F1F1"/>
            </a:solidFill>
          </p:spPr>
          <p:txBody>
            <a:bodyPr wrap="square" lIns="0" tIns="0" rIns="0" bIns="0" rtlCol="0"/>
            <a:lstStyle/>
            <a:p>
              <a:endParaRPr/>
            </a:p>
          </p:txBody>
        </p:sp>
        <p:pic>
          <p:nvPicPr>
            <p:cNvPr id="7" name="object 7"/>
            <p:cNvPicPr/>
            <p:nvPr/>
          </p:nvPicPr>
          <p:blipFill>
            <a:blip r:embed="rId2" cstate="print"/>
            <a:stretch>
              <a:fillRect/>
            </a:stretch>
          </p:blipFill>
          <p:spPr>
            <a:xfrm>
              <a:off x="11399519" y="6214872"/>
              <a:ext cx="202692" cy="204215"/>
            </a:xfrm>
            <a:prstGeom prst="rect">
              <a:avLst/>
            </a:prstGeom>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2638" y="1695069"/>
            <a:ext cx="6295390" cy="998350"/>
          </a:xfrm>
          <a:prstGeom prst="rect">
            <a:avLst/>
          </a:prstGeom>
        </p:spPr>
        <p:txBody>
          <a:bodyPr vert="horz" wrap="square" lIns="0" tIns="13335" rIns="0" bIns="0" rtlCol="0">
            <a:spAutoFit/>
          </a:bodyPr>
          <a:lstStyle/>
          <a:p>
            <a:pPr marL="12700">
              <a:lnSpc>
                <a:spcPct val="100000"/>
              </a:lnSpc>
              <a:spcBef>
                <a:spcPts val="105"/>
              </a:spcBef>
            </a:pPr>
            <a:r>
              <a:rPr lang="en-US" spc="-5" dirty="0"/>
              <a:t>Working concept :</a:t>
            </a:r>
            <a:br>
              <a:rPr lang="en-US" spc="-5" dirty="0"/>
            </a:br>
            <a:endParaRPr spc="-5" dirty="0"/>
          </a:p>
        </p:txBody>
      </p:sp>
      <p:pic>
        <p:nvPicPr>
          <p:cNvPr id="9" name="Picture 8"/>
          <p:cNvPicPr>
            <a:picLocks noChangeAspect="1"/>
          </p:cNvPicPr>
          <p:nvPr/>
        </p:nvPicPr>
        <p:blipFill>
          <a:blip r:embed="rId2"/>
          <a:stretch>
            <a:fillRect/>
          </a:stretch>
        </p:blipFill>
        <p:spPr>
          <a:xfrm>
            <a:off x="-6824" y="2362200"/>
            <a:ext cx="6934200" cy="4108152"/>
          </a:xfrm>
          <a:prstGeom prst="rect">
            <a:avLst/>
          </a:prstGeom>
        </p:spPr>
      </p:pic>
      <p:sp>
        <p:nvSpPr>
          <p:cNvPr id="10" name="TextBox 9"/>
          <p:cNvSpPr txBox="1"/>
          <p:nvPr/>
        </p:nvSpPr>
        <p:spPr>
          <a:xfrm>
            <a:off x="7696200" y="2693419"/>
            <a:ext cx="3886200" cy="1477328"/>
          </a:xfrm>
          <a:prstGeom prst="rect">
            <a:avLst/>
          </a:prstGeom>
          <a:noFill/>
        </p:spPr>
        <p:txBody>
          <a:bodyPr wrap="square" rtlCol="0">
            <a:spAutoFit/>
          </a:bodyPr>
          <a:lstStyle/>
          <a:p>
            <a:r>
              <a:rPr lang="en-IN" b="1" i="1" dirty="0">
                <a:solidFill>
                  <a:srgbClr val="FF0000"/>
                </a:solidFill>
              </a:rPr>
              <a:t>Note:</a:t>
            </a:r>
            <a:r>
              <a:rPr lang="en-IN" i="1" dirty="0">
                <a:solidFill>
                  <a:srgbClr val="FF0000"/>
                </a:solidFill>
              </a:rPr>
              <a:t> Function call is </a:t>
            </a:r>
            <a:r>
              <a:rPr lang="en-IN" i="1" dirty="0" err="1">
                <a:solidFill>
                  <a:srgbClr val="FF0000"/>
                </a:solidFill>
              </a:rPr>
              <a:t>neccessary</a:t>
            </a:r>
            <a:r>
              <a:rPr lang="en-IN" i="1" dirty="0">
                <a:solidFill>
                  <a:srgbClr val="FF0000"/>
                </a:solidFill>
              </a:rPr>
              <a:t> to bring the program control to the function definition. If not called, the function statements will not be executed.</a:t>
            </a:r>
            <a:endParaRPr lang="en-IN" dirty="0">
              <a:solidFill>
                <a:srgbClr val="FF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2638" y="1695069"/>
            <a:ext cx="6165215" cy="998350"/>
          </a:xfrm>
          <a:prstGeom prst="rect">
            <a:avLst/>
          </a:prstGeom>
        </p:spPr>
        <p:txBody>
          <a:bodyPr vert="horz" wrap="square" lIns="0" tIns="13335" rIns="0" bIns="0" rtlCol="0">
            <a:spAutoFit/>
          </a:bodyPr>
          <a:lstStyle/>
          <a:p>
            <a:pPr marL="12700">
              <a:lnSpc>
                <a:spcPct val="100000"/>
              </a:lnSpc>
              <a:spcBef>
                <a:spcPts val="105"/>
              </a:spcBef>
            </a:pPr>
            <a:r>
              <a:rPr lang="en-US" dirty="0"/>
              <a:t>Example:</a:t>
            </a:r>
            <a:br>
              <a:rPr lang="en-US" dirty="0"/>
            </a:br>
            <a:r>
              <a:rPr lang="en-US" dirty="0"/>
              <a:t>:</a:t>
            </a:r>
            <a:endParaRPr dirty="0"/>
          </a:p>
        </p:txBody>
      </p:sp>
      <p:grpSp>
        <p:nvGrpSpPr>
          <p:cNvPr id="3" name="object 3"/>
          <p:cNvGrpSpPr/>
          <p:nvPr/>
        </p:nvGrpSpPr>
        <p:grpSpPr>
          <a:xfrm>
            <a:off x="11292840" y="6073140"/>
            <a:ext cx="899160" cy="346075"/>
            <a:chOff x="11292840" y="6073140"/>
            <a:chExt cx="899160" cy="346075"/>
          </a:xfrm>
        </p:grpSpPr>
        <p:sp>
          <p:nvSpPr>
            <p:cNvPr id="4" name="object 4"/>
            <p:cNvSpPr/>
            <p:nvPr/>
          </p:nvSpPr>
          <p:spPr>
            <a:xfrm>
              <a:off x="11292840" y="6073140"/>
              <a:ext cx="899160" cy="215265"/>
            </a:xfrm>
            <a:custGeom>
              <a:avLst/>
              <a:gdLst/>
              <a:ahLst/>
              <a:cxnLst/>
              <a:rect l="l" t="t" r="r" b="b"/>
              <a:pathLst>
                <a:path w="899159" h="215264">
                  <a:moveTo>
                    <a:pt x="0" y="214884"/>
                  </a:moveTo>
                  <a:lnTo>
                    <a:pt x="899159" y="214884"/>
                  </a:lnTo>
                  <a:lnTo>
                    <a:pt x="899159" y="0"/>
                  </a:lnTo>
                  <a:lnTo>
                    <a:pt x="0" y="0"/>
                  </a:lnTo>
                  <a:lnTo>
                    <a:pt x="0" y="214884"/>
                  </a:lnTo>
                  <a:close/>
                </a:path>
              </a:pathLst>
            </a:custGeom>
            <a:solidFill>
              <a:srgbClr val="F1F1F1"/>
            </a:solidFill>
          </p:spPr>
          <p:txBody>
            <a:bodyPr wrap="square" lIns="0" tIns="0" rIns="0" bIns="0" rtlCol="0"/>
            <a:lstStyle/>
            <a:p>
              <a:endParaRPr/>
            </a:p>
          </p:txBody>
        </p:sp>
        <p:pic>
          <p:nvPicPr>
            <p:cNvPr id="5" name="object 5"/>
            <p:cNvPicPr/>
            <p:nvPr/>
          </p:nvPicPr>
          <p:blipFill>
            <a:blip r:embed="rId2" cstate="print"/>
            <a:stretch>
              <a:fillRect/>
            </a:stretch>
          </p:blipFill>
          <p:spPr>
            <a:xfrm>
              <a:off x="11399520" y="6214872"/>
              <a:ext cx="202692" cy="204215"/>
            </a:xfrm>
            <a:prstGeom prst="rect">
              <a:avLst/>
            </a:prstGeom>
          </p:spPr>
        </p:pic>
      </p:grpSp>
      <p:sp>
        <p:nvSpPr>
          <p:cNvPr id="7" name="object 7"/>
          <p:cNvSpPr txBox="1"/>
          <p:nvPr/>
        </p:nvSpPr>
        <p:spPr>
          <a:xfrm>
            <a:off x="685800" y="2239491"/>
            <a:ext cx="4648200" cy="4397999"/>
          </a:xfrm>
          <a:prstGeom prst="rect">
            <a:avLst/>
          </a:prstGeom>
          <a:solidFill>
            <a:srgbClr val="999999"/>
          </a:solidFill>
          <a:ln w="9525">
            <a:solidFill>
              <a:srgbClr val="434343"/>
            </a:solidFill>
          </a:ln>
        </p:spPr>
        <p:txBody>
          <a:bodyPr vert="horz" wrap="square" lIns="0" tIns="85725" rIns="0" bIns="0" rtlCol="0">
            <a:spAutoFit/>
          </a:bodyPr>
          <a:lstStyle/>
          <a:p>
            <a:pPr marL="92710">
              <a:lnSpc>
                <a:spcPct val="100000"/>
              </a:lnSpc>
              <a:spcBef>
                <a:spcPts val="675"/>
              </a:spcBef>
            </a:pPr>
            <a:r>
              <a:rPr lang="en-IN" spc="-5" dirty="0">
                <a:solidFill>
                  <a:schemeClr val="bg1"/>
                </a:solidFill>
                <a:cs typeface="Arial MT"/>
              </a:rPr>
              <a:t>// C program to show function</a:t>
            </a:r>
          </a:p>
          <a:p>
            <a:pPr marL="92710">
              <a:lnSpc>
                <a:spcPct val="100000"/>
              </a:lnSpc>
              <a:spcBef>
                <a:spcPts val="675"/>
              </a:spcBef>
            </a:pPr>
            <a:r>
              <a:rPr lang="en-IN" spc="-5" dirty="0">
                <a:solidFill>
                  <a:schemeClr val="bg1"/>
                </a:solidFill>
                <a:cs typeface="Arial MT"/>
              </a:rPr>
              <a:t>// call and definition</a:t>
            </a:r>
          </a:p>
          <a:p>
            <a:pPr marL="92710">
              <a:lnSpc>
                <a:spcPct val="100000"/>
              </a:lnSpc>
              <a:spcBef>
                <a:spcPts val="675"/>
              </a:spcBef>
            </a:pPr>
            <a:r>
              <a:rPr lang="en-IN" spc="-5" dirty="0">
                <a:solidFill>
                  <a:schemeClr val="bg1"/>
                </a:solidFill>
                <a:cs typeface="Arial MT"/>
              </a:rPr>
              <a:t>#include &lt;</a:t>
            </a:r>
            <a:r>
              <a:rPr lang="en-IN" spc="-5" dirty="0" err="1">
                <a:solidFill>
                  <a:schemeClr val="bg1"/>
                </a:solidFill>
                <a:cs typeface="Arial MT"/>
              </a:rPr>
              <a:t>stdio.h</a:t>
            </a:r>
            <a:r>
              <a:rPr lang="en-IN" spc="-5" dirty="0">
                <a:solidFill>
                  <a:schemeClr val="bg1"/>
                </a:solidFill>
                <a:cs typeface="Arial MT"/>
              </a:rPr>
              <a:t>&gt;</a:t>
            </a:r>
          </a:p>
          <a:p>
            <a:pPr marL="92710">
              <a:lnSpc>
                <a:spcPct val="100000"/>
              </a:lnSpc>
              <a:spcBef>
                <a:spcPts val="675"/>
              </a:spcBef>
            </a:pPr>
            <a:r>
              <a:rPr lang="en-IN" spc="-5" dirty="0">
                <a:solidFill>
                  <a:schemeClr val="bg1"/>
                </a:solidFill>
                <a:cs typeface="Arial MT"/>
              </a:rPr>
              <a:t> </a:t>
            </a:r>
          </a:p>
          <a:p>
            <a:pPr marL="92710">
              <a:lnSpc>
                <a:spcPct val="100000"/>
              </a:lnSpc>
              <a:spcBef>
                <a:spcPts val="675"/>
              </a:spcBef>
            </a:pPr>
            <a:r>
              <a:rPr lang="en-IN" spc="-5" dirty="0">
                <a:solidFill>
                  <a:schemeClr val="bg1"/>
                </a:solidFill>
                <a:cs typeface="Arial MT"/>
              </a:rPr>
              <a:t>// Function that takes two parameters</a:t>
            </a:r>
          </a:p>
          <a:p>
            <a:pPr marL="92710">
              <a:lnSpc>
                <a:spcPct val="100000"/>
              </a:lnSpc>
              <a:spcBef>
                <a:spcPts val="675"/>
              </a:spcBef>
            </a:pPr>
            <a:r>
              <a:rPr lang="en-IN" spc="-5" dirty="0">
                <a:solidFill>
                  <a:schemeClr val="bg1"/>
                </a:solidFill>
                <a:cs typeface="Arial MT"/>
              </a:rPr>
              <a:t>// a and b as inputs and returns</a:t>
            </a:r>
          </a:p>
          <a:p>
            <a:pPr marL="92710">
              <a:lnSpc>
                <a:spcPct val="100000"/>
              </a:lnSpc>
              <a:spcBef>
                <a:spcPts val="675"/>
              </a:spcBef>
            </a:pPr>
            <a:r>
              <a:rPr lang="en-IN" spc="-5" dirty="0">
                <a:solidFill>
                  <a:schemeClr val="bg1"/>
                </a:solidFill>
                <a:cs typeface="Arial MT"/>
              </a:rPr>
              <a:t>// their sum</a:t>
            </a:r>
          </a:p>
          <a:p>
            <a:pPr marL="92710">
              <a:lnSpc>
                <a:spcPct val="100000"/>
              </a:lnSpc>
              <a:spcBef>
                <a:spcPts val="675"/>
              </a:spcBef>
            </a:pPr>
            <a:r>
              <a:rPr lang="en-IN" spc="-5" dirty="0" err="1">
                <a:solidFill>
                  <a:schemeClr val="bg1"/>
                </a:solidFill>
                <a:cs typeface="Arial MT"/>
              </a:rPr>
              <a:t>int</a:t>
            </a:r>
            <a:r>
              <a:rPr lang="en-IN" spc="-5" dirty="0">
                <a:solidFill>
                  <a:schemeClr val="bg1"/>
                </a:solidFill>
                <a:cs typeface="Arial MT"/>
              </a:rPr>
              <a:t> sum(</a:t>
            </a:r>
            <a:r>
              <a:rPr lang="en-IN" spc="-5" dirty="0" err="1">
                <a:solidFill>
                  <a:schemeClr val="bg1"/>
                </a:solidFill>
                <a:cs typeface="Arial MT"/>
              </a:rPr>
              <a:t>int</a:t>
            </a:r>
            <a:r>
              <a:rPr lang="en-IN" spc="-5" dirty="0">
                <a:solidFill>
                  <a:schemeClr val="bg1"/>
                </a:solidFill>
                <a:cs typeface="Arial MT"/>
              </a:rPr>
              <a:t> a, </a:t>
            </a:r>
            <a:r>
              <a:rPr lang="en-IN" spc="-5" dirty="0" err="1">
                <a:solidFill>
                  <a:schemeClr val="bg1"/>
                </a:solidFill>
                <a:cs typeface="Arial MT"/>
              </a:rPr>
              <a:t>int</a:t>
            </a:r>
            <a:r>
              <a:rPr lang="en-IN" spc="-5" dirty="0">
                <a:solidFill>
                  <a:schemeClr val="bg1"/>
                </a:solidFill>
                <a:cs typeface="Arial MT"/>
              </a:rPr>
              <a:t> b)</a:t>
            </a:r>
          </a:p>
          <a:p>
            <a:pPr marL="92710">
              <a:lnSpc>
                <a:spcPct val="100000"/>
              </a:lnSpc>
              <a:spcBef>
                <a:spcPts val="675"/>
              </a:spcBef>
            </a:pPr>
            <a:r>
              <a:rPr lang="en-IN" spc="-5" dirty="0">
                <a:solidFill>
                  <a:schemeClr val="bg1"/>
                </a:solidFill>
                <a:cs typeface="Arial MT"/>
              </a:rPr>
              <a:t>{</a:t>
            </a:r>
          </a:p>
          <a:p>
            <a:pPr marL="92710">
              <a:lnSpc>
                <a:spcPct val="100000"/>
              </a:lnSpc>
              <a:spcBef>
                <a:spcPts val="675"/>
              </a:spcBef>
            </a:pPr>
            <a:r>
              <a:rPr lang="en-IN" spc="-5" dirty="0">
                <a:solidFill>
                  <a:schemeClr val="bg1"/>
                </a:solidFill>
                <a:cs typeface="Arial MT"/>
              </a:rPr>
              <a:t>  return a + b;</a:t>
            </a:r>
          </a:p>
          <a:p>
            <a:pPr marL="92710">
              <a:lnSpc>
                <a:spcPct val="100000"/>
              </a:lnSpc>
              <a:spcBef>
                <a:spcPts val="675"/>
              </a:spcBef>
            </a:pPr>
            <a:r>
              <a:rPr lang="en-IN" spc="-5" dirty="0">
                <a:solidFill>
                  <a:schemeClr val="bg1"/>
                </a:solidFill>
                <a:cs typeface="Arial MT"/>
              </a:rPr>
              <a:t>}</a:t>
            </a:r>
          </a:p>
          <a:p>
            <a:pPr marL="92710">
              <a:lnSpc>
                <a:spcPct val="100000"/>
              </a:lnSpc>
              <a:spcBef>
                <a:spcPts val="675"/>
              </a:spcBef>
            </a:pPr>
            <a:r>
              <a:rPr lang="en-IN" spc="-5" dirty="0">
                <a:solidFill>
                  <a:schemeClr val="bg1"/>
                </a:solidFill>
                <a:cs typeface="Arial MT"/>
              </a:rPr>
              <a:t> </a:t>
            </a:r>
            <a:endParaRPr sz="1800" dirty="0">
              <a:solidFill>
                <a:schemeClr val="bg1"/>
              </a:solidFill>
              <a:cs typeface="Arial MT"/>
            </a:endParaRPr>
          </a:p>
        </p:txBody>
      </p:sp>
      <p:sp>
        <p:nvSpPr>
          <p:cNvPr id="13" name="TextBox 12"/>
          <p:cNvSpPr txBox="1"/>
          <p:nvPr/>
        </p:nvSpPr>
        <p:spPr>
          <a:xfrm>
            <a:off x="6497853" y="2438400"/>
            <a:ext cx="5104359" cy="2862322"/>
          </a:xfrm>
          <a:prstGeom prst="rect">
            <a:avLst/>
          </a:prstGeom>
          <a:noFill/>
        </p:spPr>
        <p:txBody>
          <a:bodyPr wrap="square" rtlCol="0">
            <a:spAutoFit/>
          </a:bodyPr>
          <a:lstStyle/>
          <a:p>
            <a:r>
              <a:rPr lang="en-IN" dirty="0"/>
              <a:t>// Driver code</a:t>
            </a:r>
          </a:p>
          <a:p>
            <a:r>
              <a:rPr lang="en-IN" dirty="0" err="1"/>
              <a:t>int</a:t>
            </a:r>
            <a:r>
              <a:rPr lang="en-IN" dirty="0"/>
              <a:t> main()</a:t>
            </a:r>
          </a:p>
          <a:p>
            <a:r>
              <a:rPr lang="en-IN" dirty="0"/>
              <a:t>{</a:t>
            </a:r>
          </a:p>
          <a:p>
            <a:r>
              <a:rPr lang="en-IN" dirty="0"/>
              <a:t>  // Calling sum function and</a:t>
            </a:r>
          </a:p>
          <a:p>
            <a:r>
              <a:rPr lang="en-IN" dirty="0"/>
              <a:t>  // storing its value in add variable</a:t>
            </a:r>
          </a:p>
          <a:p>
            <a:r>
              <a:rPr lang="en-IN" dirty="0"/>
              <a:t>  </a:t>
            </a:r>
            <a:r>
              <a:rPr lang="en-IN" dirty="0" err="1"/>
              <a:t>int</a:t>
            </a:r>
            <a:r>
              <a:rPr lang="en-IN" dirty="0"/>
              <a:t> add = sum(10, 30);</a:t>
            </a:r>
          </a:p>
          <a:p>
            <a:r>
              <a:rPr lang="en-IN" dirty="0"/>
              <a:t>   </a:t>
            </a:r>
          </a:p>
          <a:p>
            <a:r>
              <a:rPr lang="en-IN" dirty="0"/>
              <a:t>  </a:t>
            </a:r>
            <a:r>
              <a:rPr lang="en-IN" dirty="0" err="1"/>
              <a:t>printf</a:t>
            </a:r>
            <a:r>
              <a:rPr lang="en-IN" dirty="0"/>
              <a:t>("Sum is: %d", add);</a:t>
            </a:r>
          </a:p>
          <a:p>
            <a:r>
              <a:rPr lang="en-IN" dirty="0"/>
              <a:t>  return 0;</a:t>
            </a:r>
          </a:p>
          <a:p>
            <a:r>
              <a:rPr lang="en-IN" dirty="0"/>
              <a:t>}</a:t>
            </a:r>
          </a:p>
        </p:txBody>
      </p:sp>
      <p:sp>
        <p:nvSpPr>
          <p:cNvPr id="15" name="Right Arrow 14"/>
          <p:cNvSpPr/>
          <p:nvPr/>
        </p:nvSpPr>
        <p:spPr>
          <a:xfrm>
            <a:off x="5334000" y="4038600"/>
            <a:ext cx="685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2638" y="1695069"/>
            <a:ext cx="4766310" cy="546560"/>
          </a:xfrm>
          <a:prstGeom prst="rect">
            <a:avLst/>
          </a:prstGeom>
        </p:spPr>
        <p:txBody>
          <a:bodyPr vert="horz" wrap="square" lIns="0" tIns="13335" rIns="0" bIns="0" rtlCol="0">
            <a:spAutoFit/>
          </a:bodyPr>
          <a:lstStyle/>
          <a:p>
            <a:pPr marL="367665" marR="5080" indent="-355600">
              <a:lnSpc>
                <a:spcPct val="114999"/>
              </a:lnSpc>
              <a:spcBef>
                <a:spcPts val="100"/>
              </a:spcBef>
              <a:buFont typeface="Times New Roman"/>
              <a:buChar char="●"/>
              <a:tabLst>
                <a:tab pos="367665" algn="l"/>
                <a:tab pos="368300" algn="l"/>
              </a:tabLst>
            </a:pPr>
            <a:r>
              <a:rPr lang="en-IN" spc="5" dirty="0">
                <a:solidFill>
                  <a:srgbClr val="FF0000"/>
                </a:solidFill>
                <a:cs typeface="Roboto"/>
              </a:rPr>
              <a:t>Output</a:t>
            </a:r>
          </a:p>
        </p:txBody>
      </p:sp>
      <p:sp>
        <p:nvSpPr>
          <p:cNvPr id="3" name="object 3"/>
          <p:cNvSpPr txBox="1"/>
          <p:nvPr/>
        </p:nvSpPr>
        <p:spPr>
          <a:xfrm>
            <a:off x="653287" y="2461616"/>
            <a:ext cx="9585960" cy="1483098"/>
          </a:xfrm>
          <a:prstGeom prst="rect">
            <a:avLst/>
          </a:prstGeom>
        </p:spPr>
        <p:txBody>
          <a:bodyPr vert="horz" wrap="square" lIns="0" tIns="12700" rIns="0" bIns="0" rtlCol="0">
            <a:spAutoFit/>
          </a:bodyPr>
          <a:lstStyle/>
          <a:p>
            <a:pPr marL="367665" marR="5080" indent="-355600">
              <a:lnSpc>
                <a:spcPct val="114999"/>
              </a:lnSpc>
              <a:spcBef>
                <a:spcPts val="100"/>
              </a:spcBef>
              <a:buFont typeface="Times New Roman"/>
              <a:buChar char="●"/>
              <a:tabLst>
                <a:tab pos="367665" algn="l"/>
                <a:tab pos="368300" algn="l"/>
              </a:tabLst>
            </a:pPr>
            <a:r>
              <a:rPr lang="en-IN" sz="2800" b="1" spc="5" dirty="0">
                <a:solidFill>
                  <a:srgbClr val="434343"/>
                </a:solidFill>
                <a:cs typeface="Roboto"/>
              </a:rPr>
              <a:t>Sum is: 40</a:t>
            </a:r>
          </a:p>
          <a:p>
            <a:pPr marL="367665" marR="5080" indent="-355600">
              <a:lnSpc>
                <a:spcPct val="114999"/>
              </a:lnSpc>
              <a:spcBef>
                <a:spcPts val="100"/>
              </a:spcBef>
              <a:buFont typeface="Times New Roman"/>
              <a:buChar char="●"/>
              <a:tabLst>
                <a:tab pos="367665" algn="l"/>
                <a:tab pos="368300" algn="l"/>
              </a:tabLst>
            </a:pPr>
            <a:r>
              <a:rPr lang="en-IN" sz="2800" b="1" spc="5" dirty="0">
                <a:solidFill>
                  <a:srgbClr val="434343"/>
                </a:solidFill>
                <a:cs typeface="Roboto"/>
              </a:rPr>
              <a:t>As we noticed, we have not used explicit function declaration. We simply defined and called the function.</a:t>
            </a:r>
            <a:endParaRPr sz="2000" dirty="0">
              <a:cs typeface="Roboto"/>
            </a:endParaRPr>
          </a:p>
        </p:txBody>
      </p:sp>
      <p:sp>
        <p:nvSpPr>
          <p:cNvPr id="5" name="object 5"/>
          <p:cNvSpPr/>
          <p:nvPr/>
        </p:nvSpPr>
        <p:spPr>
          <a:xfrm>
            <a:off x="8752331" y="6071615"/>
            <a:ext cx="60960" cy="215265"/>
          </a:xfrm>
          <a:custGeom>
            <a:avLst/>
            <a:gdLst/>
            <a:ahLst/>
            <a:cxnLst/>
            <a:rect l="l" t="t" r="r" b="b"/>
            <a:pathLst>
              <a:path w="60959" h="215264">
                <a:moveTo>
                  <a:pt x="60959" y="0"/>
                </a:moveTo>
                <a:lnTo>
                  <a:pt x="0" y="0"/>
                </a:lnTo>
                <a:lnTo>
                  <a:pt x="0" y="214884"/>
                </a:lnTo>
                <a:lnTo>
                  <a:pt x="60959" y="214884"/>
                </a:lnTo>
                <a:lnTo>
                  <a:pt x="60959" y="0"/>
                </a:lnTo>
                <a:close/>
              </a:path>
            </a:pathLst>
          </a:custGeom>
          <a:solidFill>
            <a:srgbClr val="F1F1F1"/>
          </a:solidFill>
        </p:spPr>
        <p:txBody>
          <a:bodyPr wrap="square" lIns="0" tIns="0" rIns="0" bIns="0" rtlCol="0"/>
          <a:lstStyle/>
          <a:p>
            <a:endParaRPr/>
          </a:p>
        </p:txBody>
      </p:sp>
      <p:grpSp>
        <p:nvGrpSpPr>
          <p:cNvPr id="6" name="object 6"/>
          <p:cNvGrpSpPr/>
          <p:nvPr/>
        </p:nvGrpSpPr>
        <p:grpSpPr>
          <a:xfrm>
            <a:off x="8859011" y="6073140"/>
            <a:ext cx="3333115" cy="346075"/>
            <a:chOff x="8859011" y="6073140"/>
            <a:chExt cx="3333115" cy="346075"/>
          </a:xfrm>
        </p:grpSpPr>
        <p:sp>
          <p:nvSpPr>
            <p:cNvPr id="7" name="object 7"/>
            <p:cNvSpPr/>
            <p:nvPr/>
          </p:nvSpPr>
          <p:spPr>
            <a:xfrm>
              <a:off x="8859011" y="6073140"/>
              <a:ext cx="3333115" cy="215265"/>
            </a:xfrm>
            <a:custGeom>
              <a:avLst/>
              <a:gdLst/>
              <a:ahLst/>
              <a:cxnLst/>
              <a:rect l="l" t="t" r="r" b="b"/>
              <a:pathLst>
                <a:path w="3333115" h="215264">
                  <a:moveTo>
                    <a:pt x="3332988" y="0"/>
                  </a:moveTo>
                  <a:lnTo>
                    <a:pt x="0" y="0"/>
                  </a:lnTo>
                  <a:lnTo>
                    <a:pt x="0" y="214884"/>
                  </a:lnTo>
                  <a:lnTo>
                    <a:pt x="3332988" y="214884"/>
                  </a:lnTo>
                  <a:lnTo>
                    <a:pt x="3332988" y="0"/>
                  </a:lnTo>
                  <a:close/>
                </a:path>
              </a:pathLst>
            </a:custGeom>
            <a:solidFill>
              <a:srgbClr val="F1F1F1"/>
            </a:solidFill>
          </p:spPr>
          <p:txBody>
            <a:bodyPr wrap="square" lIns="0" tIns="0" rIns="0" bIns="0" rtlCol="0"/>
            <a:lstStyle/>
            <a:p>
              <a:endParaRPr/>
            </a:p>
          </p:txBody>
        </p:sp>
        <p:pic>
          <p:nvPicPr>
            <p:cNvPr id="8" name="object 8"/>
            <p:cNvPicPr/>
            <p:nvPr/>
          </p:nvPicPr>
          <p:blipFill>
            <a:blip r:embed="rId2" cstate="print"/>
            <a:stretch>
              <a:fillRect/>
            </a:stretch>
          </p:blipFill>
          <p:spPr>
            <a:xfrm>
              <a:off x="11399519" y="6214872"/>
              <a:ext cx="202692" cy="204215"/>
            </a:xfrm>
            <a:prstGeom prst="rect">
              <a:avLst/>
            </a:prstGeom>
          </p:spPr>
        </p:pic>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2638" y="1695069"/>
            <a:ext cx="5855335" cy="998350"/>
          </a:xfrm>
          <a:prstGeom prst="rect">
            <a:avLst/>
          </a:prstGeom>
        </p:spPr>
        <p:txBody>
          <a:bodyPr vert="horz" wrap="square" lIns="0" tIns="13335" rIns="0" bIns="0" rtlCol="0">
            <a:spAutoFit/>
          </a:bodyPr>
          <a:lstStyle/>
          <a:p>
            <a:pPr marL="12700">
              <a:spcBef>
                <a:spcPts val="105"/>
              </a:spcBef>
            </a:pPr>
            <a:r>
              <a:rPr lang="en-IN" dirty="0"/>
              <a:t>Function Return Type</a:t>
            </a:r>
            <a:br>
              <a:rPr lang="en-IN" dirty="0"/>
            </a:br>
            <a:endParaRPr dirty="0"/>
          </a:p>
        </p:txBody>
      </p:sp>
      <p:sp>
        <p:nvSpPr>
          <p:cNvPr id="8" name="TextBox 7"/>
          <p:cNvSpPr txBox="1"/>
          <p:nvPr/>
        </p:nvSpPr>
        <p:spPr>
          <a:xfrm>
            <a:off x="457200" y="2693419"/>
            <a:ext cx="11353800" cy="2585323"/>
          </a:xfrm>
          <a:prstGeom prst="rect">
            <a:avLst/>
          </a:prstGeom>
          <a:noFill/>
        </p:spPr>
        <p:txBody>
          <a:bodyPr wrap="square" rtlCol="0">
            <a:spAutoFit/>
          </a:bodyPr>
          <a:lstStyle/>
          <a:p>
            <a:r>
              <a:rPr lang="en-IN" dirty="0"/>
              <a:t>Function return type tells what type of value is returned after all function is executed. When we don’t want to return a value, we can use the void data type.</a:t>
            </a:r>
          </a:p>
          <a:p>
            <a:endParaRPr lang="en-IN" dirty="0"/>
          </a:p>
          <a:p>
            <a:r>
              <a:rPr lang="en-IN" dirty="0"/>
              <a:t>Example:</a:t>
            </a:r>
          </a:p>
          <a:p>
            <a:endParaRPr lang="en-IN" dirty="0"/>
          </a:p>
          <a:p>
            <a:r>
              <a:rPr lang="en-IN" dirty="0" err="1"/>
              <a:t>int</a:t>
            </a:r>
            <a:r>
              <a:rPr lang="en-IN" dirty="0"/>
              <a:t> </a:t>
            </a:r>
            <a:r>
              <a:rPr lang="en-IN" dirty="0" err="1"/>
              <a:t>func</a:t>
            </a:r>
            <a:r>
              <a:rPr lang="en-IN" dirty="0"/>
              <a:t>(parameter_1,parameter_2);</a:t>
            </a:r>
          </a:p>
          <a:p>
            <a:endParaRPr lang="en-IN" dirty="0"/>
          </a:p>
          <a:p>
            <a:r>
              <a:rPr lang="en-IN" dirty="0"/>
              <a:t>The above function will return an integer value after running statements inside the function.</a:t>
            </a:r>
          </a:p>
          <a:p>
            <a:r>
              <a:rPr lang="en-IN" b="1" i="1" dirty="0"/>
              <a:t>Note: </a:t>
            </a:r>
            <a:r>
              <a:rPr lang="en-IN" i="1" dirty="0"/>
              <a:t>Only one value can be returned from a C function. To return multiple values, we have to use pointers or structures.</a:t>
            </a:r>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2638" y="1695069"/>
            <a:ext cx="6154420" cy="513715"/>
          </a:xfrm>
          <a:prstGeom prst="rect">
            <a:avLst/>
          </a:prstGeom>
        </p:spPr>
        <p:txBody>
          <a:bodyPr vert="horz" wrap="square" lIns="0" tIns="13335" rIns="0" bIns="0" rtlCol="0">
            <a:spAutoFit/>
          </a:bodyPr>
          <a:lstStyle/>
          <a:p>
            <a:pPr fontAlgn="base"/>
            <a:r>
              <a:rPr lang="en-IN" dirty="0"/>
              <a:t>Function Arguments:</a:t>
            </a:r>
          </a:p>
        </p:txBody>
      </p:sp>
      <p:sp>
        <p:nvSpPr>
          <p:cNvPr id="8" name="TextBox 7"/>
          <p:cNvSpPr txBox="1"/>
          <p:nvPr/>
        </p:nvSpPr>
        <p:spPr>
          <a:xfrm>
            <a:off x="762000" y="2514600"/>
            <a:ext cx="10058400" cy="4585871"/>
          </a:xfrm>
          <a:prstGeom prst="rect">
            <a:avLst/>
          </a:prstGeom>
          <a:noFill/>
        </p:spPr>
        <p:txBody>
          <a:bodyPr wrap="square" rtlCol="0">
            <a:spAutoFit/>
          </a:bodyPr>
          <a:lstStyle/>
          <a:p>
            <a:r>
              <a:rPr lang="en-IN" dirty="0"/>
              <a:t>Function Arguments (also known as Function Parameters) are the data that is passed to a function.</a:t>
            </a:r>
          </a:p>
          <a:p>
            <a:endParaRPr lang="en-IN" dirty="0"/>
          </a:p>
          <a:p>
            <a:r>
              <a:rPr lang="en-IN" dirty="0"/>
              <a:t>Example:</a:t>
            </a:r>
          </a:p>
          <a:p>
            <a:endParaRPr lang="en-IN" dirty="0"/>
          </a:p>
          <a:p>
            <a:r>
              <a:rPr lang="en-IN" dirty="0" err="1"/>
              <a:t>int</a:t>
            </a:r>
            <a:r>
              <a:rPr lang="en-IN" dirty="0"/>
              <a:t> </a:t>
            </a:r>
            <a:r>
              <a:rPr lang="en-IN" dirty="0" err="1"/>
              <a:t>function_name</a:t>
            </a:r>
            <a:r>
              <a:rPr lang="en-IN" dirty="0"/>
              <a:t>(</a:t>
            </a:r>
            <a:r>
              <a:rPr lang="en-IN" dirty="0" err="1"/>
              <a:t>int</a:t>
            </a:r>
            <a:r>
              <a:rPr lang="en-IN" dirty="0"/>
              <a:t> var1, </a:t>
            </a:r>
            <a:r>
              <a:rPr lang="en-IN" dirty="0" err="1"/>
              <a:t>int</a:t>
            </a:r>
            <a:r>
              <a:rPr lang="en-IN" dirty="0"/>
              <a:t> var2);</a:t>
            </a:r>
          </a:p>
          <a:p>
            <a:endParaRPr lang="en-IN" sz="2000" u="sng" dirty="0"/>
          </a:p>
          <a:p>
            <a:pPr fontAlgn="base"/>
            <a:r>
              <a:rPr lang="en-IN" sz="2000" b="1" u="sng" dirty="0"/>
              <a:t>Conditions of Return Types and Arguments</a:t>
            </a:r>
          </a:p>
          <a:p>
            <a:pPr fontAlgn="base"/>
            <a:r>
              <a:rPr lang="en-IN" dirty="0"/>
              <a:t>In C programming language, functions can be called either with or without arguments and might return values. </a:t>
            </a:r>
          </a:p>
          <a:p>
            <a:pPr fontAlgn="base"/>
            <a:r>
              <a:rPr lang="en-IN" dirty="0"/>
              <a:t>They may or might not return values to the calling functions.</a:t>
            </a:r>
          </a:p>
          <a:p>
            <a:pPr fontAlgn="base"/>
            <a:r>
              <a:rPr lang="en-IN" dirty="0"/>
              <a:t>Function with no arguments and no return value</a:t>
            </a:r>
          </a:p>
          <a:p>
            <a:pPr fontAlgn="base"/>
            <a:r>
              <a:rPr lang="en-IN" dirty="0"/>
              <a:t>Function with no arguments and with return value</a:t>
            </a:r>
          </a:p>
          <a:p>
            <a:pPr fontAlgn="base"/>
            <a:r>
              <a:rPr lang="en-IN" dirty="0"/>
              <a:t>Function with argument and with no return value</a:t>
            </a:r>
          </a:p>
          <a:p>
            <a:pPr fontAlgn="base"/>
            <a:r>
              <a:rPr lang="en-IN" dirty="0"/>
              <a:t>Function with arguments and with return value</a:t>
            </a:r>
          </a:p>
          <a:p>
            <a:endParaRPr lang="en-IN" dirty="0"/>
          </a:p>
          <a:p>
            <a:endParaRPr lang="en-I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2638" y="1695069"/>
            <a:ext cx="8049362" cy="505908"/>
          </a:xfrm>
          <a:prstGeom prst="rect">
            <a:avLst/>
          </a:prstGeom>
        </p:spPr>
        <p:txBody>
          <a:bodyPr vert="horz" wrap="square" lIns="0" tIns="13335" rIns="0" bIns="0" rtlCol="0">
            <a:spAutoFit/>
          </a:bodyPr>
          <a:lstStyle/>
          <a:p>
            <a:pPr fontAlgn="base"/>
            <a:r>
              <a:rPr lang="en-IN" dirty="0"/>
              <a:t>How Does C Function Work?</a:t>
            </a:r>
          </a:p>
        </p:txBody>
      </p:sp>
      <p:sp>
        <p:nvSpPr>
          <p:cNvPr id="3" name="object 3"/>
          <p:cNvSpPr txBox="1"/>
          <p:nvPr/>
        </p:nvSpPr>
        <p:spPr>
          <a:xfrm>
            <a:off x="332638" y="2590800"/>
            <a:ext cx="10013950" cy="3872855"/>
          </a:xfrm>
          <a:prstGeom prst="rect">
            <a:avLst/>
          </a:prstGeom>
        </p:spPr>
        <p:txBody>
          <a:bodyPr vert="horz" wrap="square" lIns="0" tIns="12700" rIns="0" bIns="0" rtlCol="0">
            <a:spAutoFit/>
          </a:bodyPr>
          <a:lstStyle/>
          <a:p>
            <a:pPr fontAlgn="base"/>
            <a:r>
              <a:rPr lang="en-IN" sz="2000" b="1" u="sng" dirty="0"/>
              <a:t>Working of the C function can be broken into the following steps as mentioned below:</a:t>
            </a:r>
          </a:p>
          <a:p>
            <a:pPr fontAlgn="base"/>
            <a:r>
              <a:rPr lang="en-IN" sz="2000" b="1" dirty="0"/>
              <a:t>Declaring a function:</a:t>
            </a:r>
            <a:r>
              <a:rPr lang="en-IN" sz="2000" dirty="0"/>
              <a:t> Declaring a function is a step where we declare a function. Here we define the return types and parameters of the function.</a:t>
            </a:r>
          </a:p>
          <a:p>
            <a:pPr fontAlgn="base"/>
            <a:r>
              <a:rPr lang="en-IN" sz="2000" dirty="0"/>
              <a:t>Defining a function: </a:t>
            </a:r>
          </a:p>
          <a:p>
            <a:pPr fontAlgn="base"/>
            <a:r>
              <a:rPr lang="en-IN" sz="2000" b="1" dirty="0"/>
              <a:t>Calling the function:</a:t>
            </a:r>
            <a:r>
              <a:rPr lang="en-IN" sz="2000" dirty="0"/>
              <a:t> Calling the function is a step where we call the function by passing the arguments in the function.</a:t>
            </a:r>
          </a:p>
          <a:p>
            <a:pPr fontAlgn="base"/>
            <a:r>
              <a:rPr lang="en-IN" sz="2000" b="1" dirty="0"/>
              <a:t>Executing the function:</a:t>
            </a:r>
            <a:r>
              <a:rPr lang="en-IN" sz="2000" dirty="0"/>
              <a:t> Executing the function is a step where we can run all the statements inside the function to get the final result.</a:t>
            </a:r>
          </a:p>
          <a:p>
            <a:pPr fontAlgn="base"/>
            <a:r>
              <a:rPr lang="en-IN" sz="2000" b="1" dirty="0"/>
              <a:t>Returning a value:</a:t>
            </a:r>
            <a:r>
              <a:rPr lang="en-IN" sz="2000" dirty="0"/>
              <a:t> Returning a value is the step where the calculated value after the execution of the function is returned. Exiting the function is the final step where all the allocated memory to the variables, functions, </a:t>
            </a:r>
            <a:r>
              <a:rPr lang="en-IN" sz="2000" dirty="0" err="1"/>
              <a:t>etc</a:t>
            </a:r>
            <a:r>
              <a:rPr lang="en-IN" sz="2000" dirty="0"/>
              <a:t> is destroyed before giving full control to the main function.</a:t>
            </a:r>
          </a:p>
          <a:p>
            <a:pPr marL="355600" marR="5080" indent="-342900">
              <a:lnSpc>
                <a:spcPct val="150000"/>
              </a:lnSpc>
              <a:spcBef>
                <a:spcPts val="100"/>
              </a:spcBef>
              <a:buClr>
                <a:srgbClr val="F5A208"/>
              </a:buClr>
              <a:buSzPct val="80000"/>
              <a:buFont typeface="Arial MT"/>
              <a:buChar char="►"/>
              <a:tabLst>
                <a:tab pos="354965" algn="l"/>
                <a:tab pos="355600" algn="l"/>
                <a:tab pos="8731250" algn="l"/>
              </a:tabLst>
            </a:pPr>
            <a:endParaRPr sz="2000" dirty="0">
              <a:cs typeface="Arial MT"/>
            </a:endParaRPr>
          </a:p>
        </p:txBody>
      </p:sp>
      <p:sp>
        <p:nvSpPr>
          <p:cNvPr id="4" name="object 4"/>
          <p:cNvSpPr txBox="1"/>
          <p:nvPr/>
        </p:nvSpPr>
        <p:spPr>
          <a:xfrm>
            <a:off x="563372" y="3714750"/>
            <a:ext cx="226060" cy="258404"/>
          </a:xfrm>
          <a:prstGeom prst="rect">
            <a:avLst/>
          </a:prstGeom>
        </p:spPr>
        <p:txBody>
          <a:bodyPr vert="horz" wrap="square" lIns="0" tIns="12065" rIns="0" bIns="0" rtlCol="0">
            <a:spAutoFit/>
          </a:bodyPr>
          <a:lstStyle/>
          <a:p>
            <a:pPr marL="12700">
              <a:lnSpc>
                <a:spcPct val="100000"/>
              </a:lnSpc>
              <a:spcBef>
                <a:spcPts val="95"/>
              </a:spcBef>
            </a:pPr>
            <a:endParaRPr sz="1600" dirty="0">
              <a:latin typeface="Arial MT"/>
              <a:cs typeface="Arial M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2638" y="1695069"/>
            <a:ext cx="4391762" cy="505908"/>
          </a:xfrm>
          <a:prstGeom prst="rect">
            <a:avLst/>
          </a:prstGeom>
        </p:spPr>
        <p:txBody>
          <a:bodyPr vert="horz" wrap="square" lIns="0" tIns="13335" rIns="0" bIns="0" rtlCol="0">
            <a:spAutoFit/>
          </a:bodyPr>
          <a:lstStyle/>
          <a:p>
            <a:pPr fontAlgn="base"/>
            <a:r>
              <a:rPr lang="en-IN" dirty="0"/>
              <a:t>Types of Functions</a:t>
            </a:r>
          </a:p>
        </p:txBody>
      </p:sp>
      <p:sp>
        <p:nvSpPr>
          <p:cNvPr id="8" name="object 8"/>
          <p:cNvSpPr txBox="1"/>
          <p:nvPr/>
        </p:nvSpPr>
        <p:spPr>
          <a:xfrm>
            <a:off x="685800" y="2522600"/>
            <a:ext cx="9199118" cy="4322337"/>
          </a:xfrm>
          <a:prstGeom prst="rect">
            <a:avLst/>
          </a:prstGeom>
        </p:spPr>
        <p:txBody>
          <a:bodyPr vert="horz" wrap="square" lIns="0" tIns="13335" rIns="0" bIns="0" rtlCol="0">
            <a:spAutoFit/>
          </a:bodyPr>
          <a:lstStyle/>
          <a:p>
            <a:pPr fontAlgn="base"/>
            <a:r>
              <a:rPr lang="en-IN" sz="2800" dirty="0"/>
              <a:t>There are two types of functions in C:</a:t>
            </a:r>
          </a:p>
          <a:p>
            <a:pPr marL="457200" indent="-457200" fontAlgn="base">
              <a:buFont typeface="Arial" panose="020B0604020202020204" pitchFamily="34" charset="0"/>
              <a:buChar char="•"/>
            </a:pPr>
            <a:r>
              <a:rPr lang="en-IN" sz="2800" b="1" dirty="0"/>
              <a:t>Library Functions</a:t>
            </a:r>
            <a:endParaRPr lang="en-IN" sz="2800" dirty="0"/>
          </a:p>
          <a:p>
            <a:pPr marL="457200" indent="-457200" fontAlgn="base">
              <a:buFont typeface="Arial" panose="020B0604020202020204" pitchFamily="34" charset="0"/>
              <a:buChar char="•"/>
            </a:pPr>
            <a:r>
              <a:rPr lang="en-IN" sz="2800" b="1" dirty="0"/>
              <a:t>User Defined Functions</a:t>
            </a:r>
          </a:p>
          <a:p>
            <a:pPr fontAlgn="base"/>
            <a:endParaRPr lang="en-IN" sz="2800" b="1" dirty="0"/>
          </a:p>
          <a:p>
            <a:pPr fontAlgn="base"/>
            <a:endParaRPr lang="en-US" sz="2800" b="1" dirty="0"/>
          </a:p>
          <a:p>
            <a:pPr fontAlgn="base"/>
            <a:endParaRPr lang="en-US" sz="2800" b="1" dirty="0"/>
          </a:p>
          <a:p>
            <a:pPr fontAlgn="base"/>
            <a:endParaRPr lang="en-US" sz="2800" b="1" dirty="0"/>
          </a:p>
          <a:p>
            <a:pPr fontAlgn="base"/>
            <a:endParaRPr lang="en-US" sz="2800" b="1" dirty="0"/>
          </a:p>
          <a:p>
            <a:pPr fontAlgn="base"/>
            <a:endParaRPr lang="en-IN" sz="2800" b="1" dirty="0"/>
          </a:p>
          <a:p>
            <a:pPr fontAlgn="base"/>
            <a:endParaRPr lang="en-IN" sz="2800" dirty="0"/>
          </a:p>
        </p:txBody>
      </p:sp>
      <p:sp>
        <p:nvSpPr>
          <p:cNvPr id="3" name="AutoShape 2" descr="Types of Function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p:cNvPicPr>
            <a:picLocks noChangeAspect="1"/>
          </p:cNvPicPr>
          <p:nvPr/>
        </p:nvPicPr>
        <p:blipFill>
          <a:blip r:embed="rId2"/>
          <a:stretch>
            <a:fillRect/>
          </a:stretch>
        </p:blipFill>
        <p:spPr>
          <a:xfrm>
            <a:off x="3598418" y="3720923"/>
            <a:ext cx="6286500" cy="23622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2638" y="1695069"/>
            <a:ext cx="3934562" cy="998350"/>
          </a:xfrm>
          <a:prstGeom prst="rect">
            <a:avLst/>
          </a:prstGeom>
        </p:spPr>
        <p:txBody>
          <a:bodyPr vert="horz" wrap="square" lIns="0" tIns="13335" rIns="0" bIns="0" rtlCol="0">
            <a:spAutoFit/>
          </a:bodyPr>
          <a:lstStyle/>
          <a:p>
            <a:pPr marL="12700">
              <a:spcBef>
                <a:spcPts val="105"/>
              </a:spcBef>
            </a:pPr>
            <a:r>
              <a:rPr lang="en-IN" dirty="0"/>
              <a:t>1. Library Function</a:t>
            </a:r>
            <a:br>
              <a:rPr lang="en-IN" dirty="0"/>
            </a:br>
            <a:r>
              <a:rPr dirty="0"/>
              <a:t>Flowchart</a:t>
            </a:r>
            <a:r>
              <a:rPr lang="en-US" dirty="0"/>
              <a:t> of For Loop</a:t>
            </a:r>
            <a:endParaRPr dirty="0"/>
          </a:p>
        </p:txBody>
      </p:sp>
      <p:sp>
        <p:nvSpPr>
          <p:cNvPr id="3" name="TextBox 2"/>
          <p:cNvSpPr txBox="1"/>
          <p:nvPr/>
        </p:nvSpPr>
        <p:spPr>
          <a:xfrm>
            <a:off x="457200" y="2743200"/>
            <a:ext cx="10591800" cy="3785652"/>
          </a:xfrm>
          <a:prstGeom prst="rect">
            <a:avLst/>
          </a:prstGeom>
          <a:noFill/>
        </p:spPr>
        <p:txBody>
          <a:bodyPr wrap="square" rtlCol="0">
            <a:spAutoFit/>
          </a:bodyPr>
          <a:lstStyle/>
          <a:p>
            <a:pPr fontAlgn="base"/>
            <a:r>
              <a:rPr lang="en-IN" sz="2400" dirty="0"/>
              <a:t>A </a:t>
            </a:r>
            <a:r>
              <a:rPr lang="en-IN" sz="2400" u="sng" dirty="0">
                <a:hlinkClick r:id="rId2"/>
              </a:rPr>
              <a:t>library function</a:t>
            </a:r>
            <a:r>
              <a:rPr lang="en-IN" sz="2400" dirty="0"/>
              <a:t> is also referred to as a </a:t>
            </a:r>
            <a:r>
              <a:rPr lang="en-IN" sz="2400" b="1" dirty="0"/>
              <a:t>“built-in function”</a:t>
            </a:r>
            <a:r>
              <a:rPr lang="en-IN" sz="2400" dirty="0"/>
              <a:t>. A compiler package already exists that contains these functions, each of which has a specific meaning and is included in the package. Built-in functions have the advantage of being directly usable without being defined, whereas user-defined functions must be declared and defined before being used. </a:t>
            </a:r>
          </a:p>
          <a:p>
            <a:pPr fontAlgn="base"/>
            <a:endParaRPr lang="en-US" sz="2400" dirty="0"/>
          </a:p>
          <a:p>
            <a:pPr fontAlgn="base"/>
            <a:r>
              <a:rPr lang="en-IN" sz="2400" dirty="0"/>
              <a:t>For Example:</a:t>
            </a:r>
          </a:p>
          <a:p>
            <a:pPr fontAlgn="base"/>
            <a:endParaRPr lang="en-IN" sz="2400" dirty="0"/>
          </a:p>
          <a:p>
            <a:pPr fontAlgn="base"/>
            <a:r>
              <a:rPr lang="en-IN" sz="2400" dirty="0"/>
              <a:t>pow(), </a:t>
            </a:r>
            <a:r>
              <a:rPr lang="en-IN" sz="2400" dirty="0" err="1"/>
              <a:t>sqrt</a:t>
            </a:r>
            <a:r>
              <a:rPr lang="en-IN" sz="2400" dirty="0"/>
              <a:t>(), </a:t>
            </a:r>
            <a:r>
              <a:rPr lang="en-IN" sz="2400" dirty="0" err="1"/>
              <a:t>strcmp</a:t>
            </a:r>
            <a:r>
              <a:rPr lang="en-IN" sz="2400" dirty="0"/>
              <a:t>(), </a:t>
            </a:r>
            <a:r>
              <a:rPr lang="en-IN" sz="2400" dirty="0" err="1"/>
              <a:t>strcpy</a:t>
            </a:r>
            <a:r>
              <a:rPr lang="en-IN" sz="2400" dirty="0"/>
              <a:t>() etc.</a:t>
            </a:r>
          </a:p>
          <a:p>
            <a:endParaRPr lang="en-IN"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2638" y="1695069"/>
            <a:ext cx="3011805" cy="513715"/>
          </a:xfrm>
          <a:prstGeom prst="rect">
            <a:avLst/>
          </a:prstGeom>
        </p:spPr>
        <p:txBody>
          <a:bodyPr vert="horz" wrap="square" lIns="0" tIns="13335" rIns="0" bIns="0" rtlCol="0">
            <a:spAutoFit/>
          </a:bodyPr>
          <a:lstStyle/>
          <a:p>
            <a:pPr marL="12700">
              <a:lnSpc>
                <a:spcPct val="100000"/>
              </a:lnSpc>
              <a:spcBef>
                <a:spcPts val="105"/>
              </a:spcBef>
            </a:pPr>
            <a:r>
              <a:rPr dirty="0"/>
              <a:t>Example:</a:t>
            </a:r>
            <a:r>
              <a:rPr spc="-50" dirty="0"/>
              <a:t> </a:t>
            </a:r>
            <a:r>
              <a:rPr spc="-5" dirty="0"/>
              <a:t>for</a:t>
            </a:r>
            <a:r>
              <a:rPr spc="-45" dirty="0"/>
              <a:t> </a:t>
            </a:r>
            <a:r>
              <a:rPr spc="5" dirty="0"/>
              <a:t>loop</a:t>
            </a:r>
          </a:p>
        </p:txBody>
      </p:sp>
      <p:grpSp>
        <p:nvGrpSpPr>
          <p:cNvPr id="3" name="object 3"/>
          <p:cNvGrpSpPr/>
          <p:nvPr/>
        </p:nvGrpSpPr>
        <p:grpSpPr>
          <a:xfrm>
            <a:off x="11178540" y="6073140"/>
            <a:ext cx="1013460" cy="346075"/>
            <a:chOff x="11178540" y="6073140"/>
            <a:chExt cx="1013460" cy="346075"/>
          </a:xfrm>
        </p:grpSpPr>
        <p:sp>
          <p:nvSpPr>
            <p:cNvPr id="4" name="object 4"/>
            <p:cNvSpPr/>
            <p:nvPr/>
          </p:nvSpPr>
          <p:spPr>
            <a:xfrm>
              <a:off x="11178540" y="6073140"/>
              <a:ext cx="1013460" cy="215265"/>
            </a:xfrm>
            <a:custGeom>
              <a:avLst/>
              <a:gdLst/>
              <a:ahLst/>
              <a:cxnLst/>
              <a:rect l="l" t="t" r="r" b="b"/>
              <a:pathLst>
                <a:path w="1013459" h="215264">
                  <a:moveTo>
                    <a:pt x="0" y="214884"/>
                  </a:moveTo>
                  <a:lnTo>
                    <a:pt x="1013459" y="214884"/>
                  </a:lnTo>
                  <a:lnTo>
                    <a:pt x="1013459" y="0"/>
                  </a:lnTo>
                  <a:lnTo>
                    <a:pt x="0" y="0"/>
                  </a:lnTo>
                  <a:lnTo>
                    <a:pt x="0" y="214884"/>
                  </a:lnTo>
                  <a:close/>
                </a:path>
              </a:pathLst>
            </a:custGeom>
            <a:solidFill>
              <a:srgbClr val="F1F1F1"/>
            </a:solidFill>
          </p:spPr>
          <p:txBody>
            <a:bodyPr wrap="square" lIns="0" tIns="0" rIns="0" bIns="0" rtlCol="0"/>
            <a:lstStyle/>
            <a:p>
              <a:endParaRPr/>
            </a:p>
          </p:txBody>
        </p:sp>
        <p:pic>
          <p:nvPicPr>
            <p:cNvPr id="5" name="object 5"/>
            <p:cNvPicPr/>
            <p:nvPr/>
          </p:nvPicPr>
          <p:blipFill>
            <a:blip r:embed="rId2" cstate="print"/>
            <a:stretch>
              <a:fillRect/>
            </a:stretch>
          </p:blipFill>
          <p:spPr>
            <a:xfrm>
              <a:off x="11399520" y="6214872"/>
              <a:ext cx="202692" cy="204215"/>
            </a:xfrm>
            <a:prstGeom prst="rect">
              <a:avLst/>
            </a:prstGeom>
          </p:spPr>
        </p:pic>
      </p:grpSp>
      <p:sp>
        <p:nvSpPr>
          <p:cNvPr id="8" name="TextBox 7"/>
          <p:cNvSpPr txBox="1"/>
          <p:nvPr/>
        </p:nvSpPr>
        <p:spPr>
          <a:xfrm>
            <a:off x="609600" y="2667000"/>
            <a:ext cx="10439400" cy="1938992"/>
          </a:xfrm>
          <a:prstGeom prst="rect">
            <a:avLst/>
          </a:prstGeom>
          <a:noFill/>
        </p:spPr>
        <p:txBody>
          <a:bodyPr wrap="square" rtlCol="0">
            <a:spAutoFit/>
          </a:bodyPr>
          <a:lstStyle/>
          <a:p>
            <a:pPr fontAlgn="base"/>
            <a:r>
              <a:rPr lang="en-IN" sz="2400" b="1" dirty="0"/>
              <a:t>Advantages of C library functions</a:t>
            </a:r>
          </a:p>
          <a:p>
            <a:pPr fontAlgn="base"/>
            <a:r>
              <a:rPr lang="en-IN" sz="2400" dirty="0"/>
              <a:t>C Library functions are easy to use and optimized for better performance.</a:t>
            </a:r>
          </a:p>
          <a:p>
            <a:pPr fontAlgn="base"/>
            <a:r>
              <a:rPr lang="en-IN" sz="2400" dirty="0"/>
              <a:t>C library functions save a lot of time </a:t>
            </a:r>
            <a:r>
              <a:rPr lang="en-IN" sz="2400" dirty="0" err="1"/>
              <a:t>i.e</a:t>
            </a:r>
            <a:r>
              <a:rPr lang="en-IN" sz="2400" dirty="0"/>
              <a:t>, function development time.</a:t>
            </a:r>
          </a:p>
          <a:p>
            <a:pPr fontAlgn="base"/>
            <a:r>
              <a:rPr lang="en-IN" sz="2400" dirty="0"/>
              <a:t>C library functions are convenient as they always work.</a:t>
            </a:r>
          </a:p>
          <a:p>
            <a:endParaRPr lang="en-IN"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3315" y="1676400"/>
            <a:ext cx="3553562" cy="505908"/>
          </a:xfrm>
          <a:prstGeom prst="rect">
            <a:avLst/>
          </a:prstGeom>
        </p:spPr>
        <p:txBody>
          <a:bodyPr vert="horz" wrap="square" lIns="0" tIns="13335" rIns="0" bIns="0" rtlCol="0">
            <a:spAutoFit/>
          </a:bodyPr>
          <a:lstStyle/>
          <a:p>
            <a:pPr fontAlgn="base"/>
            <a:r>
              <a:rPr lang="en-IN" dirty="0"/>
              <a:t> Library Function</a:t>
            </a:r>
          </a:p>
        </p:txBody>
      </p:sp>
      <p:sp>
        <p:nvSpPr>
          <p:cNvPr id="8" name="object 8"/>
          <p:cNvSpPr txBox="1"/>
          <p:nvPr/>
        </p:nvSpPr>
        <p:spPr>
          <a:xfrm>
            <a:off x="515048" y="2514600"/>
            <a:ext cx="5657152" cy="3879908"/>
          </a:xfrm>
          <a:prstGeom prst="rect">
            <a:avLst/>
          </a:prstGeom>
          <a:ln w="9525">
            <a:solidFill>
              <a:srgbClr val="CC0000"/>
            </a:solidFill>
          </a:ln>
        </p:spPr>
        <p:txBody>
          <a:bodyPr vert="horz" wrap="square" lIns="0" tIns="6985" rIns="0" bIns="0" rtlCol="0">
            <a:spAutoFit/>
          </a:bodyPr>
          <a:lstStyle/>
          <a:p>
            <a:pPr marL="12065">
              <a:lnSpc>
                <a:spcPct val="100000"/>
              </a:lnSpc>
              <a:spcBef>
                <a:spcPts val="55"/>
              </a:spcBef>
              <a:buClr>
                <a:srgbClr val="F5A208"/>
              </a:buClr>
              <a:buSzPct val="75000"/>
              <a:tabLst>
                <a:tab pos="214629" algn="l"/>
              </a:tabLst>
            </a:pPr>
            <a:r>
              <a:rPr lang="en-IN" sz="1600" dirty="0">
                <a:cs typeface="Arial"/>
              </a:rPr>
              <a:t>// C program to implement</a:t>
            </a:r>
          </a:p>
          <a:p>
            <a:pPr marL="12065">
              <a:lnSpc>
                <a:spcPct val="100000"/>
              </a:lnSpc>
              <a:spcBef>
                <a:spcPts val="55"/>
              </a:spcBef>
              <a:buClr>
                <a:srgbClr val="F5A208"/>
              </a:buClr>
              <a:buSzPct val="75000"/>
              <a:tabLst>
                <a:tab pos="214629" algn="l"/>
              </a:tabLst>
            </a:pPr>
            <a:r>
              <a:rPr lang="en-IN" sz="1600" dirty="0">
                <a:cs typeface="Arial"/>
              </a:rPr>
              <a:t>// the above approach</a:t>
            </a:r>
          </a:p>
          <a:p>
            <a:pPr marL="12065">
              <a:lnSpc>
                <a:spcPct val="100000"/>
              </a:lnSpc>
              <a:spcBef>
                <a:spcPts val="55"/>
              </a:spcBef>
              <a:buClr>
                <a:srgbClr val="F5A208"/>
              </a:buClr>
              <a:buSzPct val="75000"/>
              <a:tabLst>
                <a:tab pos="214629" algn="l"/>
              </a:tabLst>
            </a:pPr>
            <a:r>
              <a:rPr lang="en-IN" sz="1600" dirty="0">
                <a:cs typeface="Arial"/>
              </a:rPr>
              <a:t>#include &lt;</a:t>
            </a:r>
            <a:r>
              <a:rPr lang="en-IN" sz="1600" dirty="0" err="1">
                <a:cs typeface="Arial"/>
              </a:rPr>
              <a:t>math.h</a:t>
            </a:r>
            <a:r>
              <a:rPr lang="en-IN" sz="1600" dirty="0">
                <a:cs typeface="Arial"/>
              </a:rPr>
              <a:t>&gt;</a:t>
            </a:r>
          </a:p>
          <a:p>
            <a:pPr marL="12065">
              <a:lnSpc>
                <a:spcPct val="100000"/>
              </a:lnSpc>
              <a:spcBef>
                <a:spcPts val="55"/>
              </a:spcBef>
              <a:buClr>
                <a:srgbClr val="F5A208"/>
              </a:buClr>
              <a:buSzPct val="75000"/>
              <a:tabLst>
                <a:tab pos="214629" algn="l"/>
              </a:tabLst>
            </a:pPr>
            <a:r>
              <a:rPr lang="en-IN" sz="1600" dirty="0">
                <a:cs typeface="Arial"/>
              </a:rPr>
              <a:t>#include &lt;</a:t>
            </a:r>
            <a:r>
              <a:rPr lang="en-IN" sz="1600" dirty="0" err="1">
                <a:cs typeface="Arial"/>
              </a:rPr>
              <a:t>stdio.h</a:t>
            </a:r>
            <a:r>
              <a:rPr lang="en-IN" sz="1600" dirty="0">
                <a:cs typeface="Arial"/>
              </a:rPr>
              <a:t>&gt;</a:t>
            </a:r>
          </a:p>
          <a:p>
            <a:pPr marL="12065">
              <a:lnSpc>
                <a:spcPct val="100000"/>
              </a:lnSpc>
              <a:spcBef>
                <a:spcPts val="55"/>
              </a:spcBef>
              <a:buClr>
                <a:srgbClr val="F5A208"/>
              </a:buClr>
              <a:buSzPct val="75000"/>
              <a:tabLst>
                <a:tab pos="214629" algn="l"/>
              </a:tabLst>
            </a:pPr>
            <a:r>
              <a:rPr lang="en-IN" sz="1600" dirty="0">
                <a:cs typeface="Arial"/>
              </a:rPr>
              <a:t> </a:t>
            </a:r>
          </a:p>
          <a:p>
            <a:pPr marL="12065">
              <a:lnSpc>
                <a:spcPct val="100000"/>
              </a:lnSpc>
              <a:spcBef>
                <a:spcPts val="55"/>
              </a:spcBef>
              <a:buClr>
                <a:srgbClr val="F5A208"/>
              </a:buClr>
              <a:buSzPct val="75000"/>
              <a:tabLst>
                <a:tab pos="214629" algn="l"/>
              </a:tabLst>
            </a:pPr>
            <a:r>
              <a:rPr lang="en-IN" sz="1600" dirty="0">
                <a:cs typeface="Arial"/>
              </a:rPr>
              <a:t>// Driver code</a:t>
            </a:r>
          </a:p>
          <a:p>
            <a:pPr marL="12065">
              <a:lnSpc>
                <a:spcPct val="100000"/>
              </a:lnSpc>
              <a:spcBef>
                <a:spcPts val="55"/>
              </a:spcBef>
              <a:buClr>
                <a:srgbClr val="F5A208"/>
              </a:buClr>
              <a:buSzPct val="75000"/>
              <a:tabLst>
                <a:tab pos="214629" algn="l"/>
              </a:tabLst>
            </a:pPr>
            <a:r>
              <a:rPr lang="en-IN" sz="1600" dirty="0" err="1">
                <a:cs typeface="Arial"/>
              </a:rPr>
              <a:t>int</a:t>
            </a:r>
            <a:r>
              <a:rPr lang="en-IN" sz="1600" dirty="0">
                <a:cs typeface="Arial"/>
              </a:rPr>
              <a:t> main()</a:t>
            </a:r>
          </a:p>
          <a:p>
            <a:pPr marL="12065">
              <a:lnSpc>
                <a:spcPct val="100000"/>
              </a:lnSpc>
              <a:spcBef>
                <a:spcPts val="55"/>
              </a:spcBef>
              <a:buClr>
                <a:srgbClr val="F5A208"/>
              </a:buClr>
              <a:buSzPct val="75000"/>
              <a:tabLst>
                <a:tab pos="214629" algn="l"/>
              </a:tabLst>
            </a:pPr>
            <a:r>
              <a:rPr lang="en-IN" sz="1600" dirty="0">
                <a:cs typeface="Arial"/>
              </a:rPr>
              <a:t>{</a:t>
            </a:r>
          </a:p>
          <a:p>
            <a:pPr marL="12065">
              <a:lnSpc>
                <a:spcPct val="100000"/>
              </a:lnSpc>
              <a:spcBef>
                <a:spcPts val="55"/>
              </a:spcBef>
              <a:buClr>
                <a:srgbClr val="F5A208"/>
              </a:buClr>
              <a:buSzPct val="75000"/>
              <a:tabLst>
                <a:tab pos="214629" algn="l"/>
              </a:tabLst>
            </a:pPr>
            <a:r>
              <a:rPr lang="en-IN" sz="1600" dirty="0">
                <a:cs typeface="Arial"/>
              </a:rPr>
              <a:t>  double Number;</a:t>
            </a:r>
          </a:p>
          <a:p>
            <a:pPr marL="12065">
              <a:lnSpc>
                <a:spcPct val="100000"/>
              </a:lnSpc>
              <a:spcBef>
                <a:spcPts val="55"/>
              </a:spcBef>
              <a:buClr>
                <a:srgbClr val="F5A208"/>
              </a:buClr>
              <a:buSzPct val="75000"/>
              <a:tabLst>
                <a:tab pos="214629" algn="l"/>
              </a:tabLst>
            </a:pPr>
            <a:r>
              <a:rPr lang="en-IN" sz="1600" dirty="0">
                <a:cs typeface="Arial"/>
              </a:rPr>
              <a:t>  Number = 49;</a:t>
            </a:r>
          </a:p>
          <a:p>
            <a:pPr marL="12065">
              <a:lnSpc>
                <a:spcPct val="100000"/>
              </a:lnSpc>
              <a:spcBef>
                <a:spcPts val="55"/>
              </a:spcBef>
              <a:buClr>
                <a:srgbClr val="F5A208"/>
              </a:buClr>
              <a:buSzPct val="75000"/>
              <a:tabLst>
                <a:tab pos="214629" algn="l"/>
              </a:tabLst>
            </a:pPr>
            <a:r>
              <a:rPr lang="en-IN" sz="1600" dirty="0">
                <a:cs typeface="Arial"/>
              </a:rPr>
              <a:t> </a:t>
            </a:r>
          </a:p>
          <a:p>
            <a:pPr marL="12065">
              <a:lnSpc>
                <a:spcPct val="100000"/>
              </a:lnSpc>
              <a:spcBef>
                <a:spcPts val="55"/>
              </a:spcBef>
              <a:buClr>
                <a:srgbClr val="F5A208"/>
              </a:buClr>
              <a:buSzPct val="75000"/>
              <a:tabLst>
                <a:tab pos="214629" algn="l"/>
              </a:tabLst>
            </a:pPr>
            <a:r>
              <a:rPr lang="en-IN" sz="1600" dirty="0">
                <a:cs typeface="Arial"/>
              </a:rPr>
              <a:t>  // Computing the square root with</a:t>
            </a:r>
          </a:p>
          <a:p>
            <a:pPr marL="12065">
              <a:lnSpc>
                <a:spcPct val="100000"/>
              </a:lnSpc>
              <a:spcBef>
                <a:spcPts val="55"/>
              </a:spcBef>
              <a:buClr>
                <a:srgbClr val="F5A208"/>
              </a:buClr>
              <a:buSzPct val="75000"/>
              <a:tabLst>
                <a:tab pos="214629" algn="l"/>
              </a:tabLst>
            </a:pPr>
            <a:r>
              <a:rPr lang="en-IN" sz="1600" dirty="0">
                <a:cs typeface="Arial"/>
              </a:rPr>
              <a:t>  // the help of predefined C</a:t>
            </a:r>
          </a:p>
          <a:p>
            <a:pPr marL="12065">
              <a:lnSpc>
                <a:spcPct val="100000"/>
              </a:lnSpc>
              <a:spcBef>
                <a:spcPts val="55"/>
              </a:spcBef>
              <a:buClr>
                <a:srgbClr val="F5A208"/>
              </a:buClr>
              <a:buSzPct val="75000"/>
              <a:tabLst>
                <a:tab pos="214629" algn="l"/>
              </a:tabLst>
            </a:pPr>
            <a:r>
              <a:rPr lang="en-IN" sz="1600" dirty="0">
                <a:cs typeface="Arial"/>
              </a:rPr>
              <a:t>  // library function</a:t>
            </a:r>
          </a:p>
          <a:p>
            <a:pPr marL="12065">
              <a:lnSpc>
                <a:spcPct val="100000"/>
              </a:lnSpc>
              <a:spcBef>
                <a:spcPts val="55"/>
              </a:spcBef>
              <a:buClr>
                <a:srgbClr val="F5A208"/>
              </a:buClr>
              <a:buSzPct val="75000"/>
              <a:tabLst>
                <a:tab pos="214629" algn="l"/>
              </a:tabLst>
            </a:pPr>
            <a:r>
              <a:rPr lang="en-IN" sz="1600" dirty="0">
                <a:cs typeface="Arial"/>
              </a:rPr>
              <a:t>  double </a:t>
            </a:r>
            <a:r>
              <a:rPr lang="en-IN" sz="1600" dirty="0" err="1">
                <a:cs typeface="Arial"/>
              </a:rPr>
              <a:t>squareRoot</a:t>
            </a:r>
            <a:r>
              <a:rPr lang="en-IN" sz="1600" dirty="0">
                <a:cs typeface="Arial"/>
              </a:rPr>
              <a:t> = </a:t>
            </a:r>
            <a:r>
              <a:rPr lang="en-IN" sz="1600" dirty="0" err="1">
                <a:cs typeface="Arial"/>
              </a:rPr>
              <a:t>sqrt</a:t>
            </a:r>
            <a:r>
              <a:rPr lang="en-IN" sz="1600" dirty="0">
                <a:cs typeface="Arial"/>
              </a:rPr>
              <a:t>(Number);</a:t>
            </a:r>
            <a:endParaRPr sz="1600" dirty="0">
              <a:cs typeface="Arial"/>
            </a:endParaRPr>
          </a:p>
        </p:txBody>
      </p:sp>
      <p:sp>
        <p:nvSpPr>
          <p:cNvPr id="10" name="AutoShape 4" descr="C - while loop in C programming with exampl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p:cNvSpPr txBox="1"/>
          <p:nvPr/>
        </p:nvSpPr>
        <p:spPr>
          <a:xfrm>
            <a:off x="7239000" y="2667000"/>
            <a:ext cx="4572000" cy="2585323"/>
          </a:xfrm>
          <a:prstGeom prst="rect">
            <a:avLst/>
          </a:prstGeom>
          <a:noFill/>
        </p:spPr>
        <p:txBody>
          <a:bodyPr wrap="square" rtlCol="0">
            <a:spAutoFit/>
          </a:bodyPr>
          <a:lstStyle/>
          <a:p>
            <a:r>
              <a:rPr lang="en-IN" dirty="0" err="1"/>
              <a:t>printf</a:t>
            </a:r>
            <a:r>
              <a:rPr lang="en-IN" dirty="0"/>
              <a:t>("The Square root of %.2lf = %.2lf",</a:t>
            </a:r>
          </a:p>
          <a:p>
            <a:r>
              <a:rPr lang="en-IN" dirty="0"/>
              <a:t>          Number, </a:t>
            </a:r>
            <a:r>
              <a:rPr lang="en-IN" dirty="0" err="1"/>
              <a:t>squareRoot</a:t>
            </a:r>
            <a:r>
              <a:rPr lang="en-IN" dirty="0"/>
              <a:t>);</a:t>
            </a:r>
          </a:p>
          <a:p>
            <a:r>
              <a:rPr lang="en-IN" dirty="0"/>
              <a:t>  return 0;</a:t>
            </a:r>
          </a:p>
          <a:p>
            <a:r>
              <a:rPr lang="en-IN" dirty="0"/>
              <a:t>}</a:t>
            </a:r>
          </a:p>
          <a:p>
            <a:endParaRPr lang="en-US" dirty="0"/>
          </a:p>
          <a:p>
            <a:endParaRPr lang="en-US" dirty="0"/>
          </a:p>
          <a:p>
            <a:endParaRPr lang="en-US" dirty="0"/>
          </a:p>
          <a:p>
            <a:r>
              <a:rPr lang="en-IN" dirty="0"/>
              <a:t>Output</a:t>
            </a:r>
          </a:p>
          <a:p>
            <a:r>
              <a:rPr lang="en-IN" dirty="0"/>
              <a:t>The Square root of 49.00 = 7.00</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2638" y="1695069"/>
            <a:ext cx="4848962" cy="505908"/>
          </a:xfrm>
          <a:prstGeom prst="rect">
            <a:avLst/>
          </a:prstGeom>
        </p:spPr>
        <p:txBody>
          <a:bodyPr vert="horz" wrap="square" lIns="0" tIns="13335" rIns="0" bIns="0" rtlCol="0">
            <a:spAutoFit/>
          </a:bodyPr>
          <a:lstStyle/>
          <a:p>
            <a:pPr fontAlgn="base"/>
            <a:r>
              <a:rPr lang="en-IN" dirty="0"/>
              <a:t>2. User Defined Function</a:t>
            </a:r>
          </a:p>
        </p:txBody>
      </p:sp>
      <p:sp>
        <p:nvSpPr>
          <p:cNvPr id="3" name="object 3"/>
          <p:cNvSpPr/>
          <p:nvPr/>
        </p:nvSpPr>
        <p:spPr>
          <a:xfrm>
            <a:off x="8752331" y="6248400"/>
            <a:ext cx="60960" cy="38100"/>
          </a:xfrm>
          <a:custGeom>
            <a:avLst/>
            <a:gdLst/>
            <a:ahLst/>
            <a:cxnLst/>
            <a:rect l="l" t="t" r="r" b="b"/>
            <a:pathLst>
              <a:path w="60959" h="38100">
                <a:moveTo>
                  <a:pt x="0" y="38100"/>
                </a:moveTo>
                <a:lnTo>
                  <a:pt x="60959" y="38100"/>
                </a:lnTo>
                <a:lnTo>
                  <a:pt x="60959" y="0"/>
                </a:lnTo>
                <a:lnTo>
                  <a:pt x="0" y="0"/>
                </a:lnTo>
                <a:lnTo>
                  <a:pt x="0" y="38100"/>
                </a:lnTo>
                <a:close/>
              </a:path>
            </a:pathLst>
          </a:custGeom>
          <a:solidFill>
            <a:srgbClr val="F1F1F1"/>
          </a:solidFill>
        </p:spPr>
        <p:txBody>
          <a:bodyPr wrap="square" lIns="0" tIns="0" rIns="0" bIns="0" rtlCol="0"/>
          <a:lstStyle/>
          <a:p>
            <a:endParaRPr/>
          </a:p>
        </p:txBody>
      </p:sp>
      <p:grpSp>
        <p:nvGrpSpPr>
          <p:cNvPr id="4" name="object 4"/>
          <p:cNvGrpSpPr/>
          <p:nvPr/>
        </p:nvGrpSpPr>
        <p:grpSpPr>
          <a:xfrm>
            <a:off x="8859011" y="6073140"/>
            <a:ext cx="3333115" cy="346075"/>
            <a:chOff x="8859011" y="6073140"/>
            <a:chExt cx="3333115" cy="346075"/>
          </a:xfrm>
        </p:grpSpPr>
        <p:sp>
          <p:nvSpPr>
            <p:cNvPr id="5" name="object 5"/>
            <p:cNvSpPr/>
            <p:nvPr/>
          </p:nvSpPr>
          <p:spPr>
            <a:xfrm>
              <a:off x="8859011" y="6073140"/>
              <a:ext cx="3333115" cy="215265"/>
            </a:xfrm>
            <a:custGeom>
              <a:avLst/>
              <a:gdLst/>
              <a:ahLst/>
              <a:cxnLst/>
              <a:rect l="l" t="t" r="r" b="b"/>
              <a:pathLst>
                <a:path w="3333115" h="215264">
                  <a:moveTo>
                    <a:pt x="3332988" y="0"/>
                  </a:moveTo>
                  <a:lnTo>
                    <a:pt x="0" y="0"/>
                  </a:lnTo>
                  <a:lnTo>
                    <a:pt x="0" y="214884"/>
                  </a:lnTo>
                  <a:lnTo>
                    <a:pt x="3332988" y="214884"/>
                  </a:lnTo>
                  <a:lnTo>
                    <a:pt x="3332988" y="0"/>
                  </a:lnTo>
                  <a:close/>
                </a:path>
              </a:pathLst>
            </a:custGeom>
            <a:solidFill>
              <a:srgbClr val="F1F1F1"/>
            </a:solidFill>
          </p:spPr>
          <p:txBody>
            <a:bodyPr wrap="square" lIns="0" tIns="0" rIns="0" bIns="0" rtlCol="0"/>
            <a:lstStyle/>
            <a:p>
              <a:endParaRPr/>
            </a:p>
          </p:txBody>
        </p:sp>
        <p:pic>
          <p:nvPicPr>
            <p:cNvPr id="6" name="object 6"/>
            <p:cNvPicPr/>
            <p:nvPr/>
          </p:nvPicPr>
          <p:blipFill>
            <a:blip r:embed="rId2" cstate="print"/>
            <a:stretch>
              <a:fillRect/>
            </a:stretch>
          </p:blipFill>
          <p:spPr>
            <a:xfrm>
              <a:off x="11399519" y="6214872"/>
              <a:ext cx="202692" cy="204215"/>
            </a:xfrm>
            <a:prstGeom prst="rect">
              <a:avLst/>
            </a:prstGeom>
          </p:spPr>
        </p:pic>
      </p:grpSp>
      <p:sp>
        <p:nvSpPr>
          <p:cNvPr id="11" name="TextBox 10"/>
          <p:cNvSpPr txBox="1"/>
          <p:nvPr/>
        </p:nvSpPr>
        <p:spPr>
          <a:xfrm>
            <a:off x="609600" y="2667000"/>
            <a:ext cx="10210800" cy="3139321"/>
          </a:xfrm>
          <a:prstGeom prst="rect">
            <a:avLst/>
          </a:prstGeom>
          <a:noFill/>
        </p:spPr>
        <p:txBody>
          <a:bodyPr wrap="square" rtlCol="0">
            <a:spAutoFit/>
          </a:bodyPr>
          <a:lstStyle/>
          <a:p>
            <a:pPr marL="285750" indent="-285750" fontAlgn="base">
              <a:buFont typeface="Arial" panose="020B0604020202020204" pitchFamily="34" charset="0"/>
              <a:buChar char="•"/>
            </a:pPr>
            <a:r>
              <a:rPr lang="en-IN" dirty="0"/>
              <a:t>Functions that the programmer creates are known as User-Defined functions or </a:t>
            </a:r>
            <a:r>
              <a:rPr lang="en-IN" b="1" dirty="0"/>
              <a:t>“tailor-made functions”</a:t>
            </a:r>
            <a:r>
              <a:rPr lang="en-IN" dirty="0"/>
              <a:t>. User-defined functions can be improved and modified according to the need of the programmer. </a:t>
            </a:r>
          </a:p>
          <a:p>
            <a:pPr marL="285750" indent="-285750" fontAlgn="base">
              <a:buFont typeface="Arial" panose="020B0604020202020204" pitchFamily="34" charset="0"/>
              <a:buChar char="•"/>
            </a:pPr>
            <a:r>
              <a:rPr lang="en-IN" dirty="0"/>
              <a:t>Whenever we write a function that is case-specific and is not defined in any header file, we need to declare and define our own functions according to the syntax.</a:t>
            </a:r>
          </a:p>
          <a:p>
            <a:pPr fontAlgn="base"/>
            <a:endParaRPr lang="en-IN" dirty="0"/>
          </a:p>
          <a:p>
            <a:pPr fontAlgn="base"/>
            <a:r>
              <a:rPr lang="en-IN" b="1" u="sng" dirty="0">
                <a:solidFill>
                  <a:srgbClr val="FF0000"/>
                </a:solidFill>
              </a:rPr>
              <a:t>Advantages of User-Defined Functions</a:t>
            </a:r>
          </a:p>
          <a:p>
            <a:pPr fontAlgn="base"/>
            <a:endParaRPr lang="en-IN" b="1" dirty="0"/>
          </a:p>
          <a:p>
            <a:pPr marL="285750" indent="-285750" fontAlgn="base">
              <a:buFont typeface="Arial" panose="020B0604020202020204" pitchFamily="34" charset="0"/>
              <a:buChar char="•"/>
            </a:pPr>
            <a:r>
              <a:rPr lang="en-IN" dirty="0"/>
              <a:t>Changeable functions can be modified as per need.</a:t>
            </a:r>
          </a:p>
          <a:p>
            <a:pPr marL="285750" indent="-285750" fontAlgn="base">
              <a:buFont typeface="Arial" panose="020B0604020202020204" pitchFamily="34" charset="0"/>
              <a:buChar char="•"/>
            </a:pPr>
            <a:r>
              <a:rPr lang="en-IN" dirty="0"/>
              <a:t>The Code of these functions is reusable in other programs.</a:t>
            </a:r>
          </a:p>
          <a:p>
            <a:pPr marL="285750" indent="-285750" fontAlgn="base">
              <a:buFont typeface="Arial" panose="020B0604020202020204" pitchFamily="34" charset="0"/>
              <a:buChar char="•"/>
            </a:pPr>
            <a:r>
              <a:rPr lang="en-IN" dirty="0"/>
              <a:t>These functions are easy to understand, debug and maintain.</a:t>
            </a:r>
          </a:p>
          <a:p>
            <a:endParaRPr lang="en-I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2638" y="1695069"/>
            <a:ext cx="6296762" cy="505908"/>
          </a:xfrm>
          <a:prstGeom prst="rect">
            <a:avLst/>
          </a:prstGeom>
        </p:spPr>
        <p:txBody>
          <a:bodyPr vert="horz" wrap="square" lIns="0" tIns="13335" rIns="0" bIns="0" rtlCol="0">
            <a:spAutoFit/>
          </a:bodyPr>
          <a:lstStyle/>
          <a:p>
            <a:pPr fontAlgn="base"/>
            <a:r>
              <a:rPr lang="en-IN" dirty="0"/>
              <a:t>User Defined Function Example:</a:t>
            </a:r>
          </a:p>
        </p:txBody>
      </p:sp>
      <p:sp>
        <p:nvSpPr>
          <p:cNvPr id="3" name="object 3"/>
          <p:cNvSpPr/>
          <p:nvPr/>
        </p:nvSpPr>
        <p:spPr>
          <a:xfrm>
            <a:off x="8752331" y="6071615"/>
            <a:ext cx="60960" cy="215265"/>
          </a:xfrm>
          <a:custGeom>
            <a:avLst/>
            <a:gdLst/>
            <a:ahLst/>
            <a:cxnLst/>
            <a:rect l="l" t="t" r="r" b="b"/>
            <a:pathLst>
              <a:path w="60959" h="215264">
                <a:moveTo>
                  <a:pt x="60959" y="0"/>
                </a:moveTo>
                <a:lnTo>
                  <a:pt x="0" y="0"/>
                </a:lnTo>
                <a:lnTo>
                  <a:pt x="0" y="214884"/>
                </a:lnTo>
                <a:lnTo>
                  <a:pt x="60959" y="214884"/>
                </a:lnTo>
                <a:lnTo>
                  <a:pt x="60959" y="0"/>
                </a:lnTo>
                <a:close/>
              </a:path>
            </a:pathLst>
          </a:custGeom>
          <a:solidFill>
            <a:srgbClr val="F1F1F1"/>
          </a:solidFill>
        </p:spPr>
        <p:txBody>
          <a:bodyPr wrap="square" lIns="0" tIns="0" rIns="0" bIns="0" rtlCol="0"/>
          <a:lstStyle/>
          <a:p>
            <a:endParaRPr/>
          </a:p>
        </p:txBody>
      </p:sp>
      <p:grpSp>
        <p:nvGrpSpPr>
          <p:cNvPr id="4" name="object 4"/>
          <p:cNvGrpSpPr/>
          <p:nvPr/>
        </p:nvGrpSpPr>
        <p:grpSpPr>
          <a:xfrm>
            <a:off x="8859011" y="6073140"/>
            <a:ext cx="3333115" cy="346075"/>
            <a:chOff x="8859011" y="6073140"/>
            <a:chExt cx="3333115" cy="346075"/>
          </a:xfrm>
        </p:grpSpPr>
        <p:sp>
          <p:nvSpPr>
            <p:cNvPr id="5" name="object 5"/>
            <p:cNvSpPr/>
            <p:nvPr/>
          </p:nvSpPr>
          <p:spPr>
            <a:xfrm>
              <a:off x="8859011" y="6073140"/>
              <a:ext cx="3333115" cy="215265"/>
            </a:xfrm>
            <a:custGeom>
              <a:avLst/>
              <a:gdLst/>
              <a:ahLst/>
              <a:cxnLst/>
              <a:rect l="l" t="t" r="r" b="b"/>
              <a:pathLst>
                <a:path w="3333115" h="215264">
                  <a:moveTo>
                    <a:pt x="3332988" y="0"/>
                  </a:moveTo>
                  <a:lnTo>
                    <a:pt x="0" y="0"/>
                  </a:lnTo>
                  <a:lnTo>
                    <a:pt x="0" y="214884"/>
                  </a:lnTo>
                  <a:lnTo>
                    <a:pt x="3332988" y="214884"/>
                  </a:lnTo>
                  <a:lnTo>
                    <a:pt x="3332988" y="0"/>
                  </a:lnTo>
                  <a:close/>
                </a:path>
              </a:pathLst>
            </a:custGeom>
            <a:solidFill>
              <a:srgbClr val="F1F1F1"/>
            </a:solidFill>
          </p:spPr>
          <p:txBody>
            <a:bodyPr wrap="square" lIns="0" tIns="0" rIns="0" bIns="0" rtlCol="0"/>
            <a:lstStyle/>
            <a:p>
              <a:endParaRPr/>
            </a:p>
          </p:txBody>
        </p:sp>
        <p:pic>
          <p:nvPicPr>
            <p:cNvPr id="6" name="object 6"/>
            <p:cNvPicPr/>
            <p:nvPr/>
          </p:nvPicPr>
          <p:blipFill>
            <a:blip r:embed="rId2" cstate="print"/>
            <a:stretch>
              <a:fillRect/>
            </a:stretch>
          </p:blipFill>
          <p:spPr>
            <a:xfrm>
              <a:off x="11399519" y="6214872"/>
              <a:ext cx="202692" cy="204215"/>
            </a:xfrm>
            <a:prstGeom prst="rect">
              <a:avLst/>
            </a:prstGeom>
          </p:spPr>
        </p:pic>
      </p:grpSp>
      <p:sp>
        <p:nvSpPr>
          <p:cNvPr id="7" name="object 7"/>
          <p:cNvSpPr txBox="1"/>
          <p:nvPr/>
        </p:nvSpPr>
        <p:spPr>
          <a:xfrm>
            <a:off x="457200" y="2362200"/>
            <a:ext cx="11415269" cy="4642194"/>
          </a:xfrm>
          <a:prstGeom prst="rect">
            <a:avLst/>
          </a:prstGeom>
        </p:spPr>
        <p:txBody>
          <a:bodyPr vert="horz" wrap="square" lIns="0" tIns="13335" rIns="0" bIns="0" rtlCol="0">
            <a:spAutoFit/>
          </a:bodyPr>
          <a:lstStyle/>
          <a:p>
            <a:pPr marR="5080" algn="just">
              <a:lnSpc>
                <a:spcPct val="100000"/>
              </a:lnSpc>
              <a:spcBef>
                <a:spcPts val="105"/>
              </a:spcBef>
              <a:buClr>
                <a:srgbClr val="F5A208"/>
              </a:buClr>
              <a:buSzPct val="80000"/>
              <a:tabLst>
                <a:tab pos="342265" algn="l"/>
                <a:tab pos="342900" algn="l"/>
                <a:tab pos="6784340" algn="l"/>
              </a:tabLst>
            </a:pPr>
            <a:r>
              <a:rPr lang="en-IN" sz="1400" b="1" dirty="0">
                <a:cs typeface="Arial"/>
              </a:rPr>
              <a:t>// C program to show</a:t>
            </a:r>
          </a:p>
          <a:p>
            <a:pPr marR="5080" algn="just">
              <a:lnSpc>
                <a:spcPct val="100000"/>
              </a:lnSpc>
              <a:spcBef>
                <a:spcPts val="105"/>
              </a:spcBef>
              <a:buClr>
                <a:srgbClr val="F5A208"/>
              </a:buClr>
              <a:buSzPct val="80000"/>
              <a:tabLst>
                <a:tab pos="342265" algn="l"/>
                <a:tab pos="342900" algn="l"/>
                <a:tab pos="6784340" algn="l"/>
              </a:tabLst>
            </a:pPr>
            <a:r>
              <a:rPr lang="en-IN" sz="1400" b="1" dirty="0">
                <a:cs typeface="Arial"/>
              </a:rPr>
              <a:t>// user-defined functions</a:t>
            </a:r>
          </a:p>
          <a:p>
            <a:pPr marR="5080" algn="just">
              <a:lnSpc>
                <a:spcPct val="100000"/>
              </a:lnSpc>
              <a:spcBef>
                <a:spcPts val="105"/>
              </a:spcBef>
              <a:buClr>
                <a:srgbClr val="F5A208"/>
              </a:buClr>
              <a:buSzPct val="80000"/>
              <a:tabLst>
                <a:tab pos="342265" algn="l"/>
                <a:tab pos="342900" algn="l"/>
                <a:tab pos="6784340" algn="l"/>
              </a:tabLst>
            </a:pPr>
            <a:r>
              <a:rPr lang="en-IN" sz="1400" b="1" dirty="0">
                <a:cs typeface="Arial"/>
              </a:rPr>
              <a:t>#include &lt;</a:t>
            </a:r>
            <a:r>
              <a:rPr lang="en-IN" sz="1400" b="1" dirty="0" err="1">
                <a:cs typeface="Arial"/>
              </a:rPr>
              <a:t>stdio.h</a:t>
            </a:r>
            <a:r>
              <a:rPr lang="en-IN" sz="1400" b="1" dirty="0">
                <a:cs typeface="Arial"/>
              </a:rPr>
              <a:t>&gt;</a:t>
            </a:r>
          </a:p>
          <a:p>
            <a:pPr marL="342265" marR="5080" indent="-342265" algn="just">
              <a:lnSpc>
                <a:spcPct val="100000"/>
              </a:lnSpc>
              <a:spcBef>
                <a:spcPts val="105"/>
              </a:spcBef>
              <a:buClr>
                <a:srgbClr val="F5A208"/>
              </a:buClr>
              <a:buSzPct val="80000"/>
              <a:buFont typeface="Arial MT"/>
              <a:buChar char="►"/>
              <a:tabLst>
                <a:tab pos="342265" algn="l"/>
                <a:tab pos="342900" algn="l"/>
                <a:tab pos="6784340" algn="l"/>
              </a:tabLst>
            </a:pPr>
            <a:endParaRPr lang="en-IN" sz="1400" b="1" dirty="0">
              <a:cs typeface="Arial"/>
            </a:endParaRPr>
          </a:p>
          <a:p>
            <a:pPr marR="5080" algn="just">
              <a:lnSpc>
                <a:spcPct val="100000"/>
              </a:lnSpc>
              <a:spcBef>
                <a:spcPts val="105"/>
              </a:spcBef>
              <a:buClr>
                <a:srgbClr val="F5A208"/>
              </a:buClr>
              <a:buSzPct val="80000"/>
              <a:tabLst>
                <a:tab pos="342265" algn="l"/>
                <a:tab pos="342900" algn="l"/>
                <a:tab pos="6784340" algn="l"/>
              </a:tabLst>
            </a:pPr>
            <a:r>
              <a:rPr lang="en-IN" sz="1400" b="1" dirty="0" err="1">
                <a:cs typeface="Arial"/>
              </a:rPr>
              <a:t>int</a:t>
            </a:r>
            <a:r>
              <a:rPr lang="en-IN" sz="1400" b="1" dirty="0">
                <a:cs typeface="Arial"/>
              </a:rPr>
              <a:t> sum(</a:t>
            </a:r>
            <a:r>
              <a:rPr lang="en-IN" sz="1400" b="1" dirty="0" err="1">
                <a:cs typeface="Arial"/>
              </a:rPr>
              <a:t>int</a:t>
            </a:r>
            <a:r>
              <a:rPr lang="en-IN" sz="1400" b="1" dirty="0">
                <a:cs typeface="Arial"/>
              </a:rPr>
              <a:t> a, </a:t>
            </a:r>
            <a:r>
              <a:rPr lang="en-IN" sz="1400" b="1" dirty="0" err="1">
                <a:cs typeface="Arial"/>
              </a:rPr>
              <a:t>int</a:t>
            </a:r>
            <a:r>
              <a:rPr lang="en-IN" sz="1400" b="1" dirty="0">
                <a:cs typeface="Arial"/>
              </a:rPr>
              <a:t> b)</a:t>
            </a:r>
          </a:p>
          <a:p>
            <a:pPr marR="5080" algn="just">
              <a:lnSpc>
                <a:spcPct val="100000"/>
              </a:lnSpc>
              <a:spcBef>
                <a:spcPts val="105"/>
              </a:spcBef>
              <a:buClr>
                <a:srgbClr val="F5A208"/>
              </a:buClr>
              <a:buSzPct val="80000"/>
              <a:tabLst>
                <a:tab pos="342265" algn="l"/>
                <a:tab pos="342900" algn="l"/>
                <a:tab pos="6784340" algn="l"/>
              </a:tabLst>
            </a:pPr>
            <a:r>
              <a:rPr lang="en-IN" sz="1400" b="1" dirty="0">
                <a:cs typeface="Arial"/>
              </a:rPr>
              <a:t>{</a:t>
            </a:r>
          </a:p>
          <a:p>
            <a:pPr marR="5080" algn="just">
              <a:lnSpc>
                <a:spcPct val="100000"/>
              </a:lnSpc>
              <a:spcBef>
                <a:spcPts val="105"/>
              </a:spcBef>
              <a:buClr>
                <a:srgbClr val="F5A208"/>
              </a:buClr>
              <a:buSzPct val="80000"/>
              <a:tabLst>
                <a:tab pos="342265" algn="l"/>
                <a:tab pos="342900" algn="l"/>
                <a:tab pos="6784340" algn="l"/>
              </a:tabLst>
            </a:pPr>
            <a:r>
              <a:rPr lang="en-IN" sz="1400" b="1" dirty="0">
                <a:cs typeface="Arial"/>
              </a:rPr>
              <a:t>return a + b;</a:t>
            </a:r>
          </a:p>
          <a:p>
            <a:pPr marR="5080" algn="just">
              <a:lnSpc>
                <a:spcPct val="100000"/>
              </a:lnSpc>
              <a:spcBef>
                <a:spcPts val="105"/>
              </a:spcBef>
              <a:buClr>
                <a:srgbClr val="F5A208"/>
              </a:buClr>
              <a:buSzPct val="80000"/>
              <a:tabLst>
                <a:tab pos="342265" algn="l"/>
                <a:tab pos="342900" algn="l"/>
                <a:tab pos="6784340" algn="l"/>
              </a:tabLst>
            </a:pPr>
            <a:r>
              <a:rPr lang="en-IN" sz="1400" b="1" dirty="0">
                <a:cs typeface="Arial"/>
              </a:rPr>
              <a:t>}</a:t>
            </a:r>
          </a:p>
          <a:p>
            <a:pPr marL="342265" marR="5080" indent="-342265" algn="just">
              <a:lnSpc>
                <a:spcPct val="100000"/>
              </a:lnSpc>
              <a:spcBef>
                <a:spcPts val="105"/>
              </a:spcBef>
              <a:buClr>
                <a:srgbClr val="F5A208"/>
              </a:buClr>
              <a:buSzPct val="80000"/>
              <a:buFont typeface="Arial MT"/>
              <a:buChar char="►"/>
              <a:tabLst>
                <a:tab pos="342265" algn="l"/>
                <a:tab pos="342900" algn="l"/>
                <a:tab pos="6784340" algn="l"/>
              </a:tabLst>
            </a:pPr>
            <a:endParaRPr lang="en-IN" sz="1400" b="1" dirty="0">
              <a:cs typeface="Arial"/>
            </a:endParaRPr>
          </a:p>
          <a:p>
            <a:pPr marR="5080" algn="just">
              <a:lnSpc>
                <a:spcPct val="100000"/>
              </a:lnSpc>
              <a:spcBef>
                <a:spcPts val="105"/>
              </a:spcBef>
              <a:buClr>
                <a:srgbClr val="F5A208"/>
              </a:buClr>
              <a:buSzPct val="80000"/>
              <a:tabLst>
                <a:tab pos="342265" algn="l"/>
                <a:tab pos="342900" algn="l"/>
                <a:tab pos="6784340" algn="l"/>
              </a:tabLst>
            </a:pPr>
            <a:r>
              <a:rPr lang="en-IN" sz="1400" b="1" dirty="0">
                <a:cs typeface="Arial"/>
              </a:rPr>
              <a:t>// Driver code</a:t>
            </a:r>
          </a:p>
          <a:p>
            <a:pPr marR="5080" algn="just">
              <a:lnSpc>
                <a:spcPct val="100000"/>
              </a:lnSpc>
              <a:spcBef>
                <a:spcPts val="105"/>
              </a:spcBef>
              <a:buClr>
                <a:srgbClr val="F5A208"/>
              </a:buClr>
              <a:buSzPct val="80000"/>
              <a:tabLst>
                <a:tab pos="342265" algn="l"/>
                <a:tab pos="342900" algn="l"/>
                <a:tab pos="6784340" algn="l"/>
              </a:tabLst>
            </a:pPr>
            <a:r>
              <a:rPr lang="en-IN" sz="1400" b="1" dirty="0" err="1">
                <a:cs typeface="Arial"/>
              </a:rPr>
              <a:t>int</a:t>
            </a:r>
            <a:r>
              <a:rPr lang="en-IN" sz="1400" b="1" dirty="0">
                <a:cs typeface="Arial"/>
              </a:rPr>
              <a:t> main()</a:t>
            </a:r>
          </a:p>
          <a:p>
            <a:pPr marR="5080" algn="just">
              <a:lnSpc>
                <a:spcPct val="100000"/>
              </a:lnSpc>
              <a:spcBef>
                <a:spcPts val="105"/>
              </a:spcBef>
              <a:buClr>
                <a:srgbClr val="F5A208"/>
              </a:buClr>
              <a:buSzPct val="80000"/>
              <a:tabLst>
                <a:tab pos="342265" algn="l"/>
                <a:tab pos="342900" algn="l"/>
                <a:tab pos="6784340" algn="l"/>
              </a:tabLst>
            </a:pPr>
            <a:r>
              <a:rPr lang="en-IN" sz="1400" b="1" dirty="0">
                <a:cs typeface="Arial"/>
              </a:rPr>
              <a:t>{</a:t>
            </a:r>
          </a:p>
          <a:p>
            <a:pPr marR="5080" algn="just">
              <a:lnSpc>
                <a:spcPct val="100000"/>
              </a:lnSpc>
              <a:spcBef>
                <a:spcPts val="105"/>
              </a:spcBef>
              <a:buClr>
                <a:srgbClr val="F5A208"/>
              </a:buClr>
              <a:buSzPct val="80000"/>
              <a:tabLst>
                <a:tab pos="342265" algn="l"/>
                <a:tab pos="342900" algn="l"/>
                <a:tab pos="6784340" algn="l"/>
              </a:tabLst>
            </a:pPr>
            <a:r>
              <a:rPr lang="en-IN" sz="1400" b="1" dirty="0" err="1">
                <a:cs typeface="Arial"/>
              </a:rPr>
              <a:t>int</a:t>
            </a:r>
            <a:r>
              <a:rPr lang="en-IN" sz="1400" b="1" dirty="0">
                <a:cs typeface="Arial"/>
              </a:rPr>
              <a:t> a = 30, b = 40;</a:t>
            </a:r>
          </a:p>
          <a:p>
            <a:pPr marL="342265" marR="5080" indent="-342265" algn="just">
              <a:lnSpc>
                <a:spcPct val="100000"/>
              </a:lnSpc>
              <a:spcBef>
                <a:spcPts val="105"/>
              </a:spcBef>
              <a:buClr>
                <a:srgbClr val="F5A208"/>
              </a:buClr>
              <a:buSzPct val="80000"/>
              <a:buFont typeface="Arial MT"/>
              <a:buChar char="►"/>
              <a:tabLst>
                <a:tab pos="342265" algn="l"/>
                <a:tab pos="342900" algn="l"/>
                <a:tab pos="6784340" algn="l"/>
              </a:tabLst>
            </a:pPr>
            <a:endParaRPr lang="en-IN" sz="1400" b="1" dirty="0">
              <a:cs typeface="Arial"/>
            </a:endParaRPr>
          </a:p>
          <a:p>
            <a:pPr marR="5080" algn="just">
              <a:lnSpc>
                <a:spcPct val="100000"/>
              </a:lnSpc>
              <a:spcBef>
                <a:spcPts val="105"/>
              </a:spcBef>
              <a:buClr>
                <a:srgbClr val="F5A208"/>
              </a:buClr>
              <a:buSzPct val="80000"/>
              <a:tabLst>
                <a:tab pos="342265" algn="l"/>
                <a:tab pos="342900" algn="l"/>
                <a:tab pos="6784340" algn="l"/>
              </a:tabLst>
            </a:pPr>
            <a:r>
              <a:rPr lang="en-IN" sz="1400" b="1" dirty="0">
                <a:cs typeface="Arial"/>
              </a:rPr>
              <a:t>// function call</a:t>
            </a:r>
          </a:p>
          <a:p>
            <a:pPr marR="5080" algn="just">
              <a:lnSpc>
                <a:spcPct val="100000"/>
              </a:lnSpc>
              <a:spcBef>
                <a:spcPts val="105"/>
              </a:spcBef>
              <a:buClr>
                <a:srgbClr val="F5A208"/>
              </a:buClr>
              <a:buSzPct val="80000"/>
              <a:tabLst>
                <a:tab pos="342265" algn="l"/>
                <a:tab pos="342900" algn="l"/>
                <a:tab pos="6784340" algn="l"/>
              </a:tabLst>
            </a:pPr>
            <a:r>
              <a:rPr lang="en-IN" sz="1400" b="1" dirty="0" err="1">
                <a:cs typeface="Arial"/>
              </a:rPr>
              <a:t>int</a:t>
            </a:r>
            <a:r>
              <a:rPr lang="en-IN" sz="1400" b="1" dirty="0">
                <a:cs typeface="Arial"/>
              </a:rPr>
              <a:t> res = sum(a, b);</a:t>
            </a:r>
          </a:p>
          <a:p>
            <a:pPr marL="342265" marR="5080" indent="-342265" algn="just">
              <a:lnSpc>
                <a:spcPct val="100000"/>
              </a:lnSpc>
              <a:spcBef>
                <a:spcPts val="105"/>
              </a:spcBef>
              <a:buClr>
                <a:srgbClr val="F5A208"/>
              </a:buClr>
              <a:buSzPct val="80000"/>
              <a:buFont typeface="Arial MT"/>
              <a:buChar char="►"/>
              <a:tabLst>
                <a:tab pos="342265" algn="l"/>
                <a:tab pos="342900" algn="l"/>
                <a:tab pos="6784340" algn="l"/>
              </a:tabLst>
            </a:pPr>
            <a:endParaRPr lang="en-IN" sz="1400" b="1" dirty="0">
              <a:cs typeface="Arial"/>
            </a:endParaRPr>
          </a:p>
          <a:p>
            <a:pPr marR="5080" algn="just">
              <a:lnSpc>
                <a:spcPct val="100000"/>
              </a:lnSpc>
              <a:spcBef>
                <a:spcPts val="105"/>
              </a:spcBef>
              <a:buClr>
                <a:srgbClr val="F5A208"/>
              </a:buClr>
              <a:buSzPct val="80000"/>
              <a:tabLst>
                <a:tab pos="342265" algn="l"/>
                <a:tab pos="342900" algn="l"/>
                <a:tab pos="6784340" algn="l"/>
              </a:tabLst>
            </a:pPr>
            <a:r>
              <a:rPr lang="en-IN" sz="1400" b="1" dirty="0" err="1">
                <a:cs typeface="Arial"/>
              </a:rPr>
              <a:t>printf</a:t>
            </a:r>
            <a:r>
              <a:rPr lang="en-IN" sz="1400" b="1" dirty="0">
                <a:cs typeface="Arial"/>
              </a:rPr>
              <a:t>("Sum is: %d", res);</a:t>
            </a:r>
          </a:p>
          <a:p>
            <a:pPr marR="5080" algn="just">
              <a:lnSpc>
                <a:spcPct val="100000"/>
              </a:lnSpc>
              <a:spcBef>
                <a:spcPts val="105"/>
              </a:spcBef>
              <a:buClr>
                <a:srgbClr val="F5A208"/>
              </a:buClr>
              <a:buSzPct val="80000"/>
              <a:tabLst>
                <a:tab pos="342265" algn="l"/>
                <a:tab pos="342900" algn="l"/>
                <a:tab pos="6784340" algn="l"/>
              </a:tabLst>
            </a:pPr>
            <a:r>
              <a:rPr lang="en-IN" sz="1400" b="1" dirty="0">
                <a:cs typeface="Arial"/>
              </a:rPr>
              <a:t>return 0;</a:t>
            </a:r>
          </a:p>
          <a:p>
            <a:pPr marR="5080" algn="just">
              <a:lnSpc>
                <a:spcPct val="100000"/>
              </a:lnSpc>
              <a:spcBef>
                <a:spcPts val="105"/>
              </a:spcBef>
              <a:buClr>
                <a:srgbClr val="F5A208"/>
              </a:buClr>
              <a:buSzPct val="80000"/>
              <a:tabLst>
                <a:tab pos="342265" algn="l"/>
                <a:tab pos="342900" algn="l"/>
                <a:tab pos="6784340" algn="l"/>
              </a:tabLst>
            </a:pPr>
            <a:r>
              <a:rPr lang="en-IN" sz="1400" b="1" dirty="0">
                <a:cs typeface="Arial"/>
              </a:rPr>
              <a:t>}</a:t>
            </a:r>
          </a:p>
        </p:txBody>
      </p:sp>
      <p:sp>
        <p:nvSpPr>
          <p:cNvPr id="8" name="TextBox 7"/>
          <p:cNvSpPr txBox="1"/>
          <p:nvPr/>
        </p:nvSpPr>
        <p:spPr>
          <a:xfrm>
            <a:off x="7543800" y="2743200"/>
            <a:ext cx="2971800" cy="646331"/>
          </a:xfrm>
          <a:prstGeom prst="rect">
            <a:avLst/>
          </a:prstGeom>
          <a:noFill/>
        </p:spPr>
        <p:txBody>
          <a:bodyPr wrap="square" rtlCol="0">
            <a:spAutoFit/>
          </a:bodyPr>
          <a:lstStyle/>
          <a:p>
            <a:r>
              <a:rPr lang="en-IN" dirty="0"/>
              <a:t>Output</a:t>
            </a:r>
          </a:p>
          <a:p>
            <a:r>
              <a:rPr lang="en-IN" dirty="0"/>
              <a:t>Sum is: 70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2638" y="1695069"/>
            <a:ext cx="5991962" cy="505908"/>
          </a:xfrm>
          <a:prstGeom prst="rect">
            <a:avLst/>
          </a:prstGeom>
        </p:spPr>
        <p:txBody>
          <a:bodyPr vert="horz" wrap="square" lIns="0" tIns="13335" rIns="0" bIns="0" rtlCol="0">
            <a:spAutoFit/>
          </a:bodyPr>
          <a:lstStyle/>
          <a:p>
            <a:pPr fontAlgn="base"/>
            <a:r>
              <a:rPr lang="en-IN" dirty="0"/>
              <a:t>Passing Parameters to Functions</a:t>
            </a:r>
          </a:p>
        </p:txBody>
      </p:sp>
      <p:sp>
        <p:nvSpPr>
          <p:cNvPr id="9" name="object 9"/>
          <p:cNvSpPr txBox="1"/>
          <p:nvPr/>
        </p:nvSpPr>
        <p:spPr>
          <a:xfrm>
            <a:off x="551816" y="2590800"/>
            <a:ext cx="11182984" cy="2316019"/>
          </a:xfrm>
          <a:prstGeom prst="rect">
            <a:avLst/>
          </a:prstGeom>
          <a:ln w="9525">
            <a:solidFill>
              <a:srgbClr val="0000FF"/>
            </a:solidFill>
          </a:ln>
        </p:spPr>
        <p:txBody>
          <a:bodyPr vert="horz" wrap="square" lIns="0" tIns="83820" rIns="0" bIns="0" rtlCol="0">
            <a:spAutoFit/>
          </a:bodyPr>
          <a:lstStyle/>
          <a:p>
            <a:pPr marL="354965" indent="-342900">
              <a:lnSpc>
                <a:spcPct val="100000"/>
              </a:lnSpc>
              <a:spcBef>
                <a:spcPts val="1010"/>
              </a:spcBef>
              <a:buFont typeface="Arial" panose="020B0604020202020204" pitchFamily="34" charset="0"/>
              <a:buChar char="•"/>
            </a:pPr>
            <a:r>
              <a:rPr lang="en-IN" sz="2400" dirty="0"/>
              <a:t>The data passed when the function is being invoked is known as the Actual parameters.</a:t>
            </a:r>
          </a:p>
          <a:p>
            <a:pPr marL="354965" indent="-342900">
              <a:lnSpc>
                <a:spcPct val="100000"/>
              </a:lnSpc>
              <a:spcBef>
                <a:spcPts val="1010"/>
              </a:spcBef>
              <a:buFont typeface="Arial" panose="020B0604020202020204" pitchFamily="34" charset="0"/>
              <a:buChar char="•"/>
            </a:pPr>
            <a:r>
              <a:rPr lang="en-IN" sz="2400" dirty="0"/>
              <a:t> In the below program, 10 and 30 are known as actual parameters. </a:t>
            </a:r>
          </a:p>
          <a:p>
            <a:pPr marL="354965" indent="-342900">
              <a:lnSpc>
                <a:spcPct val="100000"/>
              </a:lnSpc>
              <a:spcBef>
                <a:spcPts val="1010"/>
              </a:spcBef>
              <a:buFont typeface="Arial" panose="020B0604020202020204" pitchFamily="34" charset="0"/>
              <a:buChar char="•"/>
            </a:pPr>
            <a:r>
              <a:rPr lang="en-IN" sz="2400" dirty="0"/>
              <a:t>Formal Parameters are the variable and the data type as mentioned in the function declaration.</a:t>
            </a:r>
          </a:p>
          <a:p>
            <a:pPr marL="354965" indent="-342900">
              <a:lnSpc>
                <a:spcPct val="100000"/>
              </a:lnSpc>
              <a:spcBef>
                <a:spcPts val="1010"/>
              </a:spcBef>
              <a:buFont typeface="Arial" panose="020B0604020202020204" pitchFamily="34" charset="0"/>
              <a:buChar char="•"/>
            </a:pPr>
            <a:r>
              <a:rPr lang="en-IN" sz="2400" dirty="0"/>
              <a:t> In the below program, a and b are known as formal parameters.</a:t>
            </a:r>
            <a:endParaRPr sz="2400" dirty="0">
              <a:cs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2638" y="1695069"/>
            <a:ext cx="4209415" cy="513715"/>
          </a:xfrm>
          <a:prstGeom prst="rect">
            <a:avLst/>
          </a:prstGeom>
        </p:spPr>
        <p:txBody>
          <a:bodyPr vert="horz" wrap="square" lIns="0" tIns="13335" rIns="0" bIns="0" rtlCol="0">
            <a:spAutoFit/>
          </a:bodyPr>
          <a:lstStyle/>
          <a:p>
            <a:pPr marL="12700">
              <a:lnSpc>
                <a:spcPct val="100000"/>
              </a:lnSpc>
              <a:spcBef>
                <a:spcPts val="105"/>
              </a:spcBef>
            </a:pPr>
            <a:r>
              <a:rPr dirty="0"/>
              <a:t>Example:</a:t>
            </a:r>
            <a:r>
              <a:rPr spc="-40" dirty="0"/>
              <a:t> </a:t>
            </a:r>
            <a:endParaRPr dirty="0"/>
          </a:p>
        </p:txBody>
      </p:sp>
      <p:grpSp>
        <p:nvGrpSpPr>
          <p:cNvPr id="3" name="object 3"/>
          <p:cNvGrpSpPr/>
          <p:nvPr/>
        </p:nvGrpSpPr>
        <p:grpSpPr>
          <a:xfrm>
            <a:off x="8859011" y="6073140"/>
            <a:ext cx="3333115" cy="346075"/>
            <a:chOff x="8859011" y="6073140"/>
            <a:chExt cx="3333115" cy="346075"/>
          </a:xfrm>
        </p:grpSpPr>
        <p:sp>
          <p:nvSpPr>
            <p:cNvPr id="4" name="object 4"/>
            <p:cNvSpPr/>
            <p:nvPr/>
          </p:nvSpPr>
          <p:spPr>
            <a:xfrm>
              <a:off x="8859011" y="6073140"/>
              <a:ext cx="3333115" cy="215265"/>
            </a:xfrm>
            <a:custGeom>
              <a:avLst/>
              <a:gdLst/>
              <a:ahLst/>
              <a:cxnLst/>
              <a:rect l="l" t="t" r="r" b="b"/>
              <a:pathLst>
                <a:path w="3333115" h="215264">
                  <a:moveTo>
                    <a:pt x="3332988" y="0"/>
                  </a:moveTo>
                  <a:lnTo>
                    <a:pt x="0" y="0"/>
                  </a:lnTo>
                  <a:lnTo>
                    <a:pt x="0" y="214884"/>
                  </a:lnTo>
                  <a:lnTo>
                    <a:pt x="3332988" y="214884"/>
                  </a:lnTo>
                  <a:lnTo>
                    <a:pt x="3332988" y="0"/>
                  </a:lnTo>
                  <a:close/>
                </a:path>
              </a:pathLst>
            </a:custGeom>
            <a:solidFill>
              <a:srgbClr val="F1F1F1"/>
            </a:solidFill>
          </p:spPr>
          <p:txBody>
            <a:bodyPr wrap="square" lIns="0" tIns="0" rIns="0" bIns="0" rtlCol="0"/>
            <a:lstStyle/>
            <a:p>
              <a:endParaRPr/>
            </a:p>
          </p:txBody>
        </p:sp>
        <p:pic>
          <p:nvPicPr>
            <p:cNvPr id="5" name="object 5"/>
            <p:cNvPicPr/>
            <p:nvPr/>
          </p:nvPicPr>
          <p:blipFill>
            <a:blip r:embed="rId2" cstate="print"/>
            <a:stretch>
              <a:fillRect/>
            </a:stretch>
          </p:blipFill>
          <p:spPr>
            <a:xfrm>
              <a:off x="11399519" y="6214872"/>
              <a:ext cx="202692" cy="204215"/>
            </a:xfrm>
            <a:prstGeom prst="rect">
              <a:avLst/>
            </a:prstGeom>
          </p:spPr>
        </p:pic>
      </p:grpSp>
      <p:grpSp>
        <p:nvGrpSpPr>
          <p:cNvPr id="6" name="object 6"/>
          <p:cNvGrpSpPr/>
          <p:nvPr/>
        </p:nvGrpSpPr>
        <p:grpSpPr>
          <a:xfrm>
            <a:off x="3133851" y="2342159"/>
            <a:ext cx="6238749" cy="4209415"/>
            <a:chOff x="3464052" y="2382011"/>
            <a:chExt cx="5349240" cy="4209415"/>
          </a:xfrm>
        </p:grpSpPr>
        <p:sp>
          <p:nvSpPr>
            <p:cNvPr id="7" name="object 7"/>
            <p:cNvSpPr/>
            <p:nvPr/>
          </p:nvSpPr>
          <p:spPr>
            <a:xfrm>
              <a:off x="8752332" y="6071615"/>
              <a:ext cx="60960" cy="215265"/>
            </a:xfrm>
            <a:custGeom>
              <a:avLst/>
              <a:gdLst/>
              <a:ahLst/>
              <a:cxnLst/>
              <a:rect l="l" t="t" r="r" b="b"/>
              <a:pathLst>
                <a:path w="60959" h="215264">
                  <a:moveTo>
                    <a:pt x="60959" y="0"/>
                  </a:moveTo>
                  <a:lnTo>
                    <a:pt x="0" y="0"/>
                  </a:lnTo>
                  <a:lnTo>
                    <a:pt x="0" y="214884"/>
                  </a:lnTo>
                  <a:lnTo>
                    <a:pt x="60959" y="214884"/>
                  </a:lnTo>
                  <a:lnTo>
                    <a:pt x="60959" y="0"/>
                  </a:lnTo>
                  <a:close/>
                </a:path>
              </a:pathLst>
            </a:custGeom>
            <a:solidFill>
              <a:srgbClr val="F1F1F1"/>
            </a:solidFill>
          </p:spPr>
          <p:txBody>
            <a:bodyPr wrap="square" lIns="0" tIns="0" rIns="0" bIns="0" rtlCol="0"/>
            <a:lstStyle/>
            <a:p>
              <a:endParaRPr/>
            </a:p>
          </p:txBody>
        </p:sp>
        <p:sp>
          <p:nvSpPr>
            <p:cNvPr id="8" name="object 8"/>
            <p:cNvSpPr/>
            <p:nvPr/>
          </p:nvSpPr>
          <p:spPr>
            <a:xfrm>
              <a:off x="3464052" y="2382011"/>
              <a:ext cx="5264150" cy="4209415"/>
            </a:xfrm>
            <a:custGeom>
              <a:avLst/>
              <a:gdLst/>
              <a:ahLst/>
              <a:cxnLst/>
              <a:rect l="l" t="t" r="r" b="b"/>
              <a:pathLst>
                <a:path w="5264150" h="4209415">
                  <a:moveTo>
                    <a:pt x="5263896" y="0"/>
                  </a:moveTo>
                  <a:lnTo>
                    <a:pt x="0" y="0"/>
                  </a:lnTo>
                  <a:lnTo>
                    <a:pt x="0" y="4209288"/>
                  </a:lnTo>
                  <a:lnTo>
                    <a:pt x="5263896" y="4209288"/>
                  </a:lnTo>
                  <a:lnTo>
                    <a:pt x="5263896" y="0"/>
                  </a:lnTo>
                  <a:close/>
                </a:path>
              </a:pathLst>
            </a:custGeom>
            <a:solidFill>
              <a:srgbClr val="FBE4CD"/>
            </a:solidFill>
          </p:spPr>
          <p:txBody>
            <a:bodyPr wrap="square" lIns="0" tIns="0" rIns="0" bIns="0" rtlCol="0"/>
            <a:lstStyle/>
            <a:p>
              <a:endParaRPr/>
            </a:p>
          </p:txBody>
        </p:sp>
      </p:grpSp>
      <p:sp>
        <p:nvSpPr>
          <p:cNvPr id="10" name="AutoShape 2" descr="Passing Parameters to Function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2" name="Picture 11"/>
          <p:cNvPicPr>
            <a:picLocks noChangeAspect="1"/>
          </p:cNvPicPr>
          <p:nvPr/>
        </p:nvPicPr>
        <p:blipFill>
          <a:blip r:embed="rId3"/>
          <a:stretch>
            <a:fillRect/>
          </a:stretch>
        </p:blipFill>
        <p:spPr>
          <a:xfrm>
            <a:off x="3435402" y="2284374"/>
            <a:ext cx="5286375" cy="42672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2638" y="1695069"/>
            <a:ext cx="5140325" cy="505908"/>
          </a:xfrm>
          <a:prstGeom prst="rect">
            <a:avLst/>
          </a:prstGeom>
        </p:spPr>
        <p:txBody>
          <a:bodyPr vert="horz" wrap="square" lIns="0" tIns="13335" rIns="0" bIns="0" rtlCol="0">
            <a:spAutoFit/>
          </a:bodyPr>
          <a:lstStyle/>
          <a:p>
            <a:pPr fontAlgn="base"/>
            <a:r>
              <a:rPr lang="en-IN" dirty="0"/>
              <a:t>Advantages of Functions in C</a:t>
            </a:r>
          </a:p>
        </p:txBody>
      </p:sp>
      <p:sp>
        <p:nvSpPr>
          <p:cNvPr id="9" name="TextBox 8"/>
          <p:cNvSpPr txBox="1"/>
          <p:nvPr/>
        </p:nvSpPr>
        <p:spPr>
          <a:xfrm>
            <a:off x="685800" y="2667000"/>
            <a:ext cx="8458200" cy="3970318"/>
          </a:xfrm>
          <a:prstGeom prst="rect">
            <a:avLst/>
          </a:prstGeom>
          <a:noFill/>
        </p:spPr>
        <p:txBody>
          <a:bodyPr wrap="square" rtlCol="0">
            <a:spAutoFit/>
          </a:bodyPr>
          <a:lstStyle/>
          <a:p>
            <a:pPr fontAlgn="base"/>
            <a:r>
              <a:rPr lang="en-IN" b="1" u="sng" dirty="0">
                <a:solidFill>
                  <a:srgbClr val="FF0000"/>
                </a:solidFill>
              </a:rPr>
              <a:t>Functions in C is a highly useful feature of C with many advantages as mentioned below</a:t>
            </a:r>
            <a:r>
              <a:rPr lang="en-IN" dirty="0"/>
              <a:t>:</a:t>
            </a:r>
          </a:p>
          <a:p>
            <a:pPr fontAlgn="base"/>
            <a:endParaRPr lang="en-IN" dirty="0"/>
          </a:p>
          <a:p>
            <a:pPr marL="285750" indent="-285750" fontAlgn="base">
              <a:buFont typeface="Arial" panose="020B0604020202020204" pitchFamily="34" charset="0"/>
              <a:buChar char="•"/>
            </a:pPr>
            <a:r>
              <a:rPr lang="en-IN" dirty="0"/>
              <a:t>The function can reduce the repetition of the same statements in the program.</a:t>
            </a:r>
          </a:p>
          <a:p>
            <a:pPr fontAlgn="base"/>
            <a:endParaRPr lang="en-IN" dirty="0"/>
          </a:p>
          <a:p>
            <a:pPr marL="285750" indent="-285750" fontAlgn="base">
              <a:buFont typeface="Arial" panose="020B0604020202020204" pitchFamily="34" charset="0"/>
              <a:buChar char="•"/>
            </a:pPr>
            <a:r>
              <a:rPr lang="en-IN" dirty="0"/>
              <a:t>The function makes code readable by providing modularity to our program.</a:t>
            </a:r>
          </a:p>
          <a:p>
            <a:pPr fontAlgn="base"/>
            <a:endParaRPr lang="en-IN" dirty="0"/>
          </a:p>
          <a:p>
            <a:pPr marL="285750" indent="-285750" fontAlgn="base">
              <a:buFont typeface="Arial" panose="020B0604020202020204" pitchFamily="34" charset="0"/>
              <a:buChar char="•"/>
            </a:pPr>
            <a:r>
              <a:rPr lang="en-IN" dirty="0"/>
              <a:t>There is no fixed number of calling functions it can be called as many times as you want.</a:t>
            </a:r>
          </a:p>
          <a:p>
            <a:pPr marL="285750" indent="-285750" fontAlgn="base">
              <a:buFont typeface="Arial" panose="020B0604020202020204" pitchFamily="34" charset="0"/>
              <a:buChar char="•"/>
            </a:pPr>
            <a:r>
              <a:rPr lang="en-IN" dirty="0"/>
              <a:t>The function reduces the size of the program.</a:t>
            </a:r>
          </a:p>
          <a:p>
            <a:pPr fontAlgn="base"/>
            <a:endParaRPr lang="en-IN" dirty="0"/>
          </a:p>
          <a:p>
            <a:pPr fontAlgn="base"/>
            <a:r>
              <a:rPr lang="en-IN" dirty="0"/>
              <a:t>Once the function is declared you can just use it without thinking about the internal working of the function.</a:t>
            </a:r>
          </a:p>
          <a:p>
            <a:endParaRPr lang="en-I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2638" y="1695069"/>
            <a:ext cx="6296762" cy="505908"/>
          </a:xfrm>
          <a:prstGeom prst="rect">
            <a:avLst/>
          </a:prstGeom>
        </p:spPr>
        <p:txBody>
          <a:bodyPr vert="horz" wrap="square" lIns="0" tIns="13335" rIns="0" bIns="0" rtlCol="0">
            <a:spAutoFit/>
          </a:bodyPr>
          <a:lstStyle/>
          <a:p>
            <a:pPr fontAlgn="base"/>
            <a:r>
              <a:rPr lang="en-IN" dirty="0"/>
              <a:t>Disadvantages of Functions in C</a:t>
            </a:r>
          </a:p>
        </p:txBody>
      </p:sp>
      <p:sp>
        <p:nvSpPr>
          <p:cNvPr id="8" name="TextBox 7"/>
          <p:cNvSpPr txBox="1"/>
          <p:nvPr/>
        </p:nvSpPr>
        <p:spPr>
          <a:xfrm>
            <a:off x="685800" y="2819400"/>
            <a:ext cx="7010400" cy="1477328"/>
          </a:xfrm>
          <a:prstGeom prst="rect">
            <a:avLst/>
          </a:prstGeom>
          <a:noFill/>
        </p:spPr>
        <p:txBody>
          <a:bodyPr wrap="square" rtlCol="0">
            <a:spAutoFit/>
          </a:bodyPr>
          <a:lstStyle/>
          <a:p>
            <a:pPr fontAlgn="base"/>
            <a:r>
              <a:rPr lang="en-IN" dirty="0"/>
              <a:t>The following are the major disadvantages of functions in C:</a:t>
            </a:r>
          </a:p>
          <a:p>
            <a:pPr fontAlgn="base"/>
            <a:endParaRPr lang="en-IN" dirty="0"/>
          </a:p>
          <a:p>
            <a:pPr marL="285750" indent="-285750" fontAlgn="base">
              <a:buFont typeface="Arial" panose="020B0604020202020204" pitchFamily="34" charset="0"/>
              <a:buChar char="•"/>
            </a:pPr>
            <a:r>
              <a:rPr lang="en-IN" dirty="0"/>
              <a:t>Cannot return multiple values.</a:t>
            </a:r>
          </a:p>
          <a:p>
            <a:pPr marL="285750" indent="-285750" fontAlgn="base">
              <a:buFont typeface="Arial" panose="020B0604020202020204" pitchFamily="34" charset="0"/>
              <a:buChar char="•"/>
            </a:pPr>
            <a:r>
              <a:rPr lang="en-IN" dirty="0"/>
              <a:t>Memory and time overhead due to stack frame allocation and transfer of program control.</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A7B57B0-7DB6-AA8C-3390-A6DA0EAC48C8}"/>
            </a:ext>
          </a:extLst>
        </p:cNvPr>
        <p:cNvGrpSpPr/>
        <p:nvPr/>
      </p:nvGrpSpPr>
      <p:grpSpPr>
        <a:xfrm>
          <a:off x="0" y="0"/>
          <a:ext cx="0" cy="0"/>
          <a:chOff x="0" y="0"/>
          <a:chExt cx="0" cy="0"/>
        </a:xfrm>
      </p:grpSpPr>
      <p:sp>
        <p:nvSpPr>
          <p:cNvPr id="2" name="object 2">
            <a:extLst>
              <a:ext uri="{FF2B5EF4-FFF2-40B4-BE49-F238E27FC236}">
                <a16:creationId xmlns="" xmlns:a16="http://schemas.microsoft.com/office/drawing/2014/main" id="{6A9BE474-2596-02DF-CF2B-239C015601AA}"/>
              </a:ext>
            </a:extLst>
          </p:cNvPr>
          <p:cNvSpPr txBox="1">
            <a:spLocks noGrp="1"/>
          </p:cNvSpPr>
          <p:nvPr>
            <p:ph type="title"/>
          </p:nvPr>
        </p:nvSpPr>
        <p:spPr>
          <a:xfrm>
            <a:off x="332638" y="1695069"/>
            <a:ext cx="6296762" cy="505908"/>
          </a:xfrm>
          <a:prstGeom prst="rect">
            <a:avLst/>
          </a:prstGeom>
        </p:spPr>
        <p:txBody>
          <a:bodyPr vert="horz" wrap="square" lIns="0" tIns="13335" rIns="0" bIns="0" rtlCol="0">
            <a:spAutoFit/>
          </a:bodyPr>
          <a:lstStyle/>
          <a:p>
            <a:pPr fontAlgn="base"/>
            <a:r>
              <a:rPr lang="en-IN" dirty="0"/>
              <a:t>Types of User Defined Functions in C</a:t>
            </a:r>
          </a:p>
        </p:txBody>
      </p:sp>
      <p:sp>
        <p:nvSpPr>
          <p:cNvPr id="8" name="TextBox 7">
            <a:extLst>
              <a:ext uri="{FF2B5EF4-FFF2-40B4-BE49-F238E27FC236}">
                <a16:creationId xmlns="" xmlns:a16="http://schemas.microsoft.com/office/drawing/2014/main" id="{7F2BF225-D06F-9DDF-56B2-D73DED46E715}"/>
              </a:ext>
            </a:extLst>
          </p:cNvPr>
          <p:cNvSpPr txBox="1"/>
          <p:nvPr/>
        </p:nvSpPr>
        <p:spPr>
          <a:xfrm>
            <a:off x="685800" y="2819400"/>
            <a:ext cx="7010400" cy="1754326"/>
          </a:xfrm>
          <a:prstGeom prst="rect">
            <a:avLst/>
          </a:prstGeom>
          <a:noFill/>
        </p:spPr>
        <p:txBody>
          <a:bodyPr wrap="square" rtlCol="0">
            <a:spAutoFit/>
          </a:bodyPr>
          <a:lstStyle/>
          <a:p>
            <a:pPr fontAlgn="base"/>
            <a:r>
              <a:rPr lang="en-IN" dirty="0"/>
              <a:t>The following are the major types of User Defined Functions in C:</a:t>
            </a:r>
          </a:p>
          <a:p>
            <a:pPr fontAlgn="base"/>
            <a:endParaRPr lang="en-IN" dirty="0"/>
          </a:p>
          <a:p>
            <a:pPr marL="285750" indent="-285750" fontAlgn="base">
              <a:buFont typeface="Arial" panose="020B0604020202020204" pitchFamily="34" charset="0"/>
              <a:buChar char="•"/>
            </a:pPr>
            <a:r>
              <a:rPr lang="en-IN" dirty="0"/>
              <a:t>Function with No Arguments &amp; No Return Type</a:t>
            </a:r>
          </a:p>
          <a:p>
            <a:pPr marL="285750" indent="-285750" fontAlgn="base">
              <a:buFont typeface="Arial" panose="020B0604020202020204" pitchFamily="34" charset="0"/>
              <a:buChar char="•"/>
            </a:pPr>
            <a:r>
              <a:rPr lang="en-IN" dirty="0"/>
              <a:t>Function with No Arguments &amp; But Return Type</a:t>
            </a:r>
          </a:p>
          <a:p>
            <a:pPr marL="285750" indent="-285750" fontAlgn="base">
              <a:buFont typeface="Arial" panose="020B0604020202020204" pitchFamily="34" charset="0"/>
              <a:buChar char="•"/>
            </a:pPr>
            <a:r>
              <a:rPr lang="en-IN" dirty="0"/>
              <a:t>Function with Arguments &amp; No Return Type</a:t>
            </a:r>
          </a:p>
          <a:p>
            <a:pPr marL="285750" indent="-285750" fontAlgn="base">
              <a:buFont typeface="Arial" panose="020B0604020202020204" pitchFamily="34" charset="0"/>
              <a:buChar char="•"/>
            </a:pPr>
            <a:r>
              <a:rPr lang="en-IN" dirty="0"/>
              <a:t>Function with Arguments &amp; Return Type</a:t>
            </a:r>
          </a:p>
        </p:txBody>
      </p:sp>
      <p:sp>
        <p:nvSpPr>
          <p:cNvPr id="4" name="TextBox 3">
            <a:extLst>
              <a:ext uri="{FF2B5EF4-FFF2-40B4-BE49-F238E27FC236}">
                <a16:creationId xmlns="" xmlns:a16="http://schemas.microsoft.com/office/drawing/2014/main" id="{71A3F21D-5B84-600D-C8E5-CCFEA75AEF17}"/>
              </a:ext>
            </a:extLst>
          </p:cNvPr>
          <p:cNvSpPr txBox="1"/>
          <p:nvPr/>
        </p:nvSpPr>
        <p:spPr>
          <a:xfrm>
            <a:off x="709756" y="5373216"/>
            <a:ext cx="9202668" cy="523220"/>
          </a:xfrm>
          <a:prstGeom prst="rect">
            <a:avLst/>
          </a:prstGeom>
          <a:noFill/>
        </p:spPr>
        <p:txBody>
          <a:bodyPr wrap="square">
            <a:spAutoFit/>
          </a:bodyPr>
          <a:lstStyle/>
          <a:p>
            <a:r>
              <a:rPr lang="en-IN" sz="2800" b="1" dirty="0">
                <a:solidFill>
                  <a:srgbClr val="FF0000"/>
                </a:solidFill>
              </a:rPr>
              <a:t>EXPLAIN ALL OF THEM WITH PROPER EXAMPLE</a:t>
            </a:r>
            <a:endParaRPr lang="en-US" sz="2800" b="1" dirty="0">
              <a:solidFill>
                <a:srgbClr val="FF0000"/>
              </a:solidFill>
            </a:endParaRPr>
          </a:p>
        </p:txBody>
      </p:sp>
    </p:spTree>
    <p:extLst>
      <p:ext uri="{BB962C8B-B14F-4D97-AF65-F5344CB8AC3E}">
        <p14:creationId xmlns:p14="http://schemas.microsoft.com/office/powerpoint/2010/main" val="27135097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2638" y="1695069"/>
            <a:ext cx="4311015" cy="505908"/>
          </a:xfrm>
          <a:prstGeom prst="rect">
            <a:avLst/>
          </a:prstGeom>
        </p:spPr>
        <p:txBody>
          <a:bodyPr vert="horz" wrap="square" lIns="0" tIns="13335" rIns="0" bIns="0" rtlCol="0">
            <a:spAutoFit/>
          </a:bodyPr>
          <a:lstStyle/>
          <a:p>
            <a:pPr marL="12700">
              <a:lnSpc>
                <a:spcPct val="100000"/>
              </a:lnSpc>
              <a:spcBef>
                <a:spcPts val="105"/>
              </a:spcBef>
            </a:pPr>
            <a:r>
              <a:rPr lang="en-IN" dirty="0"/>
              <a:t>Recursion:</a:t>
            </a:r>
            <a:endParaRPr dirty="0"/>
          </a:p>
        </p:txBody>
      </p:sp>
      <p:sp>
        <p:nvSpPr>
          <p:cNvPr id="9" name="TextBox 8"/>
          <p:cNvSpPr txBox="1"/>
          <p:nvPr/>
        </p:nvSpPr>
        <p:spPr>
          <a:xfrm>
            <a:off x="533400" y="2438400"/>
            <a:ext cx="10439400" cy="6463308"/>
          </a:xfrm>
          <a:prstGeom prst="rect">
            <a:avLst/>
          </a:prstGeom>
          <a:noFill/>
        </p:spPr>
        <p:txBody>
          <a:bodyPr wrap="square" rtlCol="0">
            <a:spAutoFit/>
          </a:bodyPr>
          <a:lstStyle/>
          <a:p>
            <a:r>
              <a:rPr lang="en-IN" dirty="0"/>
              <a:t>Recursion is the process of repeating items in a self-similar way. In programming languages, if a program allows you to call a function inside the same function, then it is called a recursive call of the function.</a:t>
            </a:r>
          </a:p>
          <a:p>
            <a:endParaRPr lang="en-US" dirty="0"/>
          </a:p>
          <a:p>
            <a:endParaRPr lang="en-US" dirty="0"/>
          </a:p>
          <a:p>
            <a:endParaRPr lang="en-IN" dirty="0"/>
          </a:p>
          <a:p>
            <a:r>
              <a:rPr lang="en-IN" dirty="0"/>
              <a:t>void recursion() {</a:t>
            </a:r>
          </a:p>
          <a:p>
            <a:r>
              <a:rPr lang="en-IN" dirty="0"/>
              <a:t>   recursion(); /* function calls itself */</a:t>
            </a:r>
          </a:p>
          <a:p>
            <a:r>
              <a:rPr lang="en-IN" dirty="0"/>
              <a:t>}</a:t>
            </a:r>
          </a:p>
          <a:p>
            <a:endParaRPr lang="en-IN" dirty="0"/>
          </a:p>
          <a:p>
            <a:r>
              <a:rPr lang="en-IN" dirty="0" err="1"/>
              <a:t>int</a:t>
            </a:r>
            <a:r>
              <a:rPr lang="en-IN" dirty="0"/>
              <a:t> main() {</a:t>
            </a:r>
          </a:p>
          <a:p>
            <a:r>
              <a:rPr lang="en-IN" dirty="0"/>
              <a:t>   recursion();</a:t>
            </a:r>
          </a:p>
          <a:p>
            <a:r>
              <a:rPr lang="en-IN" dirty="0"/>
              <a:t>}</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IN"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44068" y="2395343"/>
            <a:ext cx="10019132" cy="1538883"/>
          </a:xfrm>
        </p:spPr>
        <p:txBody>
          <a:bodyPr/>
          <a:lstStyle/>
          <a:p>
            <a:r>
              <a:rPr lang="en-IN" sz="2000" b="0" dirty="0"/>
              <a:t>The C programming language supports recursion, i.e., a function to call itself. But while using recursion, programmers need to be careful to define an exit condition from the function, otherwise it will go into an infinite loop.</a:t>
            </a:r>
          </a:p>
          <a:p>
            <a:r>
              <a:rPr lang="en-IN" sz="2000" b="0" dirty="0"/>
              <a:t>Recursive functions are very useful to solve many mathematical problems, such as calculating the factorial of a number, generating Fibonacci series, etc.</a:t>
            </a:r>
          </a:p>
        </p:txBody>
      </p:sp>
      <p:sp>
        <p:nvSpPr>
          <p:cNvPr id="5" name="TextBox 4"/>
          <p:cNvSpPr txBox="1"/>
          <p:nvPr/>
        </p:nvSpPr>
        <p:spPr>
          <a:xfrm>
            <a:off x="1143000" y="4572000"/>
            <a:ext cx="7086600" cy="1200329"/>
          </a:xfrm>
          <a:prstGeom prst="rect">
            <a:avLst/>
          </a:prstGeom>
          <a:noFill/>
        </p:spPr>
        <p:txBody>
          <a:bodyPr wrap="square" rtlCol="0">
            <a:spAutoFit/>
          </a:bodyPr>
          <a:lstStyle/>
          <a:p>
            <a:r>
              <a:rPr lang="en-IN" dirty="0"/>
              <a:t>Number Factorial</a:t>
            </a:r>
          </a:p>
          <a:p>
            <a:r>
              <a:rPr lang="en-IN" dirty="0"/>
              <a:t>The following example calculates the factorial of a given number using a recursive function</a:t>
            </a:r>
          </a:p>
          <a:p>
            <a:endParaRPr lang="en-IN" dirty="0"/>
          </a:p>
        </p:txBody>
      </p:sp>
    </p:spTree>
    <p:extLst>
      <p:ext uri="{BB962C8B-B14F-4D97-AF65-F5344CB8AC3E}">
        <p14:creationId xmlns:p14="http://schemas.microsoft.com/office/powerpoint/2010/main" val="9636449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65833" y="2209800"/>
            <a:ext cx="11513289" cy="4845248"/>
          </a:xfrm>
        </p:spPr>
        <p:txBody>
          <a:bodyPr/>
          <a:lstStyle/>
          <a:p>
            <a:r>
              <a:rPr lang="en-IN" sz="2000" b="0" dirty="0">
                <a:latin typeface="+mn-lt"/>
              </a:rPr>
              <a:t>#include &lt;</a:t>
            </a:r>
            <a:r>
              <a:rPr lang="en-IN" sz="2000" b="0" dirty="0" err="1">
                <a:latin typeface="+mn-lt"/>
              </a:rPr>
              <a:t>stdio.h</a:t>
            </a:r>
            <a:r>
              <a:rPr lang="en-IN" sz="2000" b="0" dirty="0">
                <a:latin typeface="+mn-lt"/>
              </a:rPr>
              <a:t>&gt;</a:t>
            </a:r>
          </a:p>
          <a:p>
            <a:endParaRPr lang="en-IN" sz="2000" b="0" dirty="0">
              <a:latin typeface="+mn-lt"/>
            </a:endParaRPr>
          </a:p>
          <a:p>
            <a:r>
              <a:rPr lang="en-IN" sz="2000" b="0" dirty="0">
                <a:latin typeface="+mn-lt"/>
              </a:rPr>
              <a:t>unsigned long </a:t>
            </a:r>
            <a:r>
              <a:rPr lang="en-IN" sz="2000" b="0" dirty="0" err="1">
                <a:latin typeface="+mn-lt"/>
              </a:rPr>
              <a:t>long</a:t>
            </a:r>
            <a:r>
              <a:rPr lang="en-IN" sz="2000" b="0" dirty="0">
                <a:latin typeface="+mn-lt"/>
              </a:rPr>
              <a:t> </a:t>
            </a:r>
            <a:r>
              <a:rPr lang="en-IN" sz="2000" b="0" dirty="0" err="1">
                <a:latin typeface="+mn-lt"/>
              </a:rPr>
              <a:t>int</a:t>
            </a:r>
            <a:r>
              <a:rPr lang="en-IN" sz="2000" b="0" dirty="0">
                <a:latin typeface="+mn-lt"/>
              </a:rPr>
              <a:t> factorial(unsigned </a:t>
            </a:r>
            <a:r>
              <a:rPr lang="en-IN" sz="2000" b="0" dirty="0" err="1">
                <a:latin typeface="+mn-lt"/>
              </a:rPr>
              <a:t>int</a:t>
            </a:r>
            <a:r>
              <a:rPr lang="en-IN" sz="2000" b="0" dirty="0">
                <a:latin typeface="+mn-lt"/>
              </a:rPr>
              <a:t> </a:t>
            </a:r>
            <a:r>
              <a:rPr lang="en-IN" sz="2000" b="0" dirty="0" err="1">
                <a:latin typeface="+mn-lt"/>
              </a:rPr>
              <a:t>i</a:t>
            </a:r>
            <a:r>
              <a:rPr lang="en-IN" sz="2000" b="0" dirty="0">
                <a:latin typeface="+mn-lt"/>
              </a:rPr>
              <a:t>) {</a:t>
            </a:r>
          </a:p>
          <a:p>
            <a:endParaRPr lang="en-IN" sz="2000" b="0" dirty="0">
              <a:latin typeface="+mn-lt"/>
            </a:endParaRPr>
          </a:p>
          <a:p>
            <a:r>
              <a:rPr lang="en-IN" sz="2000" b="0" dirty="0">
                <a:latin typeface="+mn-lt"/>
              </a:rPr>
              <a:t>   if(</a:t>
            </a:r>
            <a:r>
              <a:rPr lang="en-IN" sz="2000" b="0" dirty="0" err="1">
                <a:latin typeface="+mn-lt"/>
              </a:rPr>
              <a:t>i</a:t>
            </a:r>
            <a:r>
              <a:rPr lang="en-IN" sz="2000" b="0" dirty="0">
                <a:latin typeface="+mn-lt"/>
              </a:rPr>
              <a:t> &lt;= 1) {</a:t>
            </a:r>
          </a:p>
          <a:p>
            <a:r>
              <a:rPr lang="en-IN" sz="2000" b="0" dirty="0">
                <a:latin typeface="+mn-lt"/>
              </a:rPr>
              <a:t>      return 1;</a:t>
            </a:r>
          </a:p>
          <a:p>
            <a:r>
              <a:rPr lang="en-IN" sz="2000" b="0" dirty="0">
                <a:latin typeface="+mn-lt"/>
              </a:rPr>
              <a:t>   }</a:t>
            </a:r>
          </a:p>
          <a:p>
            <a:r>
              <a:rPr lang="en-IN" sz="2000" b="0" dirty="0">
                <a:latin typeface="+mn-lt"/>
              </a:rPr>
              <a:t>   return </a:t>
            </a:r>
            <a:r>
              <a:rPr lang="en-IN" sz="2000" b="0" dirty="0" err="1">
                <a:latin typeface="+mn-lt"/>
              </a:rPr>
              <a:t>i</a:t>
            </a:r>
            <a:r>
              <a:rPr lang="en-IN" sz="2000" b="0" dirty="0">
                <a:latin typeface="+mn-lt"/>
              </a:rPr>
              <a:t> * factorial(</a:t>
            </a:r>
            <a:r>
              <a:rPr lang="en-IN" sz="2000" b="0" dirty="0" err="1">
                <a:latin typeface="+mn-lt"/>
              </a:rPr>
              <a:t>i</a:t>
            </a:r>
            <a:r>
              <a:rPr lang="en-IN" sz="2000" b="0" dirty="0">
                <a:latin typeface="+mn-lt"/>
              </a:rPr>
              <a:t> - 1);</a:t>
            </a:r>
          </a:p>
          <a:p>
            <a:r>
              <a:rPr lang="en-IN" sz="2000" b="0" dirty="0">
                <a:latin typeface="+mn-lt"/>
              </a:rPr>
              <a:t>}</a:t>
            </a:r>
          </a:p>
          <a:p>
            <a:endParaRPr lang="en-IN" sz="2000" b="0" dirty="0">
              <a:latin typeface="+mn-lt"/>
            </a:endParaRPr>
          </a:p>
          <a:p>
            <a:r>
              <a:rPr lang="en-IN" sz="2000" b="0" dirty="0" err="1">
                <a:latin typeface="+mn-lt"/>
              </a:rPr>
              <a:t>int</a:t>
            </a:r>
            <a:r>
              <a:rPr lang="en-IN" sz="2000" b="0" dirty="0">
                <a:latin typeface="+mn-lt"/>
              </a:rPr>
              <a:t>  main() {</a:t>
            </a:r>
          </a:p>
          <a:p>
            <a:r>
              <a:rPr lang="en-IN" sz="2000" b="0" dirty="0">
                <a:latin typeface="+mn-lt"/>
              </a:rPr>
              <a:t>   </a:t>
            </a:r>
            <a:r>
              <a:rPr lang="en-IN" sz="2000" b="0" dirty="0" err="1">
                <a:latin typeface="+mn-lt"/>
              </a:rPr>
              <a:t>int</a:t>
            </a:r>
            <a:r>
              <a:rPr lang="en-IN" sz="2000" b="0" dirty="0">
                <a:latin typeface="+mn-lt"/>
              </a:rPr>
              <a:t> </a:t>
            </a:r>
            <a:r>
              <a:rPr lang="en-IN" sz="2000" b="0" dirty="0" err="1">
                <a:latin typeface="+mn-lt"/>
              </a:rPr>
              <a:t>i</a:t>
            </a:r>
            <a:r>
              <a:rPr lang="en-IN" sz="2000" b="0" dirty="0">
                <a:latin typeface="+mn-lt"/>
              </a:rPr>
              <a:t> = 12;</a:t>
            </a:r>
          </a:p>
          <a:p>
            <a:r>
              <a:rPr lang="en-IN" sz="2000" b="0" dirty="0">
                <a:latin typeface="+mn-lt"/>
              </a:rPr>
              <a:t>   </a:t>
            </a:r>
            <a:r>
              <a:rPr lang="en-IN" sz="2000" b="0" dirty="0" err="1">
                <a:latin typeface="+mn-lt"/>
              </a:rPr>
              <a:t>printf</a:t>
            </a:r>
            <a:r>
              <a:rPr lang="en-IN" sz="2000" b="0" dirty="0">
                <a:latin typeface="+mn-lt"/>
              </a:rPr>
              <a:t>("Factorial of %d is %d\n", </a:t>
            </a:r>
            <a:r>
              <a:rPr lang="en-IN" sz="2000" b="0" dirty="0" err="1">
                <a:latin typeface="+mn-lt"/>
              </a:rPr>
              <a:t>i</a:t>
            </a:r>
            <a:r>
              <a:rPr lang="en-IN" sz="2000" b="0" dirty="0">
                <a:latin typeface="+mn-lt"/>
              </a:rPr>
              <a:t>, factorial(</a:t>
            </a:r>
            <a:r>
              <a:rPr lang="en-IN" sz="2000" b="0" dirty="0" err="1">
                <a:latin typeface="+mn-lt"/>
              </a:rPr>
              <a:t>i</a:t>
            </a:r>
            <a:r>
              <a:rPr lang="en-IN" sz="2000" b="0" dirty="0">
                <a:latin typeface="+mn-lt"/>
              </a:rPr>
              <a:t>));</a:t>
            </a:r>
          </a:p>
          <a:p>
            <a:r>
              <a:rPr lang="en-IN" sz="2000" b="0" dirty="0">
                <a:latin typeface="+mn-lt"/>
              </a:rPr>
              <a:t>   return 0;</a:t>
            </a:r>
          </a:p>
          <a:p>
            <a:r>
              <a:rPr lang="en-IN" sz="2000" b="0" dirty="0">
                <a:latin typeface="+mn-lt"/>
              </a:rPr>
              <a:t>}</a:t>
            </a:r>
            <a:endParaRPr lang="en-US" sz="2000" b="0" dirty="0">
              <a:latin typeface="+mn-lt"/>
            </a:endParaRPr>
          </a:p>
        </p:txBody>
      </p:sp>
    </p:spTree>
    <p:extLst>
      <p:ext uri="{BB962C8B-B14F-4D97-AF65-F5344CB8AC3E}">
        <p14:creationId xmlns:p14="http://schemas.microsoft.com/office/powerpoint/2010/main" val="21591598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484784"/>
            <a:ext cx="11526723" cy="984885"/>
          </a:xfrm>
        </p:spPr>
        <p:txBody>
          <a:bodyPr/>
          <a:lstStyle/>
          <a:p>
            <a:r>
              <a:rPr lang="en-US" dirty="0"/>
              <a:t>Write a program to swap value of two variables using pointer / call by reference</a:t>
            </a:r>
            <a:endParaRPr lang="en-IN" dirty="0"/>
          </a:p>
        </p:txBody>
      </p:sp>
      <p:sp>
        <p:nvSpPr>
          <p:cNvPr id="3" name="Text Placeholder 2"/>
          <p:cNvSpPr>
            <a:spLocks noGrp="1"/>
          </p:cNvSpPr>
          <p:nvPr>
            <p:ph type="body" idx="1"/>
          </p:nvPr>
        </p:nvSpPr>
        <p:spPr>
          <a:xfrm>
            <a:off x="263352" y="2274159"/>
            <a:ext cx="11809312" cy="5247590"/>
          </a:xfrm>
        </p:spPr>
        <p:txBody>
          <a:bodyPr/>
          <a:lstStyle/>
          <a:p>
            <a:r>
              <a:rPr lang="en-IN" sz="1600" dirty="0" err="1">
                <a:latin typeface="Consolas" panose="020B0609020204030204" pitchFamily="49" charset="0"/>
                <a:cs typeface="Consolas" panose="020B0609020204030204" pitchFamily="49" charset="0"/>
              </a:rPr>
              <a:t>int</a:t>
            </a:r>
            <a:r>
              <a:rPr lang="en-IN" sz="1600" dirty="0">
                <a:latin typeface="Consolas" panose="020B0609020204030204" pitchFamily="49" charset="0"/>
                <a:cs typeface="Consolas" panose="020B0609020204030204" pitchFamily="49" charset="0"/>
              </a:rPr>
              <a:t> main()</a:t>
            </a:r>
          </a:p>
          <a:p>
            <a:r>
              <a:rPr lang="en-IN" sz="1600" dirty="0">
                <a:latin typeface="Consolas" panose="020B0609020204030204" pitchFamily="49" charset="0"/>
                <a:cs typeface="Consolas" panose="020B0609020204030204" pitchFamily="49" charset="0"/>
              </a:rPr>
              <a:t>{</a:t>
            </a:r>
          </a:p>
          <a:p>
            <a:pPr lvl="1"/>
            <a:r>
              <a:rPr lang="en-IN" sz="1600" b="1" dirty="0" err="1">
                <a:solidFill>
                  <a:schemeClr val="tx1"/>
                </a:solidFill>
                <a:latin typeface="Consolas" panose="020B0609020204030204" pitchFamily="49" charset="0"/>
                <a:cs typeface="Consolas" panose="020B0609020204030204" pitchFamily="49" charset="0"/>
              </a:rPr>
              <a:t>int</a:t>
            </a:r>
            <a:r>
              <a:rPr lang="en-IN" sz="1600" b="1" dirty="0">
                <a:solidFill>
                  <a:schemeClr val="tx1"/>
                </a:solidFill>
                <a:latin typeface="Consolas" panose="020B0609020204030204" pitchFamily="49" charset="0"/>
                <a:cs typeface="Consolas" panose="020B0609020204030204" pitchFamily="49" charset="0"/>
              </a:rPr>
              <a:t> num1,num2;</a:t>
            </a:r>
          </a:p>
          <a:p>
            <a:pPr lvl="1"/>
            <a:r>
              <a:rPr lang="en-IN" sz="1600" b="1" dirty="0" err="1">
                <a:solidFill>
                  <a:schemeClr val="tx1"/>
                </a:solidFill>
                <a:latin typeface="Consolas" panose="020B0609020204030204" pitchFamily="49" charset="0"/>
                <a:cs typeface="Consolas" panose="020B0609020204030204" pitchFamily="49" charset="0"/>
              </a:rPr>
              <a:t>printf</a:t>
            </a:r>
            <a:r>
              <a:rPr lang="en-IN" sz="1600" b="1" dirty="0">
                <a:solidFill>
                  <a:schemeClr val="tx1"/>
                </a:solidFill>
                <a:latin typeface="Consolas" panose="020B0609020204030204" pitchFamily="49" charset="0"/>
                <a:cs typeface="Consolas" panose="020B0609020204030204" pitchFamily="49" charset="0"/>
              </a:rPr>
              <a:t>("Enter value of num1 and num2: ");</a:t>
            </a:r>
          </a:p>
          <a:p>
            <a:pPr lvl="1"/>
            <a:r>
              <a:rPr lang="en-IN" sz="1600" b="1" dirty="0" err="1">
                <a:solidFill>
                  <a:schemeClr val="tx1"/>
                </a:solidFill>
                <a:latin typeface="Consolas" panose="020B0609020204030204" pitchFamily="49" charset="0"/>
                <a:cs typeface="Consolas" panose="020B0609020204030204" pitchFamily="49" charset="0"/>
              </a:rPr>
              <a:t>scanf</a:t>
            </a:r>
            <a:r>
              <a:rPr lang="en-IN" sz="1600" b="1" dirty="0">
                <a:solidFill>
                  <a:schemeClr val="tx1"/>
                </a:solidFill>
                <a:latin typeface="Consolas" panose="020B0609020204030204" pitchFamily="49" charset="0"/>
                <a:cs typeface="Consolas" panose="020B0609020204030204" pitchFamily="49" charset="0"/>
              </a:rPr>
              <a:t>("%d %d",&amp;num1, &amp;num2);</a:t>
            </a:r>
          </a:p>
          <a:p>
            <a:pPr lvl="1"/>
            <a:endParaRPr lang="en-IN" sz="1600" b="1" dirty="0">
              <a:solidFill>
                <a:schemeClr val="tx1"/>
              </a:solidFill>
              <a:latin typeface="Consolas" panose="020B0609020204030204" pitchFamily="49" charset="0"/>
              <a:cs typeface="Consolas" panose="020B0609020204030204" pitchFamily="49" charset="0"/>
            </a:endParaRPr>
          </a:p>
          <a:p>
            <a:r>
              <a:rPr lang="en-IN" sz="1600" dirty="0">
                <a:latin typeface="Consolas" panose="020B0609020204030204" pitchFamily="49" charset="0"/>
                <a:cs typeface="Consolas" panose="020B0609020204030204" pitchFamily="49" charset="0"/>
              </a:rPr>
              <a:t>//displaying numbers before swapping</a:t>
            </a:r>
          </a:p>
          <a:p>
            <a:pPr lvl="1"/>
            <a:r>
              <a:rPr lang="en-IN" sz="1600" b="1" dirty="0" err="1">
                <a:solidFill>
                  <a:schemeClr val="tx1"/>
                </a:solidFill>
                <a:latin typeface="Consolas" panose="020B0609020204030204" pitchFamily="49" charset="0"/>
                <a:cs typeface="Consolas" panose="020B0609020204030204" pitchFamily="49" charset="0"/>
              </a:rPr>
              <a:t>printf</a:t>
            </a:r>
            <a:r>
              <a:rPr lang="en-IN" sz="1600" b="1" dirty="0">
                <a:solidFill>
                  <a:schemeClr val="tx1"/>
                </a:solidFill>
                <a:latin typeface="Consolas" panose="020B0609020204030204" pitchFamily="49" charset="0"/>
                <a:cs typeface="Consolas" panose="020B0609020204030204" pitchFamily="49" charset="0"/>
              </a:rPr>
              <a:t>("Before Swapping: num1 is: %d, num2 is: %d\n",num1,num2);</a:t>
            </a:r>
          </a:p>
          <a:p>
            <a:pPr lvl="1"/>
            <a:endParaRPr lang="en-IN" sz="1600" b="1" dirty="0">
              <a:solidFill>
                <a:schemeClr val="tx1"/>
              </a:solidFill>
              <a:latin typeface="Consolas" panose="020B0609020204030204" pitchFamily="49" charset="0"/>
              <a:cs typeface="Consolas" panose="020B0609020204030204" pitchFamily="49" charset="0"/>
            </a:endParaRPr>
          </a:p>
          <a:p>
            <a:r>
              <a:rPr lang="en-IN" sz="1600" dirty="0">
                <a:latin typeface="Consolas" panose="020B0609020204030204" pitchFamily="49" charset="0"/>
                <a:cs typeface="Consolas" panose="020B0609020204030204" pitchFamily="49" charset="0"/>
              </a:rPr>
              <a:t>//calling the user defined function swap()</a:t>
            </a:r>
          </a:p>
          <a:p>
            <a:pPr lvl="1"/>
            <a:r>
              <a:rPr lang="en-IN" sz="1600" b="1" dirty="0">
                <a:solidFill>
                  <a:schemeClr val="tx1"/>
                </a:solidFill>
                <a:latin typeface="Consolas" panose="020B0609020204030204" pitchFamily="49" charset="0"/>
                <a:cs typeface="Consolas" panose="020B0609020204030204" pitchFamily="49" charset="0"/>
              </a:rPr>
              <a:t>swap(&amp;num1,&amp;num2);</a:t>
            </a:r>
          </a:p>
          <a:p>
            <a:pPr lvl="1"/>
            <a:endParaRPr lang="en-IN" sz="1600" b="1" dirty="0">
              <a:solidFill>
                <a:schemeClr val="tx1"/>
              </a:solidFill>
              <a:latin typeface="Consolas" panose="020B0609020204030204" pitchFamily="49" charset="0"/>
              <a:cs typeface="Consolas" panose="020B0609020204030204" pitchFamily="49" charset="0"/>
            </a:endParaRPr>
          </a:p>
          <a:p>
            <a:r>
              <a:rPr lang="en-IN" sz="1600" dirty="0">
                <a:latin typeface="Consolas" panose="020B0609020204030204" pitchFamily="49" charset="0"/>
                <a:cs typeface="Consolas" panose="020B0609020204030204" pitchFamily="49" charset="0"/>
              </a:rPr>
              <a:t>//displaying numbers after swapping</a:t>
            </a:r>
          </a:p>
          <a:p>
            <a:pPr lvl="1"/>
            <a:r>
              <a:rPr lang="en-IN" sz="1600" b="1" dirty="0" err="1">
                <a:solidFill>
                  <a:schemeClr val="tx1"/>
                </a:solidFill>
                <a:latin typeface="Consolas" panose="020B0609020204030204" pitchFamily="49" charset="0"/>
                <a:cs typeface="Consolas" panose="020B0609020204030204" pitchFamily="49" charset="0"/>
              </a:rPr>
              <a:t>printf</a:t>
            </a:r>
            <a:r>
              <a:rPr lang="en-IN" sz="1600" b="1" dirty="0">
                <a:solidFill>
                  <a:schemeClr val="tx1"/>
                </a:solidFill>
                <a:latin typeface="Consolas" panose="020B0609020204030204" pitchFamily="49" charset="0"/>
                <a:cs typeface="Consolas" panose="020B0609020204030204" pitchFamily="49" charset="0"/>
              </a:rPr>
              <a:t>("After Swapping: num1 is: %d, num2 is: %d\n",num1,num2);</a:t>
            </a:r>
          </a:p>
          <a:p>
            <a:r>
              <a:rPr lang="en-IN" sz="1600" b="1" dirty="0">
                <a:solidFill>
                  <a:schemeClr val="tx1"/>
                </a:solidFill>
                <a:latin typeface="Consolas" panose="020B0609020204030204" pitchFamily="49" charset="0"/>
                <a:cs typeface="Consolas" panose="020B0609020204030204" pitchFamily="49" charset="0"/>
              </a:rPr>
              <a:t>return 0</a:t>
            </a:r>
            <a:r>
              <a:rPr lang="en-IN" sz="1600" b="1" dirty="0" smtClean="0">
                <a:solidFill>
                  <a:schemeClr val="tx1"/>
                </a:solidFill>
                <a:latin typeface="Consolas" panose="020B0609020204030204" pitchFamily="49" charset="0"/>
                <a:cs typeface="Consolas" panose="020B0609020204030204" pitchFamily="49" charset="0"/>
              </a:rPr>
              <a:t>;   }                                          </a:t>
            </a:r>
            <a:r>
              <a:rPr lang="en-US" sz="1600" dirty="0" smtClean="0">
                <a:latin typeface="Consolas" panose="020B0609020204030204" pitchFamily="49" charset="0"/>
              </a:rPr>
              <a:t>Enter </a:t>
            </a:r>
            <a:r>
              <a:rPr lang="en-US" sz="1600" dirty="0">
                <a:latin typeface="Consolas" panose="020B0609020204030204" pitchFamily="49" charset="0"/>
              </a:rPr>
              <a:t>value of num1 and num2: 5 </a:t>
            </a:r>
            <a:r>
              <a:rPr lang="en-US" sz="1600" dirty="0" smtClean="0">
                <a:latin typeface="Consolas" panose="020B0609020204030204" pitchFamily="49" charset="0"/>
              </a:rPr>
              <a:t>10</a:t>
            </a:r>
            <a:endParaRPr lang="en-US" sz="1600" dirty="0">
              <a:latin typeface="Consolas" panose="020B0609020204030204" pitchFamily="49" charset="0"/>
            </a:endParaRPr>
          </a:p>
          <a:p>
            <a:r>
              <a:rPr lang="en-IN" sz="1600" b="1" dirty="0" smtClean="0">
                <a:solidFill>
                  <a:schemeClr val="tx1"/>
                </a:solidFill>
                <a:latin typeface="Consolas" panose="020B0609020204030204" pitchFamily="49" charset="0"/>
                <a:cs typeface="Consolas" panose="020B0609020204030204" pitchFamily="49" charset="0"/>
              </a:rPr>
              <a:t>                                </a:t>
            </a:r>
          </a:p>
          <a:p>
            <a:r>
              <a:rPr lang="en-IN" sz="1600" b="1" dirty="0" smtClean="0">
                <a:solidFill>
                  <a:schemeClr val="tx1"/>
                </a:solidFill>
                <a:latin typeface="Consolas" panose="020B0609020204030204" pitchFamily="49" charset="0"/>
                <a:cs typeface="Consolas" panose="020B0609020204030204" pitchFamily="49" charset="0"/>
              </a:rPr>
              <a:t>                                                      </a:t>
            </a:r>
            <a:r>
              <a:rPr lang="en-US" sz="1800" dirty="0" smtClean="0">
                <a:latin typeface="Consolas" panose="020B0609020204030204" pitchFamily="49" charset="0"/>
              </a:rPr>
              <a:t>Before </a:t>
            </a:r>
            <a:r>
              <a:rPr lang="en-US" sz="1800" dirty="0">
                <a:latin typeface="Consolas" panose="020B0609020204030204" pitchFamily="49" charset="0"/>
              </a:rPr>
              <a:t>Swapping: num1 is: 5, num2 is: 10</a:t>
            </a:r>
          </a:p>
          <a:p>
            <a:r>
              <a:rPr lang="en-US" sz="1800" dirty="0" smtClean="0">
                <a:latin typeface="Consolas" panose="020B0609020204030204" pitchFamily="49" charset="0"/>
              </a:rPr>
              <a:t>                                                After  </a:t>
            </a:r>
            <a:r>
              <a:rPr lang="en-US" sz="1800" dirty="0">
                <a:latin typeface="Consolas" panose="020B0609020204030204" pitchFamily="49" charset="0"/>
              </a:rPr>
              <a:t>Swapping: num1 is: 10, num2 is: 5</a:t>
            </a:r>
          </a:p>
          <a:p>
            <a:endParaRPr lang="en-IN" dirty="0"/>
          </a:p>
          <a:p>
            <a:pPr lvl="1"/>
            <a:endParaRPr lang="en-IN" sz="1600" b="1" dirty="0">
              <a:solidFill>
                <a:schemeClr val="tx1"/>
              </a:solidFill>
              <a:latin typeface="Consolas" panose="020B0609020204030204" pitchFamily="49" charset="0"/>
              <a:cs typeface="Consolas" panose="020B0609020204030204" pitchFamily="49" charset="0"/>
            </a:endParaRPr>
          </a:p>
          <a:p>
            <a:r>
              <a:rPr lang="en-IN" sz="1600" dirty="0" smtClean="0">
                <a:solidFill>
                  <a:srgbClr val="D4D4D4"/>
                </a:solidFill>
                <a:latin typeface="Consolas" panose="020B0609020204030204" pitchFamily="49" charset="0"/>
                <a:cs typeface="Consolas" panose="020B0609020204030204" pitchFamily="49" charset="0"/>
              </a:rPr>
              <a:t>}</a:t>
            </a:r>
            <a:endParaRPr lang="en-IN" sz="1600" dirty="0">
              <a:solidFill>
                <a:srgbClr val="D4D4D4"/>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0099899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854</TotalTime>
  <Words>1468</Words>
  <Application>Microsoft Office PowerPoint</Application>
  <PresentationFormat>Custom</PresentationFormat>
  <Paragraphs>261</Paragraphs>
  <Slides>29</Slides>
  <Notes>2</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Office Theme</vt:lpstr>
      <vt:lpstr>CHAPTER-5</vt:lpstr>
      <vt:lpstr>Contents</vt:lpstr>
      <vt:lpstr>1. Function :</vt:lpstr>
      <vt:lpstr>Syntax of Functions in C </vt:lpstr>
      <vt:lpstr>Function Declarations </vt:lpstr>
      <vt:lpstr>Function Definition</vt:lpstr>
      <vt:lpstr>Structure :</vt:lpstr>
      <vt:lpstr>Function Call:</vt:lpstr>
      <vt:lpstr>Working concept : </vt:lpstr>
      <vt:lpstr>Example: :</vt:lpstr>
      <vt:lpstr>Output</vt:lpstr>
      <vt:lpstr>Function Return Type </vt:lpstr>
      <vt:lpstr>Function Arguments:</vt:lpstr>
      <vt:lpstr>How Does C Function Work?</vt:lpstr>
      <vt:lpstr>Types of Functions</vt:lpstr>
      <vt:lpstr>1. Library Function Flowchart of For Loop</vt:lpstr>
      <vt:lpstr>Example: for loop</vt:lpstr>
      <vt:lpstr> Library Function</vt:lpstr>
      <vt:lpstr>2. User Defined Function</vt:lpstr>
      <vt:lpstr>User Defined Function Example:</vt:lpstr>
      <vt:lpstr>Passing Parameters to Functions</vt:lpstr>
      <vt:lpstr>Example: </vt:lpstr>
      <vt:lpstr>Advantages of Functions in C</vt:lpstr>
      <vt:lpstr>Disadvantages of Functions in C</vt:lpstr>
      <vt:lpstr>Types of User Defined Functions in C</vt:lpstr>
      <vt:lpstr>Recursion:</vt:lpstr>
      <vt:lpstr>PowerPoint Presentation</vt:lpstr>
      <vt:lpstr>PowerPoint Presentation</vt:lpstr>
      <vt:lpstr>Write a program to swap value of two variables using pointer / call by reference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Work</dc:creator>
  <cp:lastModifiedBy>HP</cp:lastModifiedBy>
  <cp:revision>347</cp:revision>
  <dcterms:created xsi:type="dcterms:W3CDTF">2023-09-07T11:15:05Z</dcterms:created>
  <dcterms:modified xsi:type="dcterms:W3CDTF">2025-12-17T08:34:22Z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2022-01-10T00:00:00Z</vt:filetime>
  </property>
  <property fmtid="{D5CDD505-2E9C-101B-9397-08002B2CF9AE}" pid="3" name="Creator">
    <vt:lpwstr>Microsoft® PowerPoint® 2019</vt:lpwstr>
  </property>
  <property fmtid="{D5CDD505-2E9C-101B-9397-08002B2CF9AE}" pid="4" name="LastSaved">
    <vt:filetime>2023-09-07T00:00:00Z</vt:filetime>
  </property>
</Properties>
</file>