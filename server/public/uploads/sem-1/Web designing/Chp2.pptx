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58" r:id="rId6"/>
    <p:sldId id="259" r:id="rId7"/>
    <p:sldId id="260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71" r:id="rId16"/>
    <p:sldId id="272" r:id="rId17"/>
    <p:sldId id="276" r:id="rId18"/>
    <p:sldId id="277" r:id="rId19"/>
    <p:sldId id="278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6143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8;p26" descr="Picture 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8750" y="-21437"/>
            <a:ext cx="11870998" cy="69008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81650"/>
            <a:ext cx="10515600" cy="875052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7530"/>
            <a:ext cx="10515600" cy="3669433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593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322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2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67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53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56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60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03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3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41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DFED3-9245-4A53-A4EC-E80DEBFEFE1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DD8D9-764D-4AED-9CFF-4F8C70A59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803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tml/html-th-tag/" TargetMode="External"/><Relationship Id="rId2" Type="http://schemas.openxmlformats.org/officeDocument/2006/relationships/hyperlink" Target="https://www.geeksforgeeks.org/html/html-tr-ta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html/html-td-tag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81650"/>
            <a:ext cx="10515600" cy="2755070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UNIT 2 :HTML Elements &amp; Forms</a:t>
            </a:r>
            <a:br>
              <a:rPr lang="en-IN" dirty="0" smtClean="0"/>
            </a:br>
            <a:r>
              <a:rPr lang="en-IN" sz="2400" dirty="0" smtClean="0"/>
              <a:t>Weighatage:26M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09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Outcome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web forms with different input fields.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94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Heading tag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offers six levels of heading tags, each serving a different purpose in structuring your content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0" y="3373119"/>
            <a:ext cx="8913177" cy="295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4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4960"/>
            <a:ext cx="10515600" cy="45920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&lt;!DOCTYPE html&gt;</a:t>
            </a:r>
          </a:p>
          <a:p>
            <a:pPr marL="0" indent="0">
              <a:buNone/>
            </a:pPr>
            <a:r>
              <a:rPr lang="en-US" dirty="0" smtClean="0"/>
              <a:t>&lt;html </a:t>
            </a:r>
            <a:r>
              <a:rPr lang="en-US" dirty="0" err="1" smtClean="0"/>
              <a:t>lang</a:t>
            </a:r>
            <a:r>
              <a:rPr lang="en-US" dirty="0" smtClean="0"/>
              <a:t>="</a:t>
            </a:r>
            <a:r>
              <a:rPr lang="en-US" dirty="0" err="1" smtClean="0"/>
              <a:t>en</a:t>
            </a:r>
            <a:r>
              <a:rPr lang="en-US" dirty="0" smtClean="0"/>
              <a:t>"&gt;</a:t>
            </a:r>
          </a:p>
          <a:p>
            <a:pPr marL="0" indent="0">
              <a:buNone/>
            </a:pPr>
            <a:r>
              <a:rPr lang="en-US" dirty="0" smtClean="0"/>
              <a:t>&lt;head&gt;</a:t>
            </a:r>
          </a:p>
          <a:p>
            <a:pPr marL="0" indent="0">
              <a:buNone/>
            </a:pPr>
            <a:r>
              <a:rPr lang="en-US" dirty="0" smtClean="0"/>
              <a:t>&lt;title&gt;HTML&lt;/title&gt;</a:t>
            </a:r>
          </a:p>
          <a:p>
            <a:pPr marL="0" indent="0">
              <a:buNone/>
            </a:pPr>
            <a:r>
              <a:rPr lang="en-US" dirty="0" smtClean="0"/>
              <a:t>&lt;/head&gt;</a:t>
            </a:r>
          </a:p>
          <a:p>
            <a:pPr marL="0" indent="0">
              <a:buNone/>
            </a:pPr>
            <a:r>
              <a:rPr lang="en-US" dirty="0" smtClean="0"/>
              <a:t>&lt;body&gt;</a:t>
            </a:r>
          </a:p>
          <a:p>
            <a:pPr marL="0" indent="0">
              <a:buNone/>
            </a:pPr>
            <a:r>
              <a:rPr lang="en-US" dirty="0" smtClean="0"/>
              <a:t>    &lt;h1&gt;</a:t>
            </a:r>
            <a:r>
              <a:rPr lang="en-US" dirty="0" smtClean="0"/>
              <a:t>This is a Heading h1</a:t>
            </a:r>
            <a:r>
              <a:rPr lang="en-US" dirty="0" smtClean="0"/>
              <a:t>&lt;/h1&gt;</a:t>
            </a:r>
          </a:p>
          <a:p>
            <a:pPr marL="0" indent="0">
              <a:buNone/>
            </a:pPr>
            <a:r>
              <a:rPr lang="en-US" dirty="0" smtClean="0"/>
              <a:t>	&lt;h2&gt;This is a Heading h2&lt;/h2&gt;</a:t>
            </a:r>
          </a:p>
          <a:p>
            <a:pPr marL="0" indent="0">
              <a:buNone/>
            </a:pPr>
            <a:r>
              <a:rPr lang="en-US" dirty="0" smtClean="0"/>
              <a:t>	&lt;h3&gt;</a:t>
            </a:r>
            <a:r>
              <a:rPr lang="en-US" dirty="0" smtClean="0"/>
              <a:t>This is a Heading h3</a:t>
            </a:r>
            <a:r>
              <a:rPr lang="en-US" dirty="0" smtClean="0"/>
              <a:t>&lt;/h3&gt;</a:t>
            </a:r>
          </a:p>
          <a:p>
            <a:pPr marL="0" indent="0">
              <a:buNone/>
            </a:pPr>
            <a:r>
              <a:rPr lang="en-US" dirty="0" smtClean="0"/>
              <a:t>	&lt;h4&gt;</a:t>
            </a:r>
            <a:r>
              <a:rPr lang="en-US" dirty="0" smtClean="0"/>
              <a:t>This is a Heading h4</a:t>
            </a:r>
            <a:r>
              <a:rPr lang="en-US" dirty="0" smtClean="0"/>
              <a:t>&lt;/h4&gt;</a:t>
            </a:r>
          </a:p>
          <a:p>
            <a:pPr marL="0" indent="0">
              <a:buNone/>
            </a:pPr>
            <a:r>
              <a:rPr lang="en-US" dirty="0" smtClean="0"/>
              <a:t>	&lt;h5&gt;</a:t>
            </a:r>
            <a:r>
              <a:rPr lang="en-US" dirty="0" smtClean="0"/>
              <a:t>This is a Heading h5</a:t>
            </a:r>
            <a:r>
              <a:rPr lang="en-US" dirty="0" smtClean="0"/>
              <a:t>&lt;/h5&gt;</a:t>
            </a:r>
          </a:p>
          <a:p>
            <a:pPr marL="0" indent="0">
              <a:buNone/>
            </a:pPr>
            <a:r>
              <a:rPr lang="en-US" dirty="0" smtClean="0"/>
              <a:t>	&lt;h6&gt;</a:t>
            </a:r>
            <a:r>
              <a:rPr lang="en-US" dirty="0" smtClean="0"/>
              <a:t>This is a Heading h6&lt;</a:t>
            </a:r>
            <a:r>
              <a:rPr lang="en-US" dirty="0" smtClean="0"/>
              <a:t>/h6&gt;</a:t>
            </a:r>
          </a:p>
          <a:p>
            <a:pPr marL="0" indent="0">
              <a:buNone/>
            </a:pPr>
            <a:r>
              <a:rPr lang="en-US" dirty="0" smtClean="0"/>
              <a:t>&lt;/body&gt;</a:t>
            </a:r>
          </a:p>
          <a:p>
            <a:pPr marL="0" indent="0">
              <a:buNone/>
            </a:pPr>
            <a:r>
              <a:rPr lang="en-US" dirty="0" smtClean="0"/>
              <a:t>&lt;/html&gt;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18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Paragraphs tag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HTML &lt;p&gt; element defines a paragraph.</a:t>
            </a:r>
          </a:p>
          <a:p>
            <a:endParaRPr lang="en-US" dirty="0" smtClean="0"/>
          </a:p>
          <a:p>
            <a:r>
              <a:rPr lang="en-US" dirty="0" smtClean="0"/>
              <a:t>A paragraph always starts on a new line, and browsers automatically add some white space (a margin) before and after a paragraph.</a:t>
            </a:r>
          </a:p>
          <a:p>
            <a:r>
              <a:rPr lang="en-US" dirty="0" smtClean="0"/>
              <a:t>Example: </a:t>
            </a:r>
            <a:endParaRPr lang="en-US" dirty="0"/>
          </a:p>
          <a:p>
            <a:r>
              <a:rPr lang="en-US" dirty="0"/>
              <a:t>&lt;p&gt;This is a paragraph.&lt;/p&gt;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&lt;p&gt;This is another paragraph.&lt;/p&gt;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68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dirty="0"/>
              <a:t>Unordered, Ordered, and Description Lists in </a:t>
            </a:r>
            <a:r>
              <a:rPr lang="en-US" b="1" dirty="0" smtClean="0"/>
              <a:t>HTML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Lists are used to store data or information in web pages.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 smtClean="0"/>
              <a:t>Syntax:</a:t>
            </a:r>
          </a:p>
          <a:p>
            <a:pPr marL="0" indent="0">
              <a:buNone/>
            </a:pPr>
            <a:r>
              <a:rPr lang="en-IN" dirty="0" smtClean="0"/>
              <a:t>&lt;li&gt; content &lt;/li&gt;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09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59730"/>
            <a:ext cx="10515600" cy="875052"/>
          </a:xfrm>
        </p:spPr>
        <p:txBody>
          <a:bodyPr/>
          <a:lstStyle/>
          <a:p>
            <a:r>
              <a:rPr lang="en-US" dirty="0" smtClean="0"/>
              <a:t>Example: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920" y="2234782"/>
            <a:ext cx="3561080" cy="36694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dirty="0" smtClean="0"/>
              <a:t>&lt;html &gt;</a:t>
            </a:r>
          </a:p>
          <a:p>
            <a:pPr marL="0" indent="0">
              <a:buNone/>
            </a:pPr>
            <a:r>
              <a:rPr lang="it-IT" sz="1600" dirty="0" smtClean="0"/>
              <a:t>&lt;head&gt;</a:t>
            </a:r>
          </a:p>
          <a:p>
            <a:pPr marL="0" indent="0">
              <a:buNone/>
            </a:pPr>
            <a:r>
              <a:rPr lang="it-IT" sz="1600" dirty="0" smtClean="0"/>
              <a:t>    &lt;title&gt;inline style attribute&lt;/title&gt;</a:t>
            </a:r>
          </a:p>
          <a:p>
            <a:pPr marL="0" indent="0">
              <a:buNone/>
            </a:pPr>
            <a:r>
              <a:rPr lang="it-IT" sz="1600" dirty="0" smtClean="0"/>
              <a:t>&lt;/head&gt;</a:t>
            </a:r>
          </a:p>
          <a:p>
            <a:pPr marL="0" indent="0">
              <a:buNone/>
            </a:pPr>
            <a:r>
              <a:rPr lang="it-IT" sz="1600" dirty="0" smtClean="0"/>
              <a:t>&lt;body&gt;</a:t>
            </a:r>
          </a:p>
          <a:p>
            <a:pPr marL="0" indent="0">
              <a:buNone/>
            </a:pPr>
            <a:r>
              <a:rPr lang="it-IT" sz="1600" dirty="0" smtClean="0"/>
              <a:t>    &lt;li&gt;sachin&lt;/li&gt;</a:t>
            </a:r>
          </a:p>
          <a:p>
            <a:pPr marL="0" indent="0">
              <a:buNone/>
            </a:pPr>
            <a:r>
              <a:rPr lang="it-IT" sz="1600" dirty="0" smtClean="0"/>
              <a:t>    &lt;li&gt;sujay&lt;/li&gt;</a:t>
            </a:r>
          </a:p>
          <a:p>
            <a:pPr marL="0" indent="0">
              <a:buNone/>
            </a:pPr>
            <a:r>
              <a:rPr lang="it-IT" sz="1600" dirty="0" smtClean="0"/>
              <a:t>    &lt;li&gt;Amraditya&lt;/li&gt;</a:t>
            </a:r>
          </a:p>
          <a:p>
            <a:pPr marL="0" indent="0">
              <a:buNone/>
            </a:pPr>
            <a:r>
              <a:rPr lang="it-IT" sz="1600" dirty="0" smtClean="0"/>
              <a:t>    &lt;li&gt;shivam&lt;/li&gt;</a:t>
            </a:r>
          </a:p>
          <a:p>
            <a:pPr marL="0" indent="0">
              <a:buNone/>
            </a:pPr>
            <a:r>
              <a:rPr lang="it-IT" sz="1600" dirty="0" smtClean="0"/>
              <a:t>    &lt;li&gt;Parth&lt;/li&gt;</a:t>
            </a:r>
          </a:p>
          <a:p>
            <a:pPr marL="0" indent="0">
              <a:buNone/>
            </a:pPr>
            <a:r>
              <a:rPr lang="it-IT" sz="1600" dirty="0" smtClean="0"/>
              <a:t>&lt;/body&gt;</a:t>
            </a:r>
          </a:p>
          <a:p>
            <a:pPr marL="0" indent="0">
              <a:buNone/>
            </a:pPr>
            <a:r>
              <a:rPr lang="it-IT" sz="1600" dirty="0" smtClean="0"/>
              <a:t>&lt;/html&gt;</a:t>
            </a:r>
            <a:endParaRPr lang="en-IN" sz="1600" dirty="0"/>
          </a:p>
        </p:txBody>
      </p:sp>
      <p:pic>
        <p:nvPicPr>
          <p:cNvPr id="1028" name="Picture 4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75" y="3182182"/>
            <a:ext cx="2638425" cy="260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350000" y="1686560"/>
            <a:ext cx="19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13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6720"/>
            <a:ext cx="4018280" cy="448024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 smtClean="0"/>
              <a:t>&lt;html &gt;</a:t>
            </a:r>
          </a:p>
          <a:p>
            <a:pPr marL="0" indent="0">
              <a:buNone/>
            </a:pPr>
            <a:r>
              <a:rPr lang="it-IT" dirty="0" smtClean="0"/>
              <a:t>&lt;head&gt;</a:t>
            </a:r>
          </a:p>
          <a:p>
            <a:pPr marL="0" indent="0">
              <a:buNone/>
            </a:pPr>
            <a:r>
              <a:rPr lang="it-IT" dirty="0" smtClean="0"/>
              <a:t>    &lt;title&gt;inline style attribute&lt;/title&gt;</a:t>
            </a:r>
          </a:p>
          <a:p>
            <a:pPr marL="0" indent="0">
              <a:buNone/>
            </a:pPr>
            <a:r>
              <a:rPr lang="it-IT" dirty="0" smtClean="0"/>
              <a:t>&lt;/head&gt;</a:t>
            </a:r>
          </a:p>
          <a:p>
            <a:pPr marL="0" indent="0">
              <a:buNone/>
            </a:pPr>
            <a:r>
              <a:rPr lang="it-IT" dirty="0" smtClean="0"/>
              <a:t>&lt;body&gt;</a:t>
            </a:r>
          </a:p>
          <a:p>
            <a:pPr marL="0" indent="0">
              <a:buNone/>
            </a:pPr>
            <a:r>
              <a:rPr lang="it-IT" dirty="0" smtClean="0"/>
              <a:t>    &lt;ol&gt;</a:t>
            </a:r>
          </a:p>
          <a:p>
            <a:pPr marL="0" indent="0">
              <a:buNone/>
            </a:pPr>
            <a:r>
              <a:rPr lang="it-IT" dirty="0" smtClean="0"/>
              <a:t>        &lt;li value="51"&gt;English&lt;/li&gt;</a:t>
            </a:r>
          </a:p>
          <a:p>
            <a:pPr marL="0" indent="0">
              <a:buNone/>
            </a:pPr>
            <a:r>
              <a:rPr lang="it-IT" dirty="0" smtClean="0"/>
              <a:t>        &lt;li&gt;Hindi&lt;/li&gt;</a:t>
            </a:r>
          </a:p>
          <a:p>
            <a:pPr marL="0" indent="0">
              <a:buNone/>
            </a:pPr>
            <a:r>
              <a:rPr lang="it-IT" dirty="0" smtClean="0"/>
              <a:t>        &lt;li&gt;Maths&lt;/li&gt;</a:t>
            </a:r>
          </a:p>
          <a:p>
            <a:pPr marL="0" indent="0">
              <a:buNone/>
            </a:pPr>
            <a:r>
              <a:rPr lang="it-IT" dirty="0" smtClean="0"/>
              <a:t>        &lt;li&gt;Science&lt;/li&gt;</a:t>
            </a:r>
          </a:p>
          <a:p>
            <a:pPr marL="0" indent="0">
              <a:buNone/>
            </a:pPr>
            <a:r>
              <a:rPr lang="it-IT" dirty="0" smtClean="0"/>
              <a:t>        &lt;li&gt;social science&lt;/li&gt;</a:t>
            </a:r>
          </a:p>
          <a:p>
            <a:pPr marL="0" indent="0">
              <a:buNone/>
            </a:pPr>
            <a:r>
              <a:rPr lang="it-IT" dirty="0" smtClean="0"/>
              <a:t>    &lt;/ol&gt;</a:t>
            </a:r>
          </a:p>
          <a:p>
            <a:pPr marL="0" indent="0">
              <a:buNone/>
            </a:pPr>
            <a:r>
              <a:rPr lang="it-IT" dirty="0" smtClean="0"/>
              <a:t>&lt;/body&gt;</a:t>
            </a:r>
          </a:p>
          <a:p>
            <a:pPr marL="0" indent="0">
              <a:buNone/>
            </a:pPr>
            <a:r>
              <a:rPr lang="it-IT" dirty="0" smtClean="0"/>
              <a:t>&lt;/html&gt;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160" y="2767647"/>
            <a:ext cx="3251200" cy="250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8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b="1" dirty="0"/>
              <a:t>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ordered list defines a list of items in which the order of the items are </a:t>
            </a:r>
            <a:r>
              <a:rPr lang="en-US" dirty="0" smtClean="0"/>
              <a:t>matters</a:t>
            </a:r>
          </a:p>
          <a:p>
            <a:pPr fontAlgn="base"/>
            <a:r>
              <a:rPr lang="en-US" dirty="0"/>
              <a:t>Different ways to number the ordered lists using the type attribute:</a:t>
            </a:r>
          </a:p>
          <a:p>
            <a:pPr fontAlgn="base"/>
            <a:r>
              <a:rPr lang="en-US" b="1" dirty="0"/>
              <a:t>type="1"-</a:t>
            </a:r>
            <a:r>
              <a:rPr lang="en-US" dirty="0"/>
              <a:t> The list items will be numbered with numbers (default) </a:t>
            </a:r>
          </a:p>
          <a:p>
            <a:pPr fontAlgn="base"/>
            <a:r>
              <a:rPr lang="en-US" b="1" dirty="0"/>
              <a:t>type="A"-</a:t>
            </a:r>
            <a:r>
              <a:rPr lang="en-US" dirty="0"/>
              <a:t> The list items will be numbered with uppercase letters </a:t>
            </a:r>
          </a:p>
          <a:p>
            <a:pPr fontAlgn="base"/>
            <a:r>
              <a:rPr lang="en-US" b="1" dirty="0"/>
              <a:t>type="a"- </a:t>
            </a:r>
            <a:r>
              <a:rPr lang="en-US" dirty="0"/>
              <a:t>The list items will be numbered with lowercase letters </a:t>
            </a:r>
          </a:p>
          <a:p>
            <a:pPr fontAlgn="base"/>
            <a:r>
              <a:rPr lang="en-US" b="1" dirty="0"/>
              <a:t>type="I"-</a:t>
            </a:r>
            <a:r>
              <a:rPr lang="en-US" dirty="0"/>
              <a:t> List items will be numbered with uppercase Roman numbers </a:t>
            </a:r>
          </a:p>
          <a:p>
            <a:pPr fontAlgn="base"/>
            <a:r>
              <a:rPr lang="en-US" b="1" dirty="0"/>
              <a:t>type="</a:t>
            </a:r>
            <a:r>
              <a:rPr lang="en-US" b="1" dirty="0" err="1"/>
              <a:t>i</a:t>
            </a:r>
            <a:r>
              <a:rPr lang="en-US" b="1" dirty="0"/>
              <a:t>"-</a:t>
            </a:r>
            <a:r>
              <a:rPr lang="en-US" dirty="0"/>
              <a:t> The list items will be numbered with lowercase Roman numbers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06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Attributes of an ordered list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1. reversed: This attribute is used to specify that the order of the list should be reversed.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Syntax: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ol</a:t>
            </a:r>
            <a:r>
              <a:rPr lang="en-US" dirty="0" smtClean="0"/>
              <a:t> reversed&gt;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488292"/>
            <a:ext cx="2878993" cy="861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Syntax: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content &lt;/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1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2. start: This attribute is used to specify the start value of the list.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ol</a:t>
            </a:r>
            <a:r>
              <a:rPr lang="en-US" dirty="0" smtClean="0"/>
              <a:t> start = "number"&gt;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48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3. type: This attribute is used to specify the type of list item maker. The value of this attribute is decimal(Default)/lower-roman/upper roman/lower-alpha/upper alpha</a:t>
            </a:r>
          </a:p>
          <a:p>
            <a:pPr marL="0" indent="0">
              <a:buNone/>
            </a:pPr>
            <a:r>
              <a:rPr lang="en-US" dirty="0" smtClean="0"/>
              <a:t>Syntax: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ol</a:t>
            </a:r>
            <a:r>
              <a:rPr lang="en-US" dirty="0" smtClean="0"/>
              <a:t> type = "1|b|A|i|I"&gt;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8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4160"/>
            <a:ext cx="10515600" cy="4642803"/>
          </a:xfrm>
        </p:spPr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&lt;html&gt;</a:t>
            </a:r>
          </a:p>
          <a:p>
            <a:pPr marL="0" indent="0">
              <a:buNone/>
            </a:pPr>
            <a:r>
              <a:rPr lang="en-IN" dirty="0" smtClean="0"/>
              <a:t>&lt;head&gt;</a:t>
            </a:r>
          </a:p>
          <a:p>
            <a:pPr marL="0" indent="0">
              <a:buNone/>
            </a:pPr>
            <a:r>
              <a:rPr lang="en-IN" dirty="0" smtClean="0"/>
              <a:t>     &lt;title&gt;ordered list&lt;/title&gt;</a:t>
            </a:r>
          </a:p>
          <a:p>
            <a:pPr marL="0" indent="0">
              <a:buNone/>
            </a:pPr>
            <a:r>
              <a:rPr lang="en-IN" dirty="0" smtClean="0"/>
              <a:t>&lt;/head&gt;</a:t>
            </a:r>
          </a:p>
          <a:p>
            <a:pPr marL="0" indent="0">
              <a:buNone/>
            </a:pPr>
            <a:r>
              <a:rPr lang="en-IN" dirty="0" smtClean="0"/>
              <a:t>&lt;body&gt;</a:t>
            </a:r>
          </a:p>
          <a:p>
            <a:pPr marL="0" indent="0">
              <a:buNone/>
            </a:pPr>
            <a:r>
              <a:rPr lang="en-IN" dirty="0" smtClean="0"/>
              <a:t>    &lt;h1&gt;Example of ordered list whose type = "A"&lt;/h1&gt;</a:t>
            </a:r>
          </a:p>
          <a:p>
            <a:pPr marL="0" indent="0">
              <a:buNone/>
            </a:pPr>
            <a:r>
              <a:rPr lang="en-IN" dirty="0" smtClean="0"/>
              <a:t>    &lt;</a:t>
            </a:r>
            <a:r>
              <a:rPr lang="en-IN" dirty="0" err="1" smtClean="0"/>
              <a:t>ol</a:t>
            </a:r>
            <a:r>
              <a:rPr lang="en-IN" dirty="0" smtClean="0"/>
              <a:t> type="A"&gt;</a:t>
            </a:r>
          </a:p>
          <a:p>
            <a:pPr marL="0" indent="0">
              <a:buNone/>
            </a:pPr>
            <a:r>
              <a:rPr lang="en-IN" dirty="0" smtClean="0"/>
              <a:t>        &lt;li&gt;Sachin&lt;/li&gt;</a:t>
            </a:r>
          </a:p>
          <a:p>
            <a:pPr marL="0" indent="0">
              <a:buNone/>
            </a:pPr>
            <a:r>
              <a:rPr lang="en-IN" dirty="0" smtClean="0"/>
              <a:t>        &lt;li&gt;Manoj&lt;/li&gt;</a:t>
            </a:r>
          </a:p>
          <a:p>
            <a:pPr marL="0" indent="0">
              <a:buNone/>
            </a:pPr>
            <a:r>
              <a:rPr lang="en-IN" dirty="0" smtClean="0"/>
              <a:t>    &lt;/</a:t>
            </a:r>
            <a:r>
              <a:rPr lang="en-IN" dirty="0" err="1" smtClean="0"/>
              <a:t>ol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&lt;h1&gt;Example of reverse ordered list&lt;/h1&gt;</a:t>
            </a:r>
          </a:p>
          <a:p>
            <a:pPr marL="0" indent="0">
              <a:buNone/>
            </a:pPr>
            <a:r>
              <a:rPr lang="en-IN" dirty="0" smtClean="0"/>
              <a:t>    &lt;</a:t>
            </a:r>
            <a:r>
              <a:rPr lang="en-IN" dirty="0" err="1" smtClean="0"/>
              <a:t>ol</a:t>
            </a:r>
            <a:r>
              <a:rPr lang="en-IN" dirty="0" smtClean="0"/>
              <a:t> reversed&gt;</a:t>
            </a:r>
          </a:p>
          <a:p>
            <a:pPr marL="0" indent="0">
              <a:buNone/>
            </a:pPr>
            <a:r>
              <a:rPr lang="en-IN" dirty="0" smtClean="0"/>
              <a:t>        &lt;li&gt;</a:t>
            </a:r>
            <a:r>
              <a:rPr lang="en-IN" dirty="0" err="1" smtClean="0"/>
              <a:t>Parth</a:t>
            </a:r>
            <a:r>
              <a:rPr lang="en-IN" dirty="0" smtClean="0"/>
              <a:t>&lt;/li&gt;</a:t>
            </a:r>
          </a:p>
          <a:p>
            <a:pPr marL="0" indent="0">
              <a:buNone/>
            </a:pPr>
            <a:r>
              <a:rPr lang="en-IN" dirty="0" smtClean="0"/>
              <a:t>        &lt;li&gt;</a:t>
            </a:r>
            <a:r>
              <a:rPr lang="en-IN" dirty="0" err="1" smtClean="0"/>
              <a:t>sujay</a:t>
            </a:r>
            <a:r>
              <a:rPr lang="en-IN" dirty="0" smtClean="0"/>
              <a:t>&lt;/li&gt;</a:t>
            </a:r>
          </a:p>
          <a:p>
            <a:pPr marL="0" indent="0">
              <a:buNone/>
            </a:pPr>
            <a:r>
              <a:rPr lang="en-IN" dirty="0" smtClean="0"/>
              <a:t>    &lt;/</a:t>
            </a:r>
            <a:r>
              <a:rPr lang="en-IN" dirty="0" err="1" smtClean="0"/>
              <a:t>ol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&lt;h1&gt;Example of ordered list start from 10&lt;/h1&gt;</a:t>
            </a:r>
          </a:p>
          <a:p>
            <a:pPr marL="0" indent="0">
              <a:buNone/>
            </a:pPr>
            <a:r>
              <a:rPr lang="en-IN" dirty="0" smtClean="0"/>
              <a:t>    &lt;</a:t>
            </a:r>
            <a:r>
              <a:rPr lang="en-IN" dirty="0" err="1" smtClean="0"/>
              <a:t>ol</a:t>
            </a:r>
            <a:r>
              <a:rPr lang="en-IN" dirty="0" smtClean="0"/>
              <a:t> start = "10"&gt;</a:t>
            </a:r>
          </a:p>
          <a:p>
            <a:pPr marL="0" indent="0">
              <a:buNone/>
            </a:pPr>
            <a:r>
              <a:rPr lang="en-IN" dirty="0" smtClean="0"/>
              <a:t>        &lt;li&gt;</a:t>
            </a:r>
            <a:r>
              <a:rPr lang="en-IN" dirty="0" err="1" smtClean="0"/>
              <a:t>Pushpa</a:t>
            </a:r>
            <a:r>
              <a:rPr lang="en-IN" dirty="0" smtClean="0"/>
              <a:t>&lt;/li&gt;</a:t>
            </a:r>
          </a:p>
          <a:p>
            <a:pPr marL="0" indent="0">
              <a:buNone/>
            </a:pPr>
            <a:r>
              <a:rPr lang="en-IN" dirty="0" smtClean="0"/>
              <a:t>        &lt;li&gt;</a:t>
            </a:r>
            <a:r>
              <a:rPr lang="en-IN" dirty="0" err="1" smtClean="0"/>
              <a:t>Purvi</a:t>
            </a:r>
            <a:r>
              <a:rPr lang="en-IN" dirty="0" smtClean="0"/>
              <a:t>&lt;/li&gt;</a:t>
            </a:r>
          </a:p>
          <a:p>
            <a:pPr marL="0" indent="0">
              <a:buNone/>
            </a:pPr>
            <a:r>
              <a:rPr lang="en-IN" dirty="0" smtClean="0"/>
              <a:t>    &lt;/</a:t>
            </a:r>
            <a:r>
              <a:rPr lang="en-IN" dirty="0" err="1" smtClean="0"/>
              <a:t>ol</a:t>
            </a:r>
            <a:r>
              <a:rPr lang="en-IN" dirty="0" smtClean="0"/>
              <a:t>&gt; </a:t>
            </a:r>
          </a:p>
          <a:p>
            <a:pPr marL="0" indent="0">
              <a:buNone/>
            </a:pPr>
            <a:r>
              <a:rPr lang="en-IN" dirty="0" smtClean="0"/>
              <a:t>&lt;/body&gt;</a:t>
            </a:r>
          </a:p>
          <a:p>
            <a:pPr marL="0" indent="0">
              <a:buNone/>
            </a:pPr>
            <a:r>
              <a:rPr lang="en-IN" dirty="0" smtClean="0"/>
              <a:t>&lt;/html&gt;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63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OUTPUT: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102" y="2508250"/>
            <a:ext cx="6083795" cy="3668713"/>
          </a:xfrm>
        </p:spPr>
      </p:pic>
    </p:spTree>
    <p:extLst>
      <p:ext uri="{BB962C8B-B14F-4D97-AF65-F5344CB8AC3E}">
        <p14:creationId xmlns:p14="http://schemas.microsoft.com/office/powerpoint/2010/main" val="356863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dirty="0"/>
              <a:t>Description </a:t>
            </a:r>
            <a:r>
              <a:rPr lang="en-IN" b="1" dirty="0" smtClean="0"/>
              <a:t>list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dirty="0"/>
              <a:t>Description list is a list in which each term contains its description. This tag contains &lt;</a:t>
            </a:r>
            <a:r>
              <a:rPr lang="en-US" dirty="0" err="1"/>
              <a:t>dt</a:t>
            </a:r>
            <a:r>
              <a:rPr lang="en-US" dirty="0"/>
              <a:t>&gt; and &lt;</a:t>
            </a:r>
            <a:r>
              <a:rPr lang="en-US" dirty="0" err="1"/>
              <a:t>dd</a:t>
            </a:r>
            <a:r>
              <a:rPr lang="en-US" dirty="0"/>
              <a:t>&gt; tag.</a:t>
            </a:r>
          </a:p>
          <a:p>
            <a:pPr marL="0" indent="0" fontAlgn="base">
              <a:buNone/>
            </a:pPr>
            <a:r>
              <a:rPr lang="en-US" dirty="0"/>
              <a:t>&lt;</a:t>
            </a:r>
            <a:r>
              <a:rPr lang="en-US" dirty="0" err="1"/>
              <a:t>dt</a:t>
            </a:r>
            <a:r>
              <a:rPr lang="en-US" dirty="0"/>
              <a:t>&gt;&lt;/</a:t>
            </a:r>
            <a:r>
              <a:rPr lang="en-US" dirty="0" err="1"/>
              <a:t>dt</a:t>
            </a:r>
            <a:r>
              <a:rPr lang="en-US" dirty="0"/>
              <a:t>&gt;: This tag is used to define the name or term</a:t>
            </a:r>
          </a:p>
          <a:p>
            <a:pPr marL="0" indent="0" fontAlgn="base">
              <a:buNone/>
            </a:pPr>
            <a:r>
              <a:rPr lang="en-US" dirty="0"/>
              <a:t>&lt;</a:t>
            </a:r>
            <a:r>
              <a:rPr lang="en-US" dirty="0" err="1"/>
              <a:t>dd</a:t>
            </a:r>
            <a:r>
              <a:rPr lang="en-US" dirty="0"/>
              <a:t>&gt;&lt;</a:t>
            </a:r>
            <a:r>
              <a:rPr lang="en-US" dirty="0" err="1"/>
              <a:t>dd</a:t>
            </a:r>
            <a:r>
              <a:rPr lang="en-US" dirty="0"/>
              <a:t>&gt;: this tag is used to describe the term</a:t>
            </a:r>
            <a:r>
              <a:rPr lang="en-US" dirty="0" smtClean="0"/>
              <a:t>.</a:t>
            </a:r>
            <a:endParaRPr lang="en-US" dirty="0"/>
          </a:p>
          <a:p>
            <a:pPr marL="0" indent="0" fontAlgn="base">
              <a:buNone/>
            </a:pP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Syntax:</a:t>
            </a:r>
          </a:p>
          <a:p>
            <a:pPr marL="0" indent="0" fontAlgn="base">
              <a:buNone/>
            </a:pPr>
            <a:endParaRPr lang="en-US" dirty="0" smtClean="0"/>
          </a:p>
          <a:p>
            <a:pPr marL="0" indent="0" fontAlgn="base">
              <a:buNone/>
            </a:pP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&lt;dl&gt; content &lt;/dl&gt;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3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680"/>
            <a:ext cx="5948680" cy="51206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&lt;html&gt;</a:t>
            </a:r>
          </a:p>
          <a:p>
            <a:pPr marL="0" indent="0">
              <a:buNone/>
            </a:pPr>
            <a:r>
              <a:rPr lang="en-US" dirty="0" smtClean="0"/>
              <a:t>&lt;head&gt;</a:t>
            </a:r>
          </a:p>
          <a:p>
            <a:pPr marL="0" indent="0">
              <a:buNone/>
            </a:pPr>
            <a:r>
              <a:rPr lang="en-US" dirty="0" smtClean="0"/>
              <a:t>     &lt;title&gt;Description list&lt;/title&gt;</a:t>
            </a:r>
          </a:p>
          <a:p>
            <a:pPr marL="0" indent="0">
              <a:buNone/>
            </a:pPr>
            <a:r>
              <a:rPr lang="en-US" dirty="0" smtClean="0"/>
              <a:t>&lt;/head&gt;</a:t>
            </a:r>
          </a:p>
          <a:p>
            <a:pPr marL="0" indent="0">
              <a:buNone/>
            </a:pPr>
            <a:r>
              <a:rPr lang="en-US" dirty="0" smtClean="0"/>
              <a:t>&lt;body&gt;</a:t>
            </a:r>
          </a:p>
          <a:p>
            <a:pPr marL="0" indent="0">
              <a:buNone/>
            </a:pPr>
            <a:r>
              <a:rPr lang="en-US" dirty="0" smtClean="0"/>
              <a:t>    &lt;h2&gt;Example of description list&lt;/h2&gt;</a:t>
            </a:r>
          </a:p>
          <a:p>
            <a:pPr marL="0" indent="0">
              <a:buNone/>
            </a:pPr>
            <a:r>
              <a:rPr lang="en-US" dirty="0" smtClean="0"/>
              <a:t>    &lt;dl&gt;</a:t>
            </a:r>
          </a:p>
          <a:p>
            <a:pPr marL="0" indent="0"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dt</a:t>
            </a:r>
            <a:r>
              <a:rPr lang="en-US" dirty="0" smtClean="0"/>
              <a:t>&gt;Python:&lt;/</a:t>
            </a:r>
            <a:r>
              <a:rPr lang="en-US" dirty="0" err="1" smtClean="0"/>
              <a:t>dt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dd</a:t>
            </a:r>
            <a:r>
              <a:rPr lang="en-US" dirty="0" smtClean="0"/>
              <a:t>&gt;It is a programming language&lt;/</a:t>
            </a:r>
            <a:r>
              <a:rPr lang="en-US" dirty="0" err="1" smtClean="0"/>
              <a:t>dd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dt</a:t>
            </a:r>
            <a:r>
              <a:rPr lang="en-US" dirty="0" smtClean="0"/>
              <a:t>&gt;C++:&lt;/</a:t>
            </a:r>
            <a:r>
              <a:rPr lang="en-US" dirty="0" err="1" smtClean="0"/>
              <a:t>dt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dd</a:t>
            </a:r>
            <a:r>
              <a:rPr lang="en-US" dirty="0" smtClean="0"/>
              <a:t>&gt;It is also a programming language&lt;/</a:t>
            </a:r>
            <a:r>
              <a:rPr lang="en-US" dirty="0" err="1" smtClean="0"/>
              <a:t>dd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&lt;/dl&gt;</a:t>
            </a:r>
          </a:p>
          <a:p>
            <a:pPr marL="0" indent="0">
              <a:buNone/>
            </a:pPr>
            <a:r>
              <a:rPr lang="en-US" dirty="0" smtClean="0"/>
              <a:t>&lt;/body&gt;</a:t>
            </a:r>
          </a:p>
          <a:p>
            <a:pPr marL="0" indent="0">
              <a:buNone/>
            </a:pPr>
            <a:r>
              <a:rPr lang="en-US" dirty="0" smtClean="0"/>
              <a:t>&lt;/html&gt;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0" y="1742440"/>
            <a:ext cx="6000750" cy="3352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45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Basic HTML Table Structure</a:t>
            </a:r>
          </a:p>
          <a:p>
            <a:pPr fontAlgn="base"/>
            <a:r>
              <a:rPr lang="en-US" dirty="0"/>
              <a:t>An HTML table is created using the </a:t>
            </a:r>
            <a:r>
              <a:rPr lang="en-US" b="1" dirty="0"/>
              <a:t>&lt;table&gt; tag</a:t>
            </a:r>
            <a:r>
              <a:rPr lang="en-US" dirty="0"/>
              <a:t>. Inside the table, we use:</a:t>
            </a:r>
          </a:p>
          <a:p>
            <a:pPr fontAlgn="base"/>
            <a:r>
              <a:rPr lang="en-US" b="1" u="sng" dirty="0">
                <a:hlinkClick r:id="rId2"/>
              </a:rPr>
              <a:t>&lt;</a:t>
            </a:r>
            <a:r>
              <a:rPr lang="en-US" b="1" u="sng" dirty="0" err="1">
                <a:hlinkClick r:id="rId2"/>
              </a:rPr>
              <a:t>tr</a:t>
            </a:r>
            <a:r>
              <a:rPr lang="en-US" b="1" u="sng" dirty="0">
                <a:hlinkClick r:id="rId2"/>
              </a:rPr>
              <a:t>&gt;:</a:t>
            </a:r>
            <a:r>
              <a:rPr lang="en-US" b="1" dirty="0"/>
              <a:t> </a:t>
            </a:r>
            <a:r>
              <a:rPr lang="en-US" dirty="0"/>
              <a:t>Table Row</a:t>
            </a:r>
          </a:p>
          <a:p>
            <a:pPr fontAlgn="base"/>
            <a:r>
              <a:rPr lang="en-US" b="1" u="sng" dirty="0">
                <a:hlinkClick r:id="rId3"/>
              </a:rPr>
              <a:t>&lt;</a:t>
            </a:r>
            <a:r>
              <a:rPr lang="en-US" b="1" u="sng" dirty="0" err="1">
                <a:hlinkClick r:id="rId3"/>
              </a:rPr>
              <a:t>th</a:t>
            </a:r>
            <a:r>
              <a:rPr lang="en-US" b="1" u="sng" dirty="0">
                <a:hlinkClick r:id="rId3"/>
              </a:rPr>
              <a:t>&gt;:</a:t>
            </a:r>
            <a:r>
              <a:rPr lang="en-US" dirty="0"/>
              <a:t> Table Header</a:t>
            </a:r>
          </a:p>
          <a:p>
            <a:pPr fontAlgn="base"/>
            <a:r>
              <a:rPr lang="en-US" b="1" u="sng" dirty="0">
                <a:hlinkClick r:id="rId4"/>
              </a:rPr>
              <a:t>&lt;td&gt;:</a:t>
            </a:r>
            <a:r>
              <a:rPr lang="en-US" u="sng" dirty="0">
                <a:hlinkClick r:id="rId4"/>
              </a:rPr>
              <a:t> </a:t>
            </a:r>
            <a:r>
              <a:rPr lang="en-US" dirty="0"/>
              <a:t>Table Data</a:t>
            </a:r>
          </a:p>
        </p:txBody>
      </p:sp>
    </p:spTree>
    <p:extLst>
      <p:ext uri="{BB962C8B-B14F-4D97-AF65-F5344CB8AC3E}">
        <p14:creationId xmlns:p14="http://schemas.microsoft.com/office/powerpoint/2010/main" val="182301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5049520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smtClean="0"/>
              <a:t>&lt;!-- index.html --&gt;</a:t>
            </a:r>
          </a:p>
          <a:p>
            <a:pPr marL="0" indent="0">
              <a:buNone/>
            </a:pPr>
            <a:r>
              <a:rPr lang="en-IN" dirty="0" smtClean="0"/>
              <a:t>&lt;!DOCTYPE html&gt;</a:t>
            </a:r>
          </a:p>
          <a:p>
            <a:pPr marL="0" indent="0">
              <a:buNone/>
            </a:pPr>
            <a:r>
              <a:rPr lang="en-IN" dirty="0" smtClean="0"/>
              <a:t>&lt;html </a:t>
            </a:r>
            <a:r>
              <a:rPr lang="en-IN" dirty="0" err="1" smtClean="0"/>
              <a:t>lang</a:t>
            </a:r>
            <a:r>
              <a:rPr lang="en-IN" dirty="0" smtClean="0"/>
              <a:t>="</a:t>
            </a:r>
            <a:r>
              <a:rPr lang="en-IN" dirty="0" err="1" smtClean="0"/>
              <a:t>en</a:t>
            </a:r>
            <a:r>
              <a:rPr lang="en-IN" dirty="0" smtClean="0"/>
              <a:t>"&gt;</a:t>
            </a:r>
          </a:p>
          <a:p>
            <a:pPr marL="0" indent="0">
              <a:buNone/>
            </a:pPr>
            <a:r>
              <a:rPr lang="en-IN" dirty="0" smtClean="0"/>
              <a:t>&lt;head&gt;</a:t>
            </a:r>
          </a:p>
          <a:p>
            <a:pPr marL="0" indent="0">
              <a:buNone/>
            </a:pPr>
            <a:r>
              <a:rPr lang="en-IN" dirty="0" smtClean="0"/>
              <a:t>    &lt;meta charset="UTF-8"&gt;</a:t>
            </a:r>
          </a:p>
          <a:p>
            <a:pPr marL="0" indent="0">
              <a:buNone/>
            </a:pPr>
            <a:r>
              <a:rPr lang="en-IN" dirty="0" smtClean="0"/>
              <a:t>    &lt;meta name="viewport" </a:t>
            </a:r>
          </a:p>
          <a:p>
            <a:pPr marL="0" indent="0">
              <a:buNone/>
            </a:pPr>
            <a:r>
              <a:rPr lang="en-IN" dirty="0" smtClean="0"/>
              <a:t>          content="width=device-width, initial-scale=1.0"&gt;</a:t>
            </a:r>
          </a:p>
          <a:p>
            <a:pPr marL="0" indent="0">
              <a:buNone/>
            </a:pPr>
            <a:r>
              <a:rPr lang="en-IN" dirty="0" smtClean="0"/>
              <a:t>    &lt;title&gt;HTML&lt;/title&gt;</a:t>
            </a:r>
          </a:p>
          <a:p>
            <a:pPr marL="0" indent="0">
              <a:buNone/>
            </a:pPr>
            <a:r>
              <a:rPr lang="en-IN" dirty="0" smtClean="0"/>
              <a:t>&lt;/head&gt;</a:t>
            </a:r>
          </a:p>
          <a:p>
            <a:pPr marL="0" indent="0">
              <a:buNone/>
            </a:pPr>
            <a:r>
              <a:rPr lang="en-IN" dirty="0" smtClean="0"/>
              <a:t>&lt;body&gt;</a:t>
            </a:r>
          </a:p>
          <a:p>
            <a:pPr marL="0" indent="0">
              <a:buNone/>
            </a:pPr>
            <a:r>
              <a:rPr lang="en-IN" dirty="0" smtClean="0"/>
              <a:t>    &lt;table&gt;</a:t>
            </a:r>
          </a:p>
          <a:p>
            <a:pPr marL="0" indent="0">
              <a:buNone/>
            </a:pPr>
            <a:r>
              <a:rPr lang="en-IN" dirty="0" smtClean="0"/>
              <a:t>        &lt;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    &lt;</a:t>
            </a:r>
            <a:r>
              <a:rPr lang="en-IN" dirty="0" err="1" smtClean="0"/>
              <a:t>th</a:t>
            </a:r>
            <a:r>
              <a:rPr lang="en-IN" dirty="0" smtClean="0"/>
              <a:t>&gt;</a:t>
            </a:r>
            <a:r>
              <a:rPr lang="en-IN" dirty="0" err="1" smtClean="0"/>
              <a:t>Firstname</a:t>
            </a:r>
            <a:r>
              <a:rPr lang="en-IN" dirty="0" smtClean="0"/>
              <a:t>&lt;/</a:t>
            </a:r>
            <a:r>
              <a:rPr lang="en-IN" dirty="0" err="1" smtClean="0"/>
              <a:t>th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    &lt;</a:t>
            </a:r>
            <a:r>
              <a:rPr lang="en-IN" dirty="0" err="1" smtClean="0"/>
              <a:t>th</a:t>
            </a:r>
            <a:r>
              <a:rPr lang="en-IN" dirty="0" smtClean="0"/>
              <a:t>&gt;</a:t>
            </a:r>
            <a:r>
              <a:rPr lang="en-IN" dirty="0" err="1" smtClean="0"/>
              <a:t>Lastname</a:t>
            </a:r>
            <a:r>
              <a:rPr lang="en-IN" dirty="0" smtClean="0"/>
              <a:t>&lt;/</a:t>
            </a:r>
            <a:r>
              <a:rPr lang="en-IN" dirty="0" err="1" smtClean="0"/>
              <a:t>th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    &lt;</a:t>
            </a:r>
            <a:r>
              <a:rPr lang="en-IN" dirty="0" err="1" smtClean="0"/>
              <a:t>th</a:t>
            </a:r>
            <a:r>
              <a:rPr lang="en-IN" dirty="0" smtClean="0"/>
              <a:t>&gt;Age&lt;/</a:t>
            </a:r>
            <a:r>
              <a:rPr lang="en-IN" dirty="0" err="1" smtClean="0"/>
              <a:t>th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&lt;/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&lt;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    &lt;td&gt;</a:t>
            </a:r>
            <a:r>
              <a:rPr lang="en-IN" dirty="0" err="1" smtClean="0"/>
              <a:t>Priya</a:t>
            </a:r>
            <a:r>
              <a:rPr lang="en-IN" dirty="0" smtClean="0"/>
              <a:t>&lt;/td&gt;</a:t>
            </a:r>
          </a:p>
          <a:p>
            <a:pPr marL="0" indent="0">
              <a:buNone/>
            </a:pPr>
            <a:r>
              <a:rPr lang="en-IN" dirty="0" smtClean="0"/>
              <a:t>            &lt;td&gt;Sharma&lt;/td&gt;</a:t>
            </a:r>
          </a:p>
          <a:p>
            <a:pPr marL="0" indent="0">
              <a:buNone/>
            </a:pPr>
            <a:r>
              <a:rPr lang="en-IN" dirty="0" smtClean="0"/>
              <a:t>            &lt;td&gt;24&lt;/td&gt;</a:t>
            </a:r>
          </a:p>
          <a:p>
            <a:pPr marL="0" indent="0">
              <a:buNone/>
            </a:pPr>
            <a:r>
              <a:rPr lang="en-IN" dirty="0" smtClean="0"/>
              <a:t>        &lt;/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&lt;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    &lt;td&gt;</a:t>
            </a:r>
            <a:r>
              <a:rPr lang="en-IN" dirty="0" err="1" smtClean="0"/>
              <a:t>Arun</a:t>
            </a:r>
            <a:r>
              <a:rPr lang="en-IN" dirty="0" smtClean="0"/>
              <a:t>&lt;/td&gt;</a:t>
            </a:r>
          </a:p>
          <a:p>
            <a:pPr marL="0" indent="0">
              <a:buNone/>
            </a:pPr>
            <a:r>
              <a:rPr lang="en-IN" dirty="0" smtClean="0"/>
              <a:t>            &lt;td&gt;Singh&lt;/td&gt;</a:t>
            </a:r>
          </a:p>
          <a:p>
            <a:pPr marL="0" indent="0">
              <a:buNone/>
            </a:pPr>
            <a:r>
              <a:rPr lang="en-IN" dirty="0" smtClean="0"/>
              <a:t>            &lt;td&gt;32&lt;/td&gt;</a:t>
            </a:r>
          </a:p>
          <a:p>
            <a:pPr marL="0" indent="0">
              <a:buNone/>
            </a:pPr>
            <a:r>
              <a:rPr lang="en-IN" dirty="0" smtClean="0"/>
              <a:t>        &lt;/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&lt;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        &lt;td&gt;Sam&lt;/td&gt;</a:t>
            </a:r>
          </a:p>
          <a:p>
            <a:pPr marL="0" indent="0">
              <a:buNone/>
            </a:pPr>
            <a:r>
              <a:rPr lang="en-IN" dirty="0" smtClean="0"/>
              <a:t>            &lt;td&gt;Watson&lt;/td&gt;</a:t>
            </a:r>
          </a:p>
          <a:p>
            <a:pPr marL="0" indent="0">
              <a:buNone/>
            </a:pPr>
            <a:r>
              <a:rPr lang="en-IN" dirty="0" smtClean="0"/>
              <a:t>            &lt;td&gt;41&lt;/td&gt;</a:t>
            </a:r>
          </a:p>
          <a:p>
            <a:pPr marL="0" indent="0">
              <a:buNone/>
            </a:pPr>
            <a:r>
              <a:rPr lang="en-IN" dirty="0" smtClean="0"/>
              <a:t>        &lt;/</a:t>
            </a:r>
            <a:r>
              <a:rPr lang="en-IN" dirty="0" err="1" smtClean="0"/>
              <a:t>tr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   &lt;/table&gt;</a:t>
            </a:r>
          </a:p>
          <a:p>
            <a:pPr marL="0" indent="0">
              <a:buNone/>
            </a:pPr>
            <a:r>
              <a:rPr lang="en-IN" dirty="0" smtClean="0"/>
              <a:t>&lt;/body&gt;</a:t>
            </a:r>
          </a:p>
          <a:p>
            <a:pPr marL="0" indent="0">
              <a:buNone/>
            </a:pPr>
            <a:r>
              <a:rPr lang="en-IN" dirty="0" smtClean="0"/>
              <a:t>&lt;/html&gt;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452" y="2713990"/>
            <a:ext cx="2738273" cy="151257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054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&lt;</a:t>
            </a:r>
            <a:r>
              <a:rPr lang="en-US" dirty="0" err="1" smtClean="0"/>
              <a:t>tfoot</a:t>
            </a:r>
            <a:r>
              <a:rPr lang="en-US" dirty="0" smtClean="0"/>
              <a:t>&gt; tag is used to group footer content in an HTML table.</a:t>
            </a:r>
          </a:p>
          <a:p>
            <a:endParaRPr lang="en-US" dirty="0"/>
          </a:p>
          <a:p>
            <a:r>
              <a:rPr lang="en-US" dirty="0"/>
              <a:t>HTML </a:t>
            </a:r>
            <a:r>
              <a:rPr lang="en-US" b="1" dirty="0"/>
              <a:t>&lt;</a:t>
            </a:r>
            <a:r>
              <a:rPr lang="en-US" b="1" dirty="0" err="1"/>
              <a:t>thead</a:t>
            </a:r>
            <a:r>
              <a:rPr lang="en-US" b="1" dirty="0"/>
              <a:t>&gt;</a:t>
            </a:r>
            <a:r>
              <a:rPr lang="en-US" dirty="0"/>
              <a:t> tag is used to group the header content of HTML table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The &lt;</a:t>
            </a:r>
            <a:r>
              <a:rPr lang="en-US" dirty="0" err="1" smtClean="0"/>
              <a:t>tbody</a:t>
            </a:r>
            <a:r>
              <a:rPr lang="en-US" dirty="0" smtClean="0"/>
              <a:t>&gt; tag is used to group the body content in an HTML table.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1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Forms are used to collect user input.</a:t>
            </a:r>
          </a:p>
          <a:p>
            <a:r>
              <a:rPr dirty="0"/>
              <a:t>&lt;form&gt; tag encloses input elements.</a:t>
            </a:r>
          </a:p>
          <a:p>
            <a:r>
              <a:rPr dirty="0"/>
              <a:t>Common in login, registration, feedback, etc.</a:t>
            </a:r>
          </a:p>
        </p:txBody>
      </p:sp>
    </p:spTree>
    <p:extLst>
      <p:ext uri="{BB962C8B-B14F-4D97-AF65-F5344CB8AC3E}">
        <p14:creationId xmlns:p14="http://schemas.microsoft.com/office/powerpoint/2010/main" val="129051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Form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&lt;form&gt;</a:t>
            </a:r>
          </a:p>
          <a:p>
            <a:r>
              <a:t>   &lt;!-- Input fields go here --&gt;</a:t>
            </a:r>
          </a:p>
          <a:p>
            <a:r>
              <a:t>   &lt;button type='submit'&gt;Submit&lt;/button&gt;</a:t>
            </a:r>
          </a:p>
          <a:p>
            <a:r>
              <a:t>&lt;/form&gt;</a:t>
            </a:r>
          </a:p>
          <a:p>
            <a:r>
              <a:t>Uses &lt;input&gt;, &lt;label&gt;, &lt;button&gt;</a:t>
            </a:r>
          </a:p>
        </p:txBody>
      </p:sp>
    </p:spTree>
    <p:extLst>
      <p:ext uri="{BB962C8B-B14F-4D97-AF65-F5344CB8AC3E}">
        <p14:creationId xmlns:p14="http://schemas.microsoft.com/office/powerpoint/2010/main" val="292709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and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&lt;input&gt;: Takes user input.</a:t>
            </a:r>
          </a:p>
          <a:p>
            <a:r>
              <a:t>&lt;label&gt;: Describes input field.</a:t>
            </a:r>
          </a:p>
          <a:p>
            <a:r>
              <a:t>Example:</a:t>
            </a:r>
          </a:p>
          <a:p>
            <a:r>
              <a:t>&lt;label for='username'&gt;Name:&lt;/label&gt;</a:t>
            </a:r>
          </a:p>
          <a:p>
            <a:r>
              <a:t>&lt;input type='text' id='username'&gt;</a:t>
            </a:r>
          </a:p>
        </p:txBody>
      </p:sp>
    </p:spTree>
    <p:extLst>
      <p:ext uri="{BB962C8B-B14F-4D97-AF65-F5344CB8AC3E}">
        <p14:creationId xmlns:p14="http://schemas.microsoft.com/office/powerpoint/2010/main" val="208994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Field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→ Enter plain text</a:t>
            </a:r>
          </a:p>
          <a:p>
            <a:r>
              <a:t>email → Email validation</a:t>
            </a:r>
          </a:p>
          <a:p>
            <a:r>
              <a:t>password → Hidden characters</a:t>
            </a:r>
          </a:p>
          <a:p>
            <a:r>
              <a:t>number → Numeric input</a:t>
            </a:r>
          </a:p>
          <a:p>
            <a:r>
              <a:t>date → Calendar input</a:t>
            </a:r>
          </a:p>
        </p:txBody>
      </p:sp>
    </p:spTree>
    <p:extLst>
      <p:ext uri="{BB962C8B-B14F-4D97-AF65-F5344CB8AC3E}">
        <p14:creationId xmlns:p14="http://schemas.microsoft.com/office/powerpoint/2010/main" val="268440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Field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→ Enter plain text</a:t>
            </a:r>
          </a:p>
          <a:p>
            <a:r>
              <a:t>email → Email validation</a:t>
            </a:r>
          </a:p>
          <a:p>
            <a:r>
              <a:t>password → Hidden characters</a:t>
            </a:r>
          </a:p>
          <a:p>
            <a:r>
              <a:t>number → Numeric input</a:t>
            </a:r>
          </a:p>
          <a:p>
            <a:r>
              <a:t>date → Calendar input</a:t>
            </a:r>
          </a:p>
        </p:txBody>
      </p:sp>
    </p:spTree>
    <p:extLst>
      <p:ext uri="{BB962C8B-B14F-4D97-AF65-F5344CB8AC3E}">
        <p14:creationId xmlns:p14="http://schemas.microsoft.com/office/powerpoint/2010/main" val="149766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onclick → Triggered when button clicked</a:t>
            </a:r>
          </a:p>
          <a:p>
            <a:r>
              <a:t>onchange → Triggered when value changes</a:t>
            </a:r>
          </a:p>
          <a:p>
            <a:r>
              <a:t>onsubmit → Triggered when form is submitted</a:t>
            </a:r>
          </a:p>
        </p:txBody>
      </p:sp>
    </p:spTree>
    <p:extLst>
      <p:ext uri="{BB962C8B-B14F-4D97-AF65-F5344CB8AC3E}">
        <p14:creationId xmlns:p14="http://schemas.microsoft.com/office/powerpoint/2010/main" val="115835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prompt() → Ask user input</a:t>
            </a:r>
          </a:p>
          <a:p>
            <a:r>
              <a:t>alert() → Show message</a:t>
            </a:r>
          </a:p>
          <a:p>
            <a:r>
              <a:t>confirm() → Ask Yes/No</a:t>
            </a:r>
          </a:p>
          <a:p>
            <a:r>
              <a:t>Example:</a:t>
            </a:r>
          </a:p>
          <a:p>
            <a:r>
              <a:t>let name = prompt('Enter your name:');</a:t>
            </a:r>
          </a:p>
          <a:p>
            <a:r>
              <a:t>alert('Welcome ' + name);</a:t>
            </a:r>
          </a:p>
        </p:txBody>
      </p:sp>
    </p:spTree>
    <p:extLst>
      <p:ext uri="{BB962C8B-B14F-4D97-AF65-F5344CB8AC3E}">
        <p14:creationId xmlns:p14="http://schemas.microsoft.com/office/powerpoint/2010/main" val="313597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Semantic HTML?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Meaningful tags describe content &amp; structure</a:t>
            </a:r>
          </a:p>
          <a:p>
            <a:r>
              <a:t>Improves accessibility (screen readers, landmarks)</a:t>
            </a:r>
          </a:p>
          <a:p>
            <a:r>
              <a:t>Better SEO &amp; indexing</a:t>
            </a:r>
          </a:p>
          <a:p>
            <a:r>
              <a:t>Cleaner code vs. excessive &lt;div&gt; usage (div soup)</a:t>
            </a:r>
          </a:p>
        </p:txBody>
      </p:sp>
    </p:spTree>
    <p:extLst>
      <p:ext uri="{BB962C8B-B14F-4D97-AF65-F5344CB8AC3E}">
        <p14:creationId xmlns:p14="http://schemas.microsoft.com/office/powerpoint/2010/main" val="148719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'container'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'container' is NOT an HTML tag.</a:t>
            </a:r>
          </a:p>
          <a:p>
            <a:r>
              <a:t>It's a common CSS class name used on a &lt;div&gt; to set width/padding.</a:t>
            </a:r>
          </a:p>
          <a:p>
            <a:r>
              <a:t>Example: &lt;div class='container'&gt; ... &lt;/div&gt;</a:t>
            </a:r>
          </a:p>
        </p:txBody>
      </p:sp>
    </p:spTree>
    <p:extLst>
      <p:ext uri="{BB962C8B-B14F-4D97-AF65-F5344CB8AC3E}">
        <p14:creationId xmlns:p14="http://schemas.microsoft.com/office/powerpoint/2010/main" val="419627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Page Layout (Semantic)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1400"/>
              <a:t>&lt;!DOCTYPE html&gt;</a:t>
            </a:r>
            <a:r>
              <a:t/>
            </a:r>
            <a:br/>
            <a:r>
              <a:rPr sz="1400"/>
              <a:t>&lt;html lang="en"&gt;</a:t>
            </a:r>
            <a:r>
              <a:t/>
            </a:r>
            <a:br/>
            <a:r>
              <a:rPr sz="1400"/>
              <a:t>&lt;head&gt;</a:t>
            </a:r>
            <a:r>
              <a:t/>
            </a:r>
            <a:br/>
            <a:r>
              <a:rPr sz="1400"/>
              <a:t>  &lt;meta charset="UTF-8"&gt;</a:t>
            </a:r>
            <a:r>
              <a:t/>
            </a:r>
            <a:br/>
            <a:r>
              <a:rPr sz="1400"/>
              <a:t>  &lt;meta name="viewport" content="width=device-width, initial-scale=1.0"&gt;</a:t>
            </a:r>
            <a:r>
              <a:t/>
            </a:r>
            <a:br/>
            <a:r>
              <a:rPr sz="1400"/>
              <a:t>  &lt;title&gt;Semantic Layout&lt;/title&gt;</a:t>
            </a:r>
            <a:r>
              <a:t/>
            </a:r>
            <a:br/>
            <a:r>
              <a:rPr sz="1400"/>
              <a:t>&lt;/head&gt;</a:t>
            </a:r>
            <a:r>
              <a:t/>
            </a:r>
            <a:br/>
            <a:r>
              <a:rPr sz="1400"/>
              <a:t>&lt;body&gt;</a:t>
            </a:r>
            <a:r>
              <a:t/>
            </a:r>
            <a:br/>
            <a:r>
              <a:rPr sz="1400"/>
              <a:t>  &lt;header&gt;</a:t>
            </a:r>
            <a:r>
              <a:t/>
            </a:r>
            <a:br/>
            <a:r>
              <a:rPr sz="1400"/>
              <a:t>    &lt;h1&gt;Site Name&lt;/h1&gt;</a:t>
            </a:r>
            <a:r>
              <a:t/>
            </a:r>
            <a:br/>
            <a:r>
              <a:rPr sz="1400"/>
              <a:t>    &lt;nav&gt;</a:t>
            </a:r>
            <a:r>
              <a:t/>
            </a:r>
            <a:br/>
            <a:r>
              <a:rPr sz="1400"/>
              <a:t>      &lt;a href="#home"&gt;Home&lt;/a&gt; | &lt;a href="#blog"&gt;Blog&lt;/a&gt; | &lt;a href="#contact"&gt;Contact&lt;/a&gt;</a:t>
            </a:r>
            <a:r>
              <a:t/>
            </a:r>
            <a:br/>
            <a:r>
              <a:rPr sz="1400"/>
              <a:t>    &lt;/nav&gt;</a:t>
            </a:r>
            <a:r>
              <a:t/>
            </a:r>
            <a:br/>
            <a:r>
              <a:rPr sz="1400"/>
              <a:t>  &lt;/header&gt;</a:t>
            </a:r>
            <a:r>
              <a:t/>
            </a:r>
            <a:br/>
            <a:r>
              <a:rPr sz="1400"/>
              <a:t>  &lt;main&gt;</a:t>
            </a:r>
            <a:r>
              <a:t/>
            </a:r>
            <a:br/>
            <a:r>
              <a:rPr sz="1400"/>
              <a:t>    &lt;section&gt;</a:t>
            </a:r>
            <a:r>
              <a:t/>
            </a:r>
            <a:br/>
            <a:r>
              <a:rPr sz="1400"/>
              <a:t>      &lt;h2&gt;News&lt;/h2&gt;</a:t>
            </a:r>
            <a:r>
              <a:t/>
            </a:r>
            <a:br/>
            <a:r>
              <a:rPr sz="1400"/>
              <a:t>      &lt;article&gt;</a:t>
            </a:r>
            <a:r>
              <a:t/>
            </a:r>
            <a:br/>
            <a:r>
              <a:rPr sz="1400"/>
              <a:t>        &lt;h3&gt;Post Title&lt;/h3&gt;</a:t>
            </a:r>
            <a:r>
              <a:t/>
            </a:r>
            <a:br/>
            <a:r>
              <a:rPr sz="1400"/>
              <a:t>        &lt;p&gt;Article content…&lt;/p&gt;</a:t>
            </a:r>
            <a:r>
              <a:t/>
            </a:r>
            <a:br/>
            <a:r>
              <a:rPr sz="1400"/>
              <a:t>      &lt;/article&gt;</a:t>
            </a:r>
            <a:r>
              <a:t/>
            </a:r>
            <a:br/>
            <a:r>
              <a:rPr sz="1400"/>
              <a:t>    &lt;/section&gt;</a:t>
            </a:r>
            <a:r>
              <a:t/>
            </a:r>
            <a:br/>
            <a:r>
              <a:rPr sz="1400"/>
              <a:t>    &lt;aside&gt;Related links…&lt;/aside&gt;</a:t>
            </a:r>
            <a:r>
              <a:t/>
            </a:r>
            <a:br/>
            <a:r>
              <a:rPr sz="1400"/>
              <a:t>  &lt;/main&gt;</a:t>
            </a:r>
            <a:r>
              <a:t/>
            </a:r>
            <a:br/>
            <a:r>
              <a:rPr sz="1400"/>
              <a:t>  &lt;footer&gt;&amp;copy; 2025 MySite&lt;/footer&gt;</a:t>
            </a:r>
            <a:r>
              <a:t/>
            </a:r>
            <a:br/>
            <a:r>
              <a:rPr sz="1400"/>
              <a:t>&lt;/body&gt;</a:t>
            </a:r>
            <a:r>
              <a:t/>
            </a:r>
            <a:br/>
            <a:r>
              <a:rPr sz="140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55851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Multimedia Elements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&lt;img&gt; – Images (inline, no closing tag)</a:t>
            </a:r>
          </a:p>
          <a:p>
            <a:r>
              <a:t>&lt;audio&gt; – Sound/music with controls</a:t>
            </a:r>
          </a:p>
          <a:p>
            <a:r>
              <a:t>&lt;video&gt; – Video playback with controls</a:t>
            </a:r>
          </a:p>
          <a:p>
            <a:r>
              <a:t>Use &lt;source&gt; for multiple formats; &lt;track&gt; for captions</a:t>
            </a:r>
          </a:p>
        </p:txBody>
      </p:sp>
    </p:spTree>
    <p:extLst>
      <p:ext uri="{BB962C8B-B14F-4D97-AF65-F5344CB8AC3E}">
        <p14:creationId xmlns:p14="http://schemas.microsoft.com/office/powerpoint/2010/main" val="323468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Images: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descriptive alt text: alt="Team photo at summit"</a:t>
            </a:r>
          </a:p>
          <a:p>
            <a:r>
              <a:t>Width/height or CSS for responsive images</a:t>
            </a:r>
          </a:p>
          <a:p>
            <a:r>
              <a:t>Consider &lt;figure&gt; with &lt;figcaption&gt; for labeled media</a:t>
            </a:r>
          </a:p>
          <a:p>
            <a:r>
              <a:t>Modern formats: WebP/AVIF (fallbacks recommended)</a:t>
            </a:r>
          </a:p>
        </p:txBody>
      </p:sp>
    </p:spTree>
    <p:extLst>
      <p:ext uri="{BB962C8B-B14F-4D97-AF65-F5344CB8AC3E}">
        <p14:creationId xmlns:p14="http://schemas.microsoft.com/office/powerpoint/2010/main" val="364596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&lt;img&gt;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&lt;figure&gt;</a:t>
            </a:r>
            <a:r>
              <a:t/>
            </a:r>
            <a:br/>
            <a:r>
              <a:rPr sz="1400"/>
              <a:t>  &lt;img src="banner.webp" alt="Conference banner for JS Summit"&gt;</a:t>
            </a:r>
            <a:r>
              <a:t/>
            </a:r>
            <a:br/>
            <a:r>
              <a:rPr sz="1400"/>
              <a:t>  &lt;figcaption&gt;JS Summit 2025&lt;/figcaption&gt;</a:t>
            </a:r>
            <a:r>
              <a:t/>
            </a:r>
            <a:br/>
            <a:r>
              <a:rPr sz="1400"/>
              <a:t>&lt;/figure&gt;</a:t>
            </a:r>
          </a:p>
        </p:txBody>
      </p:sp>
    </p:spTree>
    <p:extLst>
      <p:ext uri="{BB962C8B-B14F-4D97-AF65-F5344CB8AC3E}">
        <p14:creationId xmlns:p14="http://schemas.microsoft.com/office/powerpoint/2010/main" val="335437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&lt;audio&gt;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&lt;audio controls&gt;</a:t>
            </a:r>
            <a:r>
              <a:t/>
            </a:r>
            <a:br/>
            <a:r>
              <a:rPr sz="1400"/>
              <a:t>  &lt;source src="theme.mp3" type="audio/mpeg"&gt;</a:t>
            </a:r>
            <a:r>
              <a:t/>
            </a:r>
            <a:br/>
            <a:r>
              <a:rPr sz="1400"/>
              <a:t>  &lt;source src="theme.ogg" type="audio/ogg"&gt;</a:t>
            </a:r>
            <a:r>
              <a:t/>
            </a:r>
            <a:br/>
            <a:r>
              <a:rPr sz="1400"/>
              <a:t>  Your browser does not support the audio element.</a:t>
            </a:r>
            <a:r>
              <a:t/>
            </a:r>
            <a:br/>
            <a:r>
              <a:rPr sz="1400"/>
              <a:t>&lt;/audio&gt;</a:t>
            </a:r>
          </a:p>
        </p:txBody>
      </p:sp>
    </p:spTree>
    <p:extLst>
      <p:ext uri="{BB962C8B-B14F-4D97-AF65-F5344CB8AC3E}">
        <p14:creationId xmlns:p14="http://schemas.microsoft.com/office/powerpoint/2010/main" val="69654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&lt;video&gt; Example with Captions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&lt;video controls width="640" poster="thumb.jpg"&gt;</a:t>
            </a:r>
            <a:r>
              <a:t/>
            </a:r>
            <a:br/>
            <a:r>
              <a:rPr sz="1400"/>
              <a:t>  &lt;source src="promo.mp4" type="video/mp4"&gt;</a:t>
            </a:r>
            <a:r>
              <a:t/>
            </a:r>
            <a:br/>
            <a:r>
              <a:rPr sz="1400"/>
              <a:t>  &lt;source src="promo.webm" type="video/webm"&gt;</a:t>
            </a:r>
            <a:r>
              <a:t/>
            </a:r>
            <a:br/>
            <a:r>
              <a:rPr sz="1400"/>
              <a:t>  &lt;track kind="captions" src="promo.en.vtt" srclang="en" label="English"&gt;</a:t>
            </a:r>
            <a:r>
              <a:t/>
            </a:r>
            <a:br/>
            <a:r>
              <a:rPr sz="1400"/>
              <a:t>  Sorry, your browser doesn't support embedded videos.</a:t>
            </a:r>
            <a:r>
              <a:t/>
            </a:r>
            <a:br/>
            <a:r>
              <a:rPr sz="1400"/>
              <a:t>&lt;/video&gt;</a:t>
            </a:r>
          </a:p>
        </p:txBody>
      </p:sp>
    </p:spTree>
    <p:extLst>
      <p:ext uri="{BB962C8B-B14F-4D97-AF65-F5344CB8AC3E}">
        <p14:creationId xmlns:p14="http://schemas.microsoft.com/office/powerpoint/2010/main" val="349475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&amp; SEO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headings (h1–h6) in order within &lt;section&gt;/&lt;article&gt;</a:t>
            </a:r>
          </a:p>
          <a:p>
            <a:r>
              <a:t>One &lt;main&gt; per page; avoid nesting &lt;main&gt;</a:t>
            </a:r>
          </a:p>
          <a:p>
            <a:r>
              <a:t>Landmark roles are implied (no need for role= when native)</a:t>
            </a:r>
          </a:p>
          <a:p>
            <a:r>
              <a:t>Provide captions (&lt;track&gt;) and transcripts for media</a:t>
            </a:r>
          </a:p>
        </p:txBody>
      </p:sp>
    </p:spTree>
    <p:extLst>
      <p:ext uri="{BB962C8B-B14F-4D97-AF65-F5344CB8AC3E}">
        <p14:creationId xmlns:p14="http://schemas.microsoft.com/office/powerpoint/2010/main" val="276625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vs. Don't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Do: Choose semantic tags that match meaning</a:t>
            </a:r>
          </a:p>
          <a:p>
            <a:r>
              <a:t>✅ Do: Group related content into &lt;section&gt; with a heading</a:t>
            </a:r>
          </a:p>
          <a:p>
            <a:r>
              <a:t>❌ Don't: Use &lt;div&gt; for everything ('div soup')</a:t>
            </a:r>
          </a:p>
          <a:p>
            <a:r>
              <a:t>❌ Don't: Put navigation links outside &lt;nav&gt; without reason</a:t>
            </a:r>
          </a:p>
        </p:txBody>
      </p:sp>
    </p:spTree>
    <p:extLst>
      <p:ext uri="{BB962C8B-B14F-4D97-AF65-F5344CB8AC3E}">
        <p14:creationId xmlns:p14="http://schemas.microsoft.com/office/powerpoint/2010/main" val="331841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Thank you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52210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1922</Words>
  <Application>Microsoft Office PowerPoint</Application>
  <PresentationFormat>Widescreen</PresentationFormat>
  <Paragraphs>249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Nunito</vt:lpstr>
      <vt:lpstr>Office Theme</vt:lpstr>
      <vt:lpstr>UNIT 2 :HTML Elements &amp; Forms Weighatage:26M  </vt:lpstr>
      <vt:lpstr>Course Outcome</vt:lpstr>
      <vt:lpstr>Heading tag</vt:lpstr>
      <vt:lpstr>PowerPoint Presentation</vt:lpstr>
      <vt:lpstr>Paragraphs tag</vt:lpstr>
      <vt:lpstr>Unordered, Ordered, and Description Lists in HTML</vt:lpstr>
      <vt:lpstr>Example:</vt:lpstr>
      <vt:lpstr>PowerPoint Presentation</vt:lpstr>
      <vt:lpstr>Ordered list</vt:lpstr>
      <vt:lpstr>Syntax: &lt;ol&gt; content &lt;/ol&gt;</vt:lpstr>
      <vt:lpstr>PowerPoint Presentation</vt:lpstr>
      <vt:lpstr>PowerPoint Presentation</vt:lpstr>
      <vt:lpstr>PowerPoint Presentation</vt:lpstr>
      <vt:lpstr>OUTPUT:</vt:lpstr>
      <vt:lpstr>Description list</vt:lpstr>
      <vt:lpstr>PowerPoint Presentation</vt:lpstr>
      <vt:lpstr>PowerPoint Presentation</vt:lpstr>
      <vt:lpstr>PowerPoint Presentation</vt:lpstr>
      <vt:lpstr>PowerPoint Presentation</vt:lpstr>
      <vt:lpstr>Introduction to Forms</vt:lpstr>
      <vt:lpstr>Basic Form Structure</vt:lpstr>
      <vt:lpstr>Input and Label</vt:lpstr>
      <vt:lpstr>Input Field Types</vt:lpstr>
      <vt:lpstr>Input Field Types</vt:lpstr>
      <vt:lpstr>JavaScript Events</vt:lpstr>
      <vt:lpstr>JavaScript Methods</vt:lpstr>
      <vt:lpstr>Why Semantic HTML?</vt:lpstr>
      <vt:lpstr>About 'container'</vt:lpstr>
      <vt:lpstr>Basic Page Layout (Semantic)</vt:lpstr>
      <vt:lpstr>Multimedia Elements Overview</vt:lpstr>
      <vt:lpstr>Images: Key Points</vt:lpstr>
      <vt:lpstr>&lt;img&gt; Example</vt:lpstr>
      <vt:lpstr>&lt;audio&gt; Example</vt:lpstr>
      <vt:lpstr>&lt;video&gt; Example with Captions</vt:lpstr>
      <vt:lpstr>Accessibility &amp; SEO Tips</vt:lpstr>
      <vt:lpstr>Do vs. Don't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:HTML Elements &amp; Forms Weighatage:26M  </dc:title>
  <dc:creator>Poonam</dc:creator>
  <cp:lastModifiedBy>Poonam</cp:lastModifiedBy>
  <cp:revision>8</cp:revision>
  <dcterms:created xsi:type="dcterms:W3CDTF">2025-08-21T04:13:38Z</dcterms:created>
  <dcterms:modified xsi:type="dcterms:W3CDTF">2025-08-21T05:54:13Z</dcterms:modified>
</cp:coreProperties>
</file>