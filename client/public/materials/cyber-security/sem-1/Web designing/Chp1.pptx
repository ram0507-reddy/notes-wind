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68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68" d="100"/>
          <a:sy n="68" d="100"/>
        </p:scale>
        <p:origin x="8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Google Shape;68;p26" descr="Picture 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8750" y="-21437"/>
            <a:ext cx="11955840" cy="69008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267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8;p26" descr="Picture 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8750" y="-21437"/>
            <a:ext cx="11870998" cy="69008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277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24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717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22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89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49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449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97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7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19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67396-846D-44E1-93EE-CCE77A0BCD66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C47C1-BC2F-43B7-AEA7-E4A170909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7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83703"/>
            <a:ext cx="9144000" cy="1926260"/>
          </a:xfrm>
        </p:spPr>
        <p:txBody>
          <a:bodyPr>
            <a:normAutofit/>
          </a:bodyPr>
          <a:lstStyle/>
          <a:p>
            <a:r>
              <a:rPr lang="en-IN" dirty="0" smtClean="0"/>
              <a:t>Introduction to HTML &amp; CSS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					</a:t>
            </a:r>
            <a:r>
              <a:rPr lang="en-IN" sz="1600" dirty="0" smtClean="0"/>
              <a:t>Weightage-11M</a:t>
            </a:r>
            <a:endParaRPr lang="en-IN" sz="1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04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41439"/>
            <a:ext cx="10515600" cy="1325563"/>
          </a:xfrm>
        </p:spPr>
        <p:txBody>
          <a:bodyPr/>
          <a:lstStyle/>
          <a:p>
            <a:r>
              <a:rPr lang="en-US" dirty="0" smtClean="0"/>
              <a:t>Course outcome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225" y="3333914"/>
            <a:ext cx="10515600" cy="4351338"/>
          </a:xfrm>
        </p:spPr>
        <p:txBody>
          <a:bodyPr/>
          <a:lstStyle/>
          <a:p>
            <a:r>
              <a:rPr lang="en-US" dirty="0" smtClean="0"/>
              <a:t>Create simple web pages using HTML and CSS.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80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3220"/>
            <a:ext cx="10515600" cy="1325563"/>
          </a:xfrm>
        </p:spPr>
        <p:txBody>
          <a:bodyPr/>
          <a:lstStyle/>
          <a:p>
            <a:r>
              <a:rPr lang="en-US" dirty="0" smtClean="0"/>
              <a:t>Introduction to html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56842"/>
            <a:ext cx="10515600" cy="274637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• HTML stands for </a:t>
            </a:r>
            <a:r>
              <a:rPr lang="en-US" dirty="0" err="1" smtClean="0"/>
              <a:t>HyperText</a:t>
            </a:r>
            <a:r>
              <a:rPr lang="en-US" dirty="0" smtClean="0"/>
              <a:t> Markup Language</a:t>
            </a:r>
          </a:p>
          <a:p>
            <a:pPr marL="0" indent="0">
              <a:buNone/>
            </a:pPr>
            <a:r>
              <a:rPr lang="en-US" dirty="0" smtClean="0"/>
              <a:t>• Developed by Tim Berners-Lee in 1991</a:t>
            </a:r>
          </a:p>
          <a:p>
            <a:pPr marL="0" indent="0">
              <a:buNone/>
            </a:pPr>
            <a:r>
              <a:rPr lang="en-US" dirty="0" smtClean="0"/>
              <a:t>• Latest version: HTML5</a:t>
            </a:r>
          </a:p>
          <a:p>
            <a:pPr marL="0" indent="0">
              <a:buNone/>
            </a:pPr>
            <a:r>
              <a:rPr lang="en-US" dirty="0" smtClean="0"/>
              <a:t>• Structures content on the web</a:t>
            </a:r>
          </a:p>
          <a:p>
            <a:pPr marL="0" indent="0">
              <a:buNone/>
            </a:pPr>
            <a:r>
              <a:rPr lang="en-US" dirty="0" smtClean="0"/>
              <a:t>• Provides skeleton of a webpage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4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359" y="1713158"/>
            <a:ext cx="10515600" cy="1325563"/>
          </a:xfrm>
        </p:spPr>
        <p:txBody>
          <a:bodyPr/>
          <a:lstStyle/>
          <a:p>
            <a:r>
              <a:rPr lang="en-IN" dirty="0" smtClean="0"/>
              <a:t>Why HTML is Used?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43720"/>
            <a:ext cx="10515600" cy="2529559"/>
          </a:xfrm>
        </p:spPr>
        <p:txBody>
          <a:bodyPr/>
          <a:lstStyle/>
          <a:p>
            <a:r>
              <a:rPr lang="en-US" dirty="0" smtClean="0"/>
              <a:t>Create web pages &amp; applications</a:t>
            </a:r>
          </a:p>
          <a:p>
            <a:r>
              <a:rPr lang="en-US" dirty="0" smtClean="0"/>
              <a:t> Defines structure of webpage</a:t>
            </a:r>
          </a:p>
          <a:p>
            <a:r>
              <a:rPr lang="en-US" dirty="0" smtClean="0"/>
              <a:t> Works with CSS &amp; JavaScript</a:t>
            </a:r>
          </a:p>
          <a:p>
            <a:r>
              <a:rPr lang="en-US" dirty="0" smtClean="0"/>
              <a:t> Not a programming language</a:t>
            </a:r>
          </a:p>
          <a:p>
            <a:r>
              <a:rPr lang="en-US" dirty="0" smtClean="0"/>
              <a:t> Essential for web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82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46" y="2071377"/>
            <a:ext cx="4984423" cy="2330941"/>
          </a:xfrm>
        </p:spPr>
        <p:txBody>
          <a:bodyPr>
            <a:noAutofit/>
          </a:bodyPr>
          <a:lstStyle/>
          <a:p>
            <a:r>
              <a:rPr lang="en-US" sz="7200" dirty="0" smtClean="0"/>
              <a:t>HTML Page Structure</a:t>
            </a:r>
            <a:endParaRPr lang="en-IN" sz="7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546" y="1769957"/>
            <a:ext cx="5815945" cy="4330700"/>
          </a:xfrm>
        </p:spPr>
      </p:pic>
    </p:spTree>
    <p:extLst>
      <p:ext uri="{BB962C8B-B14F-4D97-AF65-F5344CB8AC3E}">
        <p14:creationId xmlns:p14="http://schemas.microsoft.com/office/powerpoint/2010/main" val="76731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8061"/>
            <a:ext cx="10515600" cy="1325563"/>
          </a:xfrm>
        </p:spPr>
        <p:txBody>
          <a:bodyPr/>
          <a:lstStyle/>
          <a:p>
            <a:r>
              <a:rPr lang="en-US" b="1" dirty="0"/>
              <a:t>Different Types of Tags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41163"/>
            <a:ext cx="10515600" cy="3235800"/>
          </a:xfrm>
        </p:spPr>
        <p:txBody>
          <a:bodyPr/>
          <a:lstStyle/>
          <a:p>
            <a:r>
              <a:rPr lang="en-IN" b="1" dirty="0"/>
              <a:t>1. Root element </a:t>
            </a:r>
            <a:r>
              <a:rPr lang="en-IN" b="1" dirty="0" smtClean="0"/>
              <a:t>tag</a:t>
            </a:r>
          </a:p>
          <a:p>
            <a:endParaRPr lang="en-US" b="1" dirty="0"/>
          </a:p>
          <a:p>
            <a:r>
              <a:rPr lang="en-US" b="1" dirty="0"/>
              <a:t> The root element always contains a &lt;head&gt; and a &lt;body&gt; element.</a:t>
            </a:r>
            <a:endParaRPr lang="en-IN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6F4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rgbClr val="273239"/>
                </a:solidFill>
                <a:effectLst/>
                <a:latin typeface="Roboto"/>
              </a:rPr>
              <a:t> The root element always contains a 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rgbClr val="273239"/>
                </a:solidFill>
                <a:effectLst/>
                <a:latin typeface="Menlo"/>
              </a:rPr>
              <a:t>&lt;head&gt;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rgbClr val="273239"/>
                </a:solidFill>
                <a:effectLst/>
                <a:latin typeface="Roboto"/>
              </a:rPr>
              <a:t> and a 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rgbClr val="273239"/>
                </a:solidFill>
                <a:effectLst/>
                <a:latin typeface="Menlo"/>
              </a:rPr>
              <a:t>&lt;body&gt;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rgbClr val="273239"/>
                </a:solidFill>
                <a:effectLst/>
                <a:latin typeface="Roboto"/>
              </a:rPr>
              <a:t> element.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35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358" y="1477488"/>
            <a:ext cx="10515600" cy="1325563"/>
          </a:xfrm>
        </p:spPr>
        <p:txBody>
          <a:bodyPr/>
          <a:lstStyle/>
          <a:p>
            <a:r>
              <a:rPr lang="en-IN" b="1" dirty="0"/>
              <a:t>2. Head element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78869"/>
            <a:ext cx="10515600" cy="3198093"/>
          </a:xfrm>
        </p:spPr>
        <p:txBody>
          <a:bodyPr/>
          <a:lstStyle/>
          <a:p>
            <a:r>
              <a:rPr lang="en-US" dirty="0"/>
              <a:t>&lt;head&gt; element is like a container that contains the information about the document </a:t>
            </a:r>
            <a:endParaRPr lang="en-US" dirty="0" smtClean="0"/>
          </a:p>
          <a:p>
            <a:r>
              <a:rPr lang="en-US" dirty="0"/>
              <a:t>&lt;title&gt; element is one mandatory element within the &lt;head&gt; element. This title is displayed as the page title in the browser tab and also the search engines identify the page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244338" y="5090474"/>
            <a:ext cx="4317476" cy="1357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&lt;head&gt;</a:t>
            </a:r>
          </a:p>
          <a:p>
            <a:pPr algn="ctr"/>
            <a:r>
              <a:rPr lang="en-US"/>
              <a:t>    &lt;title&gt;This is a page title &lt;/title&gt;</a:t>
            </a:r>
          </a:p>
          <a:p>
            <a:pPr algn="ctr"/>
            <a:r>
              <a:rPr lang="en-US"/>
              <a:t>&lt;/head&gt;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48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7010" y="4675695"/>
            <a:ext cx="5175316" cy="1501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69719"/>
            <a:ext cx="10515600" cy="1325563"/>
          </a:xfrm>
        </p:spPr>
        <p:txBody>
          <a:bodyPr/>
          <a:lstStyle/>
          <a:p>
            <a:r>
              <a:rPr lang="en-IN" b="1" dirty="0" smtClean="0"/>
              <a:t>3.Body </a:t>
            </a:r>
            <a:r>
              <a:rPr lang="en-IN" b="1" dirty="0"/>
              <a:t>element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23967"/>
            <a:ext cx="10515600" cy="2952996"/>
          </a:xfrm>
        </p:spPr>
        <p:txBody>
          <a:bodyPr/>
          <a:lstStyle/>
          <a:p>
            <a:r>
              <a:rPr lang="en-US" dirty="0"/>
              <a:t>All the content that is visible in a browser is contained within the &lt;body&gt; </a:t>
            </a:r>
            <a:r>
              <a:rPr lang="en-US" dirty="0" smtClean="0"/>
              <a:t>element</a:t>
            </a:r>
          </a:p>
          <a:p>
            <a:r>
              <a:rPr lang="en-US" dirty="0" smtClean="0"/>
              <a:t>Example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    &lt;h1&gt;This is a heading&lt;/h1&gt;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666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1244"/>
            <a:ext cx="10515600" cy="1325563"/>
          </a:xfrm>
        </p:spPr>
        <p:txBody>
          <a:bodyPr/>
          <a:lstStyle/>
          <a:p>
            <a:r>
              <a:rPr lang="en-IN" dirty="0"/>
              <a:t>HTML &lt;link&gt; </a:t>
            </a:r>
            <a:r>
              <a:rPr lang="en-IN" dirty="0" err="1"/>
              <a:t>href</a:t>
            </a:r>
            <a:r>
              <a:rPr lang="en-IN" dirty="0"/>
              <a:t> 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90333"/>
            <a:ext cx="10515600" cy="3386629"/>
          </a:xfrm>
        </p:spPr>
        <p:txBody>
          <a:bodyPr/>
          <a:lstStyle/>
          <a:p>
            <a:r>
              <a:rPr lang="en-IN" dirty="0"/>
              <a:t>&lt;link </a:t>
            </a:r>
            <a:r>
              <a:rPr lang="en-IN" dirty="0" err="1"/>
              <a:t>href</a:t>
            </a:r>
            <a:r>
              <a:rPr lang="en-IN" dirty="0"/>
              <a:t>="</a:t>
            </a:r>
            <a:r>
              <a:rPr lang="en-IN" i="1" dirty="0"/>
              <a:t>URL</a:t>
            </a:r>
            <a:r>
              <a:rPr lang="en-IN" dirty="0" smtClean="0"/>
              <a:t>"&gt;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698617"/>
              </p:ext>
            </p:extLst>
          </p:nvPr>
        </p:nvGraphicFramePr>
        <p:xfrm>
          <a:off x="838200" y="3514032"/>
          <a:ext cx="10021478" cy="2340013"/>
        </p:xfrm>
        <a:graphic>
          <a:graphicData uri="http://schemas.openxmlformats.org/drawingml/2006/table">
            <a:tbl>
              <a:tblPr/>
              <a:tblGrid>
                <a:gridCol w="10021478">
                  <a:extLst>
                    <a:ext uri="{9D8B030D-6E8A-4147-A177-3AD203B41FA5}">
                      <a16:colId xmlns:a16="http://schemas.microsoft.com/office/drawing/2014/main" val="1684232841"/>
                    </a:ext>
                  </a:extLst>
                </a:gridCol>
              </a:tblGrid>
              <a:tr h="2340013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/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The URL of the linked </a:t>
                      </a:r>
                      <a:r>
                        <a:rPr lang="en-US" dirty="0" smtClean="0">
                          <a:effectLst/>
                        </a:rPr>
                        <a:t>resource/document</a:t>
                      </a:r>
                    </a:p>
                    <a:p>
                      <a:pPr algn="l" fontAlgn="t"/>
                      <a:endParaRPr lang="en-US" dirty="0" smtClean="0">
                        <a:effectLst/>
                      </a:endParaRPr>
                    </a:p>
                    <a:p>
                      <a:pPr algn="l" fontAlgn="t"/>
                      <a:r>
                        <a:rPr lang="en-US" dirty="0" smtClean="0">
                          <a:effectLst/>
                        </a:rPr>
                        <a:t>Possible </a:t>
                      </a:r>
                      <a:r>
                        <a:rPr lang="en-US" dirty="0">
                          <a:effectLst/>
                        </a:rPr>
                        <a:t>values</a:t>
                      </a:r>
                      <a:r>
                        <a:rPr lang="en-US" dirty="0" smtClean="0">
                          <a:effectLst/>
                        </a:rPr>
                        <a:t>:</a:t>
                      </a:r>
                    </a:p>
                    <a:p>
                      <a:pPr algn="l" fontAlgn="t"/>
                      <a:endParaRPr lang="en-US" dirty="0">
                        <a:effectLst/>
                      </a:endParaRPr>
                    </a:p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An absolute URL - points to another web site (like </a:t>
                      </a:r>
                      <a:r>
                        <a:rPr lang="en-US" dirty="0" err="1">
                          <a:effectLst/>
                        </a:rPr>
                        <a:t>href</a:t>
                      </a:r>
                      <a:r>
                        <a:rPr lang="en-US" dirty="0">
                          <a:effectLst/>
                        </a:rPr>
                        <a:t>="http://www.example.com/theme.css")</a:t>
                      </a:r>
                    </a:p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A relative URL - points to a file within a web site (like </a:t>
                      </a:r>
                      <a:r>
                        <a:rPr lang="en-US" dirty="0" err="1">
                          <a:effectLst/>
                        </a:rPr>
                        <a:t>href</a:t>
                      </a:r>
                      <a:r>
                        <a:rPr lang="en-US" dirty="0">
                          <a:effectLst/>
                        </a:rPr>
                        <a:t>="/themes/theme.css")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66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1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175" y="1571756"/>
            <a:ext cx="10515600" cy="1325563"/>
          </a:xfrm>
        </p:spPr>
        <p:txBody>
          <a:bodyPr/>
          <a:lstStyle/>
          <a:p>
            <a:r>
              <a:rPr lang="en-IN" dirty="0"/>
              <a:t>What is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493" y="2771479"/>
            <a:ext cx="10515600" cy="3084971"/>
          </a:xfrm>
        </p:spPr>
        <p:txBody>
          <a:bodyPr/>
          <a:lstStyle/>
          <a:p>
            <a:r>
              <a:rPr lang="en-US" dirty="0"/>
              <a:t>CSS stands for Cascading Style Sheets</a:t>
            </a:r>
          </a:p>
          <a:p>
            <a:r>
              <a:rPr lang="en-US" dirty="0"/>
              <a:t>CSS describes how HTML elements are to be displayed on screen, paper, or in other media</a:t>
            </a:r>
          </a:p>
          <a:p>
            <a:r>
              <a:rPr lang="en-US" dirty="0"/>
              <a:t>CSS saves a lot of work. It can control the layout of multiple web pages all at once</a:t>
            </a:r>
          </a:p>
          <a:p>
            <a:r>
              <a:rPr lang="en-US" dirty="0"/>
              <a:t>External stylesheets are stored in CSS files</a:t>
            </a:r>
          </a:p>
        </p:txBody>
      </p:sp>
    </p:spTree>
    <p:extLst>
      <p:ext uri="{BB962C8B-B14F-4D97-AF65-F5344CB8AC3E}">
        <p14:creationId xmlns:p14="http://schemas.microsoft.com/office/powerpoint/2010/main" val="272434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9" y="2156218"/>
            <a:ext cx="10515600" cy="1325563"/>
          </a:xfrm>
        </p:spPr>
        <p:txBody>
          <a:bodyPr/>
          <a:lstStyle/>
          <a:p>
            <a:r>
              <a:rPr lang="en-US" dirty="0" smtClean="0"/>
              <a:t>Why CSS?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87537"/>
            <a:ext cx="10515600" cy="2189425"/>
          </a:xfrm>
        </p:spPr>
        <p:txBody>
          <a:bodyPr/>
          <a:lstStyle/>
          <a:p>
            <a:r>
              <a:rPr lang="en-US" dirty="0"/>
              <a:t>CSS is used to define styles for your web pages, including the design, layout, and variations in display for different devices and screen sizes.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35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668" y="1442313"/>
            <a:ext cx="5468332" cy="132556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fontAlgn="base"/>
            <a:r>
              <a:rPr lang="en-IN" b="1" dirty="0"/>
              <a:t>Example without using </a:t>
            </a:r>
            <a:r>
              <a:rPr lang="en-IN" b="1" dirty="0" smtClean="0"/>
              <a:t>CSS code with output: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26003"/>
            <a:ext cx="3988324" cy="3150959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dirty="0"/>
              <a:t>&lt;!DOCTYPE html&gt;</a:t>
            </a:r>
          </a:p>
          <a:p>
            <a:pPr marL="0" indent="0" fontAlgn="base">
              <a:buNone/>
            </a:pPr>
            <a:r>
              <a:rPr lang="en-US" b="1" dirty="0"/>
              <a:t>&lt;html&gt;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&lt;head&gt;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&lt;/head&gt;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&lt;body&gt;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&lt;h1&gt;</a:t>
            </a:r>
            <a:r>
              <a:rPr lang="en-US" dirty="0"/>
              <a:t>Example without CSS</a:t>
            </a:r>
            <a:r>
              <a:rPr lang="en-US" b="1" dirty="0"/>
              <a:t>&lt;/h1&gt;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&lt;p&gt;</a:t>
            </a:r>
            <a:r>
              <a:rPr lang="en-US" dirty="0"/>
              <a:t>This is a paragraph.</a:t>
            </a:r>
            <a:r>
              <a:rPr lang="en-US" b="1" dirty="0"/>
              <a:t>&lt;/p&gt;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&lt;/body&gt;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&lt;/html&gt;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830" y="3773437"/>
            <a:ext cx="381952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4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769078" y="1547438"/>
            <a:ext cx="5468332" cy="132556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IN" b="1" dirty="0" smtClean="0"/>
              <a:t>Example with CSS (Code with output):</a:t>
            </a:r>
            <a:endParaRPr lang="en-IN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83491" y="2935024"/>
            <a:ext cx="6385722" cy="36624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numCol="2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&lt;!DOCTYPE html&gt;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&lt;html&gt;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&lt;head&gt;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&lt;style&gt;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body 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  background-color: </a:t>
            </a:r>
            <a:r>
              <a:rPr lang="en-US" sz="1800" b="1" dirty="0" err="1"/>
              <a:t>lightblue</a:t>
            </a:r>
            <a:r>
              <a:rPr lang="en-US" sz="1800" b="1" dirty="0"/>
              <a:t>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 smtClean="0"/>
              <a:t>}h1</a:t>
            </a:r>
            <a:endParaRPr lang="en-US" sz="1800" b="1" dirty="0"/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  color: </a:t>
            </a:r>
            <a:r>
              <a:rPr lang="en-US" sz="1800" b="1" dirty="0" smtClean="0"/>
              <a:t>white</a:t>
            </a:r>
            <a:endParaRPr lang="en-US" sz="1800" b="1" dirty="0"/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  text-align: center</a:t>
            </a:r>
            <a:r>
              <a:rPr lang="en-US" sz="1800" b="1" dirty="0" smtClean="0"/>
              <a:t>;}</a:t>
            </a:r>
            <a:endParaRPr lang="en-US" sz="1800" b="1" dirty="0"/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p </a:t>
            </a:r>
            <a:r>
              <a:rPr lang="en-US" sz="1800" b="1" dirty="0" smtClean="0"/>
              <a:t>{ </a:t>
            </a:r>
            <a:r>
              <a:rPr lang="en-US" sz="1800" b="1" dirty="0"/>
              <a:t>font-family: </a:t>
            </a:r>
            <a:r>
              <a:rPr lang="en-US" sz="1800" b="1" dirty="0" err="1"/>
              <a:t>verdana</a:t>
            </a:r>
            <a:r>
              <a:rPr lang="en-US" sz="1800" b="1" dirty="0"/>
              <a:t>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  font-size: 20px;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 smtClean="0"/>
              <a:t>}&lt;/</a:t>
            </a:r>
            <a:r>
              <a:rPr lang="en-US" sz="1800" b="1" dirty="0"/>
              <a:t>style&gt;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&lt;/head&gt;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&lt;body&gt;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 smtClean="0"/>
              <a:t>&lt;</a:t>
            </a:r>
            <a:r>
              <a:rPr lang="en-US" sz="1800" b="1" dirty="0"/>
              <a:t>h1&gt;My First CSS Example&lt;/h1&gt;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&lt;p&gt;This is a paragraph.&lt;/p&gt;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 smtClean="0"/>
              <a:t>&lt;/</a:t>
            </a:r>
            <a:r>
              <a:rPr lang="en-US" sz="1800" b="1" dirty="0"/>
              <a:t>body&gt;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b="1" dirty="0"/>
              <a:t>&lt;/html&gt;</a:t>
            </a:r>
          </a:p>
        </p:txBody>
      </p:sp>
      <p:pic>
        <p:nvPicPr>
          <p:cNvPr id="6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03" y="3200449"/>
            <a:ext cx="3987800" cy="2467546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4920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2143432"/>
            <a:ext cx="10515600" cy="403353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CSS rule consists of a selector and a </a:t>
            </a:r>
            <a:r>
              <a:rPr lang="en-US" dirty="0" err="1" smtClean="0"/>
              <a:t>decl</a:t>
            </a:r>
            <a:r>
              <a:rPr lang="en-US" dirty="0" err="1"/>
              <a:t>The</a:t>
            </a:r>
            <a:r>
              <a:rPr lang="en-US" dirty="0"/>
              <a:t> selector points to the HTML element you want to style.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declaration block contains one or more declarations separated by semicolons.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39877" y="149071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Syntax of </a:t>
            </a:r>
            <a:r>
              <a:rPr lang="en-US" dirty="0" err="1" smtClean="0"/>
              <a:t>css</a:t>
            </a:r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930" y="2850429"/>
            <a:ext cx="6620799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8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2880"/>
            <a:ext cx="10515600" cy="1325563"/>
          </a:xfrm>
        </p:spPr>
        <p:txBody>
          <a:bodyPr/>
          <a:lstStyle/>
          <a:p>
            <a:r>
              <a:rPr lang="en-IN" dirty="0" smtClean="0"/>
              <a:t>Types </a:t>
            </a:r>
            <a:r>
              <a:rPr lang="en-IN" dirty="0"/>
              <a:t>of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31923"/>
            <a:ext cx="10515600" cy="3945040"/>
          </a:xfrm>
        </p:spPr>
        <p:txBody>
          <a:bodyPr/>
          <a:lstStyle/>
          <a:p>
            <a:r>
              <a:rPr lang="en-IN" dirty="0" smtClean="0"/>
              <a:t>Inline</a:t>
            </a:r>
          </a:p>
          <a:p>
            <a:r>
              <a:rPr lang="en-IN" dirty="0" smtClean="0"/>
              <a:t>Internal</a:t>
            </a:r>
          </a:p>
          <a:p>
            <a:r>
              <a:rPr lang="en-IN" dirty="0" smtClean="0"/>
              <a:t>External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25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895" y="1486915"/>
            <a:ext cx="10515600" cy="1325563"/>
          </a:xfrm>
        </p:spPr>
        <p:txBody>
          <a:bodyPr/>
          <a:lstStyle/>
          <a:p>
            <a:r>
              <a:rPr lang="en-US" dirty="0" smtClean="0"/>
              <a:t>INLINE CSS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03455"/>
            <a:ext cx="10515600" cy="327350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Inline CSS is applied directly to an HTML element using the style attribute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</a:rPr>
              <a:t>&lt;h1 style="</a:t>
            </a:r>
            <a:r>
              <a:rPr lang="en-IN" dirty="0" err="1">
                <a:solidFill>
                  <a:schemeClr val="accent2"/>
                </a:solidFill>
              </a:rPr>
              <a:t>color</a:t>
            </a:r>
            <a:r>
              <a:rPr lang="en-IN" dirty="0">
                <a:solidFill>
                  <a:schemeClr val="accent2"/>
                </a:solidFill>
              </a:rPr>
              <a:t>: blue; text-align: </a:t>
            </a:r>
            <a:r>
              <a:rPr lang="en-IN" dirty="0" err="1">
                <a:solidFill>
                  <a:schemeClr val="accent2"/>
                </a:solidFill>
              </a:rPr>
              <a:t>center</a:t>
            </a:r>
            <a:r>
              <a:rPr lang="en-IN" dirty="0">
                <a:solidFill>
                  <a:schemeClr val="accent2"/>
                </a:solidFill>
              </a:rPr>
              <a:t>;"&gt;Inline CSS Example&lt;/h1&gt;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</a:rPr>
              <a:t>&lt;p style="</a:t>
            </a:r>
            <a:r>
              <a:rPr lang="en-IN" dirty="0" err="1">
                <a:solidFill>
                  <a:schemeClr val="accent2"/>
                </a:solidFill>
              </a:rPr>
              <a:t>color</a:t>
            </a:r>
            <a:r>
              <a:rPr lang="en-IN" dirty="0">
                <a:solidFill>
                  <a:schemeClr val="accent2"/>
                </a:solidFill>
              </a:rPr>
              <a:t>: red;"&gt;This paragraph uses inline CSS.&lt;/p&gt;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5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02074"/>
            <a:ext cx="10515600" cy="81322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Internal CSS:</a:t>
            </a:r>
            <a:br>
              <a:rPr lang="en-IN" dirty="0" smtClean="0"/>
            </a:br>
            <a:r>
              <a:rPr lang="en-IN" sz="2700" b="1" dirty="0" smtClean="0"/>
              <a:t>I</a:t>
            </a:r>
            <a:r>
              <a:rPr lang="en-US" sz="2700" b="1" dirty="0" err="1" smtClean="0"/>
              <a:t>nternal</a:t>
            </a:r>
            <a:r>
              <a:rPr lang="en-US" sz="2700" b="1" dirty="0" smtClean="0"/>
              <a:t> </a:t>
            </a:r>
            <a:r>
              <a:rPr lang="en-US" sz="2700" b="1" dirty="0"/>
              <a:t>CSS is defined within a &lt;style&gt; tag inside the &lt;head&gt; section of the HTML document.</a:t>
            </a:r>
            <a:endParaRPr lang="en-IN" sz="27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50969"/>
            <a:ext cx="10515600" cy="4110087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2000" dirty="0"/>
              <a:t>&lt;!DOCTYPE html&gt;</a:t>
            </a:r>
          </a:p>
          <a:p>
            <a:pPr marL="0" indent="0">
              <a:buNone/>
            </a:pPr>
            <a:r>
              <a:rPr lang="en-IN" sz="2000" dirty="0"/>
              <a:t>&lt;html&gt;</a:t>
            </a:r>
          </a:p>
          <a:p>
            <a:pPr marL="0" indent="0">
              <a:buNone/>
            </a:pPr>
            <a:r>
              <a:rPr lang="en-IN" sz="2000" dirty="0"/>
              <a:t>&lt;head&gt;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&lt;style&gt;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body {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background-</a:t>
            </a:r>
            <a:r>
              <a:rPr lang="en-IN" sz="2000" dirty="0" err="1">
                <a:solidFill>
                  <a:schemeClr val="accent2"/>
                </a:solidFill>
              </a:rPr>
              <a:t>color</a:t>
            </a:r>
            <a:r>
              <a:rPr lang="en-IN" sz="2000" dirty="0">
                <a:solidFill>
                  <a:schemeClr val="accent2"/>
                </a:solidFill>
              </a:rPr>
              <a:t>: </a:t>
            </a:r>
            <a:r>
              <a:rPr lang="en-IN" sz="2000" dirty="0" err="1">
                <a:solidFill>
                  <a:schemeClr val="accent2"/>
                </a:solidFill>
              </a:rPr>
              <a:t>lightgray</a:t>
            </a:r>
            <a:r>
              <a:rPr lang="en-IN" sz="2000" dirty="0">
                <a:solidFill>
                  <a:schemeClr val="accent2"/>
                </a:solidFill>
              </a:rPr>
              <a:t>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h1 {</a:t>
            </a:r>
          </a:p>
          <a:p>
            <a:pPr marL="0" indent="0">
              <a:buNone/>
            </a:pPr>
            <a:r>
              <a:rPr lang="en-IN" sz="2000" dirty="0" err="1">
                <a:solidFill>
                  <a:schemeClr val="accent2"/>
                </a:solidFill>
              </a:rPr>
              <a:t>color</a:t>
            </a:r>
            <a:r>
              <a:rPr lang="en-IN" sz="2000" dirty="0">
                <a:solidFill>
                  <a:schemeClr val="accent2"/>
                </a:solidFill>
              </a:rPr>
              <a:t>: green;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text-align: </a:t>
            </a:r>
            <a:r>
              <a:rPr lang="en-IN" sz="2000" dirty="0" err="1">
                <a:solidFill>
                  <a:schemeClr val="accent2"/>
                </a:solidFill>
              </a:rPr>
              <a:t>center</a:t>
            </a:r>
            <a:r>
              <a:rPr lang="en-IN" sz="2000" dirty="0">
                <a:solidFill>
                  <a:schemeClr val="accent2"/>
                </a:solidFill>
              </a:rPr>
              <a:t>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p {</a:t>
            </a:r>
          </a:p>
          <a:p>
            <a:pPr marL="0" indent="0">
              <a:buNone/>
            </a:pPr>
            <a:r>
              <a:rPr lang="en-IN" sz="2000" dirty="0" err="1">
                <a:solidFill>
                  <a:schemeClr val="accent2"/>
                </a:solidFill>
              </a:rPr>
              <a:t>color</a:t>
            </a:r>
            <a:r>
              <a:rPr lang="en-IN" sz="2000" dirty="0">
                <a:solidFill>
                  <a:schemeClr val="accent2"/>
                </a:solidFill>
              </a:rPr>
              <a:t>: purple;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2"/>
                </a:solidFill>
              </a:rPr>
              <a:t>&lt;/style&gt;</a:t>
            </a:r>
          </a:p>
          <a:p>
            <a:pPr marL="0" indent="0">
              <a:buNone/>
            </a:pPr>
            <a:r>
              <a:rPr lang="en-IN" sz="2000" dirty="0"/>
              <a:t>&lt;/head&gt;</a:t>
            </a:r>
          </a:p>
          <a:p>
            <a:pPr marL="0" indent="0">
              <a:buNone/>
            </a:pPr>
            <a:r>
              <a:rPr lang="en-IN" sz="2000" dirty="0"/>
              <a:t>&lt;body&gt;</a:t>
            </a:r>
          </a:p>
          <a:p>
            <a:pPr marL="0" indent="0">
              <a:buNone/>
            </a:pPr>
            <a:r>
              <a:rPr lang="en-IN" sz="2000" dirty="0"/>
              <a:t>&lt;h1&gt;Internal CSS Example&lt;/h1&gt;</a:t>
            </a:r>
          </a:p>
          <a:p>
            <a:pPr marL="0" indent="0">
              <a:buNone/>
            </a:pPr>
            <a:r>
              <a:rPr lang="en-IN" sz="2000" dirty="0"/>
              <a:t>&lt;p&gt;This paragraph uses internal CSS.&lt;/p&gt;</a:t>
            </a:r>
          </a:p>
          <a:p>
            <a:pPr marL="0" indent="0">
              <a:buNone/>
            </a:pPr>
            <a:r>
              <a:rPr lang="en-IN" sz="2000" dirty="0"/>
              <a:t>&lt;/body&gt;</a:t>
            </a:r>
          </a:p>
          <a:p>
            <a:pPr marL="0" indent="0">
              <a:buNone/>
            </a:pPr>
            <a:r>
              <a:rPr lang="en-IN" sz="20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91540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7495"/>
            <a:ext cx="10515600" cy="95462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External CSS:</a:t>
            </a:r>
            <a:r>
              <a:rPr lang="en-US" dirty="0"/>
              <a:t> </a:t>
            </a:r>
            <a:r>
              <a:rPr lang="en-US" sz="2200" dirty="0"/>
              <a:t>External CSS is written in a separate .</a:t>
            </a:r>
            <a:r>
              <a:rPr lang="en-US" sz="2200" dirty="0" err="1"/>
              <a:t>css</a:t>
            </a:r>
            <a:r>
              <a:rPr lang="en-US" sz="2200" dirty="0"/>
              <a:t> file and linked to the HTML document using a &lt;link&gt; tag.</a:t>
            </a:r>
            <a:endParaRPr lang="en-IN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65747"/>
            <a:ext cx="3828068" cy="331121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smtClean="0"/>
              <a:t>&lt;!DOCTYPE html&gt;</a:t>
            </a:r>
          </a:p>
          <a:p>
            <a:pPr marL="0" indent="0">
              <a:buNone/>
            </a:pPr>
            <a:r>
              <a:rPr lang="en-IN" dirty="0" smtClean="0"/>
              <a:t>&lt;html&gt;</a:t>
            </a:r>
          </a:p>
          <a:p>
            <a:pPr marL="0" indent="0">
              <a:buNone/>
            </a:pPr>
            <a:r>
              <a:rPr lang="en-IN" dirty="0" smtClean="0"/>
              <a:t>&lt;head&gt;</a:t>
            </a:r>
          </a:p>
          <a:p>
            <a:pPr marL="0" indent="0">
              <a:buNone/>
            </a:pPr>
            <a:r>
              <a:rPr lang="en-IN" dirty="0" smtClean="0"/>
              <a:t>&lt;link </a:t>
            </a:r>
            <a:r>
              <a:rPr lang="en-IN" dirty="0" err="1" smtClean="0"/>
              <a:t>rel</a:t>
            </a:r>
            <a:r>
              <a:rPr lang="en-IN" dirty="0" smtClean="0"/>
              <a:t>="stylesheet" </a:t>
            </a:r>
            <a:r>
              <a:rPr lang="en-IN" dirty="0" err="1" smtClean="0"/>
              <a:t>href</a:t>
            </a:r>
            <a:r>
              <a:rPr lang="en-IN" dirty="0" smtClean="0"/>
              <a:t>="styles.css"&gt;</a:t>
            </a:r>
          </a:p>
          <a:p>
            <a:pPr marL="0" indent="0">
              <a:buNone/>
            </a:pPr>
            <a:r>
              <a:rPr lang="en-IN" dirty="0" smtClean="0"/>
              <a:t>&lt;/head&gt;</a:t>
            </a:r>
          </a:p>
          <a:p>
            <a:pPr marL="0" indent="0">
              <a:buNone/>
            </a:pPr>
            <a:r>
              <a:rPr lang="en-IN" dirty="0" smtClean="0"/>
              <a:t>&lt;body&gt;</a:t>
            </a:r>
          </a:p>
          <a:p>
            <a:pPr marL="0" indent="0">
              <a:buNone/>
            </a:pPr>
            <a:r>
              <a:rPr lang="en-IN" dirty="0" smtClean="0"/>
              <a:t>&lt;h1&gt;External CSS Example&lt;/h1&gt;</a:t>
            </a:r>
          </a:p>
          <a:p>
            <a:pPr marL="0" indent="0">
              <a:buNone/>
            </a:pPr>
            <a:r>
              <a:rPr lang="en-IN" dirty="0" smtClean="0"/>
              <a:t>&lt;p&gt;This paragraph uses external CSS.&lt;/p&gt;</a:t>
            </a:r>
          </a:p>
          <a:p>
            <a:pPr marL="0" indent="0">
              <a:buNone/>
            </a:pPr>
            <a:r>
              <a:rPr lang="en-IN" dirty="0" smtClean="0"/>
              <a:t>&lt;/body&gt;</a:t>
            </a:r>
          </a:p>
          <a:p>
            <a:pPr marL="0" indent="0">
              <a:buNone/>
            </a:pPr>
            <a:r>
              <a:rPr lang="en-IN" dirty="0" smtClean="0"/>
              <a:t>&lt;/html&gt;</a:t>
            </a:r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279037" y="2744770"/>
            <a:ext cx="3828068" cy="33112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body {</a:t>
            </a:r>
          </a:p>
          <a:p>
            <a:pPr marL="0" indent="0">
              <a:buNone/>
            </a:pPr>
            <a:r>
              <a:rPr lang="en-IN" dirty="0"/>
              <a:t>background-</a:t>
            </a:r>
            <a:r>
              <a:rPr lang="en-IN" dirty="0" err="1"/>
              <a:t>color</a:t>
            </a:r>
            <a:r>
              <a:rPr lang="en-IN" dirty="0"/>
              <a:t>: beige;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h1 {</a:t>
            </a:r>
          </a:p>
          <a:p>
            <a:pPr marL="0" indent="0">
              <a:buNone/>
            </a:pPr>
            <a:r>
              <a:rPr lang="en-IN" dirty="0" err="1"/>
              <a:t>color</a:t>
            </a:r>
            <a:r>
              <a:rPr lang="en-IN" dirty="0"/>
              <a:t>: navy;</a:t>
            </a:r>
          </a:p>
          <a:p>
            <a:pPr marL="0" indent="0">
              <a:buNone/>
            </a:pPr>
            <a:r>
              <a:rPr lang="en-IN" dirty="0"/>
              <a:t>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p {</a:t>
            </a:r>
          </a:p>
          <a:p>
            <a:pPr marL="0" indent="0">
              <a:buNone/>
            </a:pP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darkred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54" y="2290770"/>
            <a:ext cx="22341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HTML file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96000" y="2248349"/>
            <a:ext cx="22341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CSS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35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 smtClean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 smtClean="0"/>
              <a:t>THANK YOU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3179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840</Words>
  <Application>Microsoft Office PowerPoint</Application>
  <PresentationFormat>Widescreen</PresentationFormat>
  <Paragraphs>149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Menlo</vt:lpstr>
      <vt:lpstr>Roboto</vt:lpstr>
      <vt:lpstr>Office Theme</vt:lpstr>
      <vt:lpstr>Introduction to HTML &amp; CSS       Weightage-11M</vt:lpstr>
      <vt:lpstr>Course outcome</vt:lpstr>
      <vt:lpstr>Introduction to html</vt:lpstr>
      <vt:lpstr>Why HTML is Used?</vt:lpstr>
      <vt:lpstr>HTML Page Structure</vt:lpstr>
      <vt:lpstr>Different Types of Tags in HTML</vt:lpstr>
      <vt:lpstr>2. Head element tag</vt:lpstr>
      <vt:lpstr>3.Body element tag</vt:lpstr>
      <vt:lpstr>HTML &lt;link&gt; href Attribute</vt:lpstr>
      <vt:lpstr>What is CSS?</vt:lpstr>
      <vt:lpstr>Why CSS?</vt:lpstr>
      <vt:lpstr>Example without using CSS code with output:</vt:lpstr>
      <vt:lpstr>PowerPoint Presentation</vt:lpstr>
      <vt:lpstr>Syntax of css</vt:lpstr>
      <vt:lpstr>Types of CSS</vt:lpstr>
      <vt:lpstr>INLINE CSS</vt:lpstr>
      <vt:lpstr>Internal CSS: Internal CSS is defined within a &lt;style&gt; tag inside the &lt;head&gt; section of the HTML document.</vt:lpstr>
      <vt:lpstr>External CSS: External CSS is written in a separate .css file and linked to the HTML document using a &lt;link&gt; tag.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HTML &amp; CSS       Weightage-11M</dc:title>
  <dc:creator>Poonam</dc:creator>
  <cp:lastModifiedBy>Poonam</cp:lastModifiedBy>
  <cp:revision>10</cp:revision>
  <dcterms:created xsi:type="dcterms:W3CDTF">2025-08-21T02:04:24Z</dcterms:created>
  <dcterms:modified xsi:type="dcterms:W3CDTF">2025-08-21T04:12:28Z</dcterms:modified>
</cp:coreProperties>
</file>