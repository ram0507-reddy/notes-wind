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jpg" ContentType="image/jpeg"/>
  <Default Extension="gif" ContentType="image/gif"/>
  <Default Extension="rels" ContentType="application/vnd.openxmlformats-package.relationship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tags/tag1.xml" ContentType="application/vnd.openxmlformats-officedocument.presentationml.tags+xml"/>
  <Override PartName="/ppt/slides/slide4.xml" ContentType="application/vnd.openxmlformats-officedocument.presentationml.slide+xml"/>
  <Override PartName="/ppt/slides/tags/tag2.xml" ContentType="application/vnd.openxmlformats-officedocument.presentationml.tags+xml"/>
  <Override PartName="/ppt/slides/slide5.xml" ContentType="application/vnd.openxmlformats-officedocument.presentationml.slide+xml"/>
  <Override PartName="/ppt/slides/tags/tag3.xml" ContentType="application/vnd.openxmlformats-officedocument.presentationml.tags+xml"/>
  <Override PartName="/ppt/slides/slide6.xml" ContentType="application/vnd.openxmlformats-officedocument.presentationml.slide+xml"/>
  <Override PartName="/ppt/slides/tags/tag4.xml" ContentType="application/vnd.openxmlformats-officedocument.presentationml.tags+xml"/>
  <Override PartName="/ppt/slides/slide7.xml" ContentType="application/vnd.openxmlformats-officedocument.presentationml.slide+xml"/>
  <Override PartName="/ppt/slides/tags/tag5.xml" ContentType="application/vnd.openxmlformats-officedocument.presentationml.tag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tags/tag6.xml" ContentType="application/vnd.openxmlformats-officedocument.presentationml.tags+xml"/>
  <Override PartName="/ppt/slides/slide12.xml" ContentType="application/vnd.openxmlformats-officedocument.presentationml.slide+xml"/>
  <Override PartName="/ppt/slides/tags/tag7.xml" ContentType="application/vnd.openxmlformats-officedocument.presentationml.tags+xml"/>
  <Override PartName="/ppt/slides/slide13.xml" ContentType="application/vnd.openxmlformats-officedocument.presentationml.slide+xml"/>
  <Override PartName="/ppt/slides/tags/tag8.xml" ContentType="application/vnd.openxmlformats-officedocument.presentationml.tags+xml"/>
  <Override PartName="/ppt/slides/slide14.xml" ContentType="application/vnd.openxmlformats-officedocument.presentationml.slide+xml"/>
  <Override PartName="/ppt/slides/tags/tag9.xml" ContentType="application/vnd.openxmlformats-officedocument.presentationml.tags+xml"/>
  <Override PartName="/ppt/slides/slide15.xml" ContentType="application/vnd.openxmlformats-officedocument.presentationml.slide+xml"/>
  <Override PartName="/ppt/slides/tags/tag10.xml" ContentType="application/vnd.openxmlformats-officedocument.presentationml.tags+xml"/>
  <Override PartName="/ppt/slides/slide16.xml" ContentType="application/vnd.openxmlformats-officedocument.presentationml.slide+xml"/>
  <Override PartName="/ppt/slides/tags/tag11.xml" ContentType="application/vnd.openxmlformats-officedocument.presentationml.tags+xml"/>
  <Override PartName="/ppt/slides/slide17.xml" ContentType="application/vnd.openxmlformats-officedocument.presentationml.slide+xml"/>
  <Override PartName="/ppt/slides/tags/tag12.xml" ContentType="application/vnd.openxmlformats-officedocument.presentationml.tags+xml"/>
  <Override PartName="/ppt/slides/slide18.xml" ContentType="application/vnd.openxmlformats-officedocument.presentationml.slide+xml"/>
  <Override PartName="/ppt/slides/tags/tag13.xml" ContentType="application/vnd.openxmlformats-officedocument.presentationml.tags+xml"/>
  <Override PartName="/ppt/slides/slide19.xml" ContentType="application/vnd.openxmlformats-officedocument.presentationml.slide+xml"/>
  <Override PartName="/ppt/slides/tags/tag14.xml" ContentType="application/vnd.openxmlformats-officedocument.presentationml.tags+xml"/>
  <Override PartName="/ppt/slides/slide20.xml" ContentType="application/vnd.openxmlformats-officedocument.presentationml.slide+xml"/>
  <Override PartName="/ppt/slides/tags/tag15.xml" ContentType="application/vnd.openxmlformats-officedocument.presentationml.tag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tags/tag16.xml" ContentType="application/vnd.openxmlformats-officedocument.presentationml.tags+xml"/>
  <Override PartName="/ppt/slides/slide25.xml" ContentType="application/vnd.openxmlformats-officedocument.presentationml.slide+xml"/>
  <Override PartName="/ppt/slides/tags/tag17.xml" ContentType="application/vnd.openxmlformats-officedocument.presentationml.tags+xml"/>
  <Override PartName="/ppt/slides/slide26.xml" ContentType="application/vnd.openxmlformats-officedocument.presentationml.slide+xml"/>
  <Override PartName="/ppt/slides/tags/tag18.xml" ContentType="application/vnd.openxmlformats-officedocument.presentationml.tags+xml"/>
  <Override PartName="/ppt/slides/slide27.xml" ContentType="application/vnd.openxmlformats-officedocument.presentationml.slide+xml"/>
  <Override PartName="/ppt/slides/tags/tag19.xml" ContentType="application/vnd.openxmlformats-officedocument.presentationml.tags+xml"/>
  <Override PartName="/ppt/slides/slide28.xml" ContentType="application/vnd.openxmlformats-officedocument.presentationml.slide+xml"/>
  <Override PartName="/ppt/slides/tags/tag20.xml" ContentType="application/vnd.openxmlformats-officedocument.presentationml.tags+xml"/>
  <Override PartName="/ppt/slides/slide29.xml" ContentType="application/vnd.openxmlformats-officedocument.presentationml.slide+xml"/>
  <Override PartName="/ppt/slides/tags/tag21.xml" ContentType="application/vnd.openxmlformats-officedocument.presentationml.tag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tags/tag22.xml" ContentType="application/vnd.openxmlformats-officedocument.presentationml.tags+xml"/>
  <Override PartName="/ppt/slides/slide34.xml" ContentType="application/vnd.openxmlformats-officedocument.presentationml.slide+xml"/>
  <Override PartName="/ppt/slides/tags/tag23.xml" ContentType="application/vnd.openxmlformats-officedocument.presentationml.tags+xml"/>
  <Override PartName="/ppt/slides/slide35.xml" ContentType="application/vnd.openxmlformats-officedocument.presentationml.slide+xml"/>
  <Override PartName="/ppt/slides/tags/tag24.xml" ContentType="application/vnd.openxmlformats-officedocument.presentationml.tags+xml"/>
  <Override PartName="/ppt/slides/slide36.xml" ContentType="application/vnd.openxmlformats-officedocument.presentationml.slide+xml"/>
  <Override PartName="/ppt/slides/tags/tag25.xml" ContentType="application/vnd.openxmlformats-officedocument.presentationml.tags+xml"/>
  <Override PartName="/ppt/slides/slide37.xml" ContentType="application/vnd.openxmlformats-officedocument.presentationml.slide+xml"/>
  <Override PartName="/ppt/slides/tags/tag26.xml" ContentType="application/vnd.openxmlformats-officedocument.presentationml.tags+xml"/>
  <Override PartName="/ppt/slides/slide38.xml" ContentType="application/vnd.openxmlformats-officedocument.presentationml.slide+xml"/>
  <Override PartName="/ppt/slides/tags/tag27.xml" ContentType="application/vnd.openxmlformats-officedocument.presentationml.tags+xml"/>
  <Override PartName="/ppt/slides/slide39.xml" ContentType="application/vnd.openxmlformats-officedocument.presentationml.slide+xml"/>
  <Override PartName="/ppt/slides/tags/tag28.xml" ContentType="application/vnd.openxmlformats-officedocument.presentationml.tags+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tags/tag29.xml" ContentType="application/vnd.openxmlformats-officedocument.presentationml.tags+xml"/>
  <Override PartName="/ppt/slides/slide44.xml" ContentType="application/vnd.openxmlformats-officedocument.presentationml.slide+xml"/>
  <Override PartName="/ppt/slides/tags/tag30.xml" ContentType="application/vnd.openxmlformats-officedocument.presentationml.tags+xml"/>
  <Override PartName="/ppt/slides/slide45.xml" ContentType="application/vnd.openxmlformats-officedocument.presentationml.slide+xml"/>
  <Override PartName="/ppt/slides/tags/tag31.xml" ContentType="application/vnd.openxmlformats-officedocument.presentationml.tags+xml"/>
  <Override PartName="/ppt/slides/slide46.xml" ContentType="application/vnd.openxmlformats-officedocument.presentationml.slide+xml"/>
  <Override PartName="/ppt/slides/tags/tag32.xml" ContentType="application/vnd.openxmlformats-officedocument.presentationml.tags+xml"/>
  <Override PartName="/ppt/slides/slide47.xml" ContentType="application/vnd.openxmlformats-officedocument.presentationml.slide+xml"/>
  <Override PartName="/ppt/slides/tags/tag33.xml" ContentType="application/vnd.openxmlformats-officedocument.presentationml.tags+xml"/>
  <Override PartName="/ppt/slides/slide48.xml" ContentType="application/vnd.openxmlformats-officedocument.presentationml.slide+xml"/>
  <Override PartName="/ppt/slides/tags/tag34.xml" ContentType="application/vnd.openxmlformats-officedocument.presentationml.tags+xml"/>
  <Override PartName="/ppt/slides/slide49.xml" ContentType="application/vnd.openxmlformats-officedocument.presentationml.slide+xml"/>
  <Override PartName="/ppt/slides/tags/tag35.xml" ContentType="application/vnd.openxmlformats-officedocument.presentationml.tags+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tags/tag36.xml" ContentType="application/vnd.openxmlformats-officedocument.presentationml.tags+xml"/>
  <Override PartName="/ppt/slides/slide54.xml" ContentType="application/vnd.openxmlformats-officedocument.presentationml.slide+xml"/>
  <Override PartName="/ppt/slides/tags/tag37.xml" ContentType="application/vnd.openxmlformats-officedocument.presentationml.tags+xml"/>
  <Override PartName="/ppt/slides/slide55.xml" ContentType="application/vnd.openxmlformats-officedocument.presentationml.slide+xml"/>
  <Override PartName="/ppt/slides/tags/tag38.xml" ContentType="application/vnd.openxmlformats-officedocument.presentationml.tags+xml"/>
  <Override PartName="/ppt/slides/slide56.xml" ContentType="application/vnd.openxmlformats-officedocument.presentationml.slide+xml"/>
  <Override PartName="/ppt/slides/tags/tag39.xml" ContentType="application/vnd.openxmlformats-officedocument.presentationml.tags+xml"/>
  <Override PartName="/ppt/slides/slide57.xml" ContentType="application/vnd.openxmlformats-officedocument.presentationml.slide+xml"/>
  <Override PartName="/ppt/slides/tags/tag40.xml" ContentType="application/vnd.openxmlformats-officedocument.presentationml.tags+xml"/>
  <Override PartName="/ppt/slides/slide58.xml" ContentType="application/vnd.openxmlformats-officedocument.presentationml.slide+xml"/>
  <Override PartName="/ppt/slides/tags/tag41.xml" ContentType="application/vnd.openxmlformats-officedocument.presentationml.tags+xml"/>
  <Override PartName="/ppt/slides/slide59.xml" ContentType="application/vnd.openxmlformats-officedocument.presentationml.slide+xml"/>
  <Override PartName="/ppt/slides/tags/tag42.xml" ContentType="application/vnd.openxmlformats-officedocument.presentationml.tags+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tags/tag43.xml" ContentType="application/vnd.openxmlformats-officedocument.presentationml.tags+xml"/>
  <Override PartName="/ppt/slides/slide64.xml" ContentType="application/vnd.openxmlformats-officedocument.presentationml.slide+xml"/>
  <Override PartName="/ppt/slides/tags/tag44.xml" ContentType="application/vnd.openxmlformats-officedocument.presentationml.tags+xml"/>
  <Override PartName="/ppt/slides/slide65.xml" ContentType="application/vnd.openxmlformats-officedocument.presentationml.slide+xml"/>
  <Override PartName="/ppt/slides/tags/tag45.xml" ContentType="application/vnd.openxmlformats-officedocument.presentationml.tags+xml"/>
  <Override PartName="/ppt/slides/slide66.xml" ContentType="application/vnd.openxmlformats-officedocument.presentationml.slide+xml"/>
  <Override PartName="/ppt/slides/tags/tag46.xml" ContentType="application/vnd.openxmlformats-officedocument.presentationml.tags+xml"/>
  <Override PartName="/ppt/slides/slide67.xml" ContentType="application/vnd.openxmlformats-officedocument.presentationml.slide+xml"/>
  <Override PartName="/ppt/slides/tags/tag47.xml" ContentType="application/vnd.openxmlformats-officedocument.presentationml.tags+xml"/>
  <Override PartName="/ppt/slides/slide68.xml" ContentType="application/vnd.openxmlformats-officedocument.presentationml.slide+xml"/>
  <Override PartName="/ppt/slides/tags/tag48.xml" ContentType="application/vnd.openxmlformats-officedocument.presentationml.tags+xml"/>
  <Override PartName="/ppt/slides/slide69.xml" ContentType="application/vnd.openxmlformats-officedocument.presentationml.slide+xml"/>
  <Override PartName="/ppt/slides/tags/tag49.xml" ContentType="application/vnd.openxmlformats-officedocument.presentationml.tags+xml"/>
  <Override PartName="/ppt/slides/slide70.xml" ContentType="application/vnd.openxmlformats-officedocument.presentationml.slide+xml"/>
  <Override PartName="/ppt/slides/tags/tag50.xml" ContentType="application/vnd.openxmlformats-officedocument.presentationml.tags+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tags/tag51.xml" ContentType="application/vnd.openxmlformats-officedocument.presentationml.tags+xml"/>
  <Override PartName="/ppt/slides/slide75.xml" ContentType="application/vnd.openxmlformats-officedocument.presentationml.slide+xml"/>
  <Override PartName="/ppt/slides/tags/tag52.xml" ContentType="application/vnd.openxmlformats-officedocument.presentationml.tags+xml"/>
  <Override PartName="/ppt/slides/slide76.xml" ContentType="application/vnd.openxmlformats-officedocument.presentationml.slide+xml"/>
  <Override PartName="/ppt/slides/tags/tag53.xml" ContentType="application/vnd.openxmlformats-officedocument.presentationml.tags+xml"/>
  <Override PartName="/ppt/slides/slide77.xml" ContentType="application/vnd.openxmlformats-officedocument.presentationml.slide+xml"/>
  <Override PartName="/ppt/slides/tags/tag54.xml" ContentType="application/vnd.openxmlformats-officedocument.presentationml.tags+xml"/>
  <Override PartName="/ppt/slides/slide78.xml" ContentType="application/vnd.openxmlformats-officedocument.presentationml.slide+xml"/>
  <Override PartName="/ppt/slides/tags/tag55.xml" ContentType="application/vnd.openxmlformats-officedocument.presentationml.tags+xml"/>
  <Override PartName="/ppt/slides/slide79.xml" ContentType="application/vnd.openxmlformats-officedocument.presentationml.slide+xml"/>
  <Override PartName="/ppt/slides/tags/tag56.xml" ContentType="application/vnd.openxmlformats-officedocument.presentationml.tags+xml"/>
  <Override PartName="/ppt/slides/slide80.xml" ContentType="application/vnd.openxmlformats-officedocument.presentationml.slide+xml"/>
  <Override PartName="/ppt/slides/tags/tag57.xml" ContentType="application/vnd.openxmlformats-officedocument.presentationml.tags+xml"/>
  <Override PartName="/ppt/slides/slide81.xml" ContentType="application/vnd.openxmlformats-officedocument.presentationml.slide+xml"/>
  <Override PartName="/ppt/slides/tags/tag58.xml" ContentType="application/vnd.openxmlformats-officedocument.presentationml.tags+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tags/tag59.xml" ContentType="application/vnd.openxmlformats-officedocument.presentationml.tags+xml"/>
  <Override PartName="/ppt/slides/slide86.xml" ContentType="application/vnd.openxmlformats-officedocument.presentationml.slide+xml"/>
  <Override PartName="/ppt/slides/tags/tag60.xml" ContentType="application/vnd.openxmlformats-officedocument.presentationml.tags+xml"/>
  <Override PartName="/ppt/slides/slide87.xml" ContentType="application/vnd.openxmlformats-officedocument.presentationml.slide+xml"/>
  <Override PartName="/ppt/slides/tags/tag61.xml" ContentType="application/vnd.openxmlformats-officedocument.presentationml.tags+xml"/>
  <Override PartName="/ppt/slides/slide88.xml" ContentType="application/vnd.openxmlformats-officedocument.presentationml.slide+xml"/>
  <Override PartName="/ppt/slides/tags/tag62.xml" ContentType="application/vnd.openxmlformats-officedocument.presentationml.tags+xml"/>
  <Override PartName="/ppt/slides/slide89.xml" ContentType="application/vnd.openxmlformats-officedocument.presentationml.slide+xml"/>
  <Override PartName="/ppt/slides/tags/tag63.xml" ContentType="application/vnd.openxmlformats-officedocument.presentationml.tags+xml"/>
  <Override PartName="/ppt/slides/slide90.xml" ContentType="application/vnd.openxmlformats-officedocument.presentationml.slide+xml"/>
  <Override PartName="/ppt/slides/tags/tag64.xml" ContentType="application/vnd.openxmlformats-officedocument.presentationml.tags+xml"/>
  <Override PartName="/ppt/slides/slide91.xml" ContentType="application/vnd.openxmlformats-officedocument.presentationml.slide+xml"/>
  <Override PartName="/ppt/slides/tags/tag65.xml" ContentType="application/vnd.openxmlformats-officedocument.presentationml.tags+xml"/>
  <Override PartName="/ppt/slides/slide92.xml" ContentType="application/vnd.openxmlformats-officedocument.presentationml.slide+xml"/>
  <Override PartName="/ppt/slides/tags/tag66.xml" ContentType="application/vnd.openxmlformats-officedocument.presentationml.tags+xml"/>
  <Override PartName="/ppt/slides/slide93.xml" ContentType="application/vnd.openxmlformats-officedocument.presentationml.slide+xml"/>
  <Override PartName="/ppt/slides/tags/tag67.xml" ContentType="application/vnd.openxmlformats-officedocument.presentationml.tags+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tags/tag68.xml" ContentType="application/vnd.openxmlformats-officedocument.presentationml.tags+xml"/>
  <Override PartName="/ppt/slides/slide98.xml" ContentType="application/vnd.openxmlformats-officedocument.presentationml.slide+xml"/>
  <Override PartName="/ppt/slides/tags/tag69.xml" ContentType="application/vnd.openxmlformats-officedocument.presentationml.tags+xml"/>
  <Override PartName="/ppt/slides/slide99.xml" ContentType="application/vnd.openxmlformats-officedocument.presentationml.slide+xml"/>
  <Override PartName="/ppt/slides/tags/tag70.xml" ContentType="application/vnd.openxmlformats-officedocument.presentationml.tags+xml"/>
  <Override PartName="/ppt/slides/slide100.xml" ContentType="application/vnd.openxmlformats-officedocument.presentationml.slide+xml"/>
  <Override PartName="/ppt/slides/tags/tag71.xml" ContentType="application/vnd.openxmlformats-officedocument.presentationml.tags+xml"/>
  <Override PartName="/ppt/slides/slide101.xml" ContentType="application/vnd.openxmlformats-officedocument.presentationml.slide+xml"/>
  <Override PartName="/ppt/slides/tags/tag72.xml" ContentType="application/vnd.openxmlformats-officedocument.presentationml.tags+xml"/>
  <Override PartName="/ppt/slides/slide102.xml" ContentType="application/vnd.openxmlformats-officedocument.presentationml.slide+xml"/>
  <Override PartName="/ppt/slides/tags/tag73.xml" ContentType="application/vnd.openxmlformats-officedocument.presentationml.tags+xml"/>
  <Override PartName="/ppt/slides/slide103.xml" ContentType="application/vnd.openxmlformats-officedocument.presentationml.slide+xml"/>
  <Override PartName="/ppt/slides/tags/tag74.xml" ContentType="application/vnd.openxmlformats-officedocument.presentationml.tags+xml"/>
  <Override PartName="/ppt/slides/slide104.xml" ContentType="application/vnd.openxmlformats-officedocument.presentationml.slide+xml"/>
  <Override PartName="/ppt/slides/tags/tag75.xml" ContentType="application/vnd.openxmlformats-officedocument.presentationml.tags+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tags/tag76.xml" ContentType="application/vnd.openxmlformats-officedocument.presentationml.tags+xml"/>
  <Override PartName="/ppt/slides/slide109.xml" ContentType="application/vnd.openxmlformats-officedocument.presentationml.slide+xml"/>
  <Override PartName="/ppt/slides/tags/tag77.xml" ContentType="application/vnd.openxmlformats-officedocument.presentationml.tags+xml"/>
  <Override PartName="/ppt/slides/slide110.xml" ContentType="application/vnd.openxmlformats-officedocument.presentationml.slide+xml"/>
  <Override PartName="/ppt/slides/tags/tag78.xml" ContentType="application/vnd.openxmlformats-officedocument.presentationml.tags+xml"/>
  <Override PartName="/ppt/slides/slide111.xml" ContentType="application/vnd.openxmlformats-officedocument.presentationml.slide+xml"/>
  <Override PartName="/ppt/slides/tags/tag79.xml" ContentType="application/vnd.openxmlformats-officedocument.presentationml.tags+xml"/>
  <Override PartName="/ppt/slides/slide112.xml" ContentType="application/vnd.openxmlformats-officedocument.presentationml.slide+xml"/>
  <Override PartName="/ppt/slides/tags/tag80.xml" ContentType="application/vnd.openxmlformats-officedocument.presentationml.tags+xml"/>
  <Override PartName="/ppt/slides/slide113.xml" ContentType="application/vnd.openxmlformats-officedocument.presentationml.slide+xml"/>
  <Override PartName="/ppt/slides/tags/tag81.xml" ContentType="application/vnd.openxmlformats-officedocument.presentationml.tags+xml"/>
  <Override PartName="/ppt/slides/slide114.xml" ContentType="application/vnd.openxmlformats-officedocument.presentationml.slide+xml"/>
  <Override PartName="/ppt/slides/tags/tag82.xml" ContentType="application/vnd.openxmlformats-officedocument.presentationml.tags+xml"/>
  <Override PartName="/ppt/slides/slide115.xml" ContentType="application/vnd.openxmlformats-officedocument.presentationml.slide+xml"/>
  <Override PartName="/ppt/slides/tags/tag83.xml" ContentType="application/vnd.openxmlformats-officedocument.presentationml.tags+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tags/tag84.xml" ContentType="application/vnd.openxmlformats-officedocument.presentationml.tags+xml"/>
  <Override PartName="/ppt/slides/slide120.xml" ContentType="application/vnd.openxmlformats-officedocument.presentationml.slide+xml"/>
  <Override PartName="/ppt/slides/tags/tag85.xml" ContentType="application/vnd.openxmlformats-officedocument.presentationml.tags+xml"/>
  <Override PartName="/ppt/slides/slide121.xml" ContentType="application/vnd.openxmlformats-officedocument.presentationml.slide+xml"/>
  <Override PartName="/ppt/slides/tags/tag86.xml" ContentType="application/vnd.openxmlformats-officedocument.presentationml.tags+xml"/>
  <Override PartName="/ppt/slides/slide122.xml" ContentType="application/vnd.openxmlformats-officedocument.presentationml.slide+xml"/>
  <Override PartName="/ppt/slides/tags/tag87.xml" ContentType="application/vnd.openxmlformats-officedocument.presentationml.tags+xml"/>
  <Override PartName="/ppt/slides/slide123.xml" ContentType="application/vnd.openxmlformats-officedocument.presentationml.slide+xml"/>
  <Override PartName="/ppt/slides/tags/tag88.xml" ContentType="application/vnd.openxmlformats-officedocument.presentationml.tags+xml"/>
  <Override PartName="/ppt/slides/slide124.xml" ContentType="application/vnd.openxmlformats-officedocument.presentationml.slide+xml"/>
  <Override PartName="/ppt/slides/tags/tag89.xml" ContentType="application/vnd.openxmlformats-officedocument.presentationml.tags+xml"/>
  <Override PartName="/ppt/slides/slide125.xml" ContentType="application/vnd.openxmlformats-officedocument.presentationml.slide+xml"/>
  <Override PartName="/ppt/slides/tags/tag90.xml" ContentType="application/vnd.openxmlformats-officedocument.presentationml.tags+xml"/>
  <Override PartName="/ppt/slides/slide126.xml" ContentType="application/vnd.openxmlformats-officedocument.presentationml.slide+xml"/>
  <Override PartName="/ppt/slides/tags/tag91.xml" ContentType="application/vnd.openxmlformats-officedocument.presentationml.tags+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tags/tag92.xml" ContentType="application/vnd.openxmlformats-officedocument.presentationml.tags+xml"/>
  <Override PartName="/ppt/slides/slide131.xml" ContentType="application/vnd.openxmlformats-officedocument.presentationml.slide+xml"/>
  <Override PartName="/ppt/slides/tags/tag93.xml" ContentType="application/vnd.openxmlformats-officedocument.presentationml.tags+xml"/>
  <Override PartName="/ppt/slides/slide132.xml" ContentType="application/vnd.openxmlformats-officedocument.presentationml.slide+xml"/>
  <Override PartName="/ppt/slides/tags/tag94.xml" ContentType="application/vnd.openxmlformats-officedocument.presentationml.tags+xml"/>
  <Override PartName="/ppt/slides/slide133.xml" ContentType="application/vnd.openxmlformats-officedocument.presentationml.slide+xml"/>
  <Override PartName="/ppt/slides/tags/tag95.xml" ContentType="application/vnd.openxmlformats-officedocument.presentationml.tags+xml"/>
  <Override PartName="/ppt/slides/slide134.xml" ContentType="application/vnd.openxmlformats-officedocument.presentationml.slide+xml"/>
  <Override PartName="/ppt/slides/tags/tag96.xml" ContentType="application/vnd.openxmlformats-officedocument.presentationml.tags+xml"/>
  <Override PartName="/ppt/slides/slide135.xml" ContentType="application/vnd.openxmlformats-officedocument.presentationml.slide+xml"/>
  <Override PartName="/ppt/slides/tags/tag97.xml" ContentType="application/vnd.openxmlformats-officedocument.presentationml.tags+xml"/>
  <Override PartName="/ppt/slides/slide136.xml" ContentType="application/vnd.openxmlformats-officedocument.presentationml.slide+xml"/>
  <Override PartName="/ppt/slides/tags/tag98.xml" ContentType="application/vnd.openxmlformats-officedocument.presentationml.tags+xml"/>
  <Override PartName="/ppt/slides/slide137.xml" ContentType="application/vnd.openxmlformats-officedocument.presentationml.slide+xml"/>
  <Override PartName="/ppt/slides/tags/tag99.xml" ContentType="application/vnd.openxmlformats-officedocument.presentationml.tags+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tags/tag100.xml" ContentType="application/vnd.openxmlformats-officedocument.presentationml.tags+xml"/>
  <Override PartName="/ppt/slides/slide142.xml" ContentType="application/vnd.openxmlformats-officedocument.presentationml.slide+xml"/>
  <Override PartName="/ppt/slides/tags/tag101.xml" ContentType="application/vnd.openxmlformats-officedocument.presentationml.tags+xml"/>
  <Override PartName="/ppt/slides/slide143.xml" ContentType="application/vnd.openxmlformats-officedocument.presentationml.slide+xml"/>
  <Override PartName="/ppt/slides/tags/tag102.xml" ContentType="application/vnd.openxmlformats-officedocument.presentationml.tags+xml"/>
  <Override PartName="/ppt/slides/slide144.xml" ContentType="application/vnd.openxmlformats-officedocument.presentationml.slide+xml"/>
  <Override PartName="/ppt/slides/tags/tag103.xml" ContentType="application/vnd.openxmlformats-officedocument.presentationml.tags+xml"/>
  <Override PartName="/ppt/slides/slide145.xml" ContentType="application/vnd.openxmlformats-officedocument.presentationml.slide+xml"/>
  <Override PartName="/ppt/slides/tags/tag104.xml" ContentType="application/vnd.openxmlformats-officedocument.presentationml.tags+xml"/>
  <Override PartName="/ppt/slides/slide146.xml" ContentType="application/vnd.openxmlformats-officedocument.presentationml.slide+xml"/>
  <Override PartName="/ppt/slides/tags/tag105.xml" ContentType="application/vnd.openxmlformats-officedocument.presentationml.tags+xml"/>
  <Override PartName="/ppt/slides/slide147.xml" ContentType="application/vnd.openxmlformats-officedocument.presentationml.slide+xml"/>
  <Override PartName="/ppt/slides/tags/tag106.xml" ContentType="application/vnd.openxmlformats-officedocument.presentationml.tags+xml"/>
  <Override PartName="/ppt/slides/slide148.xml" ContentType="application/vnd.openxmlformats-officedocument.presentationml.slide+xml"/>
  <Override PartName="/ppt/slides/tags/tag107.xml" ContentType="application/vnd.openxmlformats-officedocument.presentationml.tags+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tags/tag108.xml" ContentType="application/vnd.openxmlformats-officedocument.presentationml.tags+xml"/>
  <Override PartName="/ppt/slides/slide153.xml" ContentType="application/vnd.openxmlformats-officedocument.presentationml.slide+xml"/>
  <Override PartName="/ppt/slides/tags/tag109.xml" ContentType="application/vnd.openxmlformats-officedocument.presentationml.tags+xml"/>
  <Override PartName="/ppt/slides/slide154.xml" ContentType="application/vnd.openxmlformats-officedocument.presentationml.slide+xml"/>
  <Override PartName="/ppt/slides/tags/tag110.xml" ContentType="application/vnd.openxmlformats-officedocument.presentationml.tags+xml"/>
  <Override PartName="/ppt/slides/slide155.xml" ContentType="application/vnd.openxmlformats-officedocument.presentationml.slide+xml"/>
  <Override PartName="/ppt/slides/tags/tag111.xml" ContentType="application/vnd.openxmlformats-officedocument.presentationml.tags+xml"/>
  <Override PartName="/ppt/slides/slide156.xml" ContentType="application/vnd.openxmlformats-officedocument.presentationml.slide+xml"/>
  <Override PartName="/ppt/slides/tags/tag112.xml" ContentType="application/vnd.openxmlformats-officedocument.presentationml.tags+xml"/>
  <Override PartName="/ppt/slides/slide157.xml" ContentType="application/vnd.openxmlformats-officedocument.presentationml.slide+xml"/>
  <Override PartName="/ppt/slides/tags/tag113.xml" ContentType="application/vnd.openxmlformats-officedocument.presentationml.tags+xml"/>
  <Override PartName="/ppt/slides/slide158.xml" ContentType="application/vnd.openxmlformats-officedocument.presentationml.slide+xml"/>
  <Override PartName="/ppt/slides/tags/tag114.xml" ContentType="application/vnd.openxmlformats-officedocument.presentationml.tags+xml"/>
  <Override PartName="/ppt/slides/slide159.xml" ContentType="application/vnd.openxmlformats-officedocument.presentationml.slide+xml"/>
  <Override PartName="/ppt/slides/tags/tag115.xml" ContentType="application/vnd.openxmlformats-officedocument.presentationml.tags+xml"/>
  <Override PartName="/ppt/slides/slide160.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af92058dc66a4445" /><Relationship Type="http://schemas.openxmlformats.org/package/2006/relationships/metadata/core-properties" Target="/docProps/core.xml" Id="R0eb9a14fe56c4d12" /><Relationship Type="http://schemas.openxmlformats.org/officeDocument/2006/relationships/extended-properties" Target="/docProps/app.xml" Id="R4a9688638ec8468e"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a94d9e07cc58483a"/>
  </p:sldMasterIdLst>
  <p:notesMasterIdLst>
    <p:notesMasterId r:id="R2418a4b7e3814c0b"/>
  </p:notesMasterIdLst>
  <p:handoutMasterIdLst>
    <p:handoutMasterId r:id="R1a6611c4a3344da9"/>
  </p:handoutMasterIdLst>
  <p:sldIdLst>
    <p:sldId id="256" r:id="Rfc9c9760b0df4d3e"/>
    <p:sldId id="257" r:id="R86d75a551ff641ec"/>
    <p:sldId id="258" r:id="R05433e04b5c84d1a"/>
    <p:sldId id="259" r:id="R50a4069730a748e3"/>
    <p:sldId id="260" r:id="R4f406bd9e3234eb3"/>
    <p:sldId id="261" r:id="R8d7f00d4586545c5"/>
    <p:sldId id="262" r:id="Rcb1df99e4ba74e90"/>
    <p:sldId id="263" r:id="R0493ca9c5cf24e55"/>
    <p:sldId id="264" r:id="R51458d20b5f649c0"/>
    <p:sldId id="265" r:id="Rb4693320fd9e46c8"/>
    <p:sldId id="266" r:id="Rf4a4a115e0cd463e"/>
    <p:sldId id="267" r:id="Rf8c1f5b6bf15433a"/>
    <p:sldId id="268" r:id="Rb86f07fe0f68462f"/>
    <p:sldId id="269" r:id="Rcf1a1033903d4299"/>
    <p:sldId id="270" r:id="R403a2d88148c4b2a"/>
    <p:sldId id="271" r:id="R9f6a5e55081e451d"/>
    <p:sldId id="272" r:id="R65be80cf0525469c"/>
    <p:sldId id="273" r:id="Rd329d1c6dc5b4265"/>
    <p:sldId id="274" r:id="R5beee2e684ff4655"/>
    <p:sldId id="275" r:id="Rd80c5daaf7cf47ef"/>
    <p:sldId id="276" r:id="Rf317c44902114fe9"/>
    <p:sldId id="277" r:id="R270c6ef9424a4f6c"/>
    <p:sldId id="278" r:id="Rc6366901437547a3"/>
    <p:sldId id="279" r:id="R76c811eedb2f4a17"/>
    <p:sldId id="280" r:id="R868ce3590821464b"/>
    <p:sldId id="281" r:id="Radf4d3aaf2c34a8c"/>
    <p:sldId id="282" r:id="R4c59c4b83d1b43a6"/>
    <p:sldId id="283" r:id="R4515cfbbe62842ea"/>
    <p:sldId id="284" r:id="R6a43ee5bf06b4308"/>
    <p:sldId id="285" r:id="Ra36916fa5f014d2b"/>
    <p:sldId id="286" r:id="Rece1ac07ba854b2b"/>
    <p:sldId id="287" r:id="R4c5d2b7924954292"/>
    <p:sldId id="288" r:id="R2468bbf00c3f431e"/>
    <p:sldId id="289" r:id="R4e5cb0a741394ac3"/>
    <p:sldId id="290" r:id="R59604d7222684e14"/>
    <p:sldId id="291" r:id="R7f9eff15b34f4867"/>
    <p:sldId id="292" r:id="R9c34b6c849c64d88"/>
    <p:sldId id="293" r:id="R1c7c6b71063d4e97"/>
    <p:sldId id="294" r:id="R8cda9e355c534db3"/>
    <p:sldId id="295" r:id="R5537df1ead5540e5"/>
    <p:sldId id="296" r:id="Ra6724a4168204181"/>
    <p:sldId id="297" r:id="R806a267b054f44db"/>
    <p:sldId id="298" r:id="R8826eed279814c3d"/>
    <p:sldId id="299" r:id="Recc242f80b6e493f"/>
    <p:sldId id="300" r:id="Re14525758fc5455a"/>
    <p:sldId id="301" r:id="Rf3fcb8f64fc94263"/>
    <p:sldId id="302" r:id="R96bc5d780e7a4114"/>
    <p:sldId id="303" r:id="R8b79530dbf604844"/>
    <p:sldId id="304" r:id="R89401a969a0242fc"/>
    <p:sldId id="305" r:id="Rbbdd38015f0e46d2"/>
    <p:sldId id="306" r:id="R7b7bdb7785554717"/>
    <p:sldId id="307" r:id="Rac00d88c5a374590"/>
    <p:sldId id="308" r:id="Re08988a04fa2491b"/>
    <p:sldId id="309" r:id="Rdb48ad38930f4070"/>
    <p:sldId id="310" r:id="R2de101ea1cf84802"/>
    <p:sldId id="311" r:id="R6af41707e7474131"/>
    <p:sldId id="312" r:id="R6c6b522325af4d02"/>
    <p:sldId id="313" r:id="R72cfbe4906174dd2"/>
    <p:sldId id="314" r:id="R7ead2bc97d494393"/>
    <p:sldId id="315" r:id="Rf1d71c2955864920"/>
    <p:sldId id="316" r:id="Ra3d1a336a84a428d"/>
    <p:sldId id="317" r:id="Ra1fb15b2449e49fd"/>
    <p:sldId id="318" r:id="R55ba0148c19145a3"/>
    <p:sldId id="319" r:id="Rede297298b044f4d"/>
    <p:sldId id="320" r:id="Rec5e13a346a14f76"/>
    <p:sldId id="321" r:id="Rc6c722b4ccca41e8"/>
    <p:sldId id="322" r:id="Rbb7adfea28574d7d"/>
    <p:sldId id="323" r:id="Rb30a0f87a15649af"/>
    <p:sldId id="324" r:id="R843cdb0a1f7145f9"/>
    <p:sldId id="325" r:id="Re5212b6875d644bc"/>
    <p:sldId id="326" r:id="Rf0fbd2884d5742e8"/>
    <p:sldId id="327" r:id="Rc7c11cbe3d5545a8"/>
    <p:sldId id="328" r:id="R16d06481b24140b7"/>
    <p:sldId id="329" r:id="R925d86040ae54cc6"/>
    <p:sldId id="330" r:id="Rb4c189d3fe9d45fb"/>
    <p:sldId id="331" r:id="Rcbc7704116f04119"/>
    <p:sldId id="332" r:id="R3e4314abd331404a"/>
    <p:sldId id="333" r:id="Rad4a93be954345f2"/>
    <p:sldId id="334" r:id="R2e8f361824e94f5c"/>
    <p:sldId id="335" r:id="R729a3956bcb64190"/>
    <p:sldId id="336" r:id="R11497060cf7f46ba"/>
    <p:sldId id="337" r:id="Rd210885f43774064"/>
    <p:sldId id="338" r:id="Rc816b936d4234914"/>
    <p:sldId id="339" r:id="Rdf92fe1ab52e4dfb"/>
    <p:sldId id="340" r:id="R57000a982cf54368"/>
    <p:sldId id="341" r:id="R09247fca78ed49bf"/>
    <p:sldId id="342" r:id="R5b65d67d3e9c4fe5"/>
    <p:sldId id="343" r:id="Read76447ac3840f8"/>
    <p:sldId id="344" r:id="Rb3bb2b086b644e3a"/>
    <p:sldId id="345" r:id="R78833694577747f8"/>
    <p:sldId id="346" r:id="R790f724e024c4c2b"/>
    <p:sldId id="347" r:id="R24d8b35b44594767"/>
    <p:sldId id="348" r:id="R6b3a83c589ce40f0"/>
    <p:sldId id="349" r:id="R7288f4df10334c2a"/>
    <p:sldId id="350" r:id="Rdc1bc7d840b24141"/>
    <p:sldId id="351" r:id="R37df813abebc49ea"/>
    <p:sldId id="352" r:id="Rc46efe41be454502"/>
    <p:sldId id="353" r:id="Rd1ddaae46b794c41"/>
    <p:sldId id="354" r:id="R816932f4ea6d42a9"/>
    <p:sldId id="355" r:id="R7bc47063094d4443"/>
    <p:sldId id="356" r:id="R0eafbe81274c470a"/>
    <p:sldId id="357" r:id="Rf6930381de634b09"/>
    <p:sldId id="358" r:id="R46051f294010415b"/>
    <p:sldId id="359" r:id="R4012ad72da264447"/>
    <p:sldId id="360" r:id="R4203f325c80c4671"/>
    <p:sldId id="361" r:id="R2c7a39e0a23045a9"/>
    <p:sldId id="362" r:id="Ra4468eee96b947f4"/>
    <p:sldId id="363" r:id="R9ea7f4ca103c400d"/>
    <p:sldId id="364" r:id="R8f30c6165df54895"/>
    <p:sldId id="365" r:id="Ree04775022984730"/>
    <p:sldId id="366" r:id="R7ad59aee8c7c473b"/>
    <p:sldId id="367" r:id="Ra1a0ca0a576a4cd2"/>
    <p:sldId id="368" r:id="Rb189ffb7433c43cd"/>
    <p:sldId id="369" r:id="R747a23012c9240be"/>
    <p:sldId id="370" r:id="R59e7792034a24d23"/>
    <p:sldId id="371" r:id="R1cf6811512b8456b"/>
    <p:sldId id="372" r:id="R7a184e1e18ba4050"/>
    <p:sldId id="373" r:id="R42a591744b2a4658"/>
    <p:sldId id="374" r:id="R77a1db0caba14b66"/>
    <p:sldId id="375" r:id="R33b4fc5ed93a46c6"/>
    <p:sldId id="376" r:id="Rdef9eda95c6d4011"/>
    <p:sldId id="377" r:id="Ra9a8f725372b470c"/>
    <p:sldId id="378" r:id="R8dfbba65b73f44c1"/>
    <p:sldId id="379" r:id="R71e2160ebef54e24"/>
    <p:sldId id="380" r:id="R0ac0cbe9f8b04ec7"/>
    <p:sldId id="381" r:id="Rfbb1e681a5e64982"/>
    <p:sldId id="382" r:id="Rdc672e6601fc4d51"/>
    <p:sldId id="383" r:id="R82adbf6c527b498c"/>
    <p:sldId id="384" r:id="Reb789f972b7446e8"/>
    <p:sldId id="385" r:id="Re92a768a41254dcb"/>
    <p:sldId id="386" r:id="R16e3dff73fa84144"/>
    <p:sldId id="387" r:id="Rc3e82ef473ab4be7"/>
    <p:sldId id="388" r:id="R94a439cb78a3424a"/>
    <p:sldId id="389" r:id="R9eba63e85b5f44ad"/>
    <p:sldId id="390" r:id="R479178a766314c00"/>
    <p:sldId id="391" r:id="R563c4dcaee4b4f50"/>
    <p:sldId id="392" r:id="R2d122b1ab62d49e4"/>
    <p:sldId id="393" r:id="Recef79750ec14750"/>
    <p:sldId id="394" r:id="Ra99591a33cd74fc5"/>
    <p:sldId id="395" r:id="Rde59766a5f0744a2"/>
    <p:sldId id="396" r:id="Rfcbe6ae6ba234baf"/>
    <p:sldId id="397" r:id="Rec9d4e8fa3694448"/>
    <p:sldId id="398" r:id="R872acf8503f44178"/>
    <p:sldId id="399" r:id="R46c810ced3644d6b"/>
    <p:sldId id="400" r:id="R91173c61c38d47ce"/>
    <p:sldId id="401" r:id="Racfd53e72df44b53"/>
    <p:sldId id="402" r:id="R6ae6a02f17b24009"/>
    <p:sldId id="403" r:id="R5cfee1d248dc4031"/>
    <p:sldId id="404" r:id="R498474a1efc44516"/>
    <p:sldId id="405" r:id="R96120b7d73d54f25"/>
    <p:sldId id="406" r:id="R7a74a271faf94deb"/>
    <p:sldId id="407" r:id="Rdff8be56febd4fea"/>
    <p:sldId id="408" r:id="R4256b0e5cfe349f4"/>
    <p:sldId id="409" r:id="R7e16b7e89eda4918"/>
    <p:sldId id="410" r:id="Re106725dc6294b0f"/>
    <p:sldId id="411" r:id="R49f765697a8d4fde"/>
    <p:sldId id="412" r:id="R3af53f18ab484690"/>
    <p:sldId id="413" r:id="R2979d722d35f471a"/>
    <p:sldId id="414" r:id="Ra9204742196e4cd2"/>
    <p:sldId id="415" r:id="R92f1e79a163a44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73" autoAdjust="0"/>
    <p:restoredTop sz="96281" autoAdjust="0"/>
  </p:normalViewPr>
  <p:slideViewPr>
    <p:cSldViewPr snapToGrid="0">
      <p:cViewPr varScale="1">
        <p:scale>
          <a:sx n="64" d="100"/>
          <a:sy n="64" d="100"/>
        </p:scale>
        <p:origin x="1302" y="4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1" d="100"/>
          <a:sy n="91" d="100"/>
        </p:scale>
        <p:origin x="3750" y="10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1a6611c4a3344da9" /><Relationship Type="http://schemas.openxmlformats.org/officeDocument/2006/relationships/notesMaster" Target="/ppt/notesMasters/notesMaster1.xml" Id="R2418a4b7e3814c0b" /><Relationship Type="http://schemas.openxmlformats.org/officeDocument/2006/relationships/presProps" Target="/ppt/presProps.xml" Id="Rc32e75168c354307" /><Relationship Type="http://schemas.openxmlformats.org/officeDocument/2006/relationships/viewProps" Target="/ppt/viewProps.xml" Id="R1916ab637b7f4215" /><Relationship Type="http://schemas.openxmlformats.org/officeDocument/2006/relationships/slideMaster" Target="/ppt/slideMasters/slideMaster1.xml" Id="Ra94d9e07cc58483a" /><Relationship Type="http://schemas.openxmlformats.org/officeDocument/2006/relationships/theme" Target="/ppt/slideMasters/theme/theme3.xml" Id="Rf2a29d40fcd0413e" /><Relationship Type="http://schemas.openxmlformats.org/officeDocument/2006/relationships/slide" Target="/ppt/slides/slide1.xml" Id="Rfc9c9760b0df4d3e" /><Relationship Type="http://schemas.openxmlformats.org/officeDocument/2006/relationships/slide" Target="/ppt/slides/slide2.xml" Id="R86d75a551ff641ec" /><Relationship Type="http://schemas.openxmlformats.org/officeDocument/2006/relationships/slide" Target="/ppt/slides/slide3.xml" Id="R05433e04b5c84d1a" /><Relationship Type="http://schemas.openxmlformats.org/officeDocument/2006/relationships/slide" Target="/ppt/slides/slide4.xml" Id="R50a4069730a748e3" /><Relationship Type="http://schemas.openxmlformats.org/officeDocument/2006/relationships/slide" Target="/ppt/slides/slide5.xml" Id="R4f406bd9e3234eb3" /><Relationship Type="http://schemas.openxmlformats.org/officeDocument/2006/relationships/slide" Target="/ppt/slides/slide6.xml" Id="R8d7f00d4586545c5" /><Relationship Type="http://schemas.openxmlformats.org/officeDocument/2006/relationships/slide" Target="/ppt/slides/slide7.xml" Id="Rcb1df99e4ba74e90" /><Relationship Type="http://schemas.openxmlformats.org/officeDocument/2006/relationships/slide" Target="/ppt/slides/slide8.xml" Id="R0493ca9c5cf24e55" /><Relationship Type="http://schemas.openxmlformats.org/officeDocument/2006/relationships/slide" Target="/ppt/slides/slide9.xml" Id="R51458d20b5f649c0" /><Relationship Type="http://schemas.openxmlformats.org/officeDocument/2006/relationships/slide" Target="/ppt/slides/slide10.xml" Id="Rb4693320fd9e46c8" /><Relationship Type="http://schemas.openxmlformats.org/officeDocument/2006/relationships/slide" Target="/ppt/slides/slide11.xml" Id="Rf4a4a115e0cd463e" /><Relationship Type="http://schemas.openxmlformats.org/officeDocument/2006/relationships/slide" Target="/ppt/slides/slide12.xml" Id="Rf8c1f5b6bf15433a" /><Relationship Type="http://schemas.openxmlformats.org/officeDocument/2006/relationships/slide" Target="/ppt/slides/slide13.xml" Id="Rb86f07fe0f68462f" /><Relationship Type="http://schemas.openxmlformats.org/officeDocument/2006/relationships/slide" Target="/ppt/slides/slide14.xml" Id="Rcf1a1033903d4299" /><Relationship Type="http://schemas.openxmlformats.org/officeDocument/2006/relationships/slide" Target="/ppt/slides/slide15.xml" Id="R403a2d88148c4b2a" /><Relationship Type="http://schemas.openxmlformats.org/officeDocument/2006/relationships/slide" Target="/ppt/slides/slide16.xml" Id="R9f6a5e55081e451d" /><Relationship Type="http://schemas.openxmlformats.org/officeDocument/2006/relationships/slide" Target="/ppt/slides/slide17.xml" Id="R65be80cf0525469c" /><Relationship Type="http://schemas.openxmlformats.org/officeDocument/2006/relationships/slide" Target="/ppt/slides/slide18.xml" Id="Rd329d1c6dc5b4265" /><Relationship Type="http://schemas.openxmlformats.org/officeDocument/2006/relationships/slide" Target="/ppt/slides/slide19.xml" Id="R5beee2e684ff4655" /><Relationship Type="http://schemas.openxmlformats.org/officeDocument/2006/relationships/slide" Target="/ppt/slides/slide20.xml" Id="Rd80c5daaf7cf47ef" /><Relationship Type="http://schemas.openxmlformats.org/officeDocument/2006/relationships/slide" Target="/ppt/slides/slide21.xml" Id="Rf317c44902114fe9" /><Relationship Type="http://schemas.openxmlformats.org/officeDocument/2006/relationships/slide" Target="/ppt/slides/slide22.xml" Id="R270c6ef9424a4f6c" /><Relationship Type="http://schemas.openxmlformats.org/officeDocument/2006/relationships/slide" Target="/ppt/slides/slide23.xml" Id="Rc6366901437547a3" /><Relationship Type="http://schemas.openxmlformats.org/officeDocument/2006/relationships/slide" Target="/ppt/slides/slide24.xml" Id="R76c811eedb2f4a17" /><Relationship Type="http://schemas.openxmlformats.org/officeDocument/2006/relationships/slide" Target="/ppt/slides/slide25.xml" Id="R868ce3590821464b" /><Relationship Type="http://schemas.openxmlformats.org/officeDocument/2006/relationships/slide" Target="/ppt/slides/slide26.xml" Id="Radf4d3aaf2c34a8c" /><Relationship Type="http://schemas.openxmlformats.org/officeDocument/2006/relationships/slide" Target="/ppt/slides/slide27.xml" Id="R4c59c4b83d1b43a6" /><Relationship Type="http://schemas.openxmlformats.org/officeDocument/2006/relationships/slide" Target="/ppt/slides/slide28.xml" Id="R4515cfbbe62842ea" /><Relationship Type="http://schemas.openxmlformats.org/officeDocument/2006/relationships/slide" Target="/ppt/slides/slide29.xml" Id="R6a43ee5bf06b4308" /><Relationship Type="http://schemas.openxmlformats.org/officeDocument/2006/relationships/slide" Target="/ppt/slides/slide30.xml" Id="Ra36916fa5f014d2b" /><Relationship Type="http://schemas.openxmlformats.org/officeDocument/2006/relationships/slide" Target="/ppt/slides/slide31.xml" Id="Rece1ac07ba854b2b" /><Relationship Type="http://schemas.openxmlformats.org/officeDocument/2006/relationships/slide" Target="/ppt/slides/slide32.xml" Id="R4c5d2b7924954292" /><Relationship Type="http://schemas.openxmlformats.org/officeDocument/2006/relationships/slide" Target="/ppt/slides/slide33.xml" Id="R2468bbf00c3f431e" /><Relationship Type="http://schemas.openxmlformats.org/officeDocument/2006/relationships/slide" Target="/ppt/slides/slide34.xml" Id="R4e5cb0a741394ac3" /><Relationship Type="http://schemas.openxmlformats.org/officeDocument/2006/relationships/slide" Target="/ppt/slides/slide35.xml" Id="R59604d7222684e14" /><Relationship Type="http://schemas.openxmlformats.org/officeDocument/2006/relationships/slide" Target="/ppt/slides/slide36.xml" Id="R7f9eff15b34f4867" /><Relationship Type="http://schemas.openxmlformats.org/officeDocument/2006/relationships/slide" Target="/ppt/slides/slide37.xml" Id="R9c34b6c849c64d88" /><Relationship Type="http://schemas.openxmlformats.org/officeDocument/2006/relationships/slide" Target="/ppt/slides/slide38.xml" Id="R1c7c6b71063d4e97" /><Relationship Type="http://schemas.openxmlformats.org/officeDocument/2006/relationships/slide" Target="/ppt/slides/slide39.xml" Id="R8cda9e355c534db3" /><Relationship Type="http://schemas.openxmlformats.org/officeDocument/2006/relationships/slide" Target="/ppt/slides/slide40.xml" Id="R5537df1ead5540e5" /><Relationship Type="http://schemas.openxmlformats.org/officeDocument/2006/relationships/slide" Target="/ppt/slides/slide41.xml" Id="Ra6724a4168204181" /><Relationship Type="http://schemas.openxmlformats.org/officeDocument/2006/relationships/slide" Target="/ppt/slides/slide42.xml" Id="R806a267b054f44db" /><Relationship Type="http://schemas.openxmlformats.org/officeDocument/2006/relationships/slide" Target="/ppt/slides/slide43.xml" Id="R8826eed279814c3d" /><Relationship Type="http://schemas.openxmlformats.org/officeDocument/2006/relationships/slide" Target="/ppt/slides/slide44.xml" Id="Recc242f80b6e493f" /><Relationship Type="http://schemas.openxmlformats.org/officeDocument/2006/relationships/slide" Target="/ppt/slides/slide45.xml" Id="Re14525758fc5455a" /><Relationship Type="http://schemas.openxmlformats.org/officeDocument/2006/relationships/slide" Target="/ppt/slides/slide46.xml" Id="Rf3fcb8f64fc94263" /><Relationship Type="http://schemas.openxmlformats.org/officeDocument/2006/relationships/slide" Target="/ppt/slides/slide47.xml" Id="R96bc5d780e7a4114" /><Relationship Type="http://schemas.openxmlformats.org/officeDocument/2006/relationships/slide" Target="/ppt/slides/slide48.xml" Id="R8b79530dbf604844" /><Relationship Type="http://schemas.openxmlformats.org/officeDocument/2006/relationships/slide" Target="/ppt/slides/slide49.xml" Id="R89401a969a0242fc" /><Relationship Type="http://schemas.openxmlformats.org/officeDocument/2006/relationships/slide" Target="/ppt/slides/slide50.xml" Id="Rbbdd38015f0e46d2" /><Relationship Type="http://schemas.openxmlformats.org/officeDocument/2006/relationships/slide" Target="/ppt/slides/slide51.xml" Id="R7b7bdb7785554717" /><Relationship Type="http://schemas.openxmlformats.org/officeDocument/2006/relationships/slide" Target="/ppt/slides/slide52.xml" Id="Rac00d88c5a374590" /><Relationship Type="http://schemas.openxmlformats.org/officeDocument/2006/relationships/slide" Target="/ppt/slides/slide53.xml" Id="Re08988a04fa2491b" /><Relationship Type="http://schemas.openxmlformats.org/officeDocument/2006/relationships/slide" Target="/ppt/slides/slide54.xml" Id="Rdb48ad38930f4070" /><Relationship Type="http://schemas.openxmlformats.org/officeDocument/2006/relationships/slide" Target="/ppt/slides/slide55.xml" Id="R2de101ea1cf84802" /><Relationship Type="http://schemas.openxmlformats.org/officeDocument/2006/relationships/slide" Target="/ppt/slides/slide56.xml" Id="R6af41707e7474131" /><Relationship Type="http://schemas.openxmlformats.org/officeDocument/2006/relationships/slide" Target="/ppt/slides/slide57.xml" Id="R6c6b522325af4d02" /><Relationship Type="http://schemas.openxmlformats.org/officeDocument/2006/relationships/slide" Target="/ppt/slides/slide58.xml" Id="R72cfbe4906174dd2" /><Relationship Type="http://schemas.openxmlformats.org/officeDocument/2006/relationships/slide" Target="/ppt/slides/slide59.xml" Id="R7ead2bc97d494393" /><Relationship Type="http://schemas.openxmlformats.org/officeDocument/2006/relationships/slide" Target="/ppt/slides/slide60.xml" Id="Rf1d71c2955864920" /><Relationship Type="http://schemas.openxmlformats.org/officeDocument/2006/relationships/slide" Target="/ppt/slides/slide61.xml" Id="Ra3d1a336a84a428d" /><Relationship Type="http://schemas.openxmlformats.org/officeDocument/2006/relationships/slide" Target="/ppt/slides/slide62.xml" Id="Ra1fb15b2449e49fd" /><Relationship Type="http://schemas.openxmlformats.org/officeDocument/2006/relationships/slide" Target="/ppt/slides/slide63.xml" Id="R55ba0148c19145a3" /><Relationship Type="http://schemas.openxmlformats.org/officeDocument/2006/relationships/slide" Target="/ppt/slides/slide64.xml" Id="Rede297298b044f4d" /><Relationship Type="http://schemas.openxmlformats.org/officeDocument/2006/relationships/slide" Target="/ppt/slides/slide65.xml" Id="Rec5e13a346a14f76" /><Relationship Type="http://schemas.openxmlformats.org/officeDocument/2006/relationships/slide" Target="/ppt/slides/slide66.xml" Id="Rc6c722b4ccca41e8" /><Relationship Type="http://schemas.openxmlformats.org/officeDocument/2006/relationships/slide" Target="/ppt/slides/slide67.xml" Id="Rbb7adfea28574d7d" /><Relationship Type="http://schemas.openxmlformats.org/officeDocument/2006/relationships/slide" Target="/ppt/slides/slide68.xml" Id="Rb30a0f87a15649af" /><Relationship Type="http://schemas.openxmlformats.org/officeDocument/2006/relationships/slide" Target="/ppt/slides/slide69.xml" Id="R843cdb0a1f7145f9" /><Relationship Type="http://schemas.openxmlformats.org/officeDocument/2006/relationships/slide" Target="/ppt/slides/slide70.xml" Id="Re5212b6875d644bc" /><Relationship Type="http://schemas.openxmlformats.org/officeDocument/2006/relationships/slide" Target="/ppt/slides/slide71.xml" Id="Rf0fbd2884d5742e8" /><Relationship Type="http://schemas.openxmlformats.org/officeDocument/2006/relationships/slide" Target="/ppt/slides/slide72.xml" Id="Rc7c11cbe3d5545a8" /><Relationship Type="http://schemas.openxmlformats.org/officeDocument/2006/relationships/slide" Target="/ppt/slides/slide73.xml" Id="R16d06481b24140b7" /><Relationship Type="http://schemas.openxmlformats.org/officeDocument/2006/relationships/slide" Target="/ppt/slides/slide74.xml" Id="R925d86040ae54cc6" /><Relationship Type="http://schemas.openxmlformats.org/officeDocument/2006/relationships/slide" Target="/ppt/slides/slide75.xml" Id="Rb4c189d3fe9d45fb" /><Relationship Type="http://schemas.openxmlformats.org/officeDocument/2006/relationships/slide" Target="/ppt/slides/slide76.xml" Id="Rcbc7704116f04119" /><Relationship Type="http://schemas.openxmlformats.org/officeDocument/2006/relationships/slide" Target="/ppt/slides/slide77.xml" Id="R3e4314abd331404a" /><Relationship Type="http://schemas.openxmlformats.org/officeDocument/2006/relationships/slide" Target="/ppt/slides/slide78.xml" Id="Rad4a93be954345f2" /><Relationship Type="http://schemas.openxmlformats.org/officeDocument/2006/relationships/slide" Target="/ppt/slides/slide79.xml" Id="R2e8f361824e94f5c" /><Relationship Type="http://schemas.openxmlformats.org/officeDocument/2006/relationships/slide" Target="/ppt/slides/slide80.xml" Id="R729a3956bcb64190" /><Relationship Type="http://schemas.openxmlformats.org/officeDocument/2006/relationships/slide" Target="/ppt/slides/slide81.xml" Id="R11497060cf7f46ba" /><Relationship Type="http://schemas.openxmlformats.org/officeDocument/2006/relationships/slide" Target="/ppt/slides/slide82.xml" Id="Rd210885f43774064" /><Relationship Type="http://schemas.openxmlformats.org/officeDocument/2006/relationships/slide" Target="/ppt/slides/slide83.xml" Id="Rc816b936d4234914" /><Relationship Type="http://schemas.openxmlformats.org/officeDocument/2006/relationships/slide" Target="/ppt/slides/slide84.xml" Id="Rdf92fe1ab52e4dfb" /><Relationship Type="http://schemas.openxmlformats.org/officeDocument/2006/relationships/slide" Target="/ppt/slides/slide85.xml" Id="R57000a982cf54368" /><Relationship Type="http://schemas.openxmlformats.org/officeDocument/2006/relationships/slide" Target="/ppt/slides/slide86.xml" Id="R09247fca78ed49bf" /><Relationship Type="http://schemas.openxmlformats.org/officeDocument/2006/relationships/slide" Target="/ppt/slides/slide87.xml" Id="R5b65d67d3e9c4fe5" /><Relationship Type="http://schemas.openxmlformats.org/officeDocument/2006/relationships/slide" Target="/ppt/slides/slide88.xml" Id="Read76447ac3840f8" /><Relationship Type="http://schemas.openxmlformats.org/officeDocument/2006/relationships/slide" Target="/ppt/slides/slide89.xml" Id="Rb3bb2b086b644e3a" /><Relationship Type="http://schemas.openxmlformats.org/officeDocument/2006/relationships/slide" Target="/ppt/slides/slide90.xml" Id="R78833694577747f8" /><Relationship Type="http://schemas.openxmlformats.org/officeDocument/2006/relationships/slide" Target="/ppt/slides/slide91.xml" Id="R790f724e024c4c2b" /><Relationship Type="http://schemas.openxmlformats.org/officeDocument/2006/relationships/slide" Target="/ppt/slides/slide92.xml" Id="R24d8b35b44594767" /><Relationship Type="http://schemas.openxmlformats.org/officeDocument/2006/relationships/slide" Target="/ppt/slides/slide93.xml" Id="R6b3a83c589ce40f0" /><Relationship Type="http://schemas.openxmlformats.org/officeDocument/2006/relationships/slide" Target="/ppt/slides/slide94.xml" Id="R7288f4df10334c2a" /><Relationship Type="http://schemas.openxmlformats.org/officeDocument/2006/relationships/slide" Target="/ppt/slides/slide95.xml" Id="Rdc1bc7d840b24141" /><Relationship Type="http://schemas.openxmlformats.org/officeDocument/2006/relationships/slide" Target="/ppt/slides/slide96.xml" Id="R37df813abebc49ea" /><Relationship Type="http://schemas.openxmlformats.org/officeDocument/2006/relationships/slide" Target="/ppt/slides/slide97.xml" Id="Rc46efe41be454502" /><Relationship Type="http://schemas.openxmlformats.org/officeDocument/2006/relationships/slide" Target="/ppt/slides/slide98.xml" Id="Rd1ddaae46b794c41" /><Relationship Type="http://schemas.openxmlformats.org/officeDocument/2006/relationships/slide" Target="/ppt/slides/slide99.xml" Id="R816932f4ea6d42a9" /><Relationship Type="http://schemas.openxmlformats.org/officeDocument/2006/relationships/slide" Target="/ppt/slides/slide100.xml" Id="R7bc47063094d4443" /><Relationship Type="http://schemas.openxmlformats.org/officeDocument/2006/relationships/slide" Target="/ppt/slides/slide101.xml" Id="R0eafbe81274c470a" /><Relationship Type="http://schemas.openxmlformats.org/officeDocument/2006/relationships/slide" Target="/ppt/slides/slide102.xml" Id="Rf6930381de634b09" /><Relationship Type="http://schemas.openxmlformats.org/officeDocument/2006/relationships/slide" Target="/ppt/slides/slide103.xml" Id="R46051f294010415b" /><Relationship Type="http://schemas.openxmlformats.org/officeDocument/2006/relationships/slide" Target="/ppt/slides/slide104.xml" Id="R4012ad72da264447" /><Relationship Type="http://schemas.openxmlformats.org/officeDocument/2006/relationships/slide" Target="/ppt/slides/slide105.xml" Id="R4203f325c80c4671" /><Relationship Type="http://schemas.openxmlformats.org/officeDocument/2006/relationships/slide" Target="/ppt/slides/slide106.xml" Id="R2c7a39e0a23045a9" /><Relationship Type="http://schemas.openxmlformats.org/officeDocument/2006/relationships/slide" Target="/ppt/slides/slide107.xml" Id="Ra4468eee96b947f4" /><Relationship Type="http://schemas.openxmlformats.org/officeDocument/2006/relationships/slide" Target="/ppt/slides/slide108.xml" Id="R9ea7f4ca103c400d" /><Relationship Type="http://schemas.openxmlformats.org/officeDocument/2006/relationships/slide" Target="/ppt/slides/slide109.xml" Id="R8f30c6165df54895" /><Relationship Type="http://schemas.openxmlformats.org/officeDocument/2006/relationships/slide" Target="/ppt/slides/slide110.xml" Id="Ree04775022984730" /><Relationship Type="http://schemas.openxmlformats.org/officeDocument/2006/relationships/slide" Target="/ppt/slides/slide111.xml" Id="R7ad59aee8c7c473b" /><Relationship Type="http://schemas.openxmlformats.org/officeDocument/2006/relationships/slide" Target="/ppt/slides/slide112.xml" Id="Ra1a0ca0a576a4cd2" /><Relationship Type="http://schemas.openxmlformats.org/officeDocument/2006/relationships/slide" Target="/ppt/slides/slide113.xml" Id="Rb189ffb7433c43cd" /><Relationship Type="http://schemas.openxmlformats.org/officeDocument/2006/relationships/slide" Target="/ppt/slides/slide114.xml" Id="R747a23012c9240be" /><Relationship Type="http://schemas.openxmlformats.org/officeDocument/2006/relationships/slide" Target="/ppt/slides/slide115.xml" Id="R59e7792034a24d23" /><Relationship Type="http://schemas.openxmlformats.org/officeDocument/2006/relationships/slide" Target="/ppt/slides/slide116.xml" Id="R1cf6811512b8456b" /><Relationship Type="http://schemas.openxmlformats.org/officeDocument/2006/relationships/slide" Target="/ppt/slides/slide117.xml" Id="R7a184e1e18ba4050" /><Relationship Type="http://schemas.openxmlformats.org/officeDocument/2006/relationships/slide" Target="/ppt/slides/slide118.xml" Id="R42a591744b2a4658" /><Relationship Type="http://schemas.openxmlformats.org/officeDocument/2006/relationships/slide" Target="/ppt/slides/slide119.xml" Id="R77a1db0caba14b66" /><Relationship Type="http://schemas.openxmlformats.org/officeDocument/2006/relationships/slide" Target="/ppt/slides/slide120.xml" Id="R33b4fc5ed93a46c6" /><Relationship Type="http://schemas.openxmlformats.org/officeDocument/2006/relationships/slide" Target="/ppt/slides/slide121.xml" Id="Rdef9eda95c6d4011" /><Relationship Type="http://schemas.openxmlformats.org/officeDocument/2006/relationships/slide" Target="/ppt/slides/slide122.xml" Id="Ra9a8f725372b470c" /><Relationship Type="http://schemas.openxmlformats.org/officeDocument/2006/relationships/slide" Target="/ppt/slides/slide123.xml" Id="R8dfbba65b73f44c1" /><Relationship Type="http://schemas.openxmlformats.org/officeDocument/2006/relationships/slide" Target="/ppt/slides/slide124.xml" Id="R71e2160ebef54e24" /><Relationship Type="http://schemas.openxmlformats.org/officeDocument/2006/relationships/slide" Target="/ppt/slides/slide125.xml" Id="R0ac0cbe9f8b04ec7" /><Relationship Type="http://schemas.openxmlformats.org/officeDocument/2006/relationships/slide" Target="/ppt/slides/slide126.xml" Id="Rfbb1e681a5e64982" /><Relationship Type="http://schemas.openxmlformats.org/officeDocument/2006/relationships/slide" Target="/ppt/slides/slide127.xml" Id="Rdc672e6601fc4d51" /><Relationship Type="http://schemas.openxmlformats.org/officeDocument/2006/relationships/slide" Target="/ppt/slides/slide128.xml" Id="R82adbf6c527b498c" /><Relationship Type="http://schemas.openxmlformats.org/officeDocument/2006/relationships/slide" Target="/ppt/slides/slide129.xml" Id="Reb789f972b7446e8" /><Relationship Type="http://schemas.openxmlformats.org/officeDocument/2006/relationships/slide" Target="/ppt/slides/slide130.xml" Id="Re92a768a41254dcb" /><Relationship Type="http://schemas.openxmlformats.org/officeDocument/2006/relationships/slide" Target="/ppt/slides/slide131.xml" Id="R16e3dff73fa84144" /><Relationship Type="http://schemas.openxmlformats.org/officeDocument/2006/relationships/slide" Target="/ppt/slides/slide132.xml" Id="Rc3e82ef473ab4be7" /><Relationship Type="http://schemas.openxmlformats.org/officeDocument/2006/relationships/slide" Target="/ppt/slides/slide133.xml" Id="R94a439cb78a3424a" /><Relationship Type="http://schemas.openxmlformats.org/officeDocument/2006/relationships/slide" Target="/ppt/slides/slide134.xml" Id="R9eba63e85b5f44ad" /><Relationship Type="http://schemas.openxmlformats.org/officeDocument/2006/relationships/slide" Target="/ppt/slides/slide135.xml" Id="R479178a766314c00" /><Relationship Type="http://schemas.openxmlformats.org/officeDocument/2006/relationships/slide" Target="/ppt/slides/slide136.xml" Id="R563c4dcaee4b4f50" /><Relationship Type="http://schemas.openxmlformats.org/officeDocument/2006/relationships/slide" Target="/ppt/slides/slide137.xml" Id="R2d122b1ab62d49e4" /><Relationship Type="http://schemas.openxmlformats.org/officeDocument/2006/relationships/slide" Target="/ppt/slides/slide138.xml" Id="Recef79750ec14750" /><Relationship Type="http://schemas.openxmlformats.org/officeDocument/2006/relationships/slide" Target="/ppt/slides/slide139.xml" Id="Ra99591a33cd74fc5" /><Relationship Type="http://schemas.openxmlformats.org/officeDocument/2006/relationships/slide" Target="/ppt/slides/slide140.xml" Id="Rde59766a5f0744a2" /><Relationship Type="http://schemas.openxmlformats.org/officeDocument/2006/relationships/slide" Target="/ppt/slides/slide141.xml" Id="Rfcbe6ae6ba234baf" /><Relationship Type="http://schemas.openxmlformats.org/officeDocument/2006/relationships/slide" Target="/ppt/slides/slide142.xml" Id="Rec9d4e8fa3694448" /><Relationship Type="http://schemas.openxmlformats.org/officeDocument/2006/relationships/slide" Target="/ppt/slides/slide143.xml" Id="R872acf8503f44178" /><Relationship Type="http://schemas.openxmlformats.org/officeDocument/2006/relationships/slide" Target="/ppt/slides/slide144.xml" Id="R46c810ced3644d6b" /><Relationship Type="http://schemas.openxmlformats.org/officeDocument/2006/relationships/slide" Target="/ppt/slides/slide145.xml" Id="R91173c61c38d47ce" /><Relationship Type="http://schemas.openxmlformats.org/officeDocument/2006/relationships/slide" Target="/ppt/slides/slide146.xml" Id="Racfd53e72df44b53" /><Relationship Type="http://schemas.openxmlformats.org/officeDocument/2006/relationships/slide" Target="/ppt/slides/slide147.xml" Id="R6ae6a02f17b24009" /><Relationship Type="http://schemas.openxmlformats.org/officeDocument/2006/relationships/slide" Target="/ppt/slides/slide148.xml" Id="R5cfee1d248dc4031" /><Relationship Type="http://schemas.openxmlformats.org/officeDocument/2006/relationships/slide" Target="/ppt/slides/slide149.xml" Id="R498474a1efc44516" /><Relationship Type="http://schemas.openxmlformats.org/officeDocument/2006/relationships/slide" Target="/ppt/slides/slide150.xml" Id="R96120b7d73d54f25" /><Relationship Type="http://schemas.openxmlformats.org/officeDocument/2006/relationships/slide" Target="/ppt/slides/slide151.xml" Id="R7a74a271faf94deb" /><Relationship Type="http://schemas.openxmlformats.org/officeDocument/2006/relationships/slide" Target="/ppt/slides/slide152.xml" Id="Rdff8be56febd4fea" /><Relationship Type="http://schemas.openxmlformats.org/officeDocument/2006/relationships/slide" Target="/ppt/slides/slide153.xml" Id="R4256b0e5cfe349f4" /><Relationship Type="http://schemas.openxmlformats.org/officeDocument/2006/relationships/slide" Target="/ppt/slides/slide154.xml" Id="R7e16b7e89eda4918" /><Relationship Type="http://schemas.openxmlformats.org/officeDocument/2006/relationships/slide" Target="/ppt/slides/slide155.xml" Id="Re106725dc6294b0f" /><Relationship Type="http://schemas.openxmlformats.org/officeDocument/2006/relationships/slide" Target="/ppt/slides/slide156.xml" Id="R49f765697a8d4fde" /><Relationship Type="http://schemas.openxmlformats.org/officeDocument/2006/relationships/slide" Target="/ppt/slides/slide157.xml" Id="R3af53f18ab484690" /><Relationship Type="http://schemas.openxmlformats.org/officeDocument/2006/relationships/slide" Target="/ppt/slides/slide158.xml" Id="R2979d722d35f471a" /><Relationship Type="http://schemas.openxmlformats.org/officeDocument/2006/relationships/slide" Target="/ppt/slides/slide159.xml" Id="Ra9204742196e4cd2" /><Relationship Type="http://schemas.openxmlformats.org/officeDocument/2006/relationships/slide" Target="/ppt/slides/slide160.xml" Id="R92f1e79a163a4426" /></Relationships>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ef2b2bc7adae4db2"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EDE6AC-9ACF-4929-B820-39B657DA30CA}" type="datetimeFigureOut">
              <a:rPr lang="en-IN"/>
              <a:t>29-04-2025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6649FB-1A5C-4ADE-AC4E-C740F5198A2A}" type="slidenum">
              <a:rPr lang="en-IN"/>
              <a:t>‹#›</a:t>
            </a:fld>
            <a:endParaRPr lang="en-IN"/>
          </a:p>
        </p:txBody>
      </p:sp>
    </p:spTree>
    <p:extLst>
      <p:ext uri="{BB962C8B-B14F-4D97-AF65-F5344CB8AC3E}">
        <p14:creationId xmlns:p14="http://schemas.microsoft.com/office/powerpoint/2010/main" val="201504043"/>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05920d1fafad480e"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90AC0-D5C3-AD43-91A3-7D18C836627E}" type="datetimeFigureOut">
              <a:rPr lang="en-US"/>
              <a:t>4/29/2025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2E4CE2-CEC8-754E-B21E-2BD547D16516}" type="slidenum">
              <a:rPr lang="en-US"/>
              <a:t>‹#›</a:t>
            </a:fld>
            <a:endParaRPr lang="en-US"/>
          </a:p>
        </p:txBody>
      </p:sp>
    </p:spTree>
    <p:extLst>
      <p:ext uri="{BB962C8B-B14F-4D97-AF65-F5344CB8AC3E}">
        <p14:creationId xmlns:p14="http://schemas.microsoft.com/office/powerpoint/2010/main" val="318349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fb50ac0d664318" /><Relationship Type="http://schemas.openxmlformats.org/officeDocument/2006/relationships/image" Target="/ppt/media/image2.png" Id="R8194c70c0a424f44" /><Relationship Type="http://schemas.openxmlformats.org/officeDocument/2006/relationships/image" Target="/ppt/media/image3.png" Id="Rae919ac359e84f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0bd70a707049ef" /><Relationship Type="http://schemas.openxmlformats.org/officeDocument/2006/relationships/image" Target="/ppt/media/image.png" Id="Rf16620e9199c4e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6aff765b5c4180" /><Relationship Type="http://schemas.openxmlformats.org/officeDocument/2006/relationships/image" Target="/ppt/media/image.png" Id="R20e2998e7ba14a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9ba58a50d44900" /><Relationship Type="http://schemas.openxmlformats.org/officeDocument/2006/relationships/image" Target="/ppt/media/image.jpg" Id="R8b3c9256b27a4ada" /></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ex Layout">
    <p:spTree>
      <p:nvGrpSpPr>
        <p:cNvPr id="1" name=""/>
        <p:cNvGrpSpPr/>
        <p:nvPr/>
      </p:nvGrpSpPr>
      <p:grpSpPr>
        <a:xfrm>
          <a:off x="0" y="0"/>
          <a:ext cx="0" cy="0"/>
          <a:chOff x="0" y="0"/>
          <a:chExt cx="0" cy="0"/>
        </a:xfrm>
      </p:grpSpPr>
      <p:grpSp>
        <p:nvGrpSpPr>
          <p:cNvPr id="3" name="object 10"/>
          <p:cNvGrpSpPr/>
          <p:nvPr userDrawn="1"/>
        </p:nvGrpSpPr>
        <p:grpSpPr>
          <a:xfrm>
            <a:off x="445191" y="0"/>
            <a:ext cx="8698811" cy="6857999"/>
            <a:chOff x="-4801433" y="-1782234"/>
            <a:chExt cx="18084927" cy="14257864"/>
          </a:xfrm>
        </p:grpSpPr>
        <p:sp>
          <p:nvSpPr>
            <p:cNvPr id="4" name="object 11"/>
            <p:cNvSpPr/>
            <p:nvPr/>
          </p:nvSpPr>
          <p:spPr>
            <a:xfrm>
              <a:off x="-4801433" y="1790698"/>
              <a:ext cx="12600815" cy="983098"/>
            </a:xfrm>
            <a:custGeom>
              <a:avLst/>
              <a:gdLst/>
              <a:ahLst/>
              <a:cxnLst/>
              <a:rect l="l" t="t" r="r" b="b"/>
              <a:pathLst>
                <a:path w="4610100" h="660400">
                  <a:moveTo>
                    <a:pt x="0" y="660400"/>
                  </a:moveTo>
                  <a:lnTo>
                    <a:pt x="4610100" y="660400"/>
                  </a:lnTo>
                  <a:lnTo>
                    <a:pt x="4610100" y="0"/>
                  </a:lnTo>
                  <a:lnTo>
                    <a:pt x="0" y="0"/>
                  </a:lnTo>
                  <a:lnTo>
                    <a:pt x="0" y="660400"/>
                  </a:lnTo>
                  <a:close/>
                </a:path>
              </a:pathLst>
            </a:custGeom>
            <a:solidFill>
              <a:srgbClr val="646464"/>
            </a:solidFill>
          </p:spPr>
          <p:txBody>
            <a:bodyPr wrap="square" lIns="0" tIns="0" rIns="0" bIns="0" rtlCol="0"/>
            <a:lstStyle/>
            <a:p>
              <a:endParaRPr sz="865"/>
            </a:p>
          </p:txBody>
        </p:sp>
        <p:sp>
          <p:nvSpPr>
            <p:cNvPr id="5" name="object 12"/>
            <p:cNvSpPr/>
            <p:nvPr/>
          </p:nvSpPr>
          <p:spPr>
            <a:xfrm>
              <a:off x="8339276" y="-1782234"/>
              <a:ext cx="4944218" cy="14257864"/>
            </a:xfrm>
            <a:custGeom>
              <a:avLst/>
              <a:gdLst/>
              <a:ahLst/>
              <a:cxnLst/>
              <a:rect l="l" t="t" r="r" b="b"/>
              <a:pathLst>
                <a:path w="2387600" h="10693400">
                  <a:moveTo>
                    <a:pt x="0" y="0"/>
                  </a:moveTo>
                  <a:lnTo>
                    <a:pt x="2387600" y="0"/>
                  </a:lnTo>
                  <a:lnTo>
                    <a:pt x="2387600" y="10693400"/>
                  </a:lnTo>
                  <a:lnTo>
                    <a:pt x="0" y="10693400"/>
                  </a:lnTo>
                  <a:lnTo>
                    <a:pt x="0" y="0"/>
                  </a:lnTo>
                  <a:close/>
                </a:path>
              </a:pathLst>
            </a:custGeom>
            <a:solidFill>
              <a:srgbClr val="1F487C"/>
            </a:solidFill>
          </p:spPr>
          <p:txBody>
            <a:bodyPr wrap="square" lIns="0" tIns="0" rIns="0" bIns="0" rtlCol="0"/>
            <a:lstStyle/>
            <a:p>
              <a:endParaRPr sz="865"/>
            </a:p>
          </p:txBody>
        </p:sp>
      </p:grpSp>
      <p:pic>
        <p:nvPicPr>
          <p:cNvPr id="2" name="Picture 1"/>
          <p:cNvPicPr>
            <a:picLocks noChangeAspect="1"/>
          </p:cNvPicPr>
          <p:nvPr userDrawn="1"/>
        </p:nvPicPr>
        <p:blipFill>
          <a:blip r:embed="R8194c70c0a424f44">
            <a:extLst>
              <a:ext uri="{28A0092B-C50C-407E-A947-70E740481C1C}">
                <a14:useLocalDpi xmlns:a14="http://schemas.microsoft.com/office/drawing/2010/main" val="0"/>
              </a:ext>
            </a:extLst>
          </a:blip>
          <a:stretch>
            <a:fillRect/>
          </a:stretch>
        </p:blipFill>
        <p:spPr>
          <a:xfrm>
            <a:off x="6645166" y="253736"/>
            <a:ext cx="2161851" cy="863775"/>
          </a:xfrm>
          <a:prstGeom prst="rect">
            <a:avLst/>
          </a:prstGeom>
        </p:spPr>
      </p:pic>
      <p:pic>
        <p:nvPicPr>
          <p:cNvPr id="6" name="Picture 5"/>
          <p:cNvPicPr>
            <a:picLocks noChangeAspect="1"/>
          </p:cNvPicPr>
          <p:nvPr userDrawn="1"/>
        </p:nvPicPr>
        <p:blipFill>
          <a:blip r:embed="Rae919ac359e84f63">
            <a:extLst>
              <a:ext uri="{28A0092B-C50C-407E-A947-70E740481C1C}">
                <a14:useLocalDpi xmlns:a14="http://schemas.microsoft.com/office/drawing/2010/main" val="0"/>
              </a:ext>
            </a:extLst>
          </a:blip>
          <a:stretch>
            <a:fillRect/>
          </a:stretch>
        </p:blipFill>
        <p:spPr>
          <a:xfrm>
            <a:off x="352755" y="253736"/>
            <a:ext cx="4597617" cy="691804"/>
          </a:xfrm>
          <a:prstGeom prst="rect">
            <a:avLst/>
          </a:prstGeom>
        </p:spPr>
      </p:pic>
    </p:spTree>
    <p:extLst>
      <p:ext uri="{BB962C8B-B14F-4D97-AF65-F5344CB8AC3E}">
        <p14:creationId xmlns:p14="http://schemas.microsoft.com/office/powerpoint/2010/main" val="361731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object 3"/>
          <p:cNvSpPr/>
          <p:nvPr userDrawn="1"/>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9" name="Rectangle 8"/>
          <p:cNvSpPr/>
          <p:nvPr userDrawn="1"/>
        </p:nvSpPr>
        <p:spPr>
          <a:xfrm>
            <a:off x="603478" y="2256535"/>
            <a:ext cx="7887578" cy="715581"/>
          </a:xfrm>
          <a:prstGeom prst="rect">
            <a:avLst/>
          </a:prstGeom>
        </p:spPr>
        <p:txBody>
          <a:bodyPr wrap="square">
            <a:spAutoFit/>
          </a:bodyPr>
          <a:lstStyle/>
          <a:p>
            <a:pPr algn="ctr"/>
            <a:r>
              <a:rPr lang="en-US" sz="4050" dirty="0">
                <a:solidFill>
                  <a:schemeClr val="bg1"/>
                </a:solidFill>
                <a:latin typeface="Calibri" panose="020F0502020204030204" pitchFamily="34" charset="0"/>
                <a:ea typeface="Calibri" panose="020F0502020204030204" pitchFamily="34" charset="0"/>
                <a:cs typeface="Times New Roman" panose="02020603050405020304" pitchFamily="18" charset="0"/>
              </a:rPr>
              <a:t>Diode and Transistors</a:t>
            </a:r>
          </a:p>
        </p:txBody>
      </p:sp>
      <p:pic>
        <p:nvPicPr>
          <p:cNvPr id="2" name="Picture 1"/>
          <p:cNvPicPr>
            <a:picLocks noChangeAspect="1"/>
          </p:cNvPicPr>
          <p:nvPr userDrawn="1"/>
        </p:nvPicPr>
        <p:blipFill>
          <a:blip r:embed="Rf16620e9199c4ec8">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2040585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object 3"/>
          <p:cNvSpPr/>
          <p:nvPr userDrawn="1"/>
        </p:nvSpPr>
        <p:spPr>
          <a:xfrm>
            <a:off x="1" y="6493764"/>
            <a:ext cx="9143999" cy="419100"/>
          </a:xfrm>
          <a:custGeom>
            <a:avLst/>
            <a:gdLst/>
            <a:ahLst/>
            <a:cxnLst/>
            <a:rect l="l" t="t" r="r" b="b"/>
            <a:pathLst>
              <a:path w="7556500" h="393700">
                <a:moveTo>
                  <a:pt x="7556500" y="0"/>
                </a:moveTo>
                <a:lnTo>
                  <a:pt x="0" y="0"/>
                </a:lnTo>
                <a:lnTo>
                  <a:pt x="0" y="393700"/>
                </a:lnTo>
                <a:lnTo>
                  <a:pt x="7556500" y="393700"/>
                </a:lnTo>
                <a:lnTo>
                  <a:pt x="7556500" y="0"/>
                </a:lnTo>
                <a:close/>
              </a:path>
            </a:pathLst>
          </a:custGeom>
          <a:solidFill>
            <a:srgbClr val="1F487C"/>
          </a:solidFill>
        </p:spPr>
        <p:txBody>
          <a:bodyPr wrap="square" lIns="0" tIns="0" rIns="0" bIns="0" rtlCol="0"/>
          <a:lstStyle/>
          <a:p>
            <a:endParaRPr sz="865"/>
          </a:p>
        </p:txBody>
      </p:sp>
      <p:pic>
        <p:nvPicPr>
          <p:cNvPr id="10" name="Picture 9"/>
          <p:cNvPicPr>
            <a:picLocks noChangeAspect="1"/>
          </p:cNvPicPr>
          <p:nvPr userDrawn="1"/>
        </p:nvPicPr>
        <p:blipFill>
          <a:blip r:embed="R20e2998e7ba14ad1">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257217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slide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8b3c9256b27a4ada"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563911147"/>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3.xml" Id="R77acedd6cd514e73" /><Relationship Type="http://schemas.openxmlformats.org/officeDocument/2006/relationships/slideLayout" Target="/ppt/slideLayouts/slideLayout2.xml" Id="R8578afb51cd94cff" /><Relationship Type="http://schemas.openxmlformats.org/officeDocument/2006/relationships/slideLayout" Target="/ppt/slideLayouts/slideLayout3.xml" Id="R9bb772830365409f" /><Relationship Type="http://schemas.openxmlformats.org/officeDocument/2006/relationships/slideLayout" Target="/ppt/slideLayouts/slideLayout4.xml" Id="Rc538ebfae95f4abd" /><Relationship Type="http://schemas.openxmlformats.org/officeDocument/2006/relationships/slideLayout" Target="/ppt/slideLayouts/slideLayout5.xml" Id="Reff8f88e84d94f66"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934578"/>
            <a:ext cx="7886700" cy="11780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2249992"/>
            <a:ext cx="7886700" cy="409562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2655420"/>
      </p:ext>
    </p:extLst>
  </p:cSld>
  <p:clrMap bg1="lt1" tx1="dk1" bg2="lt2" tx2="dk2" accent1="accent1" accent2="accent2" accent3="accent3" accent4="accent4" accent5="accent5" accent6="accent6" hlink="hlink" folHlink="folHlink"/>
  <p:sldLayoutIdLst>
    <p:sldLayoutId id="2147483650" r:id="R8578afb51cd94cff"/>
    <p:sldLayoutId id="2147483651" r:id="R9bb772830365409f"/>
    <p:sldLayoutId id="2147483652" r:id="Rc538ebfae95f4abd"/>
    <p:sldLayoutId id="2147483653" r:id="Reff8f88e84d94f6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slideLayout" Target="/ppt/slideLayouts/slideLayout3.xml" Id="Rf1d78551014349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25854146c294bfa" /></Relationships>
</file>

<file path=ppt/slides/_rels/slide3.xml.rels>&#65279;<?xml version="1.0" encoding="utf-8"?><Relationships xmlns="http://schemas.openxmlformats.org/package/2006/relationships"><Relationship Type="http://schemas.openxmlformats.org/officeDocument/2006/relationships/tags" Target="/ppt/slides/tags/tag1.xml" Id="Rb4bdfa2465dc4673" /><Relationship Type="http://schemas.openxmlformats.org/officeDocument/2006/relationships/slideLayout" Target="/ppt/slideLayouts/slideLayout4.xml" Id="Rcd97dfe0cb66414d" /></Relationships>
</file>

<file path=ppt/slides/_rels/slide4.xml.rels>&#65279;<?xml version="1.0" encoding="utf-8"?><Relationships xmlns="http://schemas.openxmlformats.org/package/2006/relationships"><Relationship Type="http://schemas.openxmlformats.org/officeDocument/2006/relationships/tags" Target="/ppt/slides/tags/tag2.xml" Id="R0f369dc3f21643f4" /><Relationship Type="http://schemas.openxmlformats.org/officeDocument/2006/relationships/slideLayout" Target="/ppt/slideLayouts/slideLayout4.xml" Id="Re136db35eabb429b" /></Relationships>
</file>

<file path=ppt/slides/_rels/slide5.xml.rels>&#65279;<?xml version="1.0" encoding="utf-8"?><Relationships xmlns="http://schemas.openxmlformats.org/package/2006/relationships"><Relationship Type="http://schemas.openxmlformats.org/officeDocument/2006/relationships/tags" Target="/ppt/slides/tags/tag3.xml" Id="Rf0bcae7976524330" /><Relationship Type="http://schemas.openxmlformats.org/officeDocument/2006/relationships/slideLayout" Target="/ppt/slideLayouts/slideLayout4.xml" Id="R57a9692f2acf4c79" /></Relationships>
</file>

<file path=ppt/slides/_rels/slide6.xml.rels>&#65279;<?xml version="1.0" encoding="utf-8"?><Relationships xmlns="http://schemas.openxmlformats.org/package/2006/relationships"><Relationship Type="http://schemas.openxmlformats.org/officeDocument/2006/relationships/tags" Target="/ppt/slides/tags/tag4.xml" Id="R20f809021c554704" /><Relationship Type="http://schemas.openxmlformats.org/officeDocument/2006/relationships/slideLayout" Target="/ppt/slideLayouts/slideLayout4.xml" Id="Rc83ee647d7d9443a" /></Relationships>
</file>

<file path=ppt/slides/_rels/slide7.xml.rels>&#65279;<?xml version="1.0" encoding="utf-8"?><Relationships xmlns="http://schemas.openxmlformats.org/package/2006/relationships"><Relationship Type="http://schemas.openxmlformats.org/officeDocument/2006/relationships/image" Target="/ppt/media/image.gif" Id="Rea501a508e754d40" /><Relationship Type="http://schemas.openxmlformats.org/officeDocument/2006/relationships/tags" Target="/ppt/slides/tags/tag5.xml" Id="R71257a0c9c754f9b" /><Relationship Type="http://schemas.openxmlformats.org/officeDocument/2006/relationships/slideLayout" Target="/ppt/slideLayouts/slideLayout4.xml" Id="Rcf25237e7b0c42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234db22bee724a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09dbed0d2b884a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a6aa786dfa942b6" /></Relationships>
</file>

<file path=ppt/slides/_rels/slide11.xml.rels>&#65279;<?xml version="1.0" encoding="utf-8"?><Relationships xmlns="http://schemas.openxmlformats.org/package/2006/relationships"><Relationship Type="http://schemas.openxmlformats.org/officeDocument/2006/relationships/image" Target="/ppt/media/image4.png" Id="Rd083e8b91b7a4a27" /><Relationship Type="http://schemas.openxmlformats.org/officeDocument/2006/relationships/image" Target="/ppt/media/image5.png" Id="R842d8163f48741e6" /><Relationship Type="http://schemas.openxmlformats.org/officeDocument/2006/relationships/image" Target="/ppt/media/image6.png" Id="R12cd7ce74a244e0c" /><Relationship Type="http://schemas.openxmlformats.org/officeDocument/2006/relationships/image" Target="/ppt/media/image7.png" Id="R3c8476a911d9488d" /><Relationship Type="http://schemas.openxmlformats.org/officeDocument/2006/relationships/image" Target="/ppt/media/image8.png" Id="R27379f45e5b949cb" /><Relationship Type="http://schemas.openxmlformats.org/officeDocument/2006/relationships/image" Target="/ppt/media/image9.png" Id="R8168eb03a14b4ec0" /><Relationship Type="http://schemas.openxmlformats.org/officeDocument/2006/relationships/image" Target="/ppt/media/image10.png" Id="Rbab539255d4c42e1" /><Relationship Type="http://schemas.openxmlformats.org/officeDocument/2006/relationships/image" Target="/ppt/media/image11.png" Id="Re2ba8c1b0cfd4095" /><Relationship Type="http://schemas.openxmlformats.org/officeDocument/2006/relationships/image" Target="/ppt/media/image12.png" Id="R0d41277ca3684e9d" /><Relationship Type="http://schemas.openxmlformats.org/officeDocument/2006/relationships/image" Target="/ppt/media/image13.png" Id="R17b809eea3bf4169" /><Relationship Type="http://schemas.openxmlformats.org/officeDocument/2006/relationships/image" Target="/ppt/media/image14.png" Id="Rf6f86039e8de4a2c" /><Relationship Type="http://schemas.openxmlformats.org/officeDocument/2006/relationships/tags" Target="/ppt/slides/tags/tag6.xml" Id="R4b32c31166574341" /><Relationship Type="http://schemas.openxmlformats.org/officeDocument/2006/relationships/slideLayout" Target="/ppt/slideLayouts/slideLayout4.xml" Id="R12741dae0cac46f6" /></Relationships>
</file>

<file path=ppt/slides/_rels/slide12.xml.rels>&#65279;<?xml version="1.0" encoding="utf-8"?><Relationships xmlns="http://schemas.openxmlformats.org/package/2006/relationships"><Relationship Type="http://schemas.openxmlformats.org/officeDocument/2006/relationships/tags" Target="/ppt/slides/tags/tag7.xml" Id="Re41ac55447bb4a85" /><Relationship Type="http://schemas.openxmlformats.org/officeDocument/2006/relationships/slideLayout" Target="/ppt/slideLayouts/slideLayout4.xml" Id="Rb50b2cbb191747ae" /></Relationships>
</file>

<file path=ppt/slides/_rels/slide13.xml.rels>&#65279;<?xml version="1.0" encoding="utf-8"?><Relationships xmlns="http://schemas.openxmlformats.org/package/2006/relationships"><Relationship Type="http://schemas.openxmlformats.org/officeDocument/2006/relationships/tags" Target="/ppt/slides/tags/tag8.xml" Id="R6b1c37ade6814a67" /><Relationship Type="http://schemas.openxmlformats.org/officeDocument/2006/relationships/slideLayout" Target="/ppt/slideLayouts/slideLayout4.xml" Id="R3fb2631193d449c1" /></Relationships>
</file>

<file path=ppt/slides/_rels/slide14.xml.rels>&#65279;<?xml version="1.0" encoding="utf-8"?><Relationships xmlns="http://schemas.openxmlformats.org/package/2006/relationships"><Relationship Type="http://schemas.openxmlformats.org/officeDocument/2006/relationships/tags" Target="/ppt/slides/tags/tag9.xml" Id="R3fc57dcf00a442af" /><Relationship Type="http://schemas.openxmlformats.org/officeDocument/2006/relationships/slideLayout" Target="/ppt/slideLayouts/slideLayout4.xml" Id="R646d28443fdf4236" /></Relationships>
</file>

<file path=ppt/slides/_rels/slide15.xml.rels>&#65279;<?xml version="1.0" encoding="utf-8"?><Relationships xmlns="http://schemas.openxmlformats.org/package/2006/relationships"><Relationship Type="http://schemas.openxmlformats.org/officeDocument/2006/relationships/tags" Target="/ppt/slides/tags/tag10.xml" Id="Rb77d6f78f622413c" /><Relationship Type="http://schemas.openxmlformats.org/officeDocument/2006/relationships/slideLayout" Target="/ppt/slideLayouts/slideLayout4.xml" Id="R72db2742f8cc427f" /></Relationships>
</file>

<file path=ppt/slides/_rels/slide16.xml.rels>&#65279;<?xml version="1.0" encoding="utf-8"?><Relationships xmlns="http://schemas.openxmlformats.org/package/2006/relationships"><Relationship Type="http://schemas.openxmlformats.org/officeDocument/2006/relationships/tags" Target="/ppt/slides/tags/tag11.xml" Id="Race9d841b04b4ba7" /><Relationship Type="http://schemas.openxmlformats.org/officeDocument/2006/relationships/slideLayout" Target="/ppt/slideLayouts/slideLayout4.xml" Id="R44ae085c71224a77" /></Relationships>
</file>

<file path=ppt/slides/_rels/slide17.xml.rels>&#65279;<?xml version="1.0" encoding="utf-8"?><Relationships xmlns="http://schemas.openxmlformats.org/package/2006/relationships"><Relationship Type="http://schemas.openxmlformats.org/officeDocument/2006/relationships/image" Target="/ppt/media/image15.png" Id="R6467c6b9f7924d26" /><Relationship Type="http://schemas.openxmlformats.org/officeDocument/2006/relationships/image" Target="/ppt/media/image16.png" Id="R13a44f9cf6c2460b" /><Relationship Type="http://schemas.openxmlformats.org/officeDocument/2006/relationships/image" Target="/ppt/media/image17.png" Id="Rf8638336feca4ff6" /><Relationship Type="http://schemas.openxmlformats.org/officeDocument/2006/relationships/image" Target="/ppt/media/image18.png" Id="R8b7e8a7136d042a1" /><Relationship Type="http://schemas.openxmlformats.org/officeDocument/2006/relationships/image" Target="/ppt/media/image19.png" Id="Recd2def243384b2b" /><Relationship Type="http://schemas.openxmlformats.org/officeDocument/2006/relationships/tags" Target="/ppt/slides/tags/tag12.xml" Id="R1b186c8165274f9e" /><Relationship Type="http://schemas.openxmlformats.org/officeDocument/2006/relationships/slideLayout" Target="/ppt/slideLayouts/slideLayout4.xml" Id="R9e510da390ee4085" /></Relationships>
</file>

<file path=ppt/slides/_rels/slide18.xml.rels>&#65279;<?xml version="1.0" encoding="utf-8"?><Relationships xmlns="http://schemas.openxmlformats.org/package/2006/relationships"><Relationship Type="http://schemas.openxmlformats.org/officeDocument/2006/relationships/image" Target="/ppt/media/image20.png" Id="R3186b6ecb22f4b24" /><Relationship Type="http://schemas.openxmlformats.org/officeDocument/2006/relationships/tags" Target="/ppt/slides/tags/tag13.xml" Id="R9644632069e14574" /><Relationship Type="http://schemas.openxmlformats.org/officeDocument/2006/relationships/slideLayout" Target="/ppt/slideLayouts/slideLayout4.xml" Id="Rd9e0343c68804940" /></Relationships>
</file>

<file path=ppt/slides/_rels/slide19.xml.rels>&#65279;<?xml version="1.0" encoding="utf-8"?><Relationships xmlns="http://schemas.openxmlformats.org/package/2006/relationships"><Relationship Type="http://schemas.openxmlformats.org/officeDocument/2006/relationships/tags" Target="/ppt/slides/tags/tag14.xml" Id="R7822212f92c34468" /><Relationship Type="http://schemas.openxmlformats.org/officeDocument/2006/relationships/slideLayout" Target="/ppt/slideLayouts/slideLayout4.xml" Id="R65c7c81816f248be" /></Relationships>
</file>

<file path=ppt/slides/_rels/slide20.xml.rels>&#65279;<?xml version="1.0" encoding="utf-8"?><Relationships xmlns="http://schemas.openxmlformats.org/package/2006/relationships"><Relationship Type="http://schemas.openxmlformats.org/officeDocument/2006/relationships/image" Target="/ppt/media/image21.png" Id="Rb656d78d18e94e0f" /><Relationship Type="http://schemas.openxmlformats.org/officeDocument/2006/relationships/tags" Target="/ppt/slides/tags/tag15.xml" Id="R18ac8739d030479d" /><Relationship Type="http://schemas.openxmlformats.org/officeDocument/2006/relationships/slideLayout" Target="/ppt/slideLayouts/slideLayout4.xml" Id="Rdcb7a729e6034a3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5.xml" Id="R216b522393b744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36117be1a58b40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a1875eba04c4002" /></Relationships>
</file>

<file path=ppt/slides/_rels/slide24.xml.rels>&#65279;<?xml version="1.0" encoding="utf-8"?><Relationships xmlns="http://schemas.openxmlformats.org/package/2006/relationships"><Relationship Type="http://schemas.openxmlformats.org/officeDocument/2006/relationships/tags" Target="/ppt/slides/tags/tag16.xml" Id="R7ecc5b6340f44b71" /><Relationship Type="http://schemas.openxmlformats.org/officeDocument/2006/relationships/slideLayout" Target="/ppt/slideLayouts/slideLayout4.xml" Id="R38d993c127ff4683" /></Relationships>
</file>

<file path=ppt/slides/_rels/slide25.xml.rels>&#65279;<?xml version="1.0" encoding="utf-8"?><Relationships xmlns="http://schemas.openxmlformats.org/package/2006/relationships"><Relationship Type="http://schemas.openxmlformats.org/officeDocument/2006/relationships/tags" Target="/ppt/slides/tags/tag17.xml" Id="Rf8dd014dfc9d4ce6" /><Relationship Type="http://schemas.openxmlformats.org/officeDocument/2006/relationships/slideLayout" Target="/ppt/slideLayouts/slideLayout4.xml" Id="R32628c583a584dab" /></Relationships>
</file>

<file path=ppt/slides/_rels/slide26.xml.rels>&#65279;<?xml version="1.0" encoding="utf-8"?><Relationships xmlns="http://schemas.openxmlformats.org/package/2006/relationships"><Relationship Type="http://schemas.openxmlformats.org/officeDocument/2006/relationships/tags" Target="/ppt/slides/tags/tag18.xml" Id="Ra0853f23a3624fd9" /><Relationship Type="http://schemas.openxmlformats.org/officeDocument/2006/relationships/slideLayout" Target="/ppt/slideLayouts/slideLayout4.xml" Id="R06a1f8ce72d44c92" /></Relationships>
</file>

<file path=ppt/slides/_rels/slide27.xml.rels>&#65279;<?xml version="1.0" encoding="utf-8"?><Relationships xmlns="http://schemas.openxmlformats.org/package/2006/relationships"><Relationship Type="http://schemas.openxmlformats.org/officeDocument/2006/relationships/tags" Target="/ppt/slides/tags/tag19.xml" Id="R0ab85a2d8a4d498d" /><Relationship Type="http://schemas.openxmlformats.org/officeDocument/2006/relationships/slideLayout" Target="/ppt/slideLayouts/slideLayout4.xml" Id="Rb6d0d7c9a9ef4d94" /></Relationships>
</file>

<file path=ppt/slides/_rels/slide28.xml.rels>&#65279;<?xml version="1.0" encoding="utf-8"?><Relationships xmlns="http://schemas.openxmlformats.org/package/2006/relationships"><Relationship Type="http://schemas.openxmlformats.org/officeDocument/2006/relationships/tags" Target="/ppt/slides/tags/tag20.xml" Id="R61858fe005c84f92" /><Relationship Type="http://schemas.openxmlformats.org/officeDocument/2006/relationships/slideLayout" Target="/ppt/slideLayouts/slideLayout4.xml" Id="Ref02b79983134958" /></Relationships>
</file>

<file path=ppt/slides/_rels/slide29.xml.rels>&#65279;<?xml version="1.0" encoding="utf-8"?><Relationships xmlns="http://schemas.openxmlformats.org/package/2006/relationships"><Relationship Type="http://schemas.openxmlformats.org/officeDocument/2006/relationships/tags" Target="/ppt/slides/tags/tag21.xml" Id="Rfc90078454f84657" /><Relationship Type="http://schemas.openxmlformats.org/officeDocument/2006/relationships/slideLayout" Target="/ppt/slideLayouts/slideLayout4.xml" Id="Rc958597ab9b141d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5.xml" Id="Rbffbc7810b074ec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31819ed344b347a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c814c3a393e44ace" /></Relationships>
</file>

<file path=ppt/slides/_rels/slide33.xml.rels>&#65279;<?xml version="1.0" encoding="utf-8"?><Relationships xmlns="http://schemas.openxmlformats.org/package/2006/relationships"><Relationship Type="http://schemas.openxmlformats.org/officeDocument/2006/relationships/tags" Target="/ppt/slides/tags/tag22.xml" Id="Ra8ed6d24dcb94a67" /><Relationship Type="http://schemas.openxmlformats.org/officeDocument/2006/relationships/slideLayout" Target="/ppt/slideLayouts/slideLayout4.xml" Id="R066627c0feea4a8a" /></Relationships>
</file>

<file path=ppt/slides/_rels/slide34.xml.rels>&#65279;<?xml version="1.0" encoding="utf-8"?><Relationships xmlns="http://schemas.openxmlformats.org/package/2006/relationships"><Relationship Type="http://schemas.openxmlformats.org/officeDocument/2006/relationships/image" Target="/ppt/media/image22.png" Id="Rdef253b7c8ac4c47" /><Relationship Type="http://schemas.openxmlformats.org/officeDocument/2006/relationships/tags" Target="/ppt/slides/tags/tag23.xml" Id="R2c75086d3b7442ce" /><Relationship Type="http://schemas.openxmlformats.org/officeDocument/2006/relationships/slideLayout" Target="/ppt/slideLayouts/slideLayout4.xml" Id="R254cb6e1180048e3" /></Relationships>
</file>

<file path=ppt/slides/_rels/slide35.xml.rels>&#65279;<?xml version="1.0" encoding="utf-8"?><Relationships xmlns="http://schemas.openxmlformats.org/package/2006/relationships"><Relationship Type="http://schemas.openxmlformats.org/officeDocument/2006/relationships/tags" Target="/ppt/slides/tags/tag24.xml" Id="Rfed8b20e50aa47c9" /><Relationship Type="http://schemas.openxmlformats.org/officeDocument/2006/relationships/slideLayout" Target="/ppt/slideLayouts/slideLayout4.xml" Id="R1b2e08359f394364" /></Relationships>
</file>

<file path=ppt/slides/_rels/slide36.xml.rels>&#65279;<?xml version="1.0" encoding="utf-8"?><Relationships xmlns="http://schemas.openxmlformats.org/package/2006/relationships"><Relationship Type="http://schemas.openxmlformats.org/officeDocument/2006/relationships/image" Target="/ppt/media/image2.jpg" Id="R7029ce18edf44971" /><Relationship Type="http://schemas.openxmlformats.org/officeDocument/2006/relationships/tags" Target="/ppt/slides/tags/tag25.xml" Id="R692ce9c6e5d344c3" /><Relationship Type="http://schemas.openxmlformats.org/officeDocument/2006/relationships/slideLayout" Target="/ppt/slideLayouts/slideLayout4.xml" Id="R61db4387f83c4865" /></Relationships>
</file>

<file path=ppt/slides/_rels/slide37.xml.rels>&#65279;<?xml version="1.0" encoding="utf-8"?><Relationships xmlns="http://schemas.openxmlformats.org/package/2006/relationships"><Relationship Type="http://schemas.openxmlformats.org/officeDocument/2006/relationships/image" Target="/ppt/media/image23.png" Id="R2f45c8ebef0b4c64" /><Relationship Type="http://schemas.openxmlformats.org/officeDocument/2006/relationships/tags" Target="/ppt/slides/tags/tag26.xml" Id="Rcc2bf285ac834811" /><Relationship Type="http://schemas.openxmlformats.org/officeDocument/2006/relationships/slideLayout" Target="/ppt/slideLayouts/slideLayout4.xml" Id="Rc4df20fee8ea464d" /></Relationships>
</file>

<file path=ppt/slides/_rels/slide38.xml.rels>&#65279;<?xml version="1.0" encoding="utf-8"?><Relationships xmlns="http://schemas.openxmlformats.org/package/2006/relationships"><Relationship Type="http://schemas.openxmlformats.org/officeDocument/2006/relationships/tags" Target="/ppt/slides/tags/tag27.xml" Id="Rbcc2813c8abd4938" /><Relationship Type="http://schemas.openxmlformats.org/officeDocument/2006/relationships/slideLayout" Target="/ppt/slideLayouts/slideLayout4.xml" Id="R89d26d63ff064ea8" /></Relationships>
</file>

<file path=ppt/slides/_rels/slide39.xml.rels>&#65279;<?xml version="1.0" encoding="utf-8"?><Relationships xmlns="http://schemas.openxmlformats.org/package/2006/relationships"><Relationship Type="http://schemas.openxmlformats.org/officeDocument/2006/relationships/tags" Target="/ppt/slides/tags/tag28.xml" Id="R64094ef9732244c0" /><Relationship Type="http://schemas.openxmlformats.org/officeDocument/2006/relationships/slideLayout" Target="/ppt/slideLayouts/slideLayout4.xml" Id="R3bf2106f37a74c5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5.xml" Id="Rf49c7312ce9a474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3.xml" Id="R3091ad8241304eb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5f8d5e0801e4b26" /></Relationships>
</file>

<file path=ppt/slides/_rels/slide43.xml.rels>&#65279;<?xml version="1.0" encoding="utf-8"?><Relationships xmlns="http://schemas.openxmlformats.org/package/2006/relationships"><Relationship Type="http://schemas.openxmlformats.org/officeDocument/2006/relationships/tags" Target="/ppt/slides/tags/tag29.xml" Id="R99a26ea6bad14acf" /><Relationship Type="http://schemas.openxmlformats.org/officeDocument/2006/relationships/slideLayout" Target="/ppt/slideLayouts/slideLayout4.xml" Id="R42cd4d44600d4a04" /></Relationships>
</file>

<file path=ppt/slides/_rels/slide44.xml.rels>&#65279;<?xml version="1.0" encoding="utf-8"?><Relationships xmlns="http://schemas.openxmlformats.org/package/2006/relationships"><Relationship Type="http://schemas.openxmlformats.org/officeDocument/2006/relationships/image" Target="/ppt/media/image24.png" Id="Rba7c9e6e32e34aa1" /><Relationship Type="http://schemas.openxmlformats.org/officeDocument/2006/relationships/tags" Target="/ppt/slides/tags/tag30.xml" Id="Rfbbdd258947e4c1d" /><Relationship Type="http://schemas.openxmlformats.org/officeDocument/2006/relationships/slideLayout" Target="/ppt/slideLayouts/slideLayout4.xml" Id="Rb1a9cc0c26f8437c" /></Relationships>
</file>

<file path=ppt/slides/_rels/slide45.xml.rels>&#65279;<?xml version="1.0" encoding="utf-8"?><Relationships xmlns="http://schemas.openxmlformats.org/package/2006/relationships"><Relationship Type="http://schemas.openxmlformats.org/officeDocument/2006/relationships/tags" Target="/ppt/slides/tags/tag31.xml" Id="R309a3f7fd5af4286" /><Relationship Type="http://schemas.openxmlformats.org/officeDocument/2006/relationships/slideLayout" Target="/ppt/slideLayouts/slideLayout4.xml" Id="Rc6e4db5c5b004b6b" /></Relationships>
</file>

<file path=ppt/slides/_rels/slide46.xml.rels>&#65279;<?xml version="1.0" encoding="utf-8"?><Relationships xmlns="http://schemas.openxmlformats.org/package/2006/relationships"><Relationship Type="http://schemas.openxmlformats.org/officeDocument/2006/relationships/image" Target="/ppt/media/image3.jpg" Id="Rb921be077a0b45e9" /><Relationship Type="http://schemas.openxmlformats.org/officeDocument/2006/relationships/tags" Target="/ppt/slides/tags/tag32.xml" Id="R015961b2c57c4c82" /><Relationship Type="http://schemas.openxmlformats.org/officeDocument/2006/relationships/slideLayout" Target="/ppt/slideLayouts/slideLayout4.xml" Id="R90c7ab91579c4f12" /></Relationships>
</file>

<file path=ppt/slides/_rels/slide47.xml.rels>&#65279;<?xml version="1.0" encoding="utf-8"?><Relationships xmlns="http://schemas.openxmlformats.org/package/2006/relationships"><Relationship Type="http://schemas.openxmlformats.org/officeDocument/2006/relationships/image" Target="/ppt/media/image25.png" Id="R3d00ddb1f24b4068" /><Relationship Type="http://schemas.openxmlformats.org/officeDocument/2006/relationships/tags" Target="/ppt/slides/tags/tag33.xml" Id="R9f22f628ed7e4d1f" /><Relationship Type="http://schemas.openxmlformats.org/officeDocument/2006/relationships/slideLayout" Target="/ppt/slideLayouts/slideLayout4.xml" Id="R7014842c52e94a96" /></Relationships>
</file>

<file path=ppt/slides/_rels/slide48.xml.rels>&#65279;<?xml version="1.0" encoding="utf-8"?><Relationships xmlns="http://schemas.openxmlformats.org/package/2006/relationships"><Relationship Type="http://schemas.openxmlformats.org/officeDocument/2006/relationships/tags" Target="/ppt/slides/tags/tag34.xml" Id="R17ae048459074987" /><Relationship Type="http://schemas.openxmlformats.org/officeDocument/2006/relationships/slideLayout" Target="/ppt/slideLayouts/slideLayout4.xml" Id="R401a9b301bfc43b0" /></Relationships>
</file>

<file path=ppt/slides/_rels/slide49.xml.rels>&#65279;<?xml version="1.0" encoding="utf-8"?><Relationships xmlns="http://schemas.openxmlformats.org/package/2006/relationships"><Relationship Type="http://schemas.openxmlformats.org/officeDocument/2006/relationships/tags" Target="/ppt/slides/tags/tag35.xml" Id="Rb42bc7f5c5634a67" /><Relationship Type="http://schemas.openxmlformats.org/officeDocument/2006/relationships/slideLayout" Target="/ppt/slideLayouts/slideLayout4.xml" Id="Rcd84b470b2b2488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5.xml" Id="R2a3cf005593a4da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3.xml" Id="Raee1d3a0fdd7420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02fa2fdeb9c44505" /></Relationships>
</file>

<file path=ppt/slides/_rels/slide53.xml.rels>&#65279;<?xml version="1.0" encoding="utf-8"?><Relationships xmlns="http://schemas.openxmlformats.org/package/2006/relationships"><Relationship Type="http://schemas.openxmlformats.org/officeDocument/2006/relationships/tags" Target="/ppt/slides/tags/tag36.xml" Id="R483b7e407f834a99" /><Relationship Type="http://schemas.openxmlformats.org/officeDocument/2006/relationships/slideLayout" Target="/ppt/slideLayouts/slideLayout4.xml" Id="Rb4d244f42e784a9d" /></Relationships>
</file>

<file path=ppt/slides/_rels/slide54.xml.rels>&#65279;<?xml version="1.0" encoding="utf-8"?><Relationships xmlns="http://schemas.openxmlformats.org/package/2006/relationships"><Relationship Type="http://schemas.openxmlformats.org/officeDocument/2006/relationships/image" Target="/ppt/media/image26.png" Id="R9e51bb663c1842ce" /><Relationship Type="http://schemas.openxmlformats.org/officeDocument/2006/relationships/tags" Target="/ppt/slides/tags/tag37.xml" Id="R798a731354fd4b59" /><Relationship Type="http://schemas.openxmlformats.org/officeDocument/2006/relationships/slideLayout" Target="/ppt/slideLayouts/slideLayout4.xml" Id="Rae23f39a4fe249df" /></Relationships>
</file>

<file path=ppt/slides/_rels/slide55.xml.rels>&#65279;<?xml version="1.0" encoding="utf-8"?><Relationships xmlns="http://schemas.openxmlformats.org/package/2006/relationships"><Relationship Type="http://schemas.openxmlformats.org/officeDocument/2006/relationships/tags" Target="/ppt/slides/tags/tag38.xml" Id="Rdc809fb5c159468b" /><Relationship Type="http://schemas.openxmlformats.org/officeDocument/2006/relationships/slideLayout" Target="/ppt/slideLayouts/slideLayout4.xml" Id="R5e8207aa202e4e46" /></Relationships>
</file>

<file path=ppt/slides/_rels/slide56.xml.rels>&#65279;<?xml version="1.0" encoding="utf-8"?><Relationships xmlns="http://schemas.openxmlformats.org/package/2006/relationships"><Relationship Type="http://schemas.openxmlformats.org/officeDocument/2006/relationships/image" Target="/ppt/media/image27.png" Id="R735571ca5a174a74" /><Relationship Type="http://schemas.openxmlformats.org/officeDocument/2006/relationships/tags" Target="/ppt/slides/tags/tag39.xml" Id="R28ba1c294dd04e54" /><Relationship Type="http://schemas.openxmlformats.org/officeDocument/2006/relationships/slideLayout" Target="/ppt/slideLayouts/slideLayout4.xml" Id="Rd14a285e78cb4ed1" /></Relationships>
</file>

<file path=ppt/slides/_rels/slide57.xml.rels>&#65279;<?xml version="1.0" encoding="utf-8"?><Relationships xmlns="http://schemas.openxmlformats.org/package/2006/relationships"><Relationship Type="http://schemas.openxmlformats.org/officeDocument/2006/relationships/image" Target="/ppt/media/image28.png" Id="Rb1b2cfbc1ad24029" /><Relationship Type="http://schemas.openxmlformats.org/officeDocument/2006/relationships/tags" Target="/ppt/slides/tags/tag40.xml" Id="R1735fb4f2ef84a73" /><Relationship Type="http://schemas.openxmlformats.org/officeDocument/2006/relationships/slideLayout" Target="/ppt/slideLayouts/slideLayout4.xml" Id="Ra2de36833c2f4ad4" /></Relationships>
</file>

<file path=ppt/slides/_rels/slide58.xml.rels>&#65279;<?xml version="1.0" encoding="utf-8"?><Relationships xmlns="http://schemas.openxmlformats.org/package/2006/relationships"><Relationship Type="http://schemas.openxmlformats.org/officeDocument/2006/relationships/tags" Target="/ppt/slides/tags/tag41.xml" Id="Re2320018b7e946b0" /><Relationship Type="http://schemas.openxmlformats.org/officeDocument/2006/relationships/slideLayout" Target="/ppt/slideLayouts/slideLayout4.xml" Id="Rb737871e7f294e02" /></Relationships>
</file>

<file path=ppt/slides/_rels/slide59.xml.rels>&#65279;<?xml version="1.0" encoding="utf-8"?><Relationships xmlns="http://schemas.openxmlformats.org/package/2006/relationships"><Relationship Type="http://schemas.openxmlformats.org/officeDocument/2006/relationships/tags" Target="/ppt/slides/tags/tag42.xml" Id="R06f213b5c99d4bbd" /><Relationship Type="http://schemas.openxmlformats.org/officeDocument/2006/relationships/slideLayout" Target="/ppt/slideLayouts/slideLayout4.xml" Id="Rbfe60cd6d21e4f2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5.xml" Id="R79d4b1998a7e410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3.xml" Id="R3c8b76102ced4cd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bae1607949f94cdf" /></Relationships>
</file>

<file path=ppt/slides/_rels/slide63.xml.rels>&#65279;<?xml version="1.0" encoding="utf-8"?><Relationships xmlns="http://schemas.openxmlformats.org/package/2006/relationships"><Relationship Type="http://schemas.openxmlformats.org/officeDocument/2006/relationships/image" Target="/ppt/media/image29.png" Id="R1b76ea21a68c49db" /><Relationship Type="http://schemas.openxmlformats.org/officeDocument/2006/relationships/tags" Target="/ppt/slides/tags/tag43.xml" Id="R68dbb881d9e8464e" /><Relationship Type="http://schemas.openxmlformats.org/officeDocument/2006/relationships/slideLayout" Target="/ppt/slideLayouts/slideLayout4.xml" Id="Rb7ee6b91ffc44fbf" /></Relationships>
</file>

<file path=ppt/slides/_rels/slide64.xml.rels>&#65279;<?xml version="1.0" encoding="utf-8"?><Relationships xmlns="http://schemas.openxmlformats.org/package/2006/relationships"><Relationship Type="http://schemas.openxmlformats.org/officeDocument/2006/relationships/tags" Target="/ppt/slides/tags/tag44.xml" Id="Rd49a16089d1f4cc4" /><Relationship Type="http://schemas.openxmlformats.org/officeDocument/2006/relationships/slideLayout" Target="/ppt/slideLayouts/slideLayout4.xml" Id="R590f4c7b93cd443b" /></Relationships>
</file>

<file path=ppt/slides/_rels/slide65.xml.rels>&#65279;<?xml version="1.0" encoding="utf-8"?><Relationships xmlns="http://schemas.openxmlformats.org/package/2006/relationships"><Relationship Type="http://schemas.openxmlformats.org/officeDocument/2006/relationships/tags" Target="/ppt/slides/tags/tag45.xml" Id="Rdefd48e5f2774ab3" /><Relationship Type="http://schemas.openxmlformats.org/officeDocument/2006/relationships/slideLayout" Target="/ppt/slideLayouts/slideLayout4.xml" Id="R278ef36fcd304251" /></Relationships>
</file>

<file path=ppt/slides/_rels/slide66.xml.rels>&#65279;<?xml version="1.0" encoding="utf-8"?><Relationships xmlns="http://schemas.openxmlformats.org/package/2006/relationships"><Relationship Type="http://schemas.openxmlformats.org/officeDocument/2006/relationships/image" Target="/ppt/media/image30.png" Id="R04eca515c7f84c42" /><Relationship Type="http://schemas.openxmlformats.org/officeDocument/2006/relationships/tags" Target="/ppt/slides/tags/tag46.xml" Id="Reda765cedf1242e5" /><Relationship Type="http://schemas.openxmlformats.org/officeDocument/2006/relationships/slideLayout" Target="/ppt/slideLayouts/slideLayout4.xml" Id="Rf6b7c46e2705441f" /></Relationships>
</file>

<file path=ppt/slides/_rels/slide67.xml.rels>&#65279;<?xml version="1.0" encoding="utf-8"?><Relationships xmlns="http://schemas.openxmlformats.org/package/2006/relationships"><Relationship Type="http://schemas.openxmlformats.org/officeDocument/2006/relationships/image" Target="/ppt/media/image31.png" Id="R7708e9088b834dd1" /><Relationship Type="http://schemas.openxmlformats.org/officeDocument/2006/relationships/tags" Target="/ppt/slides/tags/tag47.xml" Id="R9271fbdda2664e54" /><Relationship Type="http://schemas.openxmlformats.org/officeDocument/2006/relationships/slideLayout" Target="/ppt/slideLayouts/slideLayout4.xml" Id="R2e391dd2c6ba4cb8" /></Relationships>
</file>

<file path=ppt/slides/_rels/slide68.xml.rels>&#65279;<?xml version="1.0" encoding="utf-8"?><Relationships xmlns="http://schemas.openxmlformats.org/package/2006/relationships"><Relationship Type="http://schemas.openxmlformats.org/officeDocument/2006/relationships/tags" Target="/ppt/slides/tags/tag48.xml" Id="Rfd011403ec6540e8" /><Relationship Type="http://schemas.openxmlformats.org/officeDocument/2006/relationships/slideLayout" Target="/ppt/slideLayouts/slideLayout4.xml" Id="Raf0e94233d2d407d" /></Relationships>
</file>

<file path=ppt/slides/_rels/slide69.xml.rels>&#65279;<?xml version="1.0" encoding="utf-8"?><Relationships xmlns="http://schemas.openxmlformats.org/package/2006/relationships"><Relationship Type="http://schemas.openxmlformats.org/officeDocument/2006/relationships/tags" Target="/ppt/slides/tags/tag49.xml" Id="R8ae64f0fa7f143d2" /><Relationship Type="http://schemas.openxmlformats.org/officeDocument/2006/relationships/slideLayout" Target="/ppt/slideLayouts/slideLayout4.xml" Id="Re5fce7a885b4424d" /></Relationships>
</file>

<file path=ppt/slides/_rels/slide70.xml.rels>&#65279;<?xml version="1.0" encoding="utf-8"?><Relationships xmlns="http://schemas.openxmlformats.org/package/2006/relationships"><Relationship Type="http://schemas.openxmlformats.org/officeDocument/2006/relationships/tags" Target="/ppt/slides/tags/tag50.xml" Id="Rf3254665ff1248a0" /><Relationship Type="http://schemas.openxmlformats.org/officeDocument/2006/relationships/slideLayout" Target="/ppt/slideLayouts/slideLayout4.xml" Id="R1825f164e89a4e1d" /></Relationships>
</file>

<file path=ppt/slides/_rels/slide71.xml.rels>&#65279;<?xml version="1.0" encoding="utf-8"?><Relationships xmlns="http://schemas.openxmlformats.org/package/2006/relationships"><Relationship Type="http://schemas.openxmlformats.org/officeDocument/2006/relationships/slideLayout" Target="/ppt/slideLayouts/slideLayout5.xml" Id="Rbcc38df9ffac43ab" /></Relationships>
</file>

<file path=ppt/slides/_rels/slide72.xml.rels>&#65279;<?xml version="1.0" encoding="utf-8"?><Relationships xmlns="http://schemas.openxmlformats.org/package/2006/relationships"><Relationship Type="http://schemas.openxmlformats.org/officeDocument/2006/relationships/slideLayout" Target="/ppt/slideLayouts/slideLayout3.xml" Id="Rfbe506b72b674b0c" /></Relationships>
</file>

<file path=ppt/slides/_rels/slide73.xml.rels>&#65279;<?xml version="1.0" encoding="utf-8"?><Relationships xmlns="http://schemas.openxmlformats.org/package/2006/relationships"><Relationship Type="http://schemas.openxmlformats.org/officeDocument/2006/relationships/slideLayout" Target="/ppt/slideLayouts/slideLayout2.xml" Id="R700586fa1f8b41e2" /></Relationships>
</file>

<file path=ppt/slides/_rels/slide74.xml.rels>&#65279;<?xml version="1.0" encoding="utf-8"?><Relationships xmlns="http://schemas.openxmlformats.org/package/2006/relationships"><Relationship Type="http://schemas.openxmlformats.org/officeDocument/2006/relationships/image" Target="/ppt/media/image32.png" Id="R3a8c452904274c21" /><Relationship Type="http://schemas.openxmlformats.org/officeDocument/2006/relationships/tags" Target="/ppt/slides/tags/tag51.xml" Id="Rad1be998f9264b36" /><Relationship Type="http://schemas.openxmlformats.org/officeDocument/2006/relationships/slideLayout" Target="/ppt/slideLayouts/slideLayout4.xml" Id="R3b72825e26444c14" /></Relationships>
</file>

<file path=ppt/slides/_rels/slide75.xml.rels>&#65279;<?xml version="1.0" encoding="utf-8"?><Relationships xmlns="http://schemas.openxmlformats.org/package/2006/relationships"><Relationship Type="http://schemas.openxmlformats.org/officeDocument/2006/relationships/tags" Target="/ppt/slides/tags/tag52.xml" Id="R1042e418172d4e31" /><Relationship Type="http://schemas.openxmlformats.org/officeDocument/2006/relationships/slideLayout" Target="/ppt/slideLayouts/slideLayout4.xml" Id="R243df98e91614ec4" /></Relationships>
</file>

<file path=ppt/slides/_rels/slide76.xml.rels>&#65279;<?xml version="1.0" encoding="utf-8"?><Relationships xmlns="http://schemas.openxmlformats.org/package/2006/relationships"><Relationship Type="http://schemas.openxmlformats.org/officeDocument/2006/relationships/tags" Target="/ppt/slides/tags/tag53.xml" Id="R9ca83fbe2e554fa0" /><Relationship Type="http://schemas.openxmlformats.org/officeDocument/2006/relationships/slideLayout" Target="/ppt/slideLayouts/slideLayout4.xml" Id="R7d2b307c34a94271" /></Relationships>
</file>

<file path=ppt/slides/_rels/slide77.xml.rels>&#65279;<?xml version="1.0" encoding="utf-8"?><Relationships xmlns="http://schemas.openxmlformats.org/package/2006/relationships"><Relationship Type="http://schemas.openxmlformats.org/officeDocument/2006/relationships/image" Target="/ppt/media/image33.png" Id="Rb3b07fa674a7485b" /><Relationship Type="http://schemas.openxmlformats.org/officeDocument/2006/relationships/tags" Target="/ppt/slides/tags/tag54.xml" Id="Re5234fa00f8f4ac4" /><Relationship Type="http://schemas.openxmlformats.org/officeDocument/2006/relationships/slideLayout" Target="/ppt/slideLayouts/slideLayout4.xml" Id="R21cf320c7bed4955" /></Relationships>
</file>

<file path=ppt/slides/_rels/slide78.xml.rels>&#65279;<?xml version="1.0" encoding="utf-8"?><Relationships xmlns="http://schemas.openxmlformats.org/package/2006/relationships"><Relationship Type="http://schemas.openxmlformats.org/officeDocument/2006/relationships/image" Target="/ppt/media/image34.png" Id="Rbe836ca105b04d16" /><Relationship Type="http://schemas.openxmlformats.org/officeDocument/2006/relationships/tags" Target="/ppt/slides/tags/tag55.xml" Id="R0f37cee8ab3b4995" /><Relationship Type="http://schemas.openxmlformats.org/officeDocument/2006/relationships/slideLayout" Target="/ppt/slideLayouts/slideLayout4.xml" Id="R40886c48824e48f3" /></Relationships>
</file>

<file path=ppt/slides/_rels/slide79.xml.rels>&#65279;<?xml version="1.0" encoding="utf-8"?><Relationships xmlns="http://schemas.openxmlformats.org/package/2006/relationships"><Relationship Type="http://schemas.openxmlformats.org/officeDocument/2006/relationships/tags" Target="/ppt/slides/tags/tag56.xml" Id="R0b75d921fbdd4365" /><Relationship Type="http://schemas.openxmlformats.org/officeDocument/2006/relationships/slideLayout" Target="/ppt/slideLayouts/slideLayout4.xml" Id="Rb35b5dcc9d73407c" /></Relationships>
</file>

<file path=ppt/slides/_rels/slide80.xml.rels>&#65279;<?xml version="1.0" encoding="utf-8"?><Relationships xmlns="http://schemas.openxmlformats.org/package/2006/relationships"><Relationship Type="http://schemas.openxmlformats.org/officeDocument/2006/relationships/tags" Target="/ppt/slides/tags/tag57.xml" Id="Rc2b30d9fe4044b8c" /><Relationship Type="http://schemas.openxmlformats.org/officeDocument/2006/relationships/slideLayout" Target="/ppt/slideLayouts/slideLayout4.xml" Id="R6b6f145c0f424667" /></Relationships>
</file>

<file path=ppt/slides/_rels/slide81.xml.rels>&#65279;<?xml version="1.0" encoding="utf-8"?><Relationships xmlns="http://schemas.openxmlformats.org/package/2006/relationships"><Relationship Type="http://schemas.openxmlformats.org/officeDocument/2006/relationships/tags" Target="/ppt/slides/tags/tag58.xml" Id="Re73efe9895884ad5" /><Relationship Type="http://schemas.openxmlformats.org/officeDocument/2006/relationships/slideLayout" Target="/ppt/slideLayouts/slideLayout4.xml" Id="R4a6d9084e7924436" /></Relationships>
</file>

<file path=ppt/slides/_rels/slide82.xml.rels>&#65279;<?xml version="1.0" encoding="utf-8"?><Relationships xmlns="http://schemas.openxmlformats.org/package/2006/relationships"><Relationship Type="http://schemas.openxmlformats.org/officeDocument/2006/relationships/slideLayout" Target="/ppt/slideLayouts/slideLayout5.xml" Id="R70e3912d70dd4d4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3.xml" Id="R4d0580ff5bc044b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2.xml" Id="R27e8e9a5d1124833" /></Relationships>
</file>

<file path=ppt/slides/_rels/slide85.xml.rels>&#65279;<?xml version="1.0" encoding="utf-8"?><Relationships xmlns="http://schemas.openxmlformats.org/package/2006/relationships"><Relationship Type="http://schemas.openxmlformats.org/officeDocument/2006/relationships/image" Target="/ppt/media/image35.png" Id="R782ae3efef2f4e61" /><Relationship Type="http://schemas.openxmlformats.org/officeDocument/2006/relationships/tags" Target="/ppt/slides/tags/tag59.xml" Id="R3dfce6caf64943fb" /><Relationship Type="http://schemas.openxmlformats.org/officeDocument/2006/relationships/slideLayout" Target="/ppt/slideLayouts/slideLayout4.xml" Id="R8e3f8d35434e4d1f" /></Relationships>
</file>

<file path=ppt/slides/_rels/slide86.xml.rels>&#65279;<?xml version="1.0" encoding="utf-8"?><Relationships xmlns="http://schemas.openxmlformats.org/package/2006/relationships"><Relationship Type="http://schemas.openxmlformats.org/officeDocument/2006/relationships/tags" Target="/ppt/slides/tags/tag60.xml" Id="R820ebd9534734810" /><Relationship Type="http://schemas.openxmlformats.org/officeDocument/2006/relationships/slideLayout" Target="/ppt/slideLayouts/slideLayout4.xml" Id="Rb96872a502744cf1" /></Relationships>
</file>

<file path=ppt/slides/_rels/slide87.xml.rels>&#65279;<?xml version="1.0" encoding="utf-8"?><Relationships xmlns="http://schemas.openxmlformats.org/package/2006/relationships"><Relationship Type="http://schemas.openxmlformats.org/officeDocument/2006/relationships/tags" Target="/ppt/slides/tags/tag61.xml" Id="R1b927676fb564dca" /><Relationship Type="http://schemas.openxmlformats.org/officeDocument/2006/relationships/slideLayout" Target="/ppt/slideLayouts/slideLayout4.xml" Id="Rf43c696f1c14479e" /></Relationships>
</file>

<file path=ppt/slides/_rels/slide88.xml.rels>&#65279;<?xml version="1.0" encoding="utf-8"?><Relationships xmlns="http://schemas.openxmlformats.org/package/2006/relationships"><Relationship Type="http://schemas.openxmlformats.org/officeDocument/2006/relationships/image" Target="/ppt/media/image36.png" Id="Rfa2cb8406bb14417" /><Relationship Type="http://schemas.openxmlformats.org/officeDocument/2006/relationships/tags" Target="/ppt/slides/tags/tag62.xml" Id="R1104248814aa442b" /><Relationship Type="http://schemas.openxmlformats.org/officeDocument/2006/relationships/slideLayout" Target="/ppt/slideLayouts/slideLayout4.xml" Id="R50f876eed73849f8" /></Relationships>
</file>

<file path=ppt/slides/_rels/slide89.xml.rels>&#65279;<?xml version="1.0" encoding="utf-8"?><Relationships xmlns="http://schemas.openxmlformats.org/package/2006/relationships"><Relationship Type="http://schemas.openxmlformats.org/officeDocument/2006/relationships/image" Target="/ppt/media/image37.png" Id="Rdb5ee8c062bc420a" /><Relationship Type="http://schemas.openxmlformats.org/officeDocument/2006/relationships/tags" Target="/ppt/slides/tags/tag63.xml" Id="R78b993cfd5594dc5" /><Relationship Type="http://schemas.openxmlformats.org/officeDocument/2006/relationships/slideLayout" Target="/ppt/slideLayouts/slideLayout4.xml" Id="R90f10f998aaa4109" /></Relationships>
</file>

<file path=ppt/slides/_rels/slide90.xml.rels>&#65279;<?xml version="1.0" encoding="utf-8"?><Relationships xmlns="http://schemas.openxmlformats.org/package/2006/relationships"><Relationship Type="http://schemas.openxmlformats.org/officeDocument/2006/relationships/tags" Target="/ppt/slides/tags/tag64.xml" Id="Rfa5f70c96d4f41e9" /><Relationship Type="http://schemas.openxmlformats.org/officeDocument/2006/relationships/slideLayout" Target="/ppt/slideLayouts/slideLayout4.xml" Id="Rb3e6b4f5945d46a3" /></Relationships>
</file>

<file path=ppt/slides/_rels/slide91.xml.rels>&#65279;<?xml version="1.0" encoding="utf-8"?><Relationships xmlns="http://schemas.openxmlformats.org/package/2006/relationships"><Relationship Type="http://schemas.openxmlformats.org/officeDocument/2006/relationships/tags" Target="/ppt/slides/tags/tag65.xml" Id="Ra045a68a8ace4dbb" /><Relationship Type="http://schemas.openxmlformats.org/officeDocument/2006/relationships/slideLayout" Target="/ppt/slideLayouts/slideLayout4.xml" Id="Rc3468c8b2cd64672" /></Relationships>
</file>

<file path=ppt/slides/_rels/slide92.xml.rels>&#65279;<?xml version="1.0" encoding="utf-8"?><Relationships xmlns="http://schemas.openxmlformats.org/package/2006/relationships"><Relationship Type="http://schemas.openxmlformats.org/officeDocument/2006/relationships/tags" Target="/ppt/slides/tags/tag66.xml" Id="R13810340dffa4fb6" /><Relationship Type="http://schemas.openxmlformats.org/officeDocument/2006/relationships/slideLayout" Target="/ppt/slideLayouts/slideLayout4.xml" Id="Rd534282d95ee4f19" /></Relationships>
</file>

<file path=ppt/slides/_rels/slide93.xml.rels>&#65279;<?xml version="1.0" encoding="utf-8"?><Relationships xmlns="http://schemas.openxmlformats.org/package/2006/relationships"><Relationship Type="http://schemas.openxmlformats.org/officeDocument/2006/relationships/tags" Target="/ppt/slides/tags/tag67.xml" Id="R70770025c1244be7" /><Relationship Type="http://schemas.openxmlformats.org/officeDocument/2006/relationships/slideLayout" Target="/ppt/slideLayouts/slideLayout4.xml" Id="R341b7ac7431149df" /></Relationships>
</file>

<file path=ppt/slides/_rels/slide94.xml.rels>&#65279;<?xml version="1.0" encoding="utf-8"?><Relationships xmlns="http://schemas.openxmlformats.org/package/2006/relationships"><Relationship Type="http://schemas.openxmlformats.org/officeDocument/2006/relationships/slideLayout" Target="/ppt/slideLayouts/slideLayout5.xml" Id="R4a0c2d50c35f49d3" /></Relationships>
</file>

<file path=ppt/slides/_rels/slide95.xml.rels>&#65279;<?xml version="1.0" encoding="utf-8"?><Relationships xmlns="http://schemas.openxmlformats.org/package/2006/relationships"><Relationship Type="http://schemas.openxmlformats.org/officeDocument/2006/relationships/slideLayout" Target="/ppt/slideLayouts/slideLayout3.xml" Id="Rc1615416f05d4f3b" /></Relationships>
</file>

<file path=ppt/slides/_rels/slide96.xml.rels>&#65279;<?xml version="1.0" encoding="utf-8"?><Relationships xmlns="http://schemas.openxmlformats.org/package/2006/relationships"><Relationship Type="http://schemas.openxmlformats.org/officeDocument/2006/relationships/slideLayout" Target="/ppt/slideLayouts/slideLayout2.xml" Id="Rd838927399534cde" /></Relationships>
</file>

<file path=ppt/slides/_rels/slide97.xml.rels>&#65279;<?xml version="1.0" encoding="utf-8"?><Relationships xmlns="http://schemas.openxmlformats.org/package/2006/relationships"><Relationship Type="http://schemas.openxmlformats.org/officeDocument/2006/relationships/image" Target="/ppt/media/image38.png" Id="R863118d4fa6243eb" /><Relationship Type="http://schemas.openxmlformats.org/officeDocument/2006/relationships/tags" Target="/ppt/slides/tags/tag68.xml" Id="R391bc40469b74604" /><Relationship Type="http://schemas.openxmlformats.org/officeDocument/2006/relationships/slideLayout" Target="/ppt/slideLayouts/slideLayout4.xml" Id="R847da0ff41014d08" /></Relationships>
</file>

<file path=ppt/slides/_rels/slide98.xml.rels>&#65279;<?xml version="1.0" encoding="utf-8"?><Relationships xmlns="http://schemas.openxmlformats.org/package/2006/relationships"><Relationship Type="http://schemas.openxmlformats.org/officeDocument/2006/relationships/tags" Target="/ppt/slides/tags/tag69.xml" Id="Rf882501613764bbf" /><Relationship Type="http://schemas.openxmlformats.org/officeDocument/2006/relationships/slideLayout" Target="/ppt/slideLayouts/slideLayout4.xml" Id="R6678f9e3e5af4ad8" /></Relationships>
</file>

<file path=ppt/slides/_rels/slide99.xml.rels>&#65279;<?xml version="1.0" encoding="utf-8"?><Relationships xmlns="http://schemas.openxmlformats.org/package/2006/relationships"><Relationship Type="http://schemas.openxmlformats.org/officeDocument/2006/relationships/tags" Target="/ppt/slides/tags/tag70.xml" Id="R7157089c538143fa" /><Relationship Type="http://schemas.openxmlformats.org/officeDocument/2006/relationships/slideLayout" Target="/ppt/slideLayouts/slideLayout4.xml" Id="R1af6ce6e0c514b58" /></Relationships>
</file>

<file path=ppt/slides/_rels/slide100.xml.rels>&#65279;<?xml version="1.0" encoding="utf-8"?><Relationships xmlns="http://schemas.openxmlformats.org/package/2006/relationships"><Relationship Type="http://schemas.openxmlformats.org/officeDocument/2006/relationships/image" Target="/ppt/media/image39.png" Id="R5b9272b0ba3044a7" /><Relationship Type="http://schemas.openxmlformats.org/officeDocument/2006/relationships/tags" Target="/ppt/slides/tags/tag71.xml" Id="Red05979d8cf4401c" /><Relationship Type="http://schemas.openxmlformats.org/officeDocument/2006/relationships/slideLayout" Target="/ppt/slideLayouts/slideLayout4.xml" Id="Rfdfdee313db84e08" /></Relationships>
</file>

<file path=ppt/slides/_rels/slide101.xml.rels>&#65279;<?xml version="1.0" encoding="utf-8"?><Relationships xmlns="http://schemas.openxmlformats.org/package/2006/relationships"><Relationship Type="http://schemas.openxmlformats.org/officeDocument/2006/relationships/image" Target="/ppt/media/image40.png" Id="R2122387bb1d14149" /><Relationship Type="http://schemas.openxmlformats.org/officeDocument/2006/relationships/tags" Target="/ppt/slides/tags/tag72.xml" Id="R1f4c30f872934a96" /><Relationship Type="http://schemas.openxmlformats.org/officeDocument/2006/relationships/slideLayout" Target="/ppt/slideLayouts/slideLayout4.xml" Id="R72f90db6d0e54598" /></Relationships>
</file>

<file path=ppt/slides/_rels/slide102.xml.rels>&#65279;<?xml version="1.0" encoding="utf-8"?><Relationships xmlns="http://schemas.openxmlformats.org/package/2006/relationships"><Relationship Type="http://schemas.openxmlformats.org/officeDocument/2006/relationships/tags" Target="/ppt/slides/tags/tag73.xml" Id="R13d82c14c9d84eaa" /><Relationship Type="http://schemas.openxmlformats.org/officeDocument/2006/relationships/slideLayout" Target="/ppt/slideLayouts/slideLayout4.xml" Id="R3af67ac79e7c44ea" /></Relationships>
</file>

<file path=ppt/slides/_rels/slide103.xml.rels>&#65279;<?xml version="1.0" encoding="utf-8"?><Relationships xmlns="http://schemas.openxmlformats.org/package/2006/relationships"><Relationship Type="http://schemas.openxmlformats.org/officeDocument/2006/relationships/tags" Target="/ppt/slides/tags/tag74.xml" Id="R7f7dc3f828c74e7d" /><Relationship Type="http://schemas.openxmlformats.org/officeDocument/2006/relationships/slideLayout" Target="/ppt/slideLayouts/slideLayout4.xml" Id="R5a01564c5cb9451c" /></Relationships>
</file>

<file path=ppt/slides/_rels/slide104.xml.rels>&#65279;<?xml version="1.0" encoding="utf-8"?><Relationships xmlns="http://schemas.openxmlformats.org/package/2006/relationships"><Relationship Type="http://schemas.openxmlformats.org/officeDocument/2006/relationships/tags" Target="/ppt/slides/tags/tag75.xml" Id="Rd10a0f0aeb78433a" /><Relationship Type="http://schemas.openxmlformats.org/officeDocument/2006/relationships/slideLayout" Target="/ppt/slideLayouts/slideLayout4.xml" Id="R9feacf6a4c4e4d11"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5.xml" Id="R5771228e1d5a433e"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3.xml" Id="R199a068039b04e5d"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2.xml" Id="R2a5d5d4ec000475a" /></Relationships>
</file>

<file path=ppt/slides/_rels/slide108.xml.rels>&#65279;<?xml version="1.0" encoding="utf-8"?><Relationships xmlns="http://schemas.openxmlformats.org/package/2006/relationships"><Relationship Type="http://schemas.openxmlformats.org/officeDocument/2006/relationships/image" Target="/ppt/media/image41.png" Id="R4e617c423eab46be" /><Relationship Type="http://schemas.openxmlformats.org/officeDocument/2006/relationships/tags" Target="/ppt/slides/tags/tag76.xml" Id="Rd32ef05c94ed4d1e" /><Relationship Type="http://schemas.openxmlformats.org/officeDocument/2006/relationships/slideLayout" Target="/ppt/slideLayouts/slideLayout4.xml" Id="R541d2755f5814dd0" /></Relationships>
</file>

<file path=ppt/slides/_rels/slide109.xml.rels>&#65279;<?xml version="1.0" encoding="utf-8"?><Relationships xmlns="http://schemas.openxmlformats.org/package/2006/relationships"><Relationship Type="http://schemas.openxmlformats.org/officeDocument/2006/relationships/tags" Target="/ppt/slides/tags/tag77.xml" Id="R117d3c00c7ab4470" /><Relationship Type="http://schemas.openxmlformats.org/officeDocument/2006/relationships/slideLayout" Target="/ppt/slideLayouts/slideLayout4.xml" Id="R101b981cdcdf4423" /></Relationships>
</file>

<file path=ppt/slides/_rels/slide110.xml.rels>&#65279;<?xml version="1.0" encoding="utf-8"?><Relationships xmlns="http://schemas.openxmlformats.org/package/2006/relationships"><Relationship Type="http://schemas.openxmlformats.org/officeDocument/2006/relationships/tags" Target="/ppt/slides/tags/tag78.xml" Id="Rd5a76da189c34d11" /><Relationship Type="http://schemas.openxmlformats.org/officeDocument/2006/relationships/slideLayout" Target="/ppt/slideLayouts/slideLayout4.xml" Id="R41e1e4b082db48ae" /></Relationships>
</file>

<file path=ppt/slides/_rels/slide111.xml.rels>&#65279;<?xml version="1.0" encoding="utf-8"?><Relationships xmlns="http://schemas.openxmlformats.org/package/2006/relationships"><Relationship Type="http://schemas.openxmlformats.org/officeDocument/2006/relationships/image" Target="/ppt/media/image42.png" Id="R2aa6e7e091a1413d" /><Relationship Type="http://schemas.openxmlformats.org/officeDocument/2006/relationships/tags" Target="/ppt/slides/tags/tag79.xml" Id="Rdd229d96a96f4a71" /><Relationship Type="http://schemas.openxmlformats.org/officeDocument/2006/relationships/slideLayout" Target="/ppt/slideLayouts/slideLayout4.xml" Id="R7dc8576c00f440d5" /></Relationships>
</file>

<file path=ppt/slides/_rels/slide112.xml.rels>&#65279;<?xml version="1.0" encoding="utf-8"?><Relationships xmlns="http://schemas.openxmlformats.org/package/2006/relationships"><Relationship Type="http://schemas.openxmlformats.org/officeDocument/2006/relationships/image" Target="/ppt/media/image43.png" Id="Rb618f64d20814fd9" /><Relationship Type="http://schemas.openxmlformats.org/officeDocument/2006/relationships/tags" Target="/ppt/slides/tags/tag80.xml" Id="R32f33980b88748e9" /><Relationship Type="http://schemas.openxmlformats.org/officeDocument/2006/relationships/slideLayout" Target="/ppt/slideLayouts/slideLayout4.xml" Id="R71cf8a232f294f91" /></Relationships>
</file>

<file path=ppt/slides/_rels/slide113.xml.rels>&#65279;<?xml version="1.0" encoding="utf-8"?><Relationships xmlns="http://schemas.openxmlformats.org/package/2006/relationships"><Relationship Type="http://schemas.openxmlformats.org/officeDocument/2006/relationships/tags" Target="/ppt/slides/tags/tag81.xml" Id="R94d5e1d6f7fa4607" /><Relationship Type="http://schemas.openxmlformats.org/officeDocument/2006/relationships/slideLayout" Target="/ppt/slideLayouts/slideLayout4.xml" Id="Re1acfa5c65154045" /></Relationships>
</file>

<file path=ppt/slides/_rels/slide114.xml.rels>&#65279;<?xml version="1.0" encoding="utf-8"?><Relationships xmlns="http://schemas.openxmlformats.org/package/2006/relationships"><Relationship Type="http://schemas.openxmlformats.org/officeDocument/2006/relationships/tags" Target="/ppt/slides/tags/tag82.xml" Id="R7acc2bfda4284868" /><Relationship Type="http://schemas.openxmlformats.org/officeDocument/2006/relationships/slideLayout" Target="/ppt/slideLayouts/slideLayout4.xml" Id="R11a5c5a7e6d6413c" /></Relationships>
</file>

<file path=ppt/slides/_rels/slide115.xml.rels>&#65279;<?xml version="1.0" encoding="utf-8"?><Relationships xmlns="http://schemas.openxmlformats.org/package/2006/relationships"><Relationship Type="http://schemas.openxmlformats.org/officeDocument/2006/relationships/tags" Target="/ppt/slides/tags/tag83.xml" Id="Rc1050350ca3b4241" /><Relationship Type="http://schemas.openxmlformats.org/officeDocument/2006/relationships/slideLayout" Target="/ppt/slideLayouts/slideLayout4.xml" Id="R28afc229390743d0"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5.xml" Id="R47eca2b8744f41d0"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3.xml" Id="R597ca1b2f43d48d8"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2.xml" Id="Raf6e1320e6354914" /></Relationships>
</file>

<file path=ppt/slides/_rels/slide119.xml.rels>&#65279;<?xml version="1.0" encoding="utf-8"?><Relationships xmlns="http://schemas.openxmlformats.org/package/2006/relationships"><Relationship Type="http://schemas.openxmlformats.org/officeDocument/2006/relationships/image" Target="/ppt/media/image44.png" Id="R5b35daf03dfc4669" /><Relationship Type="http://schemas.openxmlformats.org/officeDocument/2006/relationships/tags" Target="/ppt/slides/tags/tag84.xml" Id="Rd4885870ca214867" /><Relationship Type="http://schemas.openxmlformats.org/officeDocument/2006/relationships/slideLayout" Target="/ppt/slideLayouts/slideLayout4.xml" Id="Reb6ca702eb9d46b3" /></Relationships>
</file>

<file path=ppt/slides/_rels/slide120.xml.rels>&#65279;<?xml version="1.0" encoding="utf-8"?><Relationships xmlns="http://schemas.openxmlformats.org/package/2006/relationships"><Relationship Type="http://schemas.openxmlformats.org/officeDocument/2006/relationships/tags" Target="/ppt/slides/tags/tag85.xml" Id="R6c551995dfe54e15" /><Relationship Type="http://schemas.openxmlformats.org/officeDocument/2006/relationships/slideLayout" Target="/ppt/slideLayouts/slideLayout4.xml" Id="Rd21095be7cea45a7" /></Relationships>
</file>

<file path=ppt/slides/_rels/slide121.xml.rels>&#65279;<?xml version="1.0" encoding="utf-8"?><Relationships xmlns="http://schemas.openxmlformats.org/package/2006/relationships"><Relationship Type="http://schemas.openxmlformats.org/officeDocument/2006/relationships/tags" Target="/ppt/slides/tags/tag86.xml" Id="R72638a530075442a" /><Relationship Type="http://schemas.openxmlformats.org/officeDocument/2006/relationships/slideLayout" Target="/ppt/slideLayouts/slideLayout4.xml" Id="Rab9ae0047c35448b" /></Relationships>
</file>

<file path=ppt/slides/_rels/slide122.xml.rels>&#65279;<?xml version="1.0" encoding="utf-8"?><Relationships xmlns="http://schemas.openxmlformats.org/package/2006/relationships"><Relationship Type="http://schemas.openxmlformats.org/officeDocument/2006/relationships/image" Target="/ppt/media/image45.png" Id="R1ae37cca613641d6" /><Relationship Type="http://schemas.openxmlformats.org/officeDocument/2006/relationships/tags" Target="/ppt/slides/tags/tag87.xml" Id="Ra8939ae5ae5943dc" /><Relationship Type="http://schemas.openxmlformats.org/officeDocument/2006/relationships/slideLayout" Target="/ppt/slideLayouts/slideLayout4.xml" Id="R9a18f9847bab4838" /></Relationships>
</file>

<file path=ppt/slides/_rels/slide123.xml.rels>&#65279;<?xml version="1.0" encoding="utf-8"?><Relationships xmlns="http://schemas.openxmlformats.org/package/2006/relationships"><Relationship Type="http://schemas.openxmlformats.org/officeDocument/2006/relationships/tags" Target="/ppt/slides/tags/tag88.xml" Id="Rdd322c51a6064c09" /><Relationship Type="http://schemas.openxmlformats.org/officeDocument/2006/relationships/slideLayout" Target="/ppt/slideLayouts/slideLayout4.xml" Id="R4832c5064b8a43d7" /></Relationships>
</file>

<file path=ppt/slides/_rels/slide124.xml.rels>&#65279;<?xml version="1.0" encoding="utf-8"?><Relationships xmlns="http://schemas.openxmlformats.org/package/2006/relationships"><Relationship Type="http://schemas.openxmlformats.org/officeDocument/2006/relationships/image" Target="/ppt/media/image46.png" Id="Rf9365bfb70b4482e" /><Relationship Type="http://schemas.openxmlformats.org/officeDocument/2006/relationships/tags" Target="/ppt/slides/tags/tag89.xml" Id="R5ad7a37e02f846f8" /><Relationship Type="http://schemas.openxmlformats.org/officeDocument/2006/relationships/slideLayout" Target="/ppt/slideLayouts/slideLayout4.xml" Id="Rda3532cdd1394a4e" /></Relationships>
</file>

<file path=ppt/slides/_rels/slide125.xml.rels>&#65279;<?xml version="1.0" encoding="utf-8"?><Relationships xmlns="http://schemas.openxmlformats.org/package/2006/relationships"><Relationship Type="http://schemas.openxmlformats.org/officeDocument/2006/relationships/tags" Target="/ppt/slides/tags/tag90.xml" Id="Ra175cb60354b4fc0" /><Relationship Type="http://schemas.openxmlformats.org/officeDocument/2006/relationships/slideLayout" Target="/ppt/slideLayouts/slideLayout4.xml" Id="R69a8e5f3687547e1" /></Relationships>
</file>

<file path=ppt/slides/_rels/slide126.xml.rels>&#65279;<?xml version="1.0" encoding="utf-8"?><Relationships xmlns="http://schemas.openxmlformats.org/package/2006/relationships"><Relationship Type="http://schemas.openxmlformats.org/officeDocument/2006/relationships/tags" Target="/ppt/slides/tags/tag91.xml" Id="R59401d8878ff4935" /><Relationship Type="http://schemas.openxmlformats.org/officeDocument/2006/relationships/slideLayout" Target="/ppt/slideLayouts/slideLayout4.xml" Id="R2e5ba76427a64a2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5.xml" Id="R6e6e510adb844840"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3.xml" Id="Rc597d3b87478456f"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2.xml" Id="R923ab00fbed648e7" /></Relationships>
</file>

<file path=ppt/slides/_rels/slide130.xml.rels>&#65279;<?xml version="1.0" encoding="utf-8"?><Relationships xmlns="http://schemas.openxmlformats.org/package/2006/relationships"><Relationship Type="http://schemas.openxmlformats.org/officeDocument/2006/relationships/tags" Target="/ppt/slides/tags/tag92.xml" Id="R56ca5002f8514c24" /><Relationship Type="http://schemas.openxmlformats.org/officeDocument/2006/relationships/slideLayout" Target="/ppt/slideLayouts/slideLayout4.xml" Id="R65ce2d9c4697490a" /></Relationships>
</file>

<file path=ppt/slides/_rels/slide131.xml.rels>&#65279;<?xml version="1.0" encoding="utf-8"?><Relationships xmlns="http://schemas.openxmlformats.org/package/2006/relationships"><Relationship Type="http://schemas.openxmlformats.org/officeDocument/2006/relationships/tags" Target="/ppt/slides/tags/tag93.xml" Id="Rc6b629d673274a98" /><Relationship Type="http://schemas.openxmlformats.org/officeDocument/2006/relationships/slideLayout" Target="/ppt/slideLayouts/slideLayout4.xml" Id="R99d3a81f51a74cf0" /></Relationships>
</file>

<file path=ppt/slides/_rels/slide132.xml.rels>&#65279;<?xml version="1.0" encoding="utf-8"?><Relationships xmlns="http://schemas.openxmlformats.org/package/2006/relationships"><Relationship Type="http://schemas.openxmlformats.org/officeDocument/2006/relationships/tags" Target="/ppt/slides/tags/tag94.xml" Id="Raedc7b350297411b" /><Relationship Type="http://schemas.openxmlformats.org/officeDocument/2006/relationships/slideLayout" Target="/ppt/slideLayouts/slideLayout4.xml" Id="R670e6ec9cb504d66" /></Relationships>
</file>

<file path=ppt/slides/_rels/slide133.xml.rels>&#65279;<?xml version="1.0" encoding="utf-8"?><Relationships xmlns="http://schemas.openxmlformats.org/package/2006/relationships"><Relationship Type="http://schemas.openxmlformats.org/officeDocument/2006/relationships/tags" Target="/ppt/slides/tags/tag95.xml" Id="R531d00a661a74b42" /><Relationship Type="http://schemas.openxmlformats.org/officeDocument/2006/relationships/slideLayout" Target="/ppt/slideLayouts/slideLayout4.xml" Id="R6f5a6c6589d74a17" /></Relationships>
</file>

<file path=ppt/slides/_rels/slide134.xml.rels>&#65279;<?xml version="1.0" encoding="utf-8"?><Relationships xmlns="http://schemas.openxmlformats.org/package/2006/relationships"><Relationship Type="http://schemas.openxmlformats.org/officeDocument/2006/relationships/tags" Target="/ppt/slides/tags/tag96.xml" Id="R53739dfc05ba40db" /><Relationship Type="http://schemas.openxmlformats.org/officeDocument/2006/relationships/slideLayout" Target="/ppt/slideLayouts/slideLayout4.xml" Id="R1f59d6f5c91f4b7f" /></Relationships>
</file>

<file path=ppt/slides/_rels/slide135.xml.rels>&#65279;<?xml version="1.0" encoding="utf-8"?><Relationships xmlns="http://schemas.openxmlformats.org/package/2006/relationships"><Relationship Type="http://schemas.openxmlformats.org/officeDocument/2006/relationships/tags" Target="/ppt/slides/tags/tag97.xml" Id="R3a8f65af141c4d77" /><Relationship Type="http://schemas.openxmlformats.org/officeDocument/2006/relationships/slideLayout" Target="/ppt/slideLayouts/slideLayout4.xml" Id="Raed538e8daf24709" /></Relationships>
</file>

<file path=ppt/slides/_rels/slide136.xml.rels>&#65279;<?xml version="1.0" encoding="utf-8"?><Relationships xmlns="http://schemas.openxmlformats.org/package/2006/relationships"><Relationship Type="http://schemas.openxmlformats.org/officeDocument/2006/relationships/image" Target="/ppt/media/image47.png" Id="Re1ce706cfa434210" /><Relationship Type="http://schemas.openxmlformats.org/officeDocument/2006/relationships/image" Target="/ppt/media/image48.png" Id="R59191206e32f4528" /><Relationship Type="http://schemas.openxmlformats.org/officeDocument/2006/relationships/tags" Target="/ppt/slides/tags/tag98.xml" Id="R222a443c43d34c75" /><Relationship Type="http://schemas.openxmlformats.org/officeDocument/2006/relationships/slideLayout" Target="/ppt/slideLayouts/slideLayout4.xml" Id="R4e55c29e0bbd449b" /></Relationships>
</file>

<file path=ppt/slides/_rels/slide137.xml.rels>&#65279;<?xml version="1.0" encoding="utf-8"?><Relationships xmlns="http://schemas.openxmlformats.org/package/2006/relationships"><Relationship Type="http://schemas.openxmlformats.org/officeDocument/2006/relationships/tags" Target="/ppt/slides/tags/tag99.xml" Id="Rbbffe15ed08344c8" /><Relationship Type="http://schemas.openxmlformats.org/officeDocument/2006/relationships/slideLayout" Target="/ppt/slideLayouts/slideLayout4.xml" Id="R90265d5de28242d8"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5.xml" Id="R7487e38c02d54b17"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3.xml" Id="R4a1d8c0b9bf9447a"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2.xml" Id="R0f22df6783f143a9" /></Relationships>
</file>

<file path=ppt/slides/_rels/slide141.xml.rels>&#65279;<?xml version="1.0" encoding="utf-8"?><Relationships xmlns="http://schemas.openxmlformats.org/package/2006/relationships"><Relationship Type="http://schemas.openxmlformats.org/officeDocument/2006/relationships/tags" Target="/ppt/slides/tags/tag100.xml" Id="R4dac7be4cbbc42c7" /><Relationship Type="http://schemas.openxmlformats.org/officeDocument/2006/relationships/slideLayout" Target="/ppt/slideLayouts/slideLayout4.xml" Id="R2879205af91e4e02" /></Relationships>
</file>

<file path=ppt/slides/_rels/slide142.xml.rels>&#65279;<?xml version="1.0" encoding="utf-8"?><Relationships xmlns="http://schemas.openxmlformats.org/package/2006/relationships"><Relationship Type="http://schemas.openxmlformats.org/officeDocument/2006/relationships/tags" Target="/ppt/slides/tags/tag101.xml" Id="Ra0300cde275b4b1c" /><Relationship Type="http://schemas.openxmlformats.org/officeDocument/2006/relationships/slideLayout" Target="/ppt/slideLayouts/slideLayout4.xml" Id="Rb75cbef37cc848c1" /></Relationships>
</file>

<file path=ppt/slides/_rels/slide143.xml.rels>&#65279;<?xml version="1.0" encoding="utf-8"?><Relationships xmlns="http://schemas.openxmlformats.org/package/2006/relationships"><Relationship Type="http://schemas.openxmlformats.org/officeDocument/2006/relationships/tags" Target="/ppt/slides/tags/tag102.xml" Id="Rd32656ec47ea4197" /><Relationship Type="http://schemas.openxmlformats.org/officeDocument/2006/relationships/slideLayout" Target="/ppt/slideLayouts/slideLayout4.xml" Id="R9ae15c88e87c480d" /></Relationships>
</file>

<file path=ppt/slides/_rels/slide144.xml.rels>&#65279;<?xml version="1.0" encoding="utf-8"?><Relationships xmlns="http://schemas.openxmlformats.org/package/2006/relationships"><Relationship Type="http://schemas.openxmlformats.org/officeDocument/2006/relationships/tags" Target="/ppt/slides/tags/tag103.xml" Id="R4421f7ed85514413" /><Relationship Type="http://schemas.openxmlformats.org/officeDocument/2006/relationships/slideLayout" Target="/ppt/slideLayouts/slideLayout4.xml" Id="R75bf0167e1dd4950" /></Relationships>
</file>

<file path=ppt/slides/_rels/slide145.xml.rels>&#65279;<?xml version="1.0" encoding="utf-8"?><Relationships xmlns="http://schemas.openxmlformats.org/package/2006/relationships"><Relationship Type="http://schemas.openxmlformats.org/officeDocument/2006/relationships/image" Target="/ppt/media/image49.png" Id="Ra6b3fd22c0d34e04" /><Relationship Type="http://schemas.openxmlformats.org/officeDocument/2006/relationships/tags" Target="/ppt/slides/tags/tag104.xml" Id="R68c58d84b29c437e" /><Relationship Type="http://schemas.openxmlformats.org/officeDocument/2006/relationships/slideLayout" Target="/ppt/slideLayouts/slideLayout4.xml" Id="R920d30130db74360" /></Relationships>
</file>

<file path=ppt/slides/_rels/slide146.xml.rels>&#65279;<?xml version="1.0" encoding="utf-8"?><Relationships xmlns="http://schemas.openxmlformats.org/package/2006/relationships"><Relationship Type="http://schemas.openxmlformats.org/officeDocument/2006/relationships/tags" Target="/ppt/slides/tags/tag105.xml" Id="R91287ba2d7c24754" /><Relationship Type="http://schemas.openxmlformats.org/officeDocument/2006/relationships/slideLayout" Target="/ppt/slideLayouts/slideLayout4.xml" Id="R7165f7c9bbe14e07" /></Relationships>
</file>

<file path=ppt/slides/_rels/slide147.xml.rels>&#65279;<?xml version="1.0" encoding="utf-8"?><Relationships xmlns="http://schemas.openxmlformats.org/package/2006/relationships"><Relationship Type="http://schemas.openxmlformats.org/officeDocument/2006/relationships/tags" Target="/ppt/slides/tags/tag106.xml" Id="Rff21b8abb5d442ff" /><Relationship Type="http://schemas.openxmlformats.org/officeDocument/2006/relationships/slideLayout" Target="/ppt/slideLayouts/slideLayout4.xml" Id="R3633d33d577d4534" /></Relationships>
</file>

<file path=ppt/slides/_rels/slide148.xml.rels>&#65279;<?xml version="1.0" encoding="utf-8"?><Relationships xmlns="http://schemas.openxmlformats.org/package/2006/relationships"><Relationship Type="http://schemas.openxmlformats.org/officeDocument/2006/relationships/tags" Target="/ppt/slides/tags/tag107.xml" Id="Rc3d3eed19a9b49b5" /><Relationship Type="http://schemas.openxmlformats.org/officeDocument/2006/relationships/slideLayout" Target="/ppt/slideLayouts/slideLayout4.xml" Id="R6f949dbe7bf04585"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5.xml" Id="R79f85048e4c44694"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3.xml" Id="R26e73d6548414f52"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2.xml" Id="Rdefd6f46713448dd" /></Relationships>
</file>

<file path=ppt/slides/_rels/slide152.xml.rels>&#65279;<?xml version="1.0" encoding="utf-8"?><Relationships xmlns="http://schemas.openxmlformats.org/package/2006/relationships"><Relationship Type="http://schemas.openxmlformats.org/officeDocument/2006/relationships/image" Target="/ppt/media/image50.png" Id="R3c08004000984806" /><Relationship Type="http://schemas.openxmlformats.org/officeDocument/2006/relationships/tags" Target="/ppt/slides/tags/tag108.xml" Id="R9d157d064bda4807" /><Relationship Type="http://schemas.openxmlformats.org/officeDocument/2006/relationships/slideLayout" Target="/ppt/slideLayouts/slideLayout4.xml" Id="R5ab955a4fe1e4684" /></Relationships>
</file>

<file path=ppt/slides/_rels/slide153.xml.rels>&#65279;<?xml version="1.0" encoding="utf-8"?><Relationships xmlns="http://schemas.openxmlformats.org/package/2006/relationships"><Relationship Type="http://schemas.openxmlformats.org/officeDocument/2006/relationships/tags" Target="/ppt/slides/tags/tag109.xml" Id="R127d2add99384fc4" /><Relationship Type="http://schemas.openxmlformats.org/officeDocument/2006/relationships/slideLayout" Target="/ppt/slideLayouts/slideLayout4.xml" Id="R81a0c21c31e84b82" /></Relationships>
</file>

<file path=ppt/slides/_rels/slide154.xml.rels>&#65279;<?xml version="1.0" encoding="utf-8"?><Relationships xmlns="http://schemas.openxmlformats.org/package/2006/relationships"><Relationship Type="http://schemas.openxmlformats.org/officeDocument/2006/relationships/tags" Target="/ppt/slides/tags/tag110.xml" Id="R933ceaf3e07441b0" /><Relationship Type="http://schemas.openxmlformats.org/officeDocument/2006/relationships/slideLayout" Target="/ppt/slideLayouts/slideLayout4.xml" Id="Re07febb8a9a5497b" /></Relationships>
</file>

<file path=ppt/slides/_rels/slide155.xml.rels>&#65279;<?xml version="1.0" encoding="utf-8"?><Relationships xmlns="http://schemas.openxmlformats.org/package/2006/relationships"><Relationship Type="http://schemas.openxmlformats.org/officeDocument/2006/relationships/tags" Target="/ppt/slides/tags/tag111.xml" Id="Rb7684bcaeafa46cf" /><Relationship Type="http://schemas.openxmlformats.org/officeDocument/2006/relationships/slideLayout" Target="/ppt/slideLayouts/slideLayout4.xml" Id="R2126390a6f114036" /></Relationships>
</file>

<file path=ppt/slides/_rels/slide156.xml.rels>&#65279;<?xml version="1.0" encoding="utf-8"?><Relationships xmlns="http://schemas.openxmlformats.org/package/2006/relationships"><Relationship Type="http://schemas.openxmlformats.org/officeDocument/2006/relationships/image" Target="/ppt/media/image51.png" Id="Rff0cbb9f0afd42ce" /><Relationship Type="http://schemas.openxmlformats.org/officeDocument/2006/relationships/image" Target="/ppt/media/image52.png" Id="R56d56456e655425b" /><Relationship Type="http://schemas.openxmlformats.org/officeDocument/2006/relationships/tags" Target="/ppt/slides/tags/tag112.xml" Id="R4df95ddaffdd4a09" /><Relationship Type="http://schemas.openxmlformats.org/officeDocument/2006/relationships/slideLayout" Target="/ppt/slideLayouts/slideLayout4.xml" Id="R82a55b074a3b45a3" /></Relationships>
</file>

<file path=ppt/slides/_rels/slide157.xml.rels>&#65279;<?xml version="1.0" encoding="utf-8"?><Relationships xmlns="http://schemas.openxmlformats.org/package/2006/relationships"><Relationship Type="http://schemas.openxmlformats.org/officeDocument/2006/relationships/tags" Target="/ppt/slides/tags/tag113.xml" Id="R1717b838ef8c404a" /><Relationship Type="http://schemas.openxmlformats.org/officeDocument/2006/relationships/slideLayout" Target="/ppt/slideLayouts/slideLayout4.xml" Id="R85f11434bc0e4224" /></Relationships>
</file>

<file path=ppt/slides/_rels/slide158.xml.rels>&#65279;<?xml version="1.0" encoding="utf-8"?><Relationships xmlns="http://schemas.openxmlformats.org/package/2006/relationships"><Relationship Type="http://schemas.openxmlformats.org/officeDocument/2006/relationships/tags" Target="/ppt/slides/tags/tag114.xml" Id="Rd2b377cee2b94ef9" /><Relationship Type="http://schemas.openxmlformats.org/officeDocument/2006/relationships/slideLayout" Target="/ppt/slideLayouts/slideLayout4.xml" Id="R7f72350cd5d540e3" /></Relationships>
</file>

<file path=ppt/slides/_rels/slide159.xml.rels>&#65279;<?xml version="1.0" encoding="utf-8"?><Relationships xmlns="http://schemas.openxmlformats.org/package/2006/relationships"><Relationship Type="http://schemas.openxmlformats.org/officeDocument/2006/relationships/tags" Target="/ppt/slides/tags/tag115.xml" Id="R48d80e22bfe54124" /><Relationship Type="http://schemas.openxmlformats.org/officeDocument/2006/relationships/slideLayout" Target="/ppt/slideLayouts/slideLayout4.xml" Id="R580214f8d2874e1c"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5.xml" Id="Ra274237d5dde44c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707886"/>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Introduction to AC Circuits</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5909310"/>
          </a:xfrm>
          <a:prstGeom prst="rect">
            <a:avLst/>
          </a:prstGeom>
          <a:noFill/>
        </p:spPr>
        <p:txBody>
          <a:bodyPr wrap="square">
            <a:spAutoFit/>
          </a:bodyPr>
          <a:lstStyle/>
          <a:p>
            <a:r>
              <a:rPr lang="en-US" b="1" dirty="0">
                <a:solidFill>
                  <a:schemeClr val="bg1"/>
                </a:solidFill>
              </a:rPr>
              <a:t>Content </a:t>
            </a:r>
          </a:p>
          <a:p>
            <a:endParaRPr lang="en-US" dirty="0"/>
          </a:p>
          <a:p>
            <a:pPr marL="342900" indent="-342900" algn="just">
              <a:buAutoNum type="arabicPeriod"/>
            </a:pPr>
            <a:r>
              <a:rPr lang="en-US" sz="2400" dirty="0"/>
              <a:t>Introduction to AC circuit                                1    </a:t>
            </a:r>
          </a:p>
          <a:p>
            <a:pPr marL="342900" indent="-342900">
              <a:buAutoNum type="arabicPeriod"/>
            </a:pPr>
            <a:endParaRPr lang="en-US" sz="2400" dirty="0"/>
          </a:p>
          <a:p>
            <a:pPr marL="342900" indent="-342900">
              <a:buAutoNum type="arabicPeriod"/>
            </a:pPr>
            <a:r>
              <a:rPr lang="en-US" sz="2400" dirty="0"/>
              <a:t>Significance of AC Supply                                2</a:t>
            </a:r>
          </a:p>
          <a:p>
            <a:pPr marL="342900" indent="-342900">
              <a:buAutoNum type="arabicPeriod"/>
            </a:pPr>
            <a:endParaRPr lang="en-US" sz="2400" dirty="0"/>
          </a:p>
          <a:p>
            <a:pPr marL="342900" indent="-342900">
              <a:buAutoNum type="arabicPeriod"/>
            </a:pPr>
            <a:r>
              <a:rPr lang="en-US" sz="2400" dirty="0"/>
              <a:t>Sinusoidal Voltage and Current                      3</a:t>
            </a:r>
          </a:p>
          <a:p>
            <a:pPr marL="342900" indent="-342900">
              <a:buAutoNum type="arabicPeriod"/>
            </a:pPr>
            <a:endParaRPr lang="en-US" sz="2400" dirty="0"/>
          </a:p>
          <a:p>
            <a:pPr marL="342900" indent="-342900">
              <a:buAutoNum type="arabicPeriod"/>
            </a:pPr>
            <a:r>
              <a:rPr lang="en-US" sz="2400" dirty="0"/>
              <a:t>Mathematical Representation                        4</a:t>
            </a:r>
          </a:p>
          <a:p>
            <a:pPr marL="342900" indent="-342900">
              <a:buAutoNum type="arabicPeriod"/>
            </a:pPr>
            <a:endParaRPr lang="en-US" sz="2400" dirty="0"/>
          </a:p>
          <a:p>
            <a:pPr marL="342900" indent="-342900">
              <a:buAutoNum type="arabicPeriod"/>
            </a:pPr>
            <a:r>
              <a:rPr lang="en-US" sz="2400" dirty="0"/>
              <a:t>Graphical Representation                                5</a:t>
            </a:r>
          </a:p>
          <a:p>
            <a:pPr marL="342900" indent="-342900">
              <a:buAutoNum type="arabicPeriod"/>
            </a:pPr>
            <a:endParaRPr lang="en-US" dirty="0"/>
          </a:p>
          <a:p>
            <a:pPr marL="342900" indent="-342900">
              <a:buAutoNum type="arabicPeriod"/>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b4bdfa2465dc467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IN" altLang="en-US" sz="2400" b="1" dirty="0">
                <a:solidFill>
                  <a:schemeClr val="bg1"/>
                </a:solidFill>
                <a:latin typeface="+mj-lt"/>
                <a:cs typeface="Calibri" panose="020F0502020204030204" pitchFamily="34" charset="0"/>
              </a:rPr>
              <a:t> Introduction to AC Circuit</a:t>
            </a:r>
            <a:endParaRPr lang="en-IN" altLang="en-US" sz="2400" b="1" dirty="0">
              <a:solidFill>
                <a:schemeClr val="bg1"/>
              </a:solidFill>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3877ABAD-0E75-0C03-1886-BFA70B4C509B}"/>
              </a:ext>
            </a:extLst>
          </p:cNvPr>
          <p:cNvSpPr txBox="1"/>
          <p:nvPr/>
        </p:nvSpPr>
        <p:spPr>
          <a:xfrm>
            <a:off x="811657" y="2119452"/>
            <a:ext cx="7274105" cy="4119076"/>
          </a:xfrm>
          <a:prstGeom prst="rect">
            <a:avLst/>
          </a:prstGeom>
          <a:noFill/>
        </p:spPr>
        <p:txBody>
          <a:bodyPr wrap="square">
            <a:spAutoFit/>
          </a:bodyPr>
          <a:lstStyle/>
          <a:p>
            <a:pPr marL="228600" marR="0" lvl="0" indent="-228600" algn="just"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An AC (Alternating Current) circuit is an electrical circuit powered by an alternating source, where the current changes its direction and magnitude periodically. Unlike DC circuits, AC circuits include reactance due to capacitors and inductors, which affect current flow.</a:t>
            </a:r>
          </a:p>
          <a:p>
            <a:pPr marR="0" lvl="0" algn="just" defTabSz="914400" rtl="0" eaLnBrk="1" fontAlgn="auto" latinLnBrk="0" hangingPunct="1">
              <a:spcBef>
                <a:spcPts val="1000"/>
              </a:spcBef>
              <a:spcAft>
                <a:spcPts val="0"/>
              </a:spcAft>
              <a:buClrTx/>
              <a:buSzTx/>
              <a:tabLst/>
              <a:defRPr/>
            </a:pPr>
            <a:endParaRPr kumimoji="0" lang="en-US" altLang="en-US" sz="2200" i="0" u="none" strike="noStrike" kern="1200" cap="none" spc="0" normalizeH="0" baseline="0" noProof="0" dirty="0">
              <a:ln>
                <a:noFill/>
              </a:ln>
              <a:effectLst/>
              <a:uLnTx/>
              <a:uFillTx/>
              <a:latin typeface="Calibri" panose="020F0502020204030204"/>
              <a:ea typeface="+mn-ea"/>
              <a:cs typeface="+mn-cs"/>
            </a:endParaRPr>
          </a:p>
          <a:p>
            <a:pPr marL="228600" marR="0" lvl="0" indent="-228600" algn="just"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effectLst/>
                <a:uLnTx/>
                <a:uFillTx/>
                <a:latin typeface="Calibri" panose="020F0502020204030204"/>
                <a:ea typeface="+mn-ea"/>
                <a:cs typeface="+mn-cs"/>
              </a:rPr>
              <a:t>Key characteristics of AC circuits:</a:t>
            </a:r>
          </a:p>
          <a:p>
            <a:pPr marL="342900" marR="0" lvl="0" indent="-342900" algn="just"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Voltage and current vary sinusoidally.</a:t>
            </a:r>
          </a:p>
          <a:p>
            <a:pPr marL="342900" marR="0" lvl="0" indent="-342900" algn="just"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Includes resistance (R), inductance (L), and capacitance (C).</a:t>
            </a:r>
          </a:p>
          <a:p>
            <a:pPr marL="342900" marR="0" lvl="0" indent="-342900" algn="just"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Frequency and phase angle are essential parameters.</a:t>
            </a:r>
          </a:p>
        </p:txBody>
      </p:sp>
    </p:spTree>
    <p:extLst>
      <p:ext uri="{BB962C8B-B14F-4D97-AF65-F5344CB8AC3E}">
        <p14:creationId xmlns:p14="http://schemas.microsoft.com/office/powerpoint/2010/main" val="3465981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0f369dc3f21643f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sz="2400" b="1" dirty="0">
                <a:solidFill>
                  <a:schemeClr val="bg1"/>
                </a:solidFill>
                <a:latin typeface="+mj-lt"/>
                <a:cs typeface="Calibri" panose="020F0502020204030204" pitchFamily="34" charset="0"/>
              </a:rPr>
              <a:t>Significance of AC Supply</a:t>
            </a:r>
          </a:p>
        </p:txBody>
      </p:sp>
      <p:sp>
        <p:nvSpPr>
          <p:cNvPr id="5" name="TextBox 4">
            <a:extLst>
              <a:ext uri="{FF2B5EF4-FFF2-40B4-BE49-F238E27FC236}">
                <a16:creationId xmlns:a16="http://schemas.microsoft.com/office/drawing/2014/main" id="{3789FB6D-7E04-4DD7-7D98-3B13A009BE44}"/>
              </a:ext>
            </a:extLst>
          </p:cNvPr>
          <p:cNvSpPr txBox="1"/>
          <p:nvPr/>
        </p:nvSpPr>
        <p:spPr>
          <a:xfrm>
            <a:off x="811658" y="2119452"/>
            <a:ext cx="7274104" cy="4247317"/>
          </a:xfrm>
          <a:prstGeom prst="rect">
            <a:avLst/>
          </a:prstGeom>
          <a:noFill/>
        </p:spPr>
        <p:txBody>
          <a:bodyPr wrap="square">
            <a:spAutoFit/>
          </a:bodyPr>
          <a:lstStyle/>
          <a:p>
            <a:pPr marL="228600" marR="0" lvl="0" indent="-228600" algn="just"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Alternating Current (AC) is the standard form of electricity delivered to homes and industries.</a:t>
            </a:r>
          </a:p>
          <a:p>
            <a:pPr marL="228600" marR="0" lvl="0" indent="-228600" algn="just"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effectLst/>
                <a:uLnTx/>
                <a:uFillTx/>
                <a:latin typeface="Calibri" panose="020F0502020204030204"/>
                <a:ea typeface="+mn-ea"/>
                <a:cs typeface="+mn-cs"/>
              </a:rPr>
              <a:t>Highlighting Points:</a:t>
            </a:r>
          </a:p>
          <a:p>
            <a:pPr marL="342900" marR="0" lvl="0" indent="-342900" algn="just"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Efficient Long-Distance Transmission</a:t>
            </a:r>
          </a:p>
          <a:p>
            <a:pPr marL="342900" marR="0" lvl="0" indent="-342900" algn="just"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Transformers Can Easily Step Up or Down Voltage</a:t>
            </a:r>
          </a:p>
          <a:p>
            <a:pPr marL="342900" marR="0" lvl="0" indent="-342900" algn="just"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Widely Available and Cost-Effective</a:t>
            </a:r>
          </a:p>
          <a:p>
            <a:pPr marL="342900" marR="0" lvl="0" indent="-342900" algn="just"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Suitable for Motors, Appliances, and Lighting</a:t>
            </a:r>
          </a:p>
          <a:p>
            <a:pPr marL="228600" marR="0" lvl="0" indent="-228600" algn="just"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effectLst/>
                <a:uLnTx/>
                <a:uFillTx/>
                <a:latin typeface="Calibri" panose="020F0502020204030204"/>
                <a:ea typeface="+mn-ea"/>
                <a:cs typeface="+mn-cs"/>
              </a:rPr>
              <a:t>Note</a:t>
            </a:r>
            <a:r>
              <a:rPr kumimoji="0" lang="en-US" altLang="en-US" sz="2200" i="0" u="none" strike="noStrike" kern="1200" cap="none" spc="0" normalizeH="0" baseline="0" noProof="0" dirty="0">
                <a:ln>
                  <a:noFill/>
                </a:ln>
                <a:effectLst/>
                <a:uLnTx/>
                <a:uFillTx/>
                <a:latin typeface="Calibri" panose="020F0502020204030204"/>
                <a:ea typeface="+mn-ea"/>
                <a:cs typeface="+mn-cs"/>
              </a:rPr>
              <a:t>: AC supply is preferred over DC for power distribution due to its ability to be transformed and transmitted over long distances with minimal losses.</a:t>
            </a:r>
          </a:p>
        </p:txBody>
      </p:sp>
    </p:spTree>
    <p:extLst>
      <p:ext uri="{BB962C8B-B14F-4D97-AF65-F5344CB8AC3E}">
        <p14:creationId xmlns:p14="http://schemas.microsoft.com/office/powerpoint/2010/main" val="1071091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359E-7012-07A1-50DA-255C6FA788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6061E4-228D-C1FC-8530-CEA9B9D76FB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71DC1CB-330E-B0F8-FCB9-01E46EEED0A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5916653-3607-4B54-506B-1AACE1C5239E}"/>
              </a:ext>
            </a:extLst>
          </p:cNvPr>
          <p:cNvSpPr>
            <a:spLocks noChangeArrowheads="1"/>
          </p:cNvSpPr>
          <p:nvPr>
            <p:custDataLst>
              <p:tags r:id="Rf0bcae797652433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sz="2400" b="1" dirty="0">
                <a:solidFill>
                  <a:schemeClr val="bg1"/>
                </a:solidFill>
                <a:latin typeface="+mj-lt"/>
                <a:cs typeface="Calibri" panose="020F0502020204030204" pitchFamily="34" charset="0"/>
              </a:rPr>
              <a:t>Sinusoidal Voltages and Currents</a:t>
            </a:r>
          </a:p>
        </p:txBody>
      </p:sp>
      <p:sp>
        <p:nvSpPr>
          <p:cNvPr id="5" name="TextBox 4">
            <a:extLst>
              <a:ext uri="{FF2B5EF4-FFF2-40B4-BE49-F238E27FC236}">
                <a16:creationId xmlns:a16="http://schemas.microsoft.com/office/drawing/2014/main" id="{4B685A7A-AA40-A798-4F1A-025336853CCC}"/>
              </a:ext>
            </a:extLst>
          </p:cNvPr>
          <p:cNvSpPr txBox="1"/>
          <p:nvPr/>
        </p:nvSpPr>
        <p:spPr>
          <a:xfrm>
            <a:off x="729465" y="1844211"/>
            <a:ext cx="7428216" cy="3313728"/>
          </a:xfrm>
          <a:prstGeom prst="rect">
            <a:avLst/>
          </a:prstGeom>
          <a:noFill/>
        </p:spPr>
        <p:txBody>
          <a:bodyPr wrap="square">
            <a:spAutoFit/>
          </a:bodyPr>
          <a:lstStyle/>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In AC systems, sinusoidal waveforms are most commonly used because of their smooth, repetitive nature and ease of analysis.</a:t>
            </a: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A sinusoidal voltage or current can be described using amplitude, frequency, angular frequency, and phase angle.</a:t>
            </a: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Standard form: </a:t>
            </a:r>
          </a:p>
          <a:p>
            <a:pPr marL="342900" marR="0" lvl="0" indent="-342900" algn="l"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Voltage:𝑣(𝑡)=𝑉𝑚sin⁡(𝜔𝑡+𝜙) </a:t>
            </a:r>
          </a:p>
          <a:p>
            <a:pPr marL="342900" marR="0" lvl="0" indent="-342900" algn="l"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Current:𝑖(𝑡)=𝐼𝑚sin⁡(𝜔𝑡+𝜃) </a:t>
            </a:r>
          </a:p>
        </p:txBody>
      </p:sp>
      <p:sp>
        <p:nvSpPr>
          <p:cNvPr id="3" name="TextBox 2">
            <a:extLst>
              <a:ext uri="{FF2B5EF4-FFF2-40B4-BE49-F238E27FC236}">
                <a16:creationId xmlns:a16="http://schemas.microsoft.com/office/drawing/2014/main" id="{52510B5A-7E6F-2C94-7917-64E9AD4CE232}"/>
              </a:ext>
            </a:extLst>
          </p:cNvPr>
          <p:cNvSpPr txBox="1"/>
          <p:nvPr/>
        </p:nvSpPr>
        <p:spPr>
          <a:xfrm>
            <a:off x="4572000" y="3714575"/>
            <a:ext cx="3750573" cy="3380413"/>
          </a:xfrm>
          <a:prstGeom prst="rect">
            <a:avLst/>
          </a:prstGeom>
          <a:noFill/>
        </p:spPr>
        <p:txBody>
          <a:bodyPr wrap="square" rtlCol="0">
            <a:spAutoFit/>
          </a:bodyPr>
          <a:lstStyle/>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Where:</a:t>
            </a:r>
          </a:p>
          <a:p>
            <a:pPr marL="285750" marR="0" lvl="0" indent="-285750" algn="l"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𝑉𝑚,𝐼𝑚​ : Maximum (peak) values</a:t>
            </a:r>
          </a:p>
          <a:p>
            <a:pPr marL="285750" marR="0" lvl="0" indent="-285750" algn="l"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l-GR" altLang="en-US" sz="2200" i="0" u="none" strike="noStrike" kern="1200" cap="none" spc="0" normalizeH="0" baseline="0" noProof="0" dirty="0">
                <a:ln>
                  <a:noFill/>
                </a:ln>
                <a:effectLst/>
                <a:uLnTx/>
                <a:uFillTx/>
                <a:latin typeface="Calibri" panose="020F0502020204030204"/>
                <a:ea typeface="+mn-ea"/>
                <a:cs typeface="+mn-cs"/>
              </a:rPr>
              <a:t>ω: </a:t>
            </a:r>
            <a:r>
              <a:rPr kumimoji="0" lang="en-US" altLang="en-US" sz="2200" i="0" u="none" strike="noStrike" kern="1200" cap="none" spc="0" normalizeH="0" baseline="0" noProof="0" dirty="0">
                <a:ln>
                  <a:noFill/>
                </a:ln>
                <a:effectLst/>
                <a:uLnTx/>
                <a:uFillTx/>
                <a:latin typeface="Calibri" panose="020F0502020204030204"/>
                <a:ea typeface="+mn-ea"/>
                <a:cs typeface="+mn-cs"/>
              </a:rPr>
              <a:t>Angular frequency = 2𝜋𝑓</a:t>
            </a:r>
          </a:p>
          <a:p>
            <a:pPr marL="285750" marR="0" lvl="0" indent="-285750" algn="l"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𝜙,𝜃</a:t>
            </a:r>
            <a:r>
              <a:rPr kumimoji="0" lang="el-GR" altLang="en-US" sz="2200" i="0" u="none" strike="noStrike" kern="1200" cap="none" spc="0" normalizeH="0" baseline="0" noProof="0" dirty="0">
                <a:ln>
                  <a:noFill/>
                </a:ln>
                <a:effectLst/>
                <a:uLnTx/>
                <a:uFillTx/>
                <a:latin typeface="Calibri" panose="020F0502020204030204"/>
                <a:ea typeface="+mn-ea"/>
                <a:cs typeface="+mn-cs"/>
              </a:rPr>
              <a:t>: </a:t>
            </a:r>
            <a:r>
              <a:rPr kumimoji="0" lang="en-US" altLang="en-US" sz="2200" i="0" u="none" strike="noStrike" kern="1200" cap="none" spc="0" normalizeH="0" baseline="0" noProof="0" dirty="0">
                <a:ln>
                  <a:noFill/>
                </a:ln>
                <a:effectLst/>
                <a:uLnTx/>
                <a:uFillTx/>
                <a:latin typeface="Calibri" panose="020F0502020204030204"/>
                <a:ea typeface="+mn-ea"/>
                <a:cs typeface="+mn-cs"/>
              </a:rPr>
              <a:t>Phase angles in radians</a:t>
            </a:r>
          </a:p>
          <a:p>
            <a:pPr marL="285750" marR="0" lvl="0" indent="-285750" algn="l"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𝑓: Frequency in Hz</a:t>
            </a:r>
          </a:p>
          <a:p>
            <a:pPr marL="285750" marR="0" lvl="0" indent="-285750" algn="l" defTabSz="914400" rtl="0" eaLnBrk="1" fontAlgn="auto" latinLnBrk="0" hangingPunct="1">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𝑡: Time in seconds</a:t>
            </a:r>
          </a:p>
          <a:p>
            <a:endParaRPr lang="en-IN" dirty="0"/>
          </a:p>
        </p:txBody>
      </p:sp>
    </p:spTree>
    <p:extLst>
      <p:ext uri="{BB962C8B-B14F-4D97-AF65-F5344CB8AC3E}">
        <p14:creationId xmlns:p14="http://schemas.microsoft.com/office/powerpoint/2010/main" val="290796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2671-C0F2-0018-1E2A-5CBEECF448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13C277-D0E0-D335-4DAF-41961A43FB65}"/>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113164F-C5BE-FEAA-65E7-69FA6CC5D6D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EEDC857-5A09-9ECB-4E36-CBB9EC23AE31}"/>
              </a:ext>
            </a:extLst>
          </p:cNvPr>
          <p:cNvSpPr>
            <a:spLocks noChangeArrowheads="1"/>
          </p:cNvSpPr>
          <p:nvPr>
            <p:custDataLst>
              <p:tags r:id="R20f809021c55470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sz="2400" b="1" dirty="0">
                <a:solidFill>
                  <a:schemeClr val="bg1"/>
                </a:solidFill>
                <a:latin typeface="+mj-lt"/>
                <a:cs typeface="Calibri" panose="020F0502020204030204" pitchFamily="34" charset="0"/>
              </a:rPr>
              <a:t>Mathematical Representation</a:t>
            </a:r>
          </a:p>
        </p:txBody>
      </p:sp>
      <p:sp>
        <p:nvSpPr>
          <p:cNvPr id="5" name="TextBox 4">
            <a:extLst>
              <a:ext uri="{FF2B5EF4-FFF2-40B4-BE49-F238E27FC236}">
                <a16:creationId xmlns:a16="http://schemas.microsoft.com/office/drawing/2014/main" id="{29D666E4-B35A-6942-BEBB-D1ED77290329}"/>
              </a:ext>
            </a:extLst>
          </p:cNvPr>
          <p:cNvSpPr txBox="1"/>
          <p:nvPr/>
        </p:nvSpPr>
        <p:spPr>
          <a:xfrm>
            <a:off x="821427" y="1970906"/>
            <a:ext cx="7428216" cy="4247317"/>
          </a:xfrm>
          <a:prstGeom prst="rect">
            <a:avLst/>
          </a:prstGeom>
          <a:noFill/>
        </p:spPr>
        <p:txBody>
          <a:bodyPr wrap="square">
            <a:spAutoFit/>
          </a:bodyPr>
          <a:lstStyle/>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Sinusoidal voltage and current waveforms follow a predictable mathematical pattern:</a:t>
            </a:r>
          </a:p>
          <a:p>
            <a:pPr marR="0" lvl="0" algn="l" defTabSz="914400" rtl="0" eaLnBrk="1" fontAlgn="auto" latinLnBrk="0" hangingPunct="1">
              <a:spcBef>
                <a:spcPts val="1000"/>
              </a:spcBef>
              <a:spcAft>
                <a:spcPts val="0"/>
              </a:spcAft>
              <a:buClrTx/>
              <a:buSzTx/>
              <a:tabLst/>
              <a:defRPr/>
            </a:pPr>
            <a:r>
              <a:rPr kumimoji="0" lang="en-US" altLang="en-US" sz="2200" b="1" i="0" u="none" strike="noStrike" kern="1200" cap="none" spc="0" normalizeH="0" baseline="0" noProof="0" dirty="0">
                <a:ln>
                  <a:noFill/>
                </a:ln>
                <a:effectLst/>
                <a:uLnTx/>
                <a:uFillTx/>
                <a:latin typeface="Calibri" panose="020F0502020204030204"/>
                <a:ea typeface="+mn-ea"/>
                <a:cs typeface="+mn-cs"/>
              </a:rPr>
              <a:t>Highlighting Points:</a:t>
            </a: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Instantaneous value: Value of voltage or current at any instant.</a:t>
            </a: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Peak value: Maximum amplitude of waveform.</a:t>
            </a: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RMS value:𝑉𝑟𝑚𝑠=𝑉𝑚/</a:t>
            </a:r>
            <a:r>
              <a:rPr kumimoji="0" lang="en-US" altLang="en-US" sz="220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t>
            </a:r>
            <a:r>
              <a:rPr kumimoji="0" lang="en-US" altLang="en-US" sz="2200" i="0" u="none" strike="noStrike" kern="1200" cap="none" spc="0" normalizeH="0" baseline="0" noProof="0" dirty="0">
                <a:ln>
                  <a:noFill/>
                </a:ln>
                <a:effectLst/>
                <a:uLnTx/>
                <a:uFillTx/>
                <a:latin typeface="Calibri" panose="020F0502020204030204"/>
                <a:ea typeface="+mn-ea"/>
                <a:cs typeface="+mn-cs"/>
              </a:rPr>
              <a:t>2 ​ ,𝐼𝑟𝑚𝑠=𝐼𝑚/</a:t>
            </a:r>
            <a:r>
              <a:rPr kumimoji="0" lang="en-US" altLang="en-US" sz="220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t>
            </a:r>
            <a:r>
              <a:rPr kumimoji="0" lang="en-US" altLang="en-US" sz="2200" i="0" u="none" strike="noStrike" kern="1200" cap="none" spc="0" normalizeH="0" baseline="0" noProof="0" dirty="0">
                <a:ln>
                  <a:noFill/>
                </a:ln>
                <a:effectLst/>
                <a:uLnTx/>
                <a:uFillTx/>
                <a:latin typeface="Calibri" panose="020F0502020204030204"/>
                <a:ea typeface="+mn-ea"/>
                <a:cs typeface="+mn-cs"/>
              </a:rPr>
              <a:t>2</a:t>
            </a: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​Time period (T):𝑇=1/𝑓</a:t>
            </a:r>
          </a:p>
          <a:p>
            <a:pPr marL="228600" marR="0" lvl="0" indent="-22860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These parameters help in analyzing real-time behavior of AC signals in electrical circuits.</a:t>
            </a:r>
          </a:p>
        </p:txBody>
      </p:sp>
    </p:spTree>
    <p:extLst>
      <p:ext uri="{BB962C8B-B14F-4D97-AF65-F5344CB8AC3E}">
        <p14:creationId xmlns:p14="http://schemas.microsoft.com/office/powerpoint/2010/main" val="205589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B376D43-15E8-347D-9149-9C447A16BB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307B5A-7492-BEF4-7BC1-6CC7BE9256D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5856E61-737E-212D-C64B-BE99869EB20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CD09761-CE9A-8565-232A-52947E10D317}"/>
              </a:ext>
            </a:extLst>
          </p:cNvPr>
          <p:cNvSpPr>
            <a:spLocks noChangeArrowheads="1"/>
          </p:cNvSpPr>
          <p:nvPr>
            <p:custDataLst>
              <p:tags r:id="R71257a0c9c754f9b"/>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sz="2400" b="1" dirty="0">
                <a:solidFill>
                  <a:schemeClr val="bg1"/>
                </a:solidFill>
                <a:latin typeface="+mj-lt"/>
                <a:cs typeface="Calibri" panose="020F0502020204030204" pitchFamily="34" charset="0"/>
              </a:rPr>
              <a:t>Graphical Representation</a:t>
            </a:r>
            <a:endParaRPr lang="en-IN" altLang="en-US" sz="2400" dirty="0">
              <a:solidFill>
                <a:schemeClr val="bg1"/>
              </a:solidFill>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4C0E9033-395D-BC0E-1C50-B2B6B0CD7ABB}"/>
              </a:ext>
            </a:extLst>
          </p:cNvPr>
          <p:cNvSpPr txBox="1"/>
          <p:nvPr/>
        </p:nvSpPr>
        <p:spPr>
          <a:xfrm>
            <a:off x="806942" y="2128603"/>
            <a:ext cx="7201342"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t>The sine wave is a graphical representation of alternating current and voltage.</a:t>
            </a:r>
            <a:endParaRPr lang="en-IN" sz="2200" dirty="0"/>
          </a:p>
        </p:txBody>
      </p:sp>
      <p:pic>
        <p:nvPicPr>
          <p:cNvPr id="1026" name="Picture 2">
            <a:extLst>
              <a:ext uri="{FF2B5EF4-FFF2-40B4-BE49-F238E27FC236}">
                <a16:creationId xmlns:a16="http://schemas.microsoft.com/office/drawing/2014/main" id="{29C752EF-F035-A2A0-5BBA-3C156FC6F991}"/>
              </a:ext>
            </a:extLst>
          </p:cNvPr>
          <p:cNvPicPr>
            <a:picLocks noChangeAspect="1" noChangeArrowheads="1"/>
          </p:cNvPicPr>
          <p:nvPr/>
        </p:nvPicPr>
        <p:blipFill>
          <a:blip r:embed="Rea501a508e754d40">
            <a:extLst>
              <a:ext uri="{28A0092B-C50C-407E-A947-70E740481C1C}">
                <a14:useLocalDpi xmlns:a14="http://schemas.microsoft.com/office/drawing/2010/main" val="0"/>
              </a:ext>
            </a:extLst>
          </a:blip>
          <a:srcRect/>
          <a:stretch>
            <a:fillRect/>
          </a:stretch>
        </p:blipFill>
        <p:spPr bwMode="auto">
          <a:xfrm>
            <a:off x="1798820" y="3182436"/>
            <a:ext cx="5546360" cy="24742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CAB1A7E-75F4-2CA9-FEEC-E35B711B2B1C}"/>
              </a:ext>
            </a:extLst>
          </p:cNvPr>
          <p:cNvSpPr txBox="1"/>
          <p:nvPr/>
        </p:nvSpPr>
        <p:spPr>
          <a:xfrm>
            <a:off x="1521502" y="5931141"/>
            <a:ext cx="6100996" cy="276999"/>
          </a:xfrm>
          <a:prstGeom prst="rect">
            <a:avLst/>
          </a:prstGeom>
          <a:noFill/>
        </p:spPr>
        <p:txBody>
          <a:bodyPr wrap="square" rtlCol="0">
            <a:spAutoFit/>
          </a:bodyPr>
          <a:lstStyle/>
          <a:p>
            <a:pPr algn="ctr"/>
            <a:r>
              <a:rPr lang="en-US" sz="1200" dirty="0"/>
              <a:t>Figure 1: Standard sinusoidal waveform of voltage</a:t>
            </a:r>
            <a:endParaRPr lang="en-IN" sz="1200" dirty="0"/>
          </a:p>
        </p:txBody>
      </p:sp>
    </p:spTree>
    <p:extLst>
      <p:ext uri="{BB962C8B-B14F-4D97-AF65-F5344CB8AC3E}">
        <p14:creationId xmlns:p14="http://schemas.microsoft.com/office/powerpoint/2010/main" val="1593448091"/>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Sinusoidal Quantities and Phasor Representation</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3970318"/>
          </a:xfrm>
          <a:prstGeom prst="rect">
            <a:avLst/>
          </a:prstGeom>
          <a:noFill/>
        </p:spPr>
        <p:txBody>
          <a:bodyPr wrap="square">
            <a:spAutoFit/>
          </a:bodyPr>
          <a:lstStyle/>
          <a:p>
            <a:r>
              <a:rPr lang="en-US" b="1" dirty="0">
                <a:solidFill>
                  <a:schemeClr val="bg1"/>
                </a:solidFill>
              </a:rPr>
              <a:t>Content </a:t>
            </a:r>
          </a:p>
          <a:p>
            <a:endParaRPr lang="en-US" dirty="0"/>
          </a:p>
          <a:p>
            <a:pPr marL="342900" indent="-342900" algn="just">
              <a:buAutoNum type="arabicPeriod"/>
            </a:pPr>
            <a:r>
              <a:rPr lang="en-IN" sz="2400" dirty="0"/>
              <a:t>Instantaneous Value                                          1</a:t>
            </a:r>
          </a:p>
          <a:p>
            <a:pPr marL="342900" indent="-342900" algn="just">
              <a:buAutoNum type="arabicPeriod"/>
            </a:pPr>
            <a:r>
              <a:rPr lang="en-IN" sz="2400" dirty="0"/>
              <a:t>Peak (Maximum) Value                                     2</a:t>
            </a:r>
          </a:p>
          <a:p>
            <a:pPr marL="342900" indent="-342900" algn="just">
              <a:buAutoNum type="arabicPeriod"/>
            </a:pPr>
            <a:r>
              <a:rPr lang="en-IN" sz="2400" dirty="0"/>
              <a:t>Average Value                                                     3</a:t>
            </a:r>
          </a:p>
          <a:p>
            <a:pPr marL="342900" indent="-342900" algn="just">
              <a:buAutoNum type="arabicPeriod"/>
            </a:pPr>
            <a:r>
              <a:rPr lang="en-IN" sz="2400" dirty="0"/>
              <a:t>R.M.S. Value                                                        4</a:t>
            </a:r>
          </a:p>
          <a:p>
            <a:pPr marL="342900" indent="-342900" algn="just">
              <a:buAutoNum type="arabicPeriod"/>
            </a:pPr>
            <a:r>
              <a:rPr lang="en-IN" sz="2400" dirty="0"/>
              <a:t>Frequency, Cycle, and Period                           5</a:t>
            </a:r>
          </a:p>
          <a:p>
            <a:pPr marL="342900" indent="-342900" algn="just">
              <a:buAutoNum type="arabicPeriod"/>
            </a:pPr>
            <a:r>
              <a:rPr lang="en-US" sz="2400" dirty="0"/>
              <a:t>Peak Factor and Form Factor                           6</a:t>
            </a:r>
          </a:p>
          <a:p>
            <a:pPr marL="342900" indent="-342900" algn="just">
              <a:buAutoNum type="arabicPeriod"/>
            </a:pPr>
            <a:r>
              <a:rPr lang="en-IN" sz="2400" dirty="0"/>
              <a:t>Phase Difference                                                7</a:t>
            </a:r>
            <a:endParaRPr lang="en-US" sz="2400" dirty="0"/>
          </a:p>
          <a:p>
            <a:pPr marL="342900" indent="-342900" algn="just">
              <a:buAutoNum type="arabicPeriod"/>
            </a:pPr>
            <a:r>
              <a:rPr lang="en-US" sz="2400" dirty="0"/>
              <a:t>Lagging, Leading, and In-Phase Quantities   8</a:t>
            </a:r>
          </a:p>
          <a:p>
            <a:pPr marL="342900" indent="-342900" algn="just">
              <a:buAutoNum type="arabicPeriod"/>
            </a:pPr>
            <a:r>
              <a:rPr lang="en-IN" sz="2400" dirty="0"/>
              <a:t>Phasor Representation                                     9</a:t>
            </a:r>
            <a:endParaRPr lang="en-US" sz="2400" dirty="0"/>
          </a:p>
        </p:txBody>
      </p:sp>
    </p:spTree>
    <p:extLst>
      <p:ext uri="{BB962C8B-B14F-4D97-AF65-F5344CB8AC3E}">
        <p14:creationId xmlns:p14="http://schemas.microsoft.com/office/powerpoint/2010/main" val="2278835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4b32c3116657434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IN" altLang="en-US" sz="2800" b="1" dirty="0">
                <a:solidFill>
                  <a:schemeClr val="bg1"/>
                </a:solidFill>
                <a:latin typeface="Times New Roman" panose="02020603050405020304" pitchFamily="18" charset="0"/>
                <a:cs typeface="Calibri" panose="020F0502020204030204" pitchFamily="34" charset="0"/>
              </a:rPr>
              <a:t> </a:t>
            </a:r>
            <a:r>
              <a:rPr lang="en-IN" altLang="en-US" b="1" dirty="0">
                <a:solidFill>
                  <a:schemeClr val="bg1"/>
                </a:solidFill>
                <a:latin typeface="+mn-lt"/>
                <a:cs typeface="Calibri" panose="020F0502020204030204" pitchFamily="34" charset="0"/>
              </a:rPr>
              <a:t>Instantaneous Value</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3877ABAD-0E75-0C03-1886-BFA70B4C509B}"/>
              </a:ext>
            </a:extLst>
          </p:cNvPr>
          <p:cNvSpPr txBox="1"/>
          <p:nvPr/>
        </p:nvSpPr>
        <p:spPr>
          <a:xfrm>
            <a:off x="811657" y="2119452"/>
            <a:ext cx="7274105" cy="1217769"/>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400" i="0" u="none" strike="noStrike" kern="1200" cap="none" spc="0" normalizeH="0" baseline="0" noProof="0" dirty="0">
                <a:ln>
                  <a:noFill/>
                </a:ln>
                <a:effectLst/>
                <a:uLnTx/>
                <a:uFillTx/>
                <a:latin typeface="Calibri" panose="020F0502020204030204"/>
                <a:ea typeface="+mn-ea"/>
                <a:cs typeface="+mn-cs"/>
              </a:rPr>
              <a:t>The instantaneous value of a sinusoidal quantity refers to its magnitude at a particular instant of time.</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400" i="0" u="none" strike="noStrike" kern="1200" cap="none" spc="0" normalizeH="0" baseline="0" noProof="0" dirty="0">
                <a:ln>
                  <a:noFill/>
                </a:ln>
                <a:effectLst/>
                <a:uLnTx/>
                <a:uFillTx/>
                <a:latin typeface="Calibri" panose="020F0502020204030204"/>
                <a:ea typeface="+mn-ea"/>
                <a:cs typeface="+mn-cs"/>
              </a:rPr>
              <a:t>Mathematical expression:𝑣(𝑡)=𝑉𝑚sin⁡(𝜔𝑡+𝜙)</a:t>
            </a:r>
          </a:p>
        </p:txBody>
      </p:sp>
      <p:grpSp>
        <p:nvGrpSpPr>
          <p:cNvPr id="3" name="Google Shape;311;p29">
            <a:extLst>
              <a:ext uri="{FF2B5EF4-FFF2-40B4-BE49-F238E27FC236}">
                <a16:creationId xmlns:a16="http://schemas.microsoft.com/office/drawing/2014/main" id="{B14E2EDF-CBF5-D092-0818-7890E884E871}"/>
              </a:ext>
            </a:extLst>
          </p:cNvPr>
          <p:cNvGrpSpPr>
            <a:grpSpLocks/>
          </p:cNvGrpSpPr>
          <p:nvPr/>
        </p:nvGrpSpPr>
        <p:grpSpPr bwMode="auto">
          <a:xfrm>
            <a:off x="1116806" y="3624026"/>
            <a:ext cx="6910388" cy="2106612"/>
            <a:chOff x="2269" y="601"/>
            <a:chExt cx="7624" cy="2106"/>
          </a:xfrm>
        </p:grpSpPr>
        <p:cxnSp>
          <p:nvCxnSpPr>
            <p:cNvPr id="6" name="Google Shape;312;p29">
              <a:extLst>
                <a:ext uri="{FF2B5EF4-FFF2-40B4-BE49-F238E27FC236}">
                  <a16:creationId xmlns:a16="http://schemas.microsoft.com/office/drawing/2014/main" id="{26F211AF-A59D-ABC8-A0EE-8A25B4FA6726}"/>
                </a:ext>
              </a:extLst>
            </p:cNvPr>
            <p:cNvCxnSpPr>
              <a:cxnSpLocks noChangeShapeType="1"/>
            </p:cNvCxnSpPr>
            <p:nvPr/>
          </p:nvCxnSpPr>
          <p:spPr bwMode="auto">
            <a:xfrm>
              <a:off x="2991" y="1787"/>
              <a:ext cx="0" cy="0"/>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cxnSp>
          <p:nvCxnSpPr>
            <p:cNvPr id="7" name="Google Shape;313;p29">
              <a:extLst>
                <a:ext uri="{FF2B5EF4-FFF2-40B4-BE49-F238E27FC236}">
                  <a16:creationId xmlns:a16="http://schemas.microsoft.com/office/drawing/2014/main" id="{FA010D09-8A24-9568-987F-18B390E65511}"/>
                </a:ext>
              </a:extLst>
            </p:cNvPr>
            <p:cNvCxnSpPr>
              <a:cxnSpLocks noChangeShapeType="1"/>
            </p:cNvCxnSpPr>
            <p:nvPr/>
          </p:nvCxnSpPr>
          <p:spPr bwMode="auto">
            <a:xfrm>
              <a:off x="3434" y="1787"/>
              <a:ext cx="0" cy="0"/>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8" name="Google Shape;314;p29">
              <a:extLst>
                <a:ext uri="{FF2B5EF4-FFF2-40B4-BE49-F238E27FC236}">
                  <a16:creationId xmlns:a16="http://schemas.microsoft.com/office/drawing/2014/main" id="{1978A3F9-4123-D492-471B-D62BD3C30541}"/>
                </a:ext>
              </a:extLst>
            </p:cNvPr>
            <p:cNvCxnSpPr>
              <a:cxnSpLocks noChangeShapeType="1"/>
            </p:cNvCxnSpPr>
            <p:nvPr/>
          </p:nvCxnSpPr>
          <p:spPr bwMode="auto">
            <a:xfrm>
              <a:off x="4312" y="1787"/>
              <a:ext cx="0" cy="0"/>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9" name="Google Shape;315;p29">
              <a:extLst>
                <a:ext uri="{FF2B5EF4-FFF2-40B4-BE49-F238E27FC236}">
                  <a16:creationId xmlns:a16="http://schemas.microsoft.com/office/drawing/2014/main" id="{0CA8EFFA-AB09-BBD7-2B6D-BF70BC45D1FE}"/>
                </a:ext>
              </a:extLst>
            </p:cNvPr>
            <p:cNvCxnSpPr>
              <a:cxnSpLocks noChangeShapeType="1"/>
            </p:cNvCxnSpPr>
            <p:nvPr/>
          </p:nvCxnSpPr>
          <p:spPr bwMode="auto">
            <a:xfrm>
              <a:off x="3873" y="1787"/>
              <a:ext cx="0" cy="0"/>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sp>
          <p:nvSpPr>
            <p:cNvPr id="10" name="Google Shape;316;p29">
              <a:extLst>
                <a:ext uri="{FF2B5EF4-FFF2-40B4-BE49-F238E27FC236}">
                  <a16:creationId xmlns:a16="http://schemas.microsoft.com/office/drawing/2014/main" id="{0DBEE865-1326-D02D-E340-B7D34DCBC495}"/>
                </a:ext>
              </a:extLst>
            </p:cNvPr>
            <p:cNvSpPr>
              <a:spLocks/>
            </p:cNvSpPr>
            <p:nvPr/>
          </p:nvSpPr>
          <p:spPr bwMode="auto">
            <a:xfrm>
              <a:off x="2580" y="1846"/>
              <a:ext cx="77" cy="123"/>
            </a:xfrm>
            <a:custGeom>
              <a:avLst/>
              <a:gdLst>
                <a:gd name="T0" fmla="*/ 47 w 77"/>
                <a:gd name="T1" fmla="*/ 0 h 123"/>
                <a:gd name="T2" fmla="*/ 33 w 77"/>
                <a:gd name="T3" fmla="*/ 0 h 123"/>
                <a:gd name="T4" fmla="*/ 28 w 77"/>
                <a:gd name="T5" fmla="*/ 2 h 123"/>
                <a:gd name="T6" fmla="*/ 22 w 77"/>
                <a:gd name="T7" fmla="*/ 6 h 123"/>
                <a:gd name="T8" fmla="*/ 16 w 77"/>
                <a:gd name="T9" fmla="*/ 11 h 123"/>
                <a:gd name="T10" fmla="*/ 10 w 77"/>
                <a:gd name="T11" fmla="*/ 18 h 123"/>
                <a:gd name="T12" fmla="*/ 2 w 77"/>
                <a:gd name="T13" fmla="*/ 37 h 123"/>
                <a:gd name="T14" fmla="*/ 0 w 77"/>
                <a:gd name="T15" fmla="*/ 49 h 123"/>
                <a:gd name="T16" fmla="*/ 0 w 77"/>
                <a:gd name="T17" fmla="*/ 64 h 123"/>
                <a:gd name="T18" fmla="*/ 1 w 77"/>
                <a:gd name="T19" fmla="*/ 74 h 123"/>
                <a:gd name="T20" fmla="*/ 2 w 77"/>
                <a:gd name="T21" fmla="*/ 84 h 123"/>
                <a:gd name="T22" fmla="*/ 5 w 77"/>
                <a:gd name="T23" fmla="*/ 94 h 123"/>
                <a:gd name="T24" fmla="*/ 10 w 77"/>
                <a:gd name="T25" fmla="*/ 103 h 123"/>
                <a:gd name="T26" fmla="*/ 17 w 77"/>
                <a:gd name="T27" fmla="*/ 116 h 123"/>
                <a:gd name="T28" fmla="*/ 26 w 77"/>
                <a:gd name="T29" fmla="*/ 122 h 123"/>
                <a:gd name="T30" fmla="*/ 43 w 77"/>
                <a:gd name="T31" fmla="*/ 122 h 123"/>
                <a:gd name="T32" fmla="*/ 49 w 77"/>
                <a:gd name="T33" fmla="*/ 120 h 123"/>
                <a:gd name="T34" fmla="*/ 54 w 77"/>
                <a:gd name="T35" fmla="*/ 117 h 123"/>
                <a:gd name="T36" fmla="*/ 31 w 77"/>
                <a:gd name="T37" fmla="*/ 117 h 123"/>
                <a:gd name="T38" fmla="*/ 26 w 77"/>
                <a:gd name="T39" fmla="*/ 113 h 123"/>
                <a:gd name="T40" fmla="*/ 23 w 77"/>
                <a:gd name="T41" fmla="*/ 104 h 123"/>
                <a:gd name="T42" fmla="*/ 20 w 77"/>
                <a:gd name="T43" fmla="*/ 96 h 123"/>
                <a:gd name="T44" fmla="*/ 19 w 77"/>
                <a:gd name="T45" fmla="*/ 86 h 123"/>
                <a:gd name="T46" fmla="*/ 17 w 77"/>
                <a:gd name="T47" fmla="*/ 76 h 123"/>
                <a:gd name="T48" fmla="*/ 17 w 77"/>
                <a:gd name="T49" fmla="*/ 69 h 123"/>
                <a:gd name="T50" fmla="*/ 17 w 77"/>
                <a:gd name="T51" fmla="*/ 54 h 123"/>
                <a:gd name="T52" fmla="*/ 18 w 77"/>
                <a:gd name="T53" fmla="*/ 44 h 123"/>
                <a:gd name="T54" fmla="*/ 21 w 77"/>
                <a:gd name="T55" fmla="*/ 24 h 123"/>
                <a:gd name="T56" fmla="*/ 24 w 77"/>
                <a:gd name="T57" fmla="*/ 16 h 123"/>
                <a:gd name="T58" fmla="*/ 31 w 77"/>
                <a:gd name="T59" fmla="*/ 8 h 123"/>
                <a:gd name="T60" fmla="*/ 34 w 77"/>
                <a:gd name="T61" fmla="*/ 6 h 123"/>
                <a:gd name="T62" fmla="*/ 56 w 77"/>
                <a:gd name="T63" fmla="*/ 6 h 123"/>
                <a:gd name="T64" fmla="*/ 56 w 77"/>
                <a:gd name="T65" fmla="*/ 5 h 123"/>
                <a:gd name="T66" fmla="*/ 47 w 77"/>
                <a:gd name="T67" fmla="*/ 0 h 123"/>
                <a:gd name="T68" fmla="*/ 56 w 77"/>
                <a:gd name="T69" fmla="*/ 6 h 123"/>
                <a:gd name="T70" fmla="*/ 42 w 77"/>
                <a:gd name="T71" fmla="*/ 6 h 123"/>
                <a:gd name="T72" fmla="*/ 45 w 77"/>
                <a:gd name="T73" fmla="*/ 7 h 123"/>
                <a:gd name="T74" fmla="*/ 47 w 77"/>
                <a:gd name="T75" fmla="*/ 9 h 123"/>
                <a:gd name="T76" fmla="*/ 50 w 77"/>
                <a:gd name="T77" fmla="*/ 12 h 123"/>
                <a:gd name="T78" fmla="*/ 53 w 77"/>
                <a:gd name="T79" fmla="*/ 16 h 123"/>
                <a:gd name="T80" fmla="*/ 58 w 77"/>
                <a:gd name="T81" fmla="*/ 32 h 123"/>
                <a:gd name="T82" fmla="*/ 59 w 77"/>
                <a:gd name="T83" fmla="*/ 43 h 123"/>
                <a:gd name="T84" fmla="*/ 59 w 77"/>
                <a:gd name="T85" fmla="*/ 60 h 123"/>
                <a:gd name="T86" fmla="*/ 59 w 77"/>
                <a:gd name="T87" fmla="*/ 69 h 123"/>
                <a:gd name="T88" fmla="*/ 58 w 77"/>
                <a:gd name="T89" fmla="*/ 81 h 123"/>
                <a:gd name="T90" fmla="*/ 57 w 77"/>
                <a:gd name="T91" fmla="*/ 90 h 123"/>
                <a:gd name="T92" fmla="*/ 55 w 77"/>
                <a:gd name="T93" fmla="*/ 99 h 123"/>
                <a:gd name="T94" fmla="*/ 53 w 77"/>
                <a:gd name="T95" fmla="*/ 105 h 123"/>
                <a:gd name="T96" fmla="*/ 51 w 77"/>
                <a:gd name="T97" fmla="*/ 110 h 123"/>
                <a:gd name="T98" fmla="*/ 44 w 77"/>
                <a:gd name="T99" fmla="*/ 116 h 123"/>
                <a:gd name="T100" fmla="*/ 41 w 77"/>
                <a:gd name="T101" fmla="*/ 117 h 123"/>
                <a:gd name="T102" fmla="*/ 54 w 77"/>
                <a:gd name="T103" fmla="*/ 117 h 123"/>
                <a:gd name="T104" fmla="*/ 61 w 77"/>
                <a:gd name="T105" fmla="*/ 112 h 123"/>
                <a:gd name="T106" fmla="*/ 66 w 77"/>
                <a:gd name="T107" fmla="*/ 105 h 123"/>
                <a:gd name="T108" fmla="*/ 74 w 77"/>
                <a:gd name="T109" fmla="*/ 86 h 123"/>
                <a:gd name="T110" fmla="*/ 76 w 77"/>
                <a:gd name="T111" fmla="*/ 74 h 123"/>
                <a:gd name="T112" fmla="*/ 76 w 77"/>
                <a:gd name="T113" fmla="*/ 60 h 123"/>
                <a:gd name="T114" fmla="*/ 75 w 77"/>
                <a:gd name="T115" fmla="*/ 47 h 123"/>
                <a:gd name="T116" fmla="*/ 73 w 77"/>
                <a:gd name="T117" fmla="*/ 34 h 123"/>
                <a:gd name="T118" fmla="*/ 69 w 77"/>
                <a:gd name="T119" fmla="*/ 23 h 123"/>
                <a:gd name="T120" fmla="*/ 63 w 77"/>
                <a:gd name="T121" fmla="*/ 14 h 123"/>
                <a:gd name="T122" fmla="*/ 56 w 77"/>
                <a:gd name="T123" fmla="*/ 6 h 1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7" h="123" extrusionOk="0">
                  <a:moveTo>
                    <a:pt x="47" y="0"/>
                  </a:moveTo>
                  <a:lnTo>
                    <a:pt x="33" y="0"/>
                  </a:lnTo>
                  <a:lnTo>
                    <a:pt x="28" y="2"/>
                  </a:lnTo>
                  <a:lnTo>
                    <a:pt x="22" y="6"/>
                  </a:lnTo>
                  <a:lnTo>
                    <a:pt x="16" y="11"/>
                  </a:lnTo>
                  <a:lnTo>
                    <a:pt x="10" y="18"/>
                  </a:lnTo>
                  <a:lnTo>
                    <a:pt x="2" y="37"/>
                  </a:lnTo>
                  <a:lnTo>
                    <a:pt x="0" y="49"/>
                  </a:lnTo>
                  <a:lnTo>
                    <a:pt x="0" y="64"/>
                  </a:lnTo>
                  <a:lnTo>
                    <a:pt x="1" y="74"/>
                  </a:lnTo>
                  <a:lnTo>
                    <a:pt x="2" y="84"/>
                  </a:lnTo>
                  <a:lnTo>
                    <a:pt x="5" y="94"/>
                  </a:lnTo>
                  <a:lnTo>
                    <a:pt x="10" y="103"/>
                  </a:lnTo>
                  <a:lnTo>
                    <a:pt x="17" y="116"/>
                  </a:lnTo>
                  <a:lnTo>
                    <a:pt x="26" y="122"/>
                  </a:lnTo>
                  <a:lnTo>
                    <a:pt x="43" y="122"/>
                  </a:lnTo>
                  <a:lnTo>
                    <a:pt x="49" y="120"/>
                  </a:lnTo>
                  <a:lnTo>
                    <a:pt x="54" y="117"/>
                  </a:lnTo>
                  <a:lnTo>
                    <a:pt x="31" y="117"/>
                  </a:lnTo>
                  <a:lnTo>
                    <a:pt x="26" y="113"/>
                  </a:lnTo>
                  <a:lnTo>
                    <a:pt x="23" y="104"/>
                  </a:lnTo>
                  <a:lnTo>
                    <a:pt x="20" y="96"/>
                  </a:lnTo>
                  <a:lnTo>
                    <a:pt x="19" y="86"/>
                  </a:lnTo>
                  <a:lnTo>
                    <a:pt x="17" y="76"/>
                  </a:lnTo>
                  <a:lnTo>
                    <a:pt x="17" y="69"/>
                  </a:lnTo>
                  <a:lnTo>
                    <a:pt x="17" y="54"/>
                  </a:lnTo>
                  <a:lnTo>
                    <a:pt x="18" y="44"/>
                  </a:lnTo>
                  <a:lnTo>
                    <a:pt x="21" y="24"/>
                  </a:lnTo>
                  <a:lnTo>
                    <a:pt x="24" y="16"/>
                  </a:lnTo>
                  <a:lnTo>
                    <a:pt x="31" y="8"/>
                  </a:lnTo>
                  <a:lnTo>
                    <a:pt x="34" y="6"/>
                  </a:lnTo>
                  <a:lnTo>
                    <a:pt x="56" y="6"/>
                  </a:lnTo>
                  <a:lnTo>
                    <a:pt x="56" y="5"/>
                  </a:lnTo>
                  <a:lnTo>
                    <a:pt x="47" y="0"/>
                  </a:lnTo>
                  <a:close/>
                  <a:moveTo>
                    <a:pt x="56" y="6"/>
                  </a:moveTo>
                  <a:lnTo>
                    <a:pt x="42" y="6"/>
                  </a:lnTo>
                  <a:lnTo>
                    <a:pt x="45" y="7"/>
                  </a:lnTo>
                  <a:lnTo>
                    <a:pt x="47" y="9"/>
                  </a:lnTo>
                  <a:lnTo>
                    <a:pt x="50" y="12"/>
                  </a:lnTo>
                  <a:lnTo>
                    <a:pt x="53" y="16"/>
                  </a:lnTo>
                  <a:lnTo>
                    <a:pt x="58" y="32"/>
                  </a:lnTo>
                  <a:lnTo>
                    <a:pt x="59" y="43"/>
                  </a:lnTo>
                  <a:lnTo>
                    <a:pt x="59" y="60"/>
                  </a:lnTo>
                  <a:lnTo>
                    <a:pt x="59" y="69"/>
                  </a:lnTo>
                  <a:lnTo>
                    <a:pt x="58" y="81"/>
                  </a:lnTo>
                  <a:lnTo>
                    <a:pt x="57" y="90"/>
                  </a:lnTo>
                  <a:lnTo>
                    <a:pt x="55" y="99"/>
                  </a:lnTo>
                  <a:lnTo>
                    <a:pt x="53" y="105"/>
                  </a:lnTo>
                  <a:lnTo>
                    <a:pt x="51" y="110"/>
                  </a:lnTo>
                  <a:lnTo>
                    <a:pt x="44" y="116"/>
                  </a:lnTo>
                  <a:lnTo>
                    <a:pt x="41" y="117"/>
                  </a:lnTo>
                  <a:lnTo>
                    <a:pt x="54" y="117"/>
                  </a:lnTo>
                  <a:lnTo>
                    <a:pt x="61" y="112"/>
                  </a:lnTo>
                  <a:lnTo>
                    <a:pt x="66" y="105"/>
                  </a:lnTo>
                  <a:lnTo>
                    <a:pt x="74" y="86"/>
                  </a:lnTo>
                  <a:lnTo>
                    <a:pt x="76" y="74"/>
                  </a:lnTo>
                  <a:lnTo>
                    <a:pt x="76" y="60"/>
                  </a:lnTo>
                  <a:lnTo>
                    <a:pt x="75" y="47"/>
                  </a:lnTo>
                  <a:lnTo>
                    <a:pt x="73" y="34"/>
                  </a:lnTo>
                  <a:lnTo>
                    <a:pt x="69" y="23"/>
                  </a:lnTo>
                  <a:lnTo>
                    <a:pt x="63" y="14"/>
                  </a:lnTo>
                  <a:lnTo>
                    <a:pt x="56" y="6"/>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pic>
          <p:nvPicPr>
            <p:cNvPr id="11" name="Google Shape;317;p29">
              <a:extLst>
                <a:ext uri="{FF2B5EF4-FFF2-40B4-BE49-F238E27FC236}">
                  <a16:creationId xmlns:a16="http://schemas.microsoft.com/office/drawing/2014/main" id="{A300778E-9B14-B6CB-85DE-558CCE24D911}"/>
                </a:ext>
              </a:extLst>
            </p:cNvPr>
            <p:cNvPicPr preferRelativeResize="0">
              <a:picLocks noChangeAspect="1" noChangeArrowheads="1"/>
            </p:cNvPicPr>
            <p:nvPr/>
          </p:nvPicPr>
          <p:blipFill>
            <a:blip r:embed="Rd083e8b91b7a4a27">
              <a:extLst>
                <a:ext uri="{28A0092B-C50C-407E-A947-70E740481C1C}">
                  <a14:useLocalDpi xmlns:a14="http://schemas.microsoft.com/office/drawing/2010/main" val="0"/>
                </a:ext>
              </a:extLst>
            </a:blip>
            <a:srcRect/>
            <a:stretch>
              <a:fillRect/>
            </a:stretch>
          </p:blipFill>
          <p:spPr bwMode="auto">
            <a:xfrm>
              <a:off x="2874" y="1844"/>
              <a:ext cx="22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Google Shape;318;p29">
              <a:extLst>
                <a:ext uri="{FF2B5EF4-FFF2-40B4-BE49-F238E27FC236}">
                  <a16:creationId xmlns:a16="http://schemas.microsoft.com/office/drawing/2014/main" id="{77A7D30A-AAD0-77F5-6EBE-81F532DB21E0}"/>
                </a:ext>
              </a:extLst>
            </p:cNvPr>
            <p:cNvSpPr>
              <a:spLocks/>
            </p:cNvSpPr>
            <p:nvPr/>
          </p:nvSpPr>
          <p:spPr bwMode="auto">
            <a:xfrm>
              <a:off x="3323" y="1855"/>
              <a:ext cx="93" cy="91"/>
            </a:xfrm>
            <a:custGeom>
              <a:avLst/>
              <a:gdLst>
                <a:gd name="T0" fmla="*/ 91 w 93"/>
                <a:gd name="T1" fmla="*/ 0 h 91"/>
                <a:gd name="T2" fmla="*/ 17 w 93"/>
                <a:gd name="T3" fmla="*/ 0 h 91"/>
                <a:gd name="T4" fmla="*/ 11 w 93"/>
                <a:gd name="T5" fmla="*/ 5 h 91"/>
                <a:gd name="T6" fmla="*/ 3 w 93"/>
                <a:gd name="T7" fmla="*/ 17 h 91"/>
                <a:gd name="T8" fmla="*/ 1 w 93"/>
                <a:gd name="T9" fmla="*/ 24 h 91"/>
                <a:gd name="T10" fmla="*/ 0 w 93"/>
                <a:gd name="T11" fmla="*/ 27 h 91"/>
                <a:gd name="T12" fmla="*/ 3 w 93"/>
                <a:gd name="T13" fmla="*/ 27 h 91"/>
                <a:gd name="T14" fmla="*/ 9 w 93"/>
                <a:gd name="T15" fmla="*/ 19 h 91"/>
                <a:gd name="T16" fmla="*/ 14 w 93"/>
                <a:gd name="T17" fmla="*/ 16 h 91"/>
                <a:gd name="T18" fmla="*/ 27 w 93"/>
                <a:gd name="T19" fmla="*/ 16 h 91"/>
                <a:gd name="T20" fmla="*/ 21 w 93"/>
                <a:gd name="T21" fmla="*/ 64 h 91"/>
                <a:gd name="T22" fmla="*/ 16 w 93"/>
                <a:gd name="T23" fmla="*/ 68 h 91"/>
                <a:gd name="T24" fmla="*/ 11 w 93"/>
                <a:gd name="T25" fmla="*/ 74 h 91"/>
                <a:gd name="T26" fmla="*/ 8 w 93"/>
                <a:gd name="T27" fmla="*/ 77 h 91"/>
                <a:gd name="T28" fmla="*/ 10 w 93"/>
                <a:gd name="T29" fmla="*/ 87 h 91"/>
                <a:gd name="T30" fmla="*/ 15 w 93"/>
                <a:gd name="T31" fmla="*/ 91 h 91"/>
                <a:gd name="T32" fmla="*/ 38 w 93"/>
                <a:gd name="T33" fmla="*/ 16 h 91"/>
                <a:gd name="T34" fmla="*/ 58 w 93"/>
                <a:gd name="T35" fmla="*/ 16 h 91"/>
                <a:gd name="T36" fmla="*/ 54 w 93"/>
                <a:gd name="T37" fmla="*/ 53 h 91"/>
                <a:gd name="T38" fmla="*/ 54 w 93"/>
                <a:gd name="T39" fmla="*/ 68 h 91"/>
                <a:gd name="T40" fmla="*/ 58 w 93"/>
                <a:gd name="T41" fmla="*/ 81 h 91"/>
                <a:gd name="T42" fmla="*/ 62 w 93"/>
                <a:gd name="T43" fmla="*/ 86 h 91"/>
                <a:gd name="T44" fmla="*/ 70 w 93"/>
                <a:gd name="T45" fmla="*/ 91 h 91"/>
                <a:gd name="T46" fmla="*/ 76 w 93"/>
                <a:gd name="T47" fmla="*/ 90 h 91"/>
                <a:gd name="T48" fmla="*/ 85 w 93"/>
                <a:gd name="T49" fmla="*/ 85 h 91"/>
                <a:gd name="T50" fmla="*/ 92 w 93"/>
                <a:gd name="T51" fmla="*/ 76 h 91"/>
                <a:gd name="T52" fmla="*/ 93 w 93"/>
                <a:gd name="T53" fmla="*/ 60 h 91"/>
                <a:gd name="T54" fmla="*/ 89 w 93"/>
                <a:gd name="T55" fmla="*/ 60 h 91"/>
                <a:gd name="T56" fmla="*/ 88 w 93"/>
                <a:gd name="T57" fmla="*/ 63 h 91"/>
                <a:gd name="T58" fmla="*/ 89 w 93"/>
                <a:gd name="T59" fmla="*/ 68 h 91"/>
                <a:gd name="T60" fmla="*/ 79 w 93"/>
                <a:gd name="T61" fmla="*/ 75 h 91"/>
                <a:gd name="T62" fmla="*/ 73 w 93"/>
                <a:gd name="T63" fmla="*/ 72 h 91"/>
                <a:gd name="T64" fmla="*/ 69 w 93"/>
                <a:gd name="T65" fmla="*/ 68 h 91"/>
                <a:gd name="T66" fmla="*/ 67 w 93"/>
                <a:gd name="T67" fmla="*/ 62 h 91"/>
                <a:gd name="T68" fmla="*/ 67 w 93"/>
                <a:gd name="T69" fmla="*/ 42 h 91"/>
                <a:gd name="T70" fmla="*/ 68 w 93"/>
                <a:gd name="T71" fmla="*/ 30 h 91"/>
                <a:gd name="T72" fmla="*/ 69 w 93"/>
                <a:gd name="T73" fmla="*/ 16 h 91"/>
                <a:gd name="T74" fmla="*/ 91 w 93"/>
                <a:gd name="T75" fmla="*/ 16 h 91"/>
                <a:gd name="T76" fmla="*/ 91 w 93"/>
                <a:gd name="T77" fmla="*/ 0 h 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3" h="91" extrusionOk="0">
                  <a:moveTo>
                    <a:pt x="91" y="0"/>
                  </a:moveTo>
                  <a:lnTo>
                    <a:pt x="17" y="0"/>
                  </a:lnTo>
                  <a:lnTo>
                    <a:pt x="11" y="5"/>
                  </a:lnTo>
                  <a:lnTo>
                    <a:pt x="3" y="17"/>
                  </a:lnTo>
                  <a:lnTo>
                    <a:pt x="1" y="24"/>
                  </a:lnTo>
                  <a:lnTo>
                    <a:pt x="0" y="27"/>
                  </a:lnTo>
                  <a:lnTo>
                    <a:pt x="3" y="27"/>
                  </a:lnTo>
                  <a:lnTo>
                    <a:pt x="9" y="19"/>
                  </a:lnTo>
                  <a:lnTo>
                    <a:pt x="14" y="16"/>
                  </a:lnTo>
                  <a:lnTo>
                    <a:pt x="27" y="16"/>
                  </a:lnTo>
                  <a:lnTo>
                    <a:pt x="21" y="64"/>
                  </a:lnTo>
                  <a:lnTo>
                    <a:pt x="16" y="68"/>
                  </a:lnTo>
                  <a:lnTo>
                    <a:pt x="11" y="74"/>
                  </a:lnTo>
                  <a:lnTo>
                    <a:pt x="8" y="77"/>
                  </a:lnTo>
                  <a:lnTo>
                    <a:pt x="10" y="87"/>
                  </a:lnTo>
                  <a:lnTo>
                    <a:pt x="15" y="91"/>
                  </a:lnTo>
                  <a:lnTo>
                    <a:pt x="38" y="16"/>
                  </a:lnTo>
                  <a:lnTo>
                    <a:pt x="58" y="16"/>
                  </a:lnTo>
                  <a:lnTo>
                    <a:pt x="54" y="53"/>
                  </a:lnTo>
                  <a:lnTo>
                    <a:pt x="54" y="68"/>
                  </a:lnTo>
                  <a:lnTo>
                    <a:pt x="58" y="81"/>
                  </a:lnTo>
                  <a:lnTo>
                    <a:pt x="62" y="86"/>
                  </a:lnTo>
                  <a:lnTo>
                    <a:pt x="70" y="91"/>
                  </a:lnTo>
                  <a:lnTo>
                    <a:pt x="76" y="90"/>
                  </a:lnTo>
                  <a:lnTo>
                    <a:pt x="85" y="85"/>
                  </a:lnTo>
                  <a:lnTo>
                    <a:pt x="92" y="76"/>
                  </a:lnTo>
                  <a:lnTo>
                    <a:pt x="93" y="60"/>
                  </a:lnTo>
                  <a:lnTo>
                    <a:pt x="89" y="60"/>
                  </a:lnTo>
                  <a:lnTo>
                    <a:pt x="88" y="63"/>
                  </a:lnTo>
                  <a:lnTo>
                    <a:pt x="89" y="68"/>
                  </a:lnTo>
                  <a:lnTo>
                    <a:pt x="79" y="75"/>
                  </a:lnTo>
                  <a:lnTo>
                    <a:pt x="73" y="72"/>
                  </a:lnTo>
                  <a:lnTo>
                    <a:pt x="69" y="68"/>
                  </a:lnTo>
                  <a:lnTo>
                    <a:pt x="67" y="62"/>
                  </a:lnTo>
                  <a:lnTo>
                    <a:pt x="67" y="42"/>
                  </a:lnTo>
                  <a:lnTo>
                    <a:pt x="68" y="30"/>
                  </a:lnTo>
                  <a:lnTo>
                    <a:pt x="69" y="16"/>
                  </a:lnTo>
                  <a:lnTo>
                    <a:pt x="91" y="16"/>
                  </a:lnTo>
                  <a:lnTo>
                    <a:pt x="91"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pic>
          <p:nvPicPr>
            <p:cNvPr id="14" name="Google Shape;319;p29">
              <a:extLst>
                <a:ext uri="{FF2B5EF4-FFF2-40B4-BE49-F238E27FC236}">
                  <a16:creationId xmlns:a16="http://schemas.microsoft.com/office/drawing/2014/main" id="{C6F139E6-E404-A3FA-EA28-8E64CDAA37A8}"/>
                </a:ext>
              </a:extLst>
            </p:cNvPr>
            <p:cNvPicPr preferRelativeResize="0">
              <a:picLocks noChangeAspect="1" noChangeArrowheads="1"/>
            </p:cNvPicPr>
            <p:nvPr/>
          </p:nvPicPr>
          <p:blipFill>
            <a:blip r:embed="R842d8163f48741e6">
              <a:extLst>
                <a:ext uri="{28A0092B-C50C-407E-A947-70E740481C1C}">
                  <a14:useLocalDpi xmlns:a14="http://schemas.microsoft.com/office/drawing/2010/main" val="0"/>
                </a:ext>
              </a:extLst>
            </a:blip>
            <a:srcRect/>
            <a:stretch>
              <a:fillRect/>
            </a:stretch>
          </p:blipFill>
          <p:spPr bwMode="auto">
            <a:xfrm>
              <a:off x="3742" y="1844"/>
              <a:ext cx="314"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Google Shape;320;p29">
              <a:extLst>
                <a:ext uri="{FF2B5EF4-FFF2-40B4-BE49-F238E27FC236}">
                  <a16:creationId xmlns:a16="http://schemas.microsoft.com/office/drawing/2014/main" id="{73D78367-1CEE-E24B-6C42-B3F91D028AC0}"/>
                </a:ext>
              </a:extLst>
            </p:cNvPr>
            <p:cNvPicPr preferRelativeResize="0">
              <a:picLocks noChangeAspect="1" noChangeArrowheads="1"/>
            </p:cNvPicPr>
            <p:nvPr/>
          </p:nvPicPr>
          <p:blipFill>
            <a:blip r:embed="R12cd7ce74a244e0c">
              <a:extLst>
                <a:ext uri="{28A0092B-C50C-407E-A947-70E740481C1C}">
                  <a14:useLocalDpi xmlns:a14="http://schemas.microsoft.com/office/drawing/2010/main" val="0"/>
                </a:ext>
              </a:extLst>
            </a:blip>
            <a:srcRect/>
            <a:stretch>
              <a:fillRect/>
            </a:stretch>
          </p:blipFill>
          <p:spPr bwMode="auto">
            <a:xfrm>
              <a:off x="4307" y="1846"/>
              <a:ext cx="18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Google Shape;321;p29">
              <a:extLst>
                <a:ext uri="{FF2B5EF4-FFF2-40B4-BE49-F238E27FC236}">
                  <a16:creationId xmlns:a16="http://schemas.microsoft.com/office/drawing/2014/main" id="{18973E37-8116-D6BC-10E6-EC4E0BABD266}"/>
                </a:ext>
              </a:extLst>
            </p:cNvPr>
            <p:cNvSpPr>
              <a:spLocks/>
            </p:cNvSpPr>
            <p:nvPr/>
          </p:nvSpPr>
          <p:spPr bwMode="auto">
            <a:xfrm>
              <a:off x="2890" y="1370"/>
              <a:ext cx="186" cy="157"/>
            </a:xfrm>
            <a:custGeom>
              <a:avLst/>
              <a:gdLst>
                <a:gd name="T0" fmla="*/ 32 w 186"/>
                <a:gd name="T1" fmla="*/ 0 h 157"/>
                <a:gd name="T2" fmla="*/ 37 w 186"/>
                <a:gd name="T3" fmla="*/ 4 h 157"/>
                <a:gd name="T4" fmla="*/ 44 w 186"/>
                <a:gd name="T5" fmla="*/ 7 h 157"/>
                <a:gd name="T6" fmla="*/ 44 w 186"/>
                <a:gd name="T7" fmla="*/ 14 h 157"/>
                <a:gd name="T8" fmla="*/ 19 w 186"/>
                <a:gd name="T9" fmla="*/ 102 h 157"/>
                <a:gd name="T10" fmla="*/ 15 w 186"/>
                <a:gd name="T11" fmla="*/ 111 h 157"/>
                <a:gd name="T12" fmla="*/ 9 w 186"/>
                <a:gd name="T13" fmla="*/ 114 h 157"/>
                <a:gd name="T14" fmla="*/ 0 w 186"/>
                <a:gd name="T15" fmla="*/ 118 h 157"/>
                <a:gd name="T16" fmla="*/ 102 w 186"/>
                <a:gd name="T17" fmla="*/ 85 h 157"/>
                <a:gd name="T18" fmla="*/ 94 w 186"/>
                <a:gd name="T19" fmla="*/ 95 h 157"/>
                <a:gd name="T20" fmla="*/ 74 w 186"/>
                <a:gd name="T21" fmla="*/ 110 h 157"/>
                <a:gd name="T22" fmla="*/ 40 w 186"/>
                <a:gd name="T23" fmla="*/ 112 h 157"/>
                <a:gd name="T24" fmla="*/ 35 w 186"/>
                <a:gd name="T25" fmla="*/ 110 h 157"/>
                <a:gd name="T26" fmla="*/ 34 w 186"/>
                <a:gd name="T27" fmla="*/ 105 h 157"/>
                <a:gd name="T28" fmla="*/ 47 w 186"/>
                <a:gd name="T29" fmla="*/ 59 h 157"/>
                <a:gd name="T30" fmla="*/ 68 w 186"/>
                <a:gd name="T31" fmla="*/ 60 h 157"/>
                <a:gd name="T32" fmla="*/ 72 w 186"/>
                <a:gd name="T33" fmla="*/ 62 h 157"/>
                <a:gd name="T34" fmla="*/ 75 w 186"/>
                <a:gd name="T35" fmla="*/ 67 h 157"/>
                <a:gd name="T36" fmla="*/ 73 w 186"/>
                <a:gd name="T37" fmla="*/ 79 h 157"/>
                <a:gd name="T38" fmla="*/ 89 w 186"/>
                <a:gd name="T39" fmla="*/ 36 h 157"/>
                <a:gd name="T40" fmla="*/ 83 w 186"/>
                <a:gd name="T41" fmla="*/ 43 h 157"/>
                <a:gd name="T42" fmla="*/ 73 w 186"/>
                <a:gd name="T43" fmla="*/ 52 h 157"/>
                <a:gd name="T44" fmla="*/ 48 w 186"/>
                <a:gd name="T45" fmla="*/ 53 h 157"/>
                <a:gd name="T46" fmla="*/ 87 w 186"/>
                <a:gd name="T47" fmla="*/ 7 h 157"/>
                <a:gd name="T48" fmla="*/ 100 w 186"/>
                <a:gd name="T49" fmla="*/ 10 h 157"/>
                <a:gd name="T50" fmla="*/ 106 w 186"/>
                <a:gd name="T51" fmla="*/ 16 h 157"/>
                <a:gd name="T52" fmla="*/ 106 w 186"/>
                <a:gd name="T53" fmla="*/ 29 h 157"/>
                <a:gd name="T54" fmla="*/ 117 w 186"/>
                <a:gd name="T55" fmla="*/ 0 h 157"/>
                <a:gd name="T56" fmla="*/ 184 w 186"/>
                <a:gd name="T57" fmla="*/ 141 h 157"/>
                <a:gd name="T58" fmla="*/ 179 w 186"/>
                <a:gd name="T59" fmla="*/ 146 h 157"/>
                <a:gd name="T60" fmla="*/ 174 w 186"/>
                <a:gd name="T61" fmla="*/ 150 h 157"/>
                <a:gd name="T62" fmla="*/ 182 w 186"/>
                <a:gd name="T63" fmla="*/ 113 h 157"/>
                <a:gd name="T64" fmla="*/ 184 w 186"/>
                <a:gd name="T65" fmla="*/ 102 h 157"/>
                <a:gd name="T66" fmla="*/ 180 w 186"/>
                <a:gd name="T67" fmla="*/ 97 h 157"/>
                <a:gd name="T68" fmla="*/ 173 w 186"/>
                <a:gd name="T69" fmla="*/ 97 h 157"/>
                <a:gd name="T70" fmla="*/ 160 w 186"/>
                <a:gd name="T71" fmla="*/ 106 h 157"/>
                <a:gd name="T72" fmla="*/ 146 w 186"/>
                <a:gd name="T73" fmla="*/ 129 h 157"/>
                <a:gd name="T74" fmla="*/ 152 w 186"/>
                <a:gd name="T75" fmla="*/ 102 h 157"/>
                <a:gd name="T76" fmla="*/ 149 w 186"/>
                <a:gd name="T77" fmla="*/ 97 h 157"/>
                <a:gd name="T78" fmla="*/ 142 w 186"/>
                <a:gd name="T79" fmla="*/ 97 h 157"/>
                <a:gd name="T80" fmla="*/ 134 w 186"/>
                <a:gd name="T81" fmla="*/ 101 h 157"/>
                <a:gd name="T82" fmla="*/ 123 w 186"/>
                <a:gd name="T83" fmla="*/ 114 h 157"/>
                <a:gd name="T84" fmla="*/ 124 w 186"/>
                <a:gd name="T85" fmla="*/ 97 h 157"/>
                <a:gd name="T86" fmla="*/ 103 w 186"/>
                <a:gd name="T87" fmla="*/ 103 h 157"/>
                <a:gd name="T88" fmla="*/ 110 w 186"/>
                <a:gd name="T89" fmla="*/ 103 h 157"/>
                <a:gd name="T90" fmla="*/ 112 w 186"/>
                <a:gd name="T91" fmla="*/ 105 h 157"/>
                <a:gd name="T92" fmla="*/ 98 w 186"/>
                <a:gd name="T93" fmla="*/ 156 h 157"/>
                <a:gd name="T94" fmla="*/ 114 w 186"/>
                <a:gd name="T95" fmla="*/ 135 h 157"/>
                <a:gd name="T96" fmla="*/ 121 w 186"/>
                <a:gd name="T97" fmla="*/ 122 h 157"/>
                <a:gd name="T98" fmla="*/ 132 w 186"/>
                <a:gd name="T99" fmla="*/ 108 h 157"/>
                <a:gd name="T100" fmla="*/ 138 w 186"/>
                <a:gd name="T101" fmla="*/ 104 h 157"/>
                <a:gd name="T102" fmla="*/ 142 w 186"/>
                <a:gd name="T103" fmla="*/ 106 h 157"/>
                <a:gd name="T104" fmla="*/ 129 w 186"/>
                <a:gd name="T105" fmla="*/ 156 h 157"/>
                <a:gd name="T106" fmla="*/ 142 w 186"/>
                <a:gd name="T107" fmla="*/ 145 h 157"/>
                <a:gd name="T108" fmla="*/ 153 w 186"/>
                <a:gd name="T109" fmla="*/ 120 h 157"/>
                <a:gd name="T110" fmla="*/ 167 w 186"/>
                <a:gd name="T111" fmla="*/ 105 h 157"/>
                <a:gd name="T112" fmla="*/ 171 w 186"/>
                <a:gd name="T113" fmla="*/ 104 h 157"/>
                <a:gd name="T114" fmla="*/ 173 w 186"/>
                <a:gd name="T115" fmla="*/ 108 h 157"/>
                <a:gd name="T116" fmla="*/ 162 w 186"/>
                <a:gd name="T117" fmla="*/ 153 h 157"/>
                <a:gd name="T118" fmla="*/ 165 w 186"/>
                <a:gd name="T119" fmla="*/ 157 h 157"/>
                <a:gd name="T120" fmla="*/ 169 w 186"/>
                <a:gd name="T121" fmla="*/ 157 h 157"/>
                <a:gd name="T122" fmla="*/ 175 w 186"/>
                <a:gd name="T123" fmla="*/ 154 h 157"/>
                <a:gd name="T124" fmla="*/ 183 w 186"/>
                <a:gd name="T125" fmla="*/ 146 h 15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86" h="157" extrusionOk="0">
                  <a:moveTo>
                    <a:pt x="117" y="0"/>
                  </a:moveTo>
                  <a:lnTo>
                    <a:pt x="32" y="0"/>
                  </a:lnTo>
                  <a:lnTo>
                    <a:pt x="31" y="4"/>
                  </a:lnTo>
                  <a:lnTo>
                    <a:pt x="37" y="4"/>
                  </a:lnTo>
                  <a:lnTo>
                    <a:pt x="40" y="4"/>
                  </a:lnTo>
                  <a:lnTo>
                    <a:pt x="44" y="7"/>
                  </a:lnTo>
                  <a:lnTo>
                    <a:pt x="44" y="8"/>
                  </a:lnTo>
                  <a:lnTo>
                    <a:pt x="44" y="14"/>
                  </a:lnTo>
                  <a:lnTo>
                    <a:pt x="44" y="18"/>
                  </a:lnTo>
                  <a:lnTo>
                    <a:pt x="19" y="102"/>
                  </a:lnTo>
                  <a:lnTo>
                    <a:pt x="17" y="107"/>
                  </a:lnTo>
                  <a:lnTo>
                    <a:pt x="15" y="111"/>
                  </a:lnTo>
                  <a:lnTo>
                    <a:pt x="13" y="113"/>
                  </a:lnTo>
                  <a:lnTo>
                    <a:pt x="9" y="114"/>
                  </a:lnTo>
                  <a:lnTo>
                    <a:pt x="2" y="115"/>
                  </a:lnTo>
                  <a:lnTo>
                    <a:pt x="0" y="118"/>
                  </a:lnTo>
                  <a:lnTo>
                    <a:pt x="91" y="118"/>
                  </a:lnTo>
                  <a:lnTo>
                    <a:pt x="102" y="85"/>
                  </a:lnTo>
                  <a:lnTo>
                    <a:pt x="99" y="85"/>
                  </a:lnTo>
                  <a:lnTo>
                    <a:pt x="94" y="95"/>
                  </a:lnTo>
                  <a:lnTo>
                    <a:pt x="88" y="102"/>
                  </a:lnTo>
                  <a:lnTo>
                    <a:pt x="74" y="110"/>
                  </a:lnTo>
                  <a:lnTo>
                    <a:pt x="65" y="112"/>
                  </a:lnTo>
                  <a:lnTo>
                    <a:pt x="40" y="112"/>
                  </a:lnTo>
                  <a:lnTo>
                    <a:pt x="37" y="112"/>
                  </a:lnTo>
                  <a:lnTo>
                    <a:pt x="35" y="110"/>
                  </a:lnTo>
                  <a:lnTo>
                    <a:pt x="34" y="108"/>
                  </a:lnTo>
                  <a:lnTo>
                    <a:pt x="34" y="105"/>
                  </a:lnTo>
                  <a:lnTo>
                    <a:pt x="34" y="102"/>
                  </a:lnTo>
                  <a:lnTo>
                    <a:pt x="47" y="59"/>
                  </a:lnTo>
                  <a:lnTo>
                    <a:pt x="64" y="59"/>
                  </a:lnTo>
                  <a:lnTo>
                    <a:pt x="68" y="60"/>
                  </a:lnTo>
                  <a:lnTo>
                    <a:pt x="71" y="61"/>
                  </a:lnTo>
                  <a:lnTo>
                    <a:pt x="72" y="62"/>
                  </a:lnTo>
                  <a:lnTo>
                    <a:pt x="74" y="65"/>
                  </a:lnTo>
                  <a:lnTo>
                    <a:pt x="75" y="67"/>
                  </a:lnTo>
                  <a:lnTo>
                    <a:pt x="75" y="72"/>
                  </a:lnTo>
                  <a:lnTo>
                    <a:pt x="73" y="79"/>
                  </a:lnTo>
                  <a:lnTo>
                    <a:pt x="77" y="79"/>
                  </a:lnTo>
                  <a:lnTo>
                    <a:pt x="89" y="36"/>
                  </a:lnTo>
                  <a:lnTo>
                    <a:pt x="86" y="36"/>
                  </a:lnTo>
                  <a:lnTo>
                    <a:pt x="83" y="43"/>
                  </a:lnTo>
                  <a:lnTo>
                    <a:pt x="80" y="47"/>
                  </a:lnTo>
                  <a:lnTo>
                    <a:pt x="73" y="52"/>
                  </a:lnTo>
                  <a:lnTo>
                    <a:pt x="67" y="53"/>
                  </a:lnTo>
                  <a:lnTo>
                    <a:pt x="48" y="53"/>
                  </a:lnTo>
                  <a:lnTo>
                    <a:pt x="62" y="7"/>
                  </a:lnTo>
                  <a:lnTo>
                    <a:pt x="87" y="7"/>
                  </a:lnTo>
                  <a:lnTo>
                    <a:pt x="93" y="7"/>
                  </a:lnTo>
                  <a:lnTo>
                    <a:pt x="100" y="10"/>
                  </a:lnTo>
                  <a:lnTo>
                    <a:pt x="103" y="12"/>
                  </a:lnTo>
                  <a:lnTo>
                    <a:pt x="106" y="16"/>
                  </a:lnTo>
                  <a:lnTo>
                    <a:pt x="107" y="19"/>
                  </a:lnTo>
                  <a:lnTo>
                    <a:pt x="106" y="29"/>
                  </a:lnTo>
                  <a:lnTo>
                    <a:pt x="110" y="29"/>
                  </a:lnTo>
                  <a:lnTo>
                    <a:pt x="117" y="0"/>
                  </a:lnTo>
                  <a:close/>
                  <a:moveTo>
                    <a:pt x="186" y="142"/>
                  </a:moveTo>
                  <a:lnTo>
                    <a:pt x="184" y="141"/>
                  </a:lnTo>
                  <a:lnTo>
                    <a:pt x="182" y="144"/>
                  </a:lnTo>
                  <a:lnTo>
                    <a:pt x="179" y="146"/>
                  </a:lnTo>
                  <a:lnTo>
                    <a:pt x="175" y="150"/>
                  </a:lnTo>
                  <a:lnTo>
                    <a:pt x="174" y="150"/>
                  </a:lnTo>
                  <a:lnTo>
                    <a:pt x="173" y="148"/>
                  </a:lnTo>
                  <a:lnTo>
                    <a:pt x="182" y="113"/>
                  </a:lnTo>
                  <a:lnTo>
                    <a:pt x="184" y="108"/>
                  </a:lnTo>
                  <a:lnTo>
                    <a:pt x="184" y="102"/>
                  </a:lnTo>
                  <a:lnTo>
                    <a:pt x="183" y="100"/>
                  </a:lnTo>
                  <a:lnTo>
                    <a:pt x="180" y="97"/>
                  </a:lnTo>
                  <a:lnTo>
                    <a:pt x="179" y="97"/>
                  </a:lnTo>
                  <a:lnTo>
                    <a:pt x="173" y="97"/>
                  </a:lnTo>
                  <a:lnTo>
                    <a:pt x="170" y="98"/>
                  </a:lnTo>
                  <a:lnTo>
                    <a:pt x="160" y="106"/>
                  </a:lnTo>
                  <a:lnTo>
                    <a:pt x="153" y="116"/>
                  </a:lnTo>
                  <a:lnTo>
                    <a:pt x="146" y="129"/>
                  </a:lnTo>
                  <a:lnTo>
                    <a:pt x="152" y="106"/>
                  </a:lnTo>
                  <a:lnTo>
                    <a:pt x="152" y="102"/>
                  </a:lnTo>
                  <a:lnTo>
                    <a:pt x="152" y="100"/>
                  </a:lnTo>
                  <a:lnTo>
                    <a:pt x="149" y="97"/>
                  </a:lnTo>
                  <a:lnTo>
                    <a:pt x="147" y="97"/>
                  </a:lnTo>
                  <a:lnTo>
                    <a:pt x="142" y="97"/>
                  </a:lnTo>
                  <a:lnTo>
                    <a:pt x="140" y="97"/>
                  </a:lnTo>
                  <a:lnTo>
                    <a:pt x="134" y="101"/>
                  </a:lnTo>
                  <a:lnTo>
                    <a:pt x="130" y="105"/>
                  </a:lnTo>
                  <a:lnTo>
                    <a:pt x="123" y="114"/>
                  </a:lnTo>
                  <a:lnTo>
                    <a:pt x="116" y="126"/>
                  </a:lnTo>
                  <a:lnTo>
                    <a:pt x="124" y="97"/>
                  </a:lnTo>
                  <a:lnTo>
                    <a:pt x="102" y="101"/>
                  </a:lnTo>
                  <a:lnTo>
                    <a:pt x="103" y="103"/>
                  </a:lnTo>
                  <a:lnTo>
                    <a:pt x="109" y="102"/>
                  </a:lnTo>
                  <a:lnTo>
                    <a:pt x="110" y="103"/>
                  </a:lnTo>
                  <a:lnTo>
                    <a:pt x="111" y="104"/>
                  </a:lnTo>
                  <a:lnTo>
                    <a:pt x="112" y="105"/>
                  </a:lnTo>
                  <a:lnTo>
                    <a:pt x="112" y="106"/>
                  </a:lnTo>
                  <a:lnTo>
                    <a:pt x="98" y="156"/>
                  </a:lnTo>
                  <a:lnTo>
                    <a:pt x="107" y="156"/>
                  </a:lnTo>
                  <a:lnTo>
                    <a:pt x="114" y="135"/>
                  </a:lnTo>
                  <a:lnTo>
                    <a:pt x="117" y="128"/>
                  </a:lnTo>
                  <a:lnTo>
                    <a:pt x="121" y="122"/>
                  </a:lnTo>
                  <a:lnTo>
                    <a:pt x="129" y="111"/>
                  </a:lnTo>
                  <a:lnTo>
                    <a:pt x="132" y="108"/>
                  </a:lnTo>
                  <a:lnTo>
                    <a:pt x="136" y="105"/>
                  </a:lnTo>
                  <a:lnTo>
                    <a:pt x="138" y="104"/>
                  </a:lnTo>
                  <a:lnTo>
                    <a:pt x="140" y="104"/>
                  </a:lnTo>
                  <a:lnTo>
                    <a:pt x="142" y="106"/>
                  </a:lnTo>
                  <a:lnTo>
                    <a:pt x="142" y="109"/>
                  </a:lnTo>
                  <a:lnTo>
                    <a:pt x="129" y="156"/>
                  </a:lnTo>
                  <a:lnTo>
                    <a:pt x="139" y="156"/>
                  </a:lnTo>
                  <a:lnTo>
                    <a:pt x="142" y="145"/>
                  </a:lnTo>
                  <a:lnTo>
                    <a:pt x="145" y="137"/>
                  </a:lnTo>
                  <a:lnTo>
                    <a:pt x="153" y="120"/>
                  </a:lnTo>
                  <a:lnTo>
                    <a:pt x="159" y="113"/>
                  </a:lnTo>
                  <a:lnTo>
                    <a:pt x="167" y="105"/>
                  </a:lnTo>
                  <a:lnTo>
                    <a:pt x="169" y="104"/>
                  </a:lnTo>
                  <a:lnTo>
                    <a:pt x="171" y="104"/>
                  </a:lnTo>
                  <a:lnTo>
                    <a:pt x="173" y="106"/>
                  </a:lnTo>
                  <a:lnTo>
                    <a:pt x="173" y="108"/>
                  </a:lnTo>
                  <a:lnTo>
                    <a:pt x="162" y="150"/>
                  </a:lnTo>
                  <a:lnTo>
                    <a:pt x="162" y="153"/>
                  </a:lnTo>
                  <a:lnTo>
                    <a:pt x="163" y="155"/>
                  </a:lnTo>
                  <a:lnTo>
                    <a:pt x="165" y="157"/>
                  </a:lnTo>
                  <a:lnTo>
                    <a:pt x="166" y="157"/>
                  </a:lnTo>
                  <a:lnTo>
                    <a:pt x="169" y="157"/>
                  </a:lnTo>
                  <a:lnTo>
                    <a:pt x="171" y="157"/>
                  </a:lnTo>
                  <a:lnTo>
                    <a:pt x="175" y="154"/>
                  </a:lnTo>
                  <a:lnTo>
                    <a:pt x="177" y="152"/>
                  </a:lnTo>
                  <a:lnTo>
                    <a:pt x="183" y="146"/>
                  </a:lnTo>
                  <a:lnTo>
                    <a:pt x="186" y="142"/>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17" name="Google Shape;322;p29">
              <a:extLst>
                <a:ext uri="{FF2B5EF4-FFF2-40B4-BE49-F238E27FC236}">
                  <a16:creationId xmlns:a16="http://schemas.microsoft.com/office/drawing/2014/main" id="{C15CCF30-76BC-E1A6-8F83-0F541DC86864}"/>
                </a:ext>
              </a:extLst>
            </p:cNvPr>
            <p:cNvCxnSpPr>
              <a:cxnSpLocks noChangeShapeType="1"/>
            </p:cNvCxnSpPr>
            <p:nvPr/>
          </p:nvCxnSpPr>
          <p:spPr bwMode="auto">
            <a:xfrm>
              <a:off x="2991" y="1555"/>
              <a:ext cx="0" cy="125"/>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sp>
          <p:nvSpPr>
            <p:cNvPr id="18" name="Google Shape;323;p29">
              <a:extLst>
                <a:ext uri="{FF2B5EF4-FFF2-40B4-BE49-F238E27FC236}">
                  <a16:creationId xmlns:a16="http://schemas.microsoft.com/office/drawing/2014/main" id="{C09C0BB5-F295-7C4A-CDC5-5D57E7801DD7}"/>
                </a:ext>
              </a:extLst>
            </p:cNvPr>
            <p:cNvSpPr>
              <a:spLocks/>
            </p:cNvSpPr>
            <p:nvPr/>
          </p:nvSpPr>
          <p:spPr bwMode="auto">
            <a:xfrm>
              <a:off x="2964" y="1679"/>
              <a:ext cx="54" cy="108"/>
            </a:xfrm>
            <a:custGeom>
              <a:avLst/>
              <a:gdLst>
                <a:gd name="T0" fmla="*/ 53 w 54"/>
                <a:gd name="T1" fmla="*/ 0 h 108"/>
                <a:gd name="T2" fmla="*/ 0 w 54"/>
                <a:gd name="T3" fmla="*/ 0 h 108"/>
                <a:gd name="T4" fmla="*/ 26 w 54"/>
                <a:gd name="T5" fmla="*/ 107 h 108"/>
                <a:gd name="T6" fmla="*/ 53 w 54"/>
                <a:gd name="T7" fmla="*/ 0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08" extrusionOk="0">
                  <a:moveTo>
                    <a:pt x="53" y="0"/>
                  </a:moveTo>
                  <a:lnTo>
                    <a:pt x="0" y="0"/>
                  </a:lnTo>
                  <a:lnTo>
                    <a:pt x="26" y="107"/>
                  </a:lnTo>
                  <a:lnTo>
                    <a:pt x="53" y="0"/>
                  </a:lnTo>
                  <a:close/>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19" name="Google Shape;324;p29">
              <a:extLst>
                <a:ext uri="{FF2B5EF4-FFF2-40B4-BE49-F238E27FC236}">
                  <a16:creationId xmlns:a16="http://schemas.microsoft.com/office/drawing/2014/main" id="{F23C9432-3C1E-4773-6776-5A3AC6E78D5C}"/>
                </a:ext>
              </a:extLst>
            </p:cNvPr>
            <p:cNvSpPr>
              <a:spLocks/>
            </p:cNvSpPr>
            <p:nvPr/>
          </p:nvSpPr>
          <p:spPr bwMode="auto">
            <a:xfrm>
              <a:off x="2964" y="1679"/>
              <a:ext cx="54" cy="108"/>
            </a:xfrm>
            <a:custGeom>
              <a:avLst/>
              <a:gdLst>
                <a:gd name="T0" fmla="*/ 26 w 54"/>
                <a:gd name="T1" fmla="*/ 107 h 108"/>
                <a:gd name="T2" fmla="*/ 53 w 54"/>
                <a:gd name="T3" fmla="*/ 0 h 108"/>
                <a:gd name="T4" fmla="*/ 0 w 54"/>
                <a:gd name="T5" fmla="*/ 0 h 108"/>
                <a:gd name="T6" fmla="*/ 26 w 54"/>
                <a:gd name="T7" fmla="*/ 107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08" extrusionOk="0">
                  <a:moveTo>
                    <a:pt x="26" y="107"/>
                  </a:moveTo>
                  <a:lnTo>
                    <a:pt x="53" y="0"/>
                  </a:lnTo>
                  <a:lnTo>
                    <a:pt x="0" y="0"/>
                  </a:lnTo>
                  <a:lnTo>
                    <a:pt x="26" y="107"/>
                  </a:lnTo>
                  <a:close/>
                </a:path>
              </a:pathLst>
            </a:custGeom>
            <a:noFill/>
            <a:ln w="9525" cap="flat" cmpd="sng">
              <a:solidFill>
                <a:srgbClr val="EC008C"/>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20" name="Google Shape;325;p29">
              <a:extLst>
                <a:ext uri="{FF2B5EF4-FFF2-40B4-BE49-F238E27FC236}">
                  <a16:creationId xmlns:a16="http://schemas.microsoft.com/office/drawing/2014/main" id="{7A613295-367D-A1FE-AE4C-7FC2603F03B2}"/>
                </a:ext>
              </a:extLst>
            </p:cNvPr>
            <p:cNvCxnSpPr>
              <a:cxnSpLocks noChangeShapeType="1"/>
            </p:cNvCxnSpPr>
            <p:nvPr/>
          </p:nvCxnSpPr>
          <p:spPr bwMode="auto">
            <a:xfrm>
              <a:off x="2991" y="1363"/>
              <a:ext cx="0" cy="0"/>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sp>
          <p:nvSpPr>
            <p:cNvPr id="21" name="Google Shape;326;p29">
              <a:extLst>
                <a:ext uri="{FF2B5EF4-FFF2-40B4-BE49-F238E27FC236}">
                  <a16:creationId xmlns:a16="http://schemas.microsoft.com/office/drawing/2014/main" id="{C664D649-71A9-FB22-A1AE-BEABEEA3BCF5}"/>
                </a:ext>
              </a:extLst>
            </p:cNvPr>
            <p:cNvSpPr>
              <a:spLocks/>
            </p:cNvSpPr>
            <p:nvPr/>
          </p:nvSpPr>
          <p:spPr bwMode="auto">
            <a:xfrm>
              <a:off x="2963" y="1046"/>
              <a:ext cx="54" cy="108"/>
            </a:xfrm>
            <a:custGeom>
              <a:avLst/>
              <a:gdLst>
                <a:gd name="T0" fmla="*/ 28 w 54"/>
                <a:gd name="T1" fmla="*/ 0 h 108"/>
                <a:gd name="T2" fmla="*/ 0 w 54"/>
                <a:gd name="T3" fmla="*/ 107 h 108"/>
                <a:gd name="T4" fmla="*/ 54 w 54"/>
                <a:gd name="T5" fmla="*/ 107 h 108"/>
                <a:gd name="T6" fmla="*/ 28 w 54"/>
                <a:gd name="T7" fmla="*/ 0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08" extrusionOk="0">
                  <a:moveTo>
                    <a:pt x="28" y="0"/>
                  </a:moveTo>
                  <a:lnTo>
                    <a:pt x="0" y="107"/>
                  </a:lnTo>
                  <a:lnTo>
                    <a:pt x="54" y="107"/>
                  </a:lnTo>
                  <a:lnTo>
                    <a:pt x="28" y="0"/>
                  </a:lnTo>
                  <a:close/>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22" name="Google Shape;327;p29">
              <a:extLst>
                <a:ext uri="{FF2B5EF4-FFF2-40B4-BE49-F238E27FC236}">
                  <a16:creationId xmlns:a16="http://schemas.microsoft.com/office/drawing/2014/main" id="{CA8E02CD-07F6-581C-8EBB-818E0EA6399D}"/>
                </a:ext>
              </a:extLst>
            </p:cNvPr>
            <p:cNvSpPr>
              <a:spLocks/>
            </p:cNvSpPr>
            <p:nvPr/>
          </p:nvSpPr>
          <p:spPr bwMode="auto">
            <a:xfrm>
              <a:off x="2963" y="1046"/>
              <a:ext cx="54" cy="108"/>
            </a:xfrm>
            <a:custGeom>
              <a:avLst/>
              <a:gdLst>
                <a:gd name="T0" fmla="*/ 28 w 54"/>
                <a:gd name="T1" fmla="*/ 0 h 108"/>
                <a:gd name="T2" fmla="*/ 0 w 54"/>
                <a:gd name="T3" fmla="*/ 107 h 108"/>
                <a:gd name="T4" fmla="*/ 54 w 54"/>
                <a:gd name="T5" fmla="*/ 107 h 108"/>
                <a:gd name="T6" fmla="*/ 28 w 54"/>
                <a:gd name="T7" fmla="*/ 0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 h="108" extrusionOk="0">
                  <a:moveTo>
                    <a:pt x="28" y="0"/>
                  </a:moveTo>
                  <a:lnTo>
                    <a:pt x="0" y="107"/>
                  </a:lnTo>
                  <a:lnTo>
                    <a:pt x="54" y="107"/>
                  </a:lnTo>
                  <a:lnTo>
                    <a:pt x="28" y="0"/>
                  </a:lnTo>
                  <a:close/>
                </a:path>
              </a:pathLst>
            </a:custGeom>
            <a:noFill/>
            <a:ln w="9525" cap="flat" cmpd="sng">
              <a:solidFill>
                <a:srgbClr val="EC008C"/>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23" name="Google Shape;328;p29">
              <a:extLst>
                <a:ext uri="{FF2B5EF4-FFF2-40B4-BE49-F238E27FC236}">
                  <a16:creationId xmlns:a16="http://schemas.microsoft.com/office/drawing/2014/main" id="{E8A94FA2-741D-BE6E-9E3A-A28C53F74E83}"/>
                </a:ext>
              </a:extLst>
            </p:cNvPr>
            <p:cNvSpPr>
              <a:spLocks/>
            </p:cNvSpPr>
            <p:nvPr/>
          </p:nvSpPr>
          <p:spPr bwMode="auto">
            <a:xfrm>
              <a:off x="2554" y="1053"/>
              <a:ext cx="884" cy="734"/>
            </a:xfrm>
            <a:custGeom>
              <a:avLst/>
              <a:gdLst>
                <a:gd name="T0" fmla="*/ 0 w 884"/>
                <a:gd name="T1" fmla="*/ 733 h 734"/>
                <a:gd name="T2" fmla="*/ 95 w 884"/>
                <a:gd name="T3" fmla="*/ 523 h 734"/>
                <a:gd name="T4" fmla="*/ 145 w 884"/>
                <a:gd name="T5" fmla="*/ 408 h 734"/>
                <a:gd name="T6" fmla="*/ 186 w 884"/>
                <a:gd name="T7" fmla="*/ 321 h 734"/>
                <a:gd name="T8" fmla="*/ 225 w 884"/>
                <a:gd name="T9" fmla="*/ 247 h 734"/>
                <a:gd name="T10" fmla="*/ 277 w 884"/>
                <a:gd name="T11" fmla="*/ 158 h 734"/>
                <a:gd name="T12" fmla="*/ 324 w 884"/>
                <a:gd name="T13" fmla="*/ 80 h 734"/>
                <a:gd name="T14" fmla="*/ 379 w 884"/>
                <a:gd name="T15" fmla="*/ 13 h 734"/>
                <a:gd name="T16" fmla="*/ 430 w 884"/>
                <a:gd name="T17" fmla="*/ 0 h 734"/>
                <a:gd name="T18" fmla="*/ 458 w 884"/>
                <a:gd name="T19" fmla="*/ 2 h 734"/>
                <a:gd name="T20" fmla="*/ 485 w 884"/>
                <a:gd name="T21" fmla="*/ 8 h 734"/>
                <a:gd name="T22" fmla="*/ 511 w 884"/>
                <a:gd name="T23" fmla="*/ 19 h 734"/>
                <a:gd name="T24" fmla="*/ 533 w 884"/>
                <a:gd name="T25" fmla="*/ 32 h 734"/>
                <a:gd name="T26" fmla="*/ 553 w 884"/>
                <a:gd name="T27" fmla="*/ 52 h 734"/>
                <a:gd name="T28" fmla="*/ 585 w 884"/>
                <a:gd name="T29" fmla="*/ 83 h 734"/>
                <a:gd name="T30" fmla="*/ 598 w 884"/>
                <a:gd name="T31" fmla="*/ 105 h 734"/>
                <a:gd name="T32" fmla="*/ 612 w 884"/>
                <a:gd name="T33" fmla="*/ 124 h 734"/>
                <a:gd name="T34" fmla="*/ 627 w 884"/>
                <a:gd name="T35" fmla="*/ 143 h 734"/>
                <a:gd name="T36" fmla="*/ 640 w 884"/>
                <a:gd name="T37" fmla="*/ 162 h 734"/>
                <a:gd name="T38" fmla="*/ 653 w 884"/>
                <a:gd name="T39" fmla="*/ 182 h 734"/>
                <a:gd name="T40" fmla="*/ 663 w 884"/>
                <a:gd name="T41" fmla="*/ 202 h 734"/>
                <a:gd name="T42" fmla="*/ 681 w 884"/>
                <a:gd name="T43" fmla="*/ 221 h 734"/>
                <a:gd name="T44" fmla="*/ 696 w 884"/>
                <a:gd name="T45" fmla="*/ 254 h 734"/>
                <a:gd name="T46" fmla="*/ 714 w 884"/>
                <a:gd name="T47" fmla="*/ 291 h 734"/>
                <a:gd name="T48" fmla="*/ 731 w 884"/>
                <a:gd name="T49" fmla="*/ 327 h 734"/>
                <a:gd name="T50" fmla="*/ 740 w 884"/>
                <a:gd name="T51" fmla="*/ 360 h 734"/>
                <a:gd name="T52" fmla="*/ 758 w 884"/>
                <a:gd name="T53" fmla="*/ 401 h 734"/>
                <a:gd name="T54" fmla="*/ 777 w 884"/>
                <a:gd name="T55" fmla="*/ 454 h 734"/>
                <a:gd name="T56" fmla="*/ 884 w 884"/>
                <a:gd name="T57" fmla="*/ 733 h 73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84" h="734" extrusionOk="0">
                  <a:moveTo>
                    <a:pt x="0" y="733"/>
                  </a:moveTo>
                  <a:lnTo>
                    <a:pt x="95" y="523"/>
                  </a:lnTo>
                  <a:lnTo>
                    <a:pt x="145" y="408"/>
                  </a:lnTo>
                  <a:lnTo>
                    <a:pt x="186" y="321"/>
                  </a:lnTo>
                  <a:lnTo>
                    <a:pt x="225" y="247"/>
                  </a:lnTo>
                  <a:lnTo>
                    <a:pt x="277" y="158"/>
                  </a:lnTo>
                  <a:lnTo>
                    <a:pt x="324" y="80"/>
                  </a:lnTo>
                  <a:lnTo>
                    <a:pt x="379" y="13"/>
                  </a:lnTo>
                  <a:lnTo>
                    <a:pt x="430" y="0"/>
                  </a:lnTo>
                  <a:lnTo>
                    <a:pt x="458" y="2"/>
                  </a:lnTo>
                  <a:lnTo>
                    <a:pt x="485" y="8"/>
                  </a:lnTo>
                  <a:lnTo>
                    <a:pt x="511" y="19"/>
                  </a:lnTo>
                  <a:lnTo>
                    <a:pt x="533" y="32"/>
                  </a:lnTo>
                  <a:lnTo>
                    <a:pt x="553" y="52"/>
                  </a:lnTo>
                  <a:lnTo>
                    <a:pt x="585" y="83"/>
                  </a:lnTo>
                  <a:lnTo>
                    <a:pt x="598" y="105"/>
                  </a:lnTo>
                  <a:lnTo>
                    <a:pt x="612" y="124"/>
                  </a:lnTo>
                  <a:lnTo>
                    <a:pt x="627" y="143"/>
                  </a:lnTo>
                  <a:lnTo>
                    <a:pt x="640" y="162"/>
                  </a:lnTo>
                  <a:lnTo>
                    <a:pt x="653" y="182"/>
                  </a:lnTo>
                  <a:lnTo>
                    <a:pt x="663" y="202"/>
                  </a:lnTo>
                  <a:lnTo>
                    <a:pt x="681" y="221"/>
                  </a:lnTo>
                  <a:lnTo>
                    <a:pt x="696" y="254"/>
                  </a:lnTo>
                  <a:lnTo>
                    <a:pt x="714" y="291"/>
                  </a:lnTo>
                  <a:lnTo>
                    <a:pt x="731" y="327"/>
                  </a:lnTo>
                  <a:lnTo>
                    <a:pt x="740" y="360"/>
                  </a:lnTo>
                  <a:lnTo>
                    <a:pt x="758" y="401"/>
                  </a:lnTo>
                  <a:lnTo>
                    <a:pt x="777" y="454"/>
                  </a:lnTo>
                  <a:lnTo>
                    <a:pt x="884" y="733"/>
                  </a:lnTo>
                </a:path>
              </a:pathLst>
            </a:custGeom>
            <a:noFill/>
            <a:ln w="9525"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24" name="Google Shape;329;p29">
              <a:extLst>
                <a:ext uri="{FF2B5EF4-FFF2-40B4-BE49-F238E27FC236}">
                  <a16:creationId xmlns:a16="http://schemas.microsoft.com/office/drawing/2014/main" id="{FE845F77-0A72-6568-C00C-226B67A74114}"/>
                </a:ext>
              </a:extLst>
            </p:cNvPr>
            <p:cNvSpPr>
              <a:spLocks/>
            </p:cNvSpPr>
            <p:nvPr/>
          </p:nvSpPr>
          <p:spPr bwMode="auto">
            <a:xfrm>
              <a:off x="3426" y="1784"/>
              <a:ext cx="886" cy="721"/>
            </a:xfrm>
            <a:custGeom>
              <a:avLst/>
              <a:gdLst>
                <a:gd name="T0" fmla="*/ 0 w 886"/>
                <a:gd name="T1" fmla="*/ 0 h 721"/>
                <a:gd name="T2" fmla="*/ 95 w 886"/>
                <a:gd name="T3" fmla="*/ 218 h 721"/>
                <a:gd name="T4" fmla="*/ 121 w 886"/>
                <a:gd name="T5" fmla="*/ 283 h 721"/>
                <a:gd name="T6" fmla="*/ 147 w 886"/>
                <a:gd name="T7" fmla="*/ 337 h 721"/>
                <a:gd name="T8" fmla="*/ 166 w 886"/>
                <a:gd name="T9" fmla="*/ 381 h 721"/>
                <a:gd name="T10" fmla="*/ 177 w 886"/>
                <a:gd name="T11" fmla="*/ 401 h 721"/>
                <a:gd name="T12" fmla="*/ 207 w 886"/>
                <a:gd name="T13" fmla="*/ 455 h 721"/>
                <a:gd name="T14" fmla="*/ 227 w 886"/>
                <a:gd name="T15" fmla="*/ 487 h 721"/>
                <a:gd name="T16" fmla="*/ 244 w 886"/>
                <a:gd name="T17" fmla="*/ 507 h 721"/>
                <a:gd name="T18" fmla="*/ 281 w 886"/>
                <a:gd name="T19" fmla="*/ 555 h 721"/>
                <a:gd name="T20" fmla="*/ 326 w 886"/>
                <a:gd name="T21" fmla="*/ 623 h 721"/>
                <a:gd name="T22" fmla="*/ 358 w 886"/>
                <a:gd name="T23" fmla="*/ 662 h 721"/>
                <a:gd name="T24" fmla="*/ 378 w 886"/>
                <a:gd name="T25" fmla="*/ 681 h 721"/>
                <a:gd name="T26" fmla="*/ 404 w 886"/>
                <a:gd name="T27" fmla="*/ 699 h 721"/>
                <a:gd name="T28" fmla="*/ 421 w 886"/>
                <a:gd name="T29" fmla="*/ 712 h 721"/>
                <a:gd name="T30" fmla="*/ 459 w 886"/>
                <a:gd name="T31" fmla="*/ 721 h 721"/>
                <a:gd name="T32" fmla="*/ 487 w 886"/>
                <a:gd name="T33" fmla="*/ 719 h 721"/>
                <a:gd name="T34" fmla="*/ 512 w 886"/>
                <a:gd name="T35" fmla="*/ 719 h 721"/>
                <a:gd name="T36" fmla="*/ 535 w 886"/>
                <a:gd name="T37" fmla="*/ 710 h 721"/>
                <a:gd name="T38" fmla="*/ 555 w 886"/>
                <a:gd name="T39" fmla="*/ 693 h 721"/>
                <a:gd name="T40" fmla="*/ 587 w 886"/>
                <a:gd name="T41" fmla="*/ 659 h 721"/>
                <a:gd name="T42" fmla="*/ 612 w 886"/>
                <a:gd name="T43" fmla="*/ 620 h 721"/>
                <a:gd name="T44" fmla="*/ 635 w 886"/>
                <a:gd name="T45" fmla="*/ 597 h 721"/>
                <a:gd name="T46" fmla="*/ 655 w 886"/>
                <a:gd name="T47" fmla="*/ 567 h 721"/>
                <a:gd name="T48" fmla="*/ 684 w 886"/>
                <a:gd name="T49" fmla="*/ 507 h 721"/>
                <a:gd name="T50" fmla="*/ 706 w 886"/>
                <a:gd name="T51" fmla="*/ 469 h 721"/>
                <a:gd name="T52" fmla="*/ 731 w 886"/>
                <a:gd name="T53" fmla="*/ 421 h 721"/>
                <a:gd name="T54" fmla="*/ 761 w 886"/>
                <a:gd name="T55" fmla="*/ 346 h 721"/>
                <a:gd name="T56" fmla="*/ 886 w 886"/>
                <a:gd name="T57" fmla="*/ 3 h 72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86" h="721" extrusionOk="0">
                  <a:moveTo>
                    <a:pt x="0" y="0"/>
                  </a:moveTo>
                  <a:lnTo>
                    <a:pt x="95" y="218"/>
                  </a:lnTo>
                  <a:lnTo>
                    <a:pt x="121" y="283"/>
                  </a:lnTo>
                  <a:lnTo>
                    <a:pt x="147" y="337"/>
                  </a:lnTo>
                  <a:lnTo>
                    <a:pt x="166" y="381"/>
                  </a:lnTo>
                  <a:lnTo>
                    <a:pt x="177" y="401"/>
                  </a:lnTo>
                  <a:lnTo>
                    <a:pt x="207" y="455"/>
                  </a:lnTo>
                  <a:lnTo>
                    <a:pt x="227" y="487"/>
                  </a:lnTo>
                  <a:lnTo>
                    <a:pt x="244" y="507"/>
                  </a:lnTo>
                  <a:lnTo>
                    <a:pt x="281" y="555"/>
                  </a:lnTo>
                  <a:lnTo>
                    <a:pt x="326" y="623"/>
                  </a:lnTo>
                  <a:lnTo>
                    <a:pt x="358" y="662"/>
                  </a:lnTo>
                  <a:lnTo>
                    <a:pt x="378" y="681"/>
                  </a:lnTo>
                  <a:lnTo>
                    <a:pt x="404" y="699"/>
                  </a:lnTo>
                  <a:lnTo>
                    <a:pt x="421" y="712"/>
                  </a:lnTo>
                  <a:lnTo>
                    <a:pt x="459" y="721"/>
                  </a:lnTo>
                  <a:lnTo>
                    <a:pt x="487" y="719"/>
                  </a:lnTo>
                  <a:lnTo>
                    <a:pt x="512" y="719"/>
                  </a:lnTo>
                  <a:lnTo>
                    <a:pt x="535" y="710"/>
                  </a:lnTo>
                  <a:lnTo>
                    <a:pt x="555" y="693"/>
                  </a:lnTo>
                  <a:lnTo>
                    <a:pt x="587" y="659"/>
                  </a:lnTo>
                  <a:lnTo>
                    <a:pt x="612" y="620"/>
                  </a:lnTo>
                  <a:lnTo>
                    <a:pt x="635" y="597"/>
                  </a:lnTo>
                  <a:lnTo>
                    <a:pt x="655" y="567"/>
                  </a:lnTo>
                  <a:lnTo>
                    <a:pt x="684" y="507"/>
                  </a:lnTo>
                  <a:lnTo>
                    <a:pt x="706" y="469"/>
                  </a:lnTo>
                  <a:lnTo>
                    <a:pt x="731" y="421"/>
                  </a:lnTo>
                  <a:lnTo>
                    <a:pt x="761" y="346"/>
                  </a:lnTo>
                  <a:lnTo>
                    <a:pt x="886" y="3"/>
                  </a:lnTo>
                </a:path>
              </a:pathLst>
            </a:custGeom>
            <a:noFill/>
            <a:ln w="9525"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25" name="Google Shape;330;p29">
              <a:extLst>
                <a:ext uri="{FF2B5EF4-FFF2-40B4-BE49-F238E27FC236}">
                  <a16:creationId xmlns:a16="http://schemas.microsoft.com/office/drawing/2014/main" id="{78AA0939-F8D0-C43A-286C-0E64FD028AD8}"/>
                </a:ext>
              </a:extLst>
            </p:cNvPr>
            <p:cNvCxnSpPr>
              <a:cxnSpLocks noChangeShapeType="1"/>
            </p:cNvCxnSpPr>
            <p:nvPr/>
          </p:nvCxnSpPr>
          <p:spPr bwMode="auto">
            <a:xfrm>
              <a:off x="2595" y="2352"/>
              <a:ext cx="119" cy="0"/>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sp>
          <p:nvSpPr>
            <p:cNvPr id="26" name="Google Shape;331;p29">
              <a:extLst>
                <a:ext uri="{FF2B5EF4-FFF2-40B4-BE49-F238E27FC236}">
                  <a16:creationId xmlns:a16="http://schemas.microsoft.com/office/drawing/2014/main" id="{E0403F19-FE18-AA31-0FF0-C6E6C9B43B76}"/>
                </a:ext>
              </a:extLst>
            </p:cNvPr>
            <p:cNvSpPr>
              <a:spLocks/>
            </p:cNvSpPr>
            <p:nvPr/>
          </p:nvSpPr>
          <p:spPr bwMode="auto">
            <a:xfrm>
              <a:off x="2713" y="2326"/>
              <a:ext cx="108" cy="54"/>
            </a:xfrm>
            <a:custGeom>
              <a:avLst/>
              <a:gdLst>
                <a:gd name="T0" fmla="*/ 0 w 108"/>
                <a:gd name="T1" fmla="*/ 0 h 54"/>
                <a:gd name="T2" fmla="*/ 0 w 108"/>
                <a:gd name="T3" fmla="*/ 54 h 54"/>
                <a:gd name="T4" fmla="*/ 107 w 108"/>
                <a:gd name="T5" fmla="*/ 26 h 54"/>
                <a:gd name="T6" fmla="*/ 0 w 108"/>
                <a:gd name="T7" fmla="*/ 0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54" extrusionOk="0">
                  <a:moveTo>
                    <a:pt x="0" y="0"/>
                  </a:moveTo>
                  <a:lnTo>
                    <a:pt x="0" y="54"/>
                  </a:lnTo>
                  <a:lnTo>
                    <a:pt x="107" y="26"/>
                  </a:lnTo>
                  <a:lnTo>
                    <a:pt x="0" y="0"/>
                  </a:lnTo>
                  <a:close/>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27" name="Google Shape;332;p29">
              <a:extLst>
                <a:ext uri="{FF2B5EF4-FFF2-40B4-BE49-F238E27FC236}">
                  <a16:creationId xmlns:a16="http://schemas.microsoft.com/office/drawing/2014/main" id="{93A7D5E5-30CA-67DF-D419-5A7838A12D32}"/>
                </a:ext>
              </a:extLst>
            </p:cNvPr>
            <p:cNvSpPr>
              <a:spLocks/>
            </p:cNvSpPr>
            <p:nvPr/>
          </p:nvSpPr>
          <p:spPr bwMode="auto">
            <a:xfrm>
              <a:off x="2713" y="2326"/>
              <a:ext cx="108" cy="54"/>
            </a:xfrm>
            <a:custGeom>
              <a:avLst/>
              <a:gdLst>
                <a:gd name="T0" fmla="*/ 107 w 108"/>
                <a:gd name="T1" fmla="*/ 26 h 54"/>
                <a:gd name="T2" fmla="*/ 0 w 108"/>
                <a:gd name="T3" fmla="*/ 0 h 54"/>
                <a:gd name="T4" fmla="*/ 0 w 108"/>
                <a:gd name="T5" fmla="*/ 54 h 54"/>
                <a:gd name="T6" fmla="*/ 107 w 108"/>
                <a:gd name="T7" fmla="*/ 26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54" extrusionOk="0">
                  <a:moveTo>
                    <a:pt x="107" y="26"/>
                  </a:moveTo>
                  <a:lnTo>
                    <a:pt x="0" y="0"/>
                  </a:lnTo>
                  <a:lnTo>
                    <a:pt x="0" y="54"/>
                  </a:lnTo>
                  <a:lnTo>
                    <a:pt x="107" y="26"/>
                  </a:lnTo>
                  <a:close/>
                </a:path>
              </a:pathLst>
            </a:custGeom>
            <a:noFill/>
            <a:ln w="9525" cap="flat" cmpd="sng">
              <a:solidFill>
                <a:srgbClr val="EC008C"/>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pic>
          <p:nvPicPr>
            <p:cNvPr id="28" name="Google Shape;333;p29">
              <a:extLst>
                <a:ext uri="{FF2B5EF4-FFF2-40B4-BE49-F238E27FC236}">
                  <a16:creationId xmlns:a16="http://schemas.microsoft.com/office/drawing/2014/main" id="{4E9E10FA-0C03-5B35-7653-577A7623F42D}"/>
                </a:ext>
              </a:extLst>
            </p:cNvPr>
            <p:cNvPicPr preferRelativeResize="0">
              <a:picLocks noChangeAspect="1" noChangeArrowheads="1"/>
            </p:cNvPicPr>
            <p:nvPr/>
          </p:nvPicPr>
          <p:blipFill>
            <a:blip r:embed="R3c8476a911d9488d">
              <a:extLst>
                <a:ext uri="{28A0092B-C50C-407E-A947-70E740481C1C}">
                  <a14:useLocalDpi xmlns:a14="http://schemas.microsoft.com/office/drawing/2010/main" val="0"/>
                </a:ext>
              </a:extLst>
            </a:blip>
            <a:srcRect/>
            <a:stretch>
              <a:fillRect/>
            </a:stretch>
          </p:blipFill>
          <p:spPr bwMode="auto">
            <a:xfrm>
              <a:off x="2269" y="1009"/>
              <a:ext cx="120"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9" name="Google Shape;334;p29">
              <a:extLst>
                <a:ext uri="{FF2B5EF4-FFF2-40B4-BE49-F238E27FC236}">
                  <a16:creationId xmlns:a16="http://schemas.microsoft.com/office/drawing/2014/main" id="{3EF74381-D9E1-0313-84A0-C07FF33E40F9}"/>
                </a:ext>
              </a:extLst>
            </p:cNvPr>
            <p:cNvCxnSpPr>
              <a:cxnSpLocks noChangeShapeType="1"/>
            </p:cNvCxnSpPr>
            <p:nvPr/>
          </p:nvCxnSpPr>
          <p:spPr bwMode="auto">
            <a:xfrm>
              <a:off x="2554" y="896"/>
              <a:ext cx="0" cy="1787"/>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30" name="Google Shape;335;p29">
              <a:extLst>
                <a:ext uri="{FF2B5EF4-FFF2-40B4-BE49-F238E27FC236}">
                  <a16:creationId xmlns:a16="http://schemas.microsoft.com/office/drawing/2014/main" id="{78FAA2E6-156E-5940-2EF0-D1E6044D14D1}"/>
                </a:ext>
              </a:extLst>
            </p:cNvPr>
            <p:cNvCxnSpPr>
              <a:cxnSpLocks noChangeShapeType="1"/>
            </p:cNvCxnSpPr>
            <p:nvPr/>
          </p:nvCxnSpPr>
          <p:spPr bwMode="auto">
            <a:xfrm>
              <a:off x="2554" y="1787"/>
              <a:ext cx="1977" cy="0"/>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31" name="Google Shape;336;p29">
              <a:extLst>
                <a:ext uri="{FF2B5EF4-FFF2-40B4-BE49-F238E27FC236}">
                  <a16:creationId xmlns:a16="http://schemas.microsoft.com/office/drawing/2014/main" id="{EAFB47C0-5436-91DF-4B10-D30B5D4518C5}"/>
                </a:ext>
              </a:extLst>
            </p:cNvPr>
            <p:cNvCxnSpPr>
              <a:cxnSpLocks noChangeShapeType="1"/>
            </p:cNvCxnSpPr>
            <p:nvPr/>
          </p:nvCxnSpPr>
          <p:spPr bwMode="auto">
            <a:xfrm>
              <a:off x="6585" y="601"/>
              <a:ext cx="0" cy="2074"/>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32" name="Google Shape;337;p29">
              <a:extLst>
                <a:ext uri="{FF2B5EF4-FFF2-40B4-BE49-F238E27FC236}">
                  <a16:creationId xmlns:a16="http://schemas.microsoft.com/office/drawing/2014/main" id="{BA7EE110-5613-3298-F2EC-2ED6B04AA2C6}"/>
                </a:ext>
              </a:extLst>
            </p:cNvPr>
            <p:cNvCxnSpPr>
              <a:cxnSpLocks noChangeShapeType="1"/>
            </p:cNvCxnSpPr>
            <p:nvPr/>
          </p:nvCxnSpPr>
          <p:spPr bwMode="auto">
            <a:xfrm>
              <a:off x="4614" y="1635"/>
              <a:ext cx="5178" cy="0"/>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sp>
          <p:nvSpPr>
            <p:cNvPr id="33" name="Google Shape;338;p29">
              <a:extLst>
                <a:ext uri="{FF2B5EF4-FFF2-40B4-BE49-F238E27FC236}">
                  <a16:creationId xmlns:a16="http://schemas.microsoft.com/office/drawing/2014/main" id="{752F0C93-473A-E3D8-6D72-34F1B880B123}"/>
                </a:ext>
              </a:extLst>
            </p:cNvPr>
            <p:cNvSpPr>
              <a:spLocks/>
            </p:cNvSpPr>
            <p:nvPr/>
          </p:nvSpPr>
          <p:spPr bwMode="auto">
            <a:xfrm>
              <a:off x="6952" y="1690"/>
              <a:ext cx="2582" cy="163"/>
            </a:xfrm>
            <a:custGeom>
              <a:avLst/>
              <a:gdLst>
                <a:gd name="T0" fmla="*/ 59 w 2582"/>
                <a:gd name="T1" fmla="*/ 112 h 163"/>
                <a:gd name="T2" fmla="*/ 45 w 2582"/>
                <a:gd name="T3" fmla="*/ 43 h 163"/>
                <a:gd name="T4" fmla="*/ 6 w 2582"/>
                <a:gd name="T5" fmla="*/ 69 h 163"/>
                <a:gd name="T6" fmla="*/ 21 w 2582"/>
                <a:gd name="T7" fmla="*/ 50 h 163"/>
                <a:gd name="T8" fmla="*/ 44 w 2582"/>
                <a:gd name="T9" fmla="*/ 76 h 163"/>
                <a:gd name="T10" fmla="*/ 14 w 2582"/>
                <a:gd name="T11" fmla="*/ 97 h 163"/>
                <a:gd name="T12" fmla="*/ 30 w 2582"/>
                <a:gd name="T13" fmla="*/ 76 h 163"/>
                <a:gd name="T14" fmla="*/ 2 w 2582"/>
                <a:gd name="T15" fmla="*/ 116 h 163"/>
                <a:gd name="T16" fmla="*/ 44 w 2582"/>
                <a:gd name="T17" fmla="*/ 112 h 163"/>
                <a:gd name="T18" fmla="*/ 72 w 2582"/>
                <a:gd name="T19" fmla="*/ 112 h 163"/>
                <a:gd name="T20" fmla="*/ 456 w 2582"/>
                <a:gd name="T21" fmla="*/ 105 h 163"/>
                <a:gd name="T22" fmla="*/ 418 w 2582"/>
                <a:gd name="T23" fmla="*/ 63 h 163"/>
                <a:gd name="T24" fmla="*/ 456 w 2582"/>
                <a:gd name="T25" fmla="*/ 67 h 163"/>
                <a:gd name="T26" fmla="*/ 418 w 2582"/>
                <a:gd name="T27" fmla="*/ 0 h 163"/>
                <a:gd name="T28" fmla="*/ 402 w 2582"/>
                <a:gd name="T29" fmla="*/ 13 h 163"/>
                <a:gd name="T30" fmla="*/ 423 w 2582"/>
                <a:gd name="T31" fmla="*/ 125 h 163"/>
                <a:gd name="T32" fmla="*/ 861 w 2582"/>
                <a:gd name="T33" fmla="*/ 93 h 163"/>
                <a:gd name="T34" fmla="*/ 810 w 2582"/>
                <a:gd name="T35" fmla="*/ 94 h 163"/>
                <a:gd name="T36" fmla="*/ 839 w 2582"/>
                <a:gd name="T37" fmla="*/ 52 h 163"/>
                <a:gd name="T38" fmla="*/ 858 w 2582"/>
                <a:gd name="T39" fmla="*/ 64 h 163"/>
                <a:gd name="T40" fmla="*/ 797 w 2582"/>
                <a:gd name="T41" fmla="*/ 61 h 163"/>
                <a:gd name="T42" fmla="*/ 854 w 2582"/>
                <a:gd name="T43" fmla="*/ 111 h 163"/>
                <a:gd name="T44" fmla="*/ 1233 w 2582"/>
                <a:gd name="T45" fmla="*/ 115 h 163"/>
                <a:gd name="T46" fmla="*/ 1229 w 2582"/>
                <a:gd name="T47" fmla="*/ 1 h 163"/>
                <a:gd name="T48" fmla="*/ 1213 w 2582"/>
                <a:gd name="T49" fmla="*/ 14 h 163"/>
                <a:gd name="T50" fmla="*/ 1205 w 2582"/>
                <a:gd name="T51" fmla="*/ 117 h 163"/>
                <a:gd name="T52" fmla="*/ 1191 w 2582"/>
                <a:gd name="T53" fmla="*/ 48 h 163"/>
                <a:gd name="T54" fmla="*/ 1215 w 2582"/>
                <a:gd name="T55" fmla="*/ 49 h 163"/>
                <a:gd name="T56" fmla="*/ 1159 w 2582"/>
                <a:gd name="T57" fmla="*/ 99 h 163"/>
                <a:gd name="T58" fmla="*/ 1211 w 2582"/>
                <a:gd name="T59" fmla="*/ 119 h 163"/>
                <a:gd name="T60" fmla="*/ 1718 w 2582"/>
                <a:gd name="T61" fmla="*/ 55 h 163"/>
                <a:gd name="T62" fmla="*/ 1676 w 2582"/>
                <a:gd name="T63" fmla="*/ 48 h 163"/>
                <a:gd name="T64" fmla="*/ 1703 w 2582"/>
                <a:gd name="T65" fmla="*/ 68 h 163"/>
                <a:gd name="T66" fmla="*/ 1654 w 2582"/>
                <a:gd name="T67" fmla="*/ 96 h 163"/>
                <a:gd name="T68" fmla="*/ 1720 w 2582"/>
                <a:gd name="T69" fmla="*/ 101 h 163"/>
                <a:gd name="T70" fmla="*/ 1680 w 2582"/>
                <a:gd name="T71" fmla="*/ 107 h 163"/>
                <a:gd name="T72" fmla="*/ 2152 w 2582"/>
                <a:gd name="T73" fmla="*/ 3 h 163"/>
                <a:gd name="T74" fmla="*/ 2108 w 2582"/>
                <a:gd name="T75" fmla="*/ 45 h 163"/>
                <a:gd name="T76" fmla="*/ 2101 w 2582"/>
                <a:gd name="T77" fmla="*/ 120 h 163"/>
                <a:gd name="T78" fmla="*/ 2123 w 2582"/>
                <a:gd name="T79" fmla="*/ 115 h 163"/>
                <a:gd name="T80" fmla="*/ 2124 w 2582"/>
                <a:gd name="T81" fmla="*/ 13 h 163"/>
                <a:gd name="T82" fmla="*/ 2150 w 2582"/>
                <a:gd name="T83" fmla="*/ 20 h 163"/>
                <a:gd name="T84" fmla="*/ 2581 w 2582"/>
                <a:gd name="T85" fmla="*/ 49 h 163"/>
                <a:gd name="T86" fmla="*/ 2555 w 2582"/>
                <a:gd name="T87" fmla="*/ 81 h 163"/>
                <a:gd name="T88" fmla="*/ 2523 w 2582"/>
                <a:gd name="T89" fmla="*/ 60 h 163"/>
                <a:gd name="T90" fmla="*/ 2555 w 2582"/>
                <a:gd name="T91" fmla="*/ 45 h 163"/>
                <a:gd name="T92" fmla="*/ 2509 w 2582"/>
                <a:gd name="T93" fmla="*/ 81 h 163"/>
                <a:gd name="T94" fmla="*/ 2509 w 2582"/>
                <a:gd name="T95" fmla="*/ 116 h 163"/>
                <a:gd name="T96" fmla="*/ 2503 w 2582"/>
                <a:gd name="T97" fmla="*/ 140 h 163"/>
                <a:gd name="T98" fmla="*/ 2551 w 2582"/>
                <a:gd name="T99" fmla="*/ 163 h 163"/>
                <a:gd name="T100" fmla="*/ 2574 w 2582"/>
                <a:gd name="T101" fmla="*/ 118 h 163"/>
                <a:gd name="T102" fmla="*/ 2515 w 2582"/>
                <a:gd name="T103" fmla="*/ 145 h 163"/>
                <a:gd name="T104" fmla="*/ 2539 w 2582"/>
                <a:gd name="T105" fmla="*/ 126 h 163"/>
                <a:gd name="T106" fmla="*/ 2563 w 2582"/>
                <a:gd name="T107" fmla="*/ 113 h 163"/>
                <a:gd name="T108" fmla="*/ 2520 w 2582"/>
                <a:gd name="T109" fmla="*/ 108 h 163"/>
                <a:gd name="T110" fmla="*/ 2549 w 2582"/>
                <a:gd name="T111" fmla="*/ 99 h 163"/>
                <a:gd name="T112" fmla="*/ 2566 w 2582"/>
                <a:gd name="T113" fmla="*/ 56 h 16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582" h="163" extrusionOk="0">
                  <a:moveTo>
                    <a:pt x="72" y="107"/>
                  </a:moveTo>
                  <a:lnTo>
                    <a:pt x="68" y="111"/>
                  </a:lnTo>
                  <a:lnTo>
                    <a:pt x="66" y="113"/>
                  </a:lnTo>
                  <a:lnTo>
                    <a:pt x="64" y="114"/>
                  </a:lnTo>
                  <a:lnTo>
                    <a:pt x="62" y="114"/>
                  </a:lnTo>
                  <a:lnTo>
                    <a:pt x="61" y="114"/>
                  </a:lnTo>
                  <a:lnTo>
                    <a:pt x="60" y="112"/>
                  </a:lnTo>
                  <a:lnTo>
                    <a:pt x="59" y="112"/>
                  </a:lnTo>
                  <a:lnTo>
                    <a:pt x="59" y="111"/>
                  </a:lnTo>
                  <a:lnTo>
                    <a:pt x="59" y="108"/>
                  </a:lnTo>
                  <a:lnTo>
                    <a:pt x="58" y="76"/>
                  </a:lnTo>
                  <a:lnTo>
                    <a:pt x="58" y="60"/>
                  </a:lnTo>
                  <a:lnTo>
                    <a:pt x="58" y="56"/>
                  </a:lnTo>
                  <a:lnTo>
                    <a:pt x="55" y="50"/>
                  </a:lnTo>
                  <a:lnTo>
                    <a:pt x="53" y="47"/>
                  </a:lnTo>
                  <a:lnTo>
                    <a:pt x="45" y="43"/>
                  </a:lnTo>
                  <a:lnTo>
                    <a:pt x="39" y="41"/>
                  </a:lnTo>
                  <a:lnTo>
                    <a:pt x="23" y="41"/>
                  </a:lnTo>
                  <a:lnTo>
                    <a:pt x="16" y="43"/>
                  </a:lnTo>
                  <a:lnTo>
                    <a:pt x="5" y="52"/>
                  </a:lnTo>
                  <a:lnTo>
                    <a:pt x="3" y="56"/>
                  </a:lnTo>
                  <a:lnTo>
                    <a:pt x="3" y="64"/>
                  </a:lnTo>
                  <a:lnTo>
                    <a:pt x="4" y="66"/>
                  </a:lnTo>
                  <a:lnTo>
                    <a:pt x="6" y="69"/>
                  </a:lnTo>
                  <a:lnTo>
                    <a:pt x="8" y="70"/>
                  </a:lnTo>
                  <a:lnTo>
                    <a:pt x="12" y="70"/>
                  </a:lnTo>
                  <a:lnTo>
                    <a:pt x="14" y="69"/>
                  </a:lnTo>
                  <a:lnTo>
                    <a:pt x="17" y="66"/>
                  </a:lnTo>
                  <a:lnTo>
                    <a:pt x="18" y="64"/>
                  </a:lnTo>
                  <a:lnTo>
                    <a:pt x="17" y="54"/>
                  </a:lnTo>
                  <a:lnTo>
                    <a:pt x="19" y="52"/>
                  </a:lnTo>
                  <a:lnTo>
                    <a:pt x="21" y="50"/>
                  </a:lnTo>
                  <a:lnTo>
                    <a:pt x="23" y="48"/>
                  </a:lnTo>
                  <a:lnTo>
                    <a:pt x="26" y="47"/>
                  </a:lnTo>
                  <a:lnTo>
                    <a:pt x="34" y="47"/>
                  </a:lnTo>
                  <a:lnTo>
                    <a:pt x="38" y="48"/>
                  </a:lnTo>
                  <a:lnTo>
                    <a:pt x="43" y="54"/>
                  </a:lnTo>
                  <a:lnTo>
                    <a:pt x="44" y="60"/>
                  </a:lnTo>
                  <a:lnTo>
                    <a:pt x="44" y="71"/>
                  </a:lnTo>
                  <a:lnTo>
                    <a:pt x="44" y="76"/>
                  </a:lnTo>
                  <a:lnTo>
                    <a:pt x="44" y="106"/>
                  </a:lnTo>
                  <a:lnTo>
                    <a:pt x="37" y="112"/>
                  </a:lnTo>
                  <a:lnTo>
                    <a:pt x="31" y="115"/>
                  </a:lnTo>
                  <a:lnTo>
                    <a:pt x="24" y="115"/>
                  </a:lnTo>
                  <a:lnTo>
                    <a:pt x="21" y="113"/>
                  </a:lnTo>
                  <a:lnTo>
                    <a:pt x="16" y="108"/>
                  </a:lnTo>
                  <a:lnTo>
                    <a:pt x="14" y="105"/>
                  </a:lnTo>
                  <a:lnTo>
                    <a:pt x="14" y="97"/>
                  </a:lnTo>
                  <a:lnTo>
                    <a:pt x="15" y="94"/>
                  </a:lnTo>
                  <a:lnTo>
                    <a:pt x="19" y="88"/>
                  </a:lnTo>
                  <a:lnTo>
                    <a:pt x="23" y="86"/>
                  </a:lnTo>
                  <a:lnTo>
                    <a:pt x="30" y="82"/>
                  </a:lnTo>
                  <a:lnTo>
                    <a:pt x="35" y="79"/>
                  </a:lnTo>
                  <a:lnTo>
                    <a:pt x="44" y="76"/>
                  </a:lnTo>
                  <a:lnTo>
                    <a:pt x="44" y="71"/>
                  </a:lnTo>
                  <a:lnTo>
                    <a:pt x="30" y="76"/>
                  </a:lnTo>
                  <a:lnTo>
                    <a:pt x="21" y="80"/>
                  </a:lnTo>
                  <a:lnTo>
                    <a:pt x="9" y="87"/>
                  </a:lnTo>
                  <a:lnTo>
                    <a:pt x="5" y="90"/>
                  </a:lnTo>
                  <a:lnTo>
                    <a:pt x="3" y="94"/>
                  </a:lnTo>
                  <a:lnTo>
                    <a:pt x="1" y="97"/>
                  </a:lnTo>
                  <a:lnTo>
                    <a:pt x="0" y="101"/>
                  </a:lnTo>
                  <a:lnTo>
                    <a:pt x="0" y="111"/>
                  </a:lnTo>
                  <a:lnTo>
                    <a:pt x="2" y="116"/>
                  </a:lnTo>
                  <a:lnTo>
                    <a:pt x="9" y="123"/>
                  </a:lnTo>
                  <a:lnTo>
                    <a:pt x="13" y="125"/>
                  </a:lnTo>
                  <a:lnTo>
                    <a:pt x="22" y="125"/>
                  </a:lnTo>
                  <a:lnTo>
                    <a:pt x="26" y="124"/>
                  </a:lnTo>
                  <a:lnTo>
                    <a:pt x="31" y="122"/>
                  </a:lnTo>
                  <a:lnTo>
                    <a:pt x="36" y="118"/>
                  </a:lnTo>
                  <a:lnTo>
                    <a:pt x="40" y="115"/>
                  </a:lnTo>
                  <a:lnTo>
                    <a:pt x="44" y="112"/>
                  </a:lnTo>
                  <a:lnTo>
                    <a:pt x="44" y="117"/>
                  </a:lnTo>
                  <a:lnTo>
                    <a:pt x="45" y="120"/>
                  </a:lnTo>
                  <a:lnTo>
                    <a:pt x="48" y="124"/>
                  </a:lnTo>
                  <a:lnTo>
                    <a:pt x="51" y="125"/>
                  </a:lnTo>
                  <a:lnTo>
                    <a:pt x="59" y="125"/>
                  </a:lnTo>
                  <a:lnTo>
                    <a:pt x="66" y="120"/>
                  </a:lnTo>
                  <a:lnTo>
                    <a:pt x="71" y="114"/>
                  </a:lnTo>
                  <a:lnTo>
                    <a:pt x="72" y="112"/>
                  </a:lnTo>
                  <a:lnTo>
                    <a:pt x="72" y="107"/>
                  </a:lnTo>
                  <a:close/>
                  <a:moveTo>
                    <a:pt x="473" y="68"/>
                  </a:moveTo>
                  <a:lnTo>
                    <a:pt x="470" y="59"/>
                  </a:lnTo>
                  <a:lnTo>
                    <a:pt x="466" y="54"/>
                  </a:lnTo>
                  <a:lnTo>
                    <a:pt x="458" y="45"/>
                  </a:lnTo>
                  <a:lnTo>
                    <a:pt x="458" y="75"/>
                  </a:lnTo>
                  <a:lnTo>
                    <a:pt x="458" y="96"/>
                  </a:lnTo>
                  <a:lnTo>
                    <a:pt x="456" y="105"/>
                  </a:lnTo>
                  <a:lnTo>
                    <a:pt x="447" y="116"/>
                  </a:lnTo>
                  <a:lnTo>
                    <a:pt x="442" y="119"/>
                  </a:lnTo>
                  <a:lnTo>
                    <a:pt x="433" y="119"/>
                  </a:lnTo>
                  <a:lnTo>
                    <a:pt x="430" y="119"/>
                  </a:lnTo>
                  <a:lnTo>
                    <a:pt x="424" y="116"/>
                  </a:lnTo>
                  <a:lnTo>
                    <a:pt x="421" y="113"/>
                  </a:lnTo>
                  <a:lnTo>
                    <a:pt x="418" y="111"/>
                  </a:lnTo>
                  <a:lnTo>
                    <a:pt x="418" y="63"/>
                  </a:lnTo>
                  <a:lnTo>
                    <a:pt x="421" y="60"/>
                  </a:lnTo>
                  <a:lnTo>
                    <a:pt x="424" y="57"/>
                  </a:lnTo>
                  <a:lnTo>
                    <a:pt x="430" y="54"/>
                  </a:lnTo>
                  <a:lnTo>
                    <a:pt x="433" y="54"/>
                  </a:lnTo>
                  <a:lnTo>
                    <a:pt x="442" y="54"/>
                  </a:lnTo>
                  <a:lnTo>
                    <a:pt x="447" y="56"/>
                  </a:lnTo>
                  <a:lnTo>
                    <a:pt x="451" y="62"/>
                  </a:lnTo>
                  <a:lnTo>
                    <a:pt x="456" y="67"/>
                  </a:lnTo>
                  <a:lnTo>
                    <a:pt x="458" y="75"/>
                  </a:lnTo>
                  <a:lnTo>
                    <a:pt x="458" y="45"/>
                  </a:lnTo>
                  <a:lnTo>
                    <a:pt x="451" y="41"/>
                  </a:lnTo>
                  <a:lnTo>
                    <a:pt x="434" y="41"/>
                  </a:lnTo>
                  <a:lnTo>
                    <a:pt x="426" y="47"/>
                  </a:lnTo>
                  <a:lnTo>
                    <a:pt x="418" y="57"/>
                  </a:lnTo>
                  <a:lnTo>
                    <a:pt x="418" y="11"/>
                  </a:lnTo>
                  <a:lnTo>
                    <a:pt x="418" y="0"/>
                  </a:lnTo>
                  <a:lnTo>
                    <a:pt x="414" y="0"/>
                  </a:lnTo>
                  <a:lnTo>
                    <a:pt x="390" y="9"/>
                  </a:lnTo>
                  <a:lnTo>
                    <a:pt x="391" y="13"/>
                  </a:lnTo>
                  <a:lnTo>
                    <a:pt x="394" y="12"/>
                  </a:lnTo>
                  <a:lnTo>
                    <a:pt x="396" y="11"/>
                  </a:lnTo>
                  <a:lnTo>
                    <a:pt x="399" y="11"/>
                  </a:lnTo>
                  <a:lnTo>
                    <a:pt x="400" y="12"/>
                  </a:lnTo>
                  <a:lnTo>
                    <a:pt x="402" y="13"/>
                  </a:lnTo>
                  <a:lnTo>
                    <a:pt x="402" y="14"/>
                  </a:lnTo>
                  <a:lnTo>
                    <a:pt x="403" y="17"/>
                  </a:lnTo>
                  <a:lnTo>
                    <a:pt x="403" y="19"/>
                  </a:lnTo>
                  <a:lnTo>
                    <a:pt x="403" y="24"/>
                  </a:lnTo>
                  <a:lnTo>
                    <a:pt x="404" y="116"/>
                  </a:lnTo>
                  <a:lnTo>
                    <a:pt x="408" y="119"/>
                  </a:lnTo>
                  <a:lnTo>
                    <a:pt x="413" y="121"/>
                  </a:lnTo>
                  <a:lnTo>
                    <a:pt x="423" y="125"/>
                  </a:lnTo>
                  <a:lnTo>
                    <a:pt x="428" y="126"/>
                  </a:lnTo>
                  <a:lnTo>
                    <a:pt x="442" y="126"/>
                  </a:lnTo>
                  <a:lnTo>
                    <a:pt x="451" y="122"/>
                  </a:lnTo>
                  <a:lnTo>
                    <a:pt x="454" y="119"/>
                  </a:lnTo>
                  <a:lnTo>
                    <a:pt x="469" y="106"/>
                  </a:lnTo>
                  <a:lnTo>
                    <a:pt x="473" y="95"/>
                  </a:lnTo>
                  <a:lnTo>
                    <a:pt x="473" y="68"/>
                  </a:lnTo>
                  <a:close/>
                  <a:moveTo>
                    <a:pt x="861" y="93"/>
                  </a:moveTo>
                  <a:lnTo>
                    <a:pt x="858" y="92"/>
                  </a:lnTo>
                  <a:lnTo>
                    <a:pt x="855" y="99"/>
                  </a:lnTo>
                  <a:lnTo>
                    <a:pt x="852" y="104"/>
                  </a:lnTo>
                  <a:lnTo>
                    <a:pt x="844" y="110"/>
                  </a:lnTo>
                  <a:lnTo>
                    <a:pt x="839" y="112"/>
                  </a:lnTo>
                  <a:lnTo>
                    <a:pt x="825" y="112"/>
                  </a:lnTo>
                  <a:lnTo>
                    <a:pt x="819" y="108"/>
                  </a:lnTo>
                  <a:lnTo>
                    <a:pt x="810" y="94"/>
                  </a:lnTo>
                  <a:lnTo>
                    <a:pt x="808" y="85"/>
                  </a:lnTo>
                  <a:lnTo>
                    <a:pt x="808" y="67"/>
                  </a:lnTo>
                  <a:lnTo>
                    <a:pt x="810" y="59"/>
                  </a:lnTo>
                  <a:lnTo>
                    <a:pt x="818" y="49"/>
                  </a:lnTo>
                  <a:lnTo>
                    <a:pt x="823" y="47"/>
                  </a:lnTo>
                  <a:lnTo>
                    <a:pt x="832" y="47"/>
                  </a:lnTo>
                  <a:lnTo>
                    <a:pt x="835" y="48"/>
                  </a:lnTo>
                  <a:lnTo>
                    <a:pt x="839" y="52"/>
                  </a:lnTo>
                  <a:lnTo>
                    <a:pt x="840" y="54"/>
                  </a:lnTo>
                  <a:lnTo>
                    <a:pt x="841" y="61"/>
                  </a:lnTo>
                  <a:lnTo>
                    <a:pt x="841" y="63"/>
                  </a:lnTo>
                  <a:lnTo>
                    <a:pt x="844" y="67"/>
                  </a:lnTo>
                  <a:lnTo>
                    <a:pt x="847" y="68"/>
                  </a:lnTo>
                  <a:lnTo>
                    <a:pt x="853" y="68"/>
                  </a:lnTo>
                  <a:lnTo>
                    <a:pt x="855" y="67"/>
                  </a:lnTo>
                  <a:lnTo>
                    <a:pt x="858" y="64"/>
                  </a:lnTo>
                  <a:lnTo>
                    <a:pt x="858" y="63"/>
                  </a:lnTo>
                  <a:lnTo>
                    <a:pt x="858" y="56"/>
                  </a:lnTo>
                  <a:lnTo>
                    <a:pt x="856" y="52"/>
                  </a:lnTo>
                  <a:lnTo>
                    <a:pt x="846" y="43"/>
                  </a:lnTo>
                  <a:lnTo>
                    <a:pt x="839" y="41"/>
                  </a:lnTo>
                  <a:lnTo>
                    <a:pt x="821" y="41"/>
                  </a:lnTo>
                  <a:lnTo>
                    <a:pt x="812" y="45"/>
                  </a:lnTo>
                  <a:lnTo>
                    <a:pt x="797" y="61"/>
                  </a:lnTo>
                  <a:lnTo>
                    <a:pt x="794" y="71"/>
                  </a:lnTo>
                  <a:lnTo>
                    <a:pt x="794" y="96"/>
                  </a:lnTo>
                  <a:lnTo>
                    <a:pt x="797" y="107"/>
                  </a:lnTo>
                  <a:lnTo>
                    <a:pt x="810" y="122"/>
                  </a:lnTo>
                  <a:lnTo>
                    <a:pt x="818" y="126"/>
                  </a:lnTo>
                  <a:lnTo>
                    <a:pt x="835" y="126"/>
                  </a:lnTo>
                  <a:lnTo>
                    <a:pt x="842" y="123"/>
                  </a:lnTo>
                  <a:lnTo>
                    <a:pt x="854" y="111"/>
                  </a:lnTo>
                  <a:lnTo>
                    <a:pt x="858" y="103"/>
                  </a:lnTo>
                  <a:lnTo>
                    <a:pt x="861" y="93"/>
                  </a:lnTo>
                  <a:close/>
                  <a:moveTo>
                    <a:pt x="1243" y="117"/>
                  </a:moveTo>
                  <a:lnTo>
                    <a:pt x="1242" y="114"/>
                  </a:lnTo>
                  <a:lnTo>
                    <a:pt x="1239" y="115"/>
                  </a:lnTo>
                  <a:lnTo>
                    <a:pt x="1237" y="115"/>
                  </a:lnTo>
                  <a:lnTo>
                    <a:pt x="1234" y="115"/>
                  </a:lnTo>
                  <a:lnTo>
                    <a:pt x="1233" y="115"/>
                  </a:lnTo>
                  <a:lnTo>
                    <a:pt x="1232" y="114"/>
                  </a:lnTo>
                  <a:lnTo>
                    <a:pt x="1231" y="113"/>
                  </a:lnTo>
                  <a:lnTo>
                    <a:pt x="1230" y="112"/>
                  </a:lnTo>
                  <a:lnTo>
                    <a:pt x="1229" y="108"/>
                  </a:lnTo>
                  <a:lnTo>
                    <a:pt x="1229" y="102"/>
                  </a:lnTo>
                  <a:lnTo>
                    <a:pt x="1229" y="49"/>
                  </a:lnTo>
                  <a:lnTo>
                    <a:pt x="1229" y="12"/>
                  </a:lnTo>
                  <a:lnTo>
                    <a:pt x="1229" y="1"/>
                  </a:lnTo>
                  <a:lnTo>
                    <a:pt x="1225" y="1"/>
                  </a:lnTo>
                  <a:lnTo>
                    <a:pt x="1202" y="11"/>
                  </a:lnTo>
                  <a:lnTo>
                    <a:pt x="1203" y="14"/>
                  </a:lnTo>
                  <a:lnTo>
                    <a:pt x="1205" y="13"/>
                  </a:lnTo>
                  <a:lnTo>
                    <a:pt x="1207" y="12"/>
                  </a:lnTo>
                  <a:lnTo>
                    <a:pt x="1210" y="12"/>
                  </a:lnTo>
                  <a:lnTo>
                    <a:pt x="1211" y="13"/>
                  </a:lnTo>
                  <a:lnTo>
                    <a:pt x="1213" y="14"/>
                  </a:lnTo>
                  <a:lnTo>
                    <a:pt x="1214" y="16"/>
                  </a:lnTo>
                  <a:lnTo>
                    <a:pt x="1215" y="20"/>
                  </a:lnTo>
                  <a:lnTo>
                    <a:pt x="1215" y="25"/>
                  </a:lnTo>
                  <a:lnTo>
                    <a:pt x="1215" y="49"/>
                  </a:lnTo>
                  <a:lnTo>
                    <a:pt x="1215" y="68"/>
                  </a:lnTo>
                  <a:lnTo>
                    <a:pt x="1215" y="109"/>
                  </a:lnTo>
                  <a:lnTo>
                    <a:pt x="1210" y="115"/>
                  </a:lnTo>
                  <a:lnTo>
                    <a:pt x="1205" y="117"/>
                  </a:lnTo>
                  <a:lnTo>
                    <a:pt x="1193" y="117"/>
                  </a:lnTo>
                  <a:lnTo>
                    <a:pt x="1188" y="114"/>
                  </a:lnTo>
                  <a:lnTo>
                    <a:pt x="1178" y="102"/>
                  </a:lnTo>
                  <a:lnTo>
                    <a:pt x="1175" y="93"/>
                  </a:lnTo>
                  <a:lnTo>
                    <a:pt x="1175" y="69"/>
                  </a:lnTo>
                  <a:lnTo>
                    <a:pt x="1178" y="61"/>
                  </a:lnTo>
                  <a:lnTo>
                    <a:pt x="1187" y="50"/>
                  </a:lnTo>
                  <a:lnTo>
                    <a:pt x="1191" y="48"/>
                  </a:lnTo>
                  <a:lnTo>
                    <a:pt x="1199" y="48"/>
                  </a:lnTo>
                  <a:lnTo>
                    <a:pt x="1202" y="49"/>
                  </a:lnTo>
                  <a:lnTo>
                    <a:pt x="1208" y="52"/>
                  </a:lnTo>
                  <a:lnTo>
                    <a:pt x="1210" y="54"/>
                  </a:lnTo>
                  <a:lnTo>
                    <a:pt x="1213" y="61"/>
                  </a:lnTo>
                  <a:lnTo>
                    <a:pt x="1215" y="64"/>
                  </a:lnTo>
                  <a:lnTo>
                    <a:pt x="1215" y="68"/>
                  </a:lnTo>
                  <a:lnTo>
                    <a:pt x="1215" y="49"/>
                  </a:lnTo>
                  <a:lnTo>
                    <a:pt x="1214" y="48"/>
                  </a:lnTo>
                  <a:lnTo>
                    <a:pt x="1210" y="45"/>
                  </a:lnTo>
                  <a:lnTo>
                    <a:pt x="1205" y="42"/>
                  </a:lnTo>
                  <a:lnTo>
                    <a:pt x="1186" y="42"/>
                  </a:lnTo>
                  <a:lnTo>
                    <a:pt x="1177" y="47"/>
                  </a:lnTo>
                  <a:lnTo>
                    <a:pt x="1163" y="66"/>
                  </a:lnTo>
                  <a:lnTo>
                    <a:pt x="1159" y="76"/>
                  </a:lnTo>
                  <a:lnTo>
                    <a:pt x="1159" y="99"/>
                  </a:lnTo>
                  <a:lnTo>
                    <a:pt x="1162" y="109"/>
                  </a:lnTo>
                  <a:lnTo>
                    <a:pt x="1169" y="116"/>
                  </a:lnTo>
                  <a:lnTo>
                    <a:pt x="1175" y="123"/>
                  </a:lnTo>
                  <a:lnTo>
                    <a:pt x="1183" y="127"/>
                  </a:lnTo>
                  <a:lnTo>
                    <a:pt x="1196" y="127"/>
                  </a:lnTo>
                  <a:lnTo>
                    <a:pt x="1200" y="126"/>
                  </a:lnTo>
                  <a:lnTo>
                    <a:pt x="1207" y="122"/>
                  </a:lnTo>
                  <a:lnTo>
                    <a:pt x="1211" y="119"/>
                  </a:lnTo>
                  <a:lnTo>
                    <a:pt x="1213" y="117"/>
                  </a:lnTo>
                  <a:lnTo>
                    <a:pt x="1215" y="115"/>
                  </a:lnTo>
                  <a:lnTo>
                    <a:pt x="1215" y="127"/>
                  </a:lnTo>
                  <a:lnTo>
                    <a:pt x="1219" y="127"/>
                  </a:lnTo>
                  <a:lnTo>
                    <a:pt x="1243" y="117"/>
                  </a:lnTo>
                  <a:close/>
                  <a:moveTo>
                    <a:pt x="1721" y="68"/>
                  </a:moveTo>
                  <a:lnTo>
                    <a:pt x="1721" y="63"/>
                  </a:lnTo>
                  <a:lnTo>
                    <a:pt x="1718" y="55"/>
                  </a:lnTo>
                  <a:lnTo>
                    <a:pt x="1710" y="46"/>
                  </a:lnTo>
                  <a:lnTo>
                    <a:pt x="1706" y="43"/>
                  </a:lnTo>
                  <a:lnTo>
                    <a:pt x="1703" y="42"/>
                  </a:lnTo>
                  <a:lnTo>
                    <a:pt x="1703" y="68"/>
                  </a:lnTo>
                  <a:lnTo>
                    <a:pt x="1666" y="68"/>
                  </a:lnTo>
                  <a:lnTo>
                    <a:pt x="1666" y="61"/>
                  </a:lnTo>
                  <a:lnTo>
                    <a:pt x="1669" y="56"/>
                  </a:lnTo>
                  <a:lnTo>
                    <a:pt x="1676" y="48"/>
                  </a:lnTo>
                  <a:lnTo>
                    <a:pt x="1681" y="46"/>
                  </a:lnTo>
                  <a:lnTo>
                    <a:pt x="1688" y="46"/>
                  </a:lnTo>
                  <a:lnTo>
                    <a:pt x="1691" y="47"/>
                  </a:lnTo>
                  <a:lnTo>
                    <a:pt x="1697" y="51"/>
                  </a:lnTo>
                  <a:lnTo>
                    <a:pt x="1699" y="54"/>
                  </a:lnTo>
                  <a:lnTo>
                    <a:pt x="1702" y="59"/>
                  </a:lnTo>
                  <a:lnTo>
                    <a:pt x="1702" y="63"/>
                  </a:lnTo>
                  <a:lnTo>
                    <a:pt x="1703" y="68"/>
                  </a:lnTo>
                  <a:lnTo>
                    <a:pt x="1703" y="42"/>
                  </a:lnTo>
                  <a:lnTo>
                    <a:pt x="1699" y="40"/>
                  </a:lnTo>
                  <a:lnTo>
                    <a:pt x="1680" y="40"/>
                  </a:lnTo>
                  <a:lnTo>
                    <a:pt x="1671" y="44"/>
                  </a:lnTo>
                  <a:lnTo>
                    <a:pt x="1664" y="52"/>
                  </a:lnTo>
                  <a:lnTo>
                    <a:pt x="1657" y="59"/>
                  </a:lnTo>
                  <a:lnTo>
                    <a:pt x="1654" y="70"/>
                  </a:lnTo>
                  <a:lnTo>
                    <a:pt x="1654" y="96"/>
                  </a:lnTo>
                  <a:lnTo>
                    <a:pt x="1657" y="106"/>
                  </a:lnTo>
                  <a:lnTo>
                    <a:pt x="1671" y="121"/>
                  </a:lnTo>
                  <a:lnTo>
                    <a:pt x="1679" y="125"/>
                  </a:lnTo>
                  <a:lnTo>
                    <a:pt x="1697" y="125"/>
                  </a:lnTo>
                  <a:lnTo>
                    <a:pt x="1704" y="121"/>
                  </a:lnTo>
                  <a:lnTo>
                    <a:pt x="1714" y="110"/>
                  </a:lnTo>
                  <a:lnTo>
                    <a:pt x="1716" y="108"/>
                  </a:lnTo>
                  <a:lnTo>
                    <a:pt x="1720" y="101"/>
                  </a:lnTo>
                  <a:lnTo>
                    <a:pt x="1721" y="93"/>
                  </a:lnTo>
                  <a:lnTo>
                    <a:pt x="1718" y="91"/>
                  </a:lnTo>
                  <a:lnTo>
                    <a:pt x="1715" y="98"/>
                  </a:lnTo>
                  <a:lnTo>
                    <a:pt x="1712" y="103"/>
                  </a:lnTo>
                  <a:lnTo>
                    <a:pt x="1705" y="109"/>
                  </a:lnTo>
                  <a:lnTo>
                    <a:pt x="1700" y="110"/>
                  </a:lnTo>
                  <a:lnTo>
                    <a:pt x="1687" y="110"/>
                  </a:lnTo>
                  <a:lnTo>
                    <a:pt x="1680" y="107"/>
                  </a:lnTo>
                  <a:lnTo>
                    <a:pt x="1669" y="94"/>
                  </a:lnTo>
                  <a:lnTo>
                    <a:pt x="1666" y="84"/>
                  </a:lnTo>
                  <a:lnTo>
                    <a:pt x="1666" y="73"/>
                  </a:lnTo>
                  <a:lnTo>
                    <a:pt x="1721" y="73"/>
                  </a:lnTo>
                  <a:lnTo>
                    <a:pt x="1721" y="68"/>
                  </a:lnTo>
                  <a:close/>
                  <a:moveTo>
                    <a:pt x="2162" y="12"/>
                  </a:moveTo>
                  <a:lnTo>
                    <a:pt x="2161" y="9"/>
                  </a:lnTo>
                  <a:lnTo>
                    <a:pt x="2152" y="3"/>
                  </a:lnTo>
                  <a:lnTo>
                    <a:pt x="2147" y="1"/>
                  </a:lnTo>
                  <a:lnTo>
                    <a:pt x="2134" y="1"/>
                  </a:lnTo>
                  <a:lnTo>
                    <a:pt x="2128" y="3"/>
                  </a:lnTo>
                  <a:lnTo>
                    <a:pt x="2118" y="9"/>
                  </a:lnTo>
                  <a:lnTo>
                    <a:pt x="2114" y="14"/>
                  </a:lnTo>
                  <a:lnTo>
                    <a:pt x="2109" y="25"/>
                  </a:lnTo>
                  <a:lnTo>
                    <a:pt x="2108" y="32"/>
                  </a:lnTo>
                  <a:lnTo>
                    <a:pt x="2108" y="45"/>
                  </a:lnTo>
                  <a:lnTo>
                    <a:pt x="2092" y="45"/>
                  </a:lnTo>
                  <a:lnTo>
                    <a:pt x="2092" y="51"/>
                  </a:lnTo>
                  <a:lnTo>
                    <a:pt x="2108" y="51"/>
                  </a:lnTo>
                  <a:lnTo>
                    <a:pt x="2108" y="109"/>
                  </a:lnTo>
                  <a:lnTo>
                    <a:pt x="2107" y="113"/>
                  </a:lnTo>
                  <a:lnTo>
                    <a:pt x="2106" y="117"/>
                  </a:lnTo>
                  <a:lnTo>
                    <a:pt x="2104" y="118"/>
                  </a:lnTo>
                  <a:lnTo>
                    <a:pt x="2101" y="120"/>
                  </a:lnTo>
                  <a:lnTo>
                    <a:pt x="2098" y="121"/>
                  </a:lnTo>
                  <a:lnTo>
                    <a:pt x="2093" y="121"/>
                  </a:lnTo>
                  <a:lnTo>
                    <a:pt x="2093" y="124"/>
                  </a:lnTo>
                  <a:lnTo>
                    <a:pt x="2140" y="124"/>
                  </a:lnTo>
                  <a:lnTo>
                    <a:pt x="2140" y="121"/>
                  </a:lnTo>
                  <a:lnTo>
                    <a:pt x="2129" y="121"/>
                  </a:lnTo>
                  <a:lnTo>
                    <a:pt x="2126" y="120"/>
                  </a:lnTo>
                  <a:lnTo>
                    <a:pt x="2123" y="115"/>
                  </a:lnTo>
                  <a:lnTo>
                    <a:pt x="2122" y="111"/>
                  </a:lnTo>
                  <a:lnTo>
                    <a:pt x="2122" y="51"/>
                  </a:lnTo>
                  <a:lnTo>
                    <a:pt x="2142" y="51"/>
                  </a:lnTo>
                  <a:lnTo>
                    <a:pt x="2142" y="45"/>
                  </a:lnTo>
                  <a:lnTo>
                    <a:pt x="2122" y="45"/>
                  </a:lnTo>
                  <a:lnTo>
                    <a:pt x="2122" y="27"/>
                  </a:lnTo>
                  <a:lnTo>
                    <a:pt x="2122" y="19"/>
                  </a:lnTo>
                  <a:lnTo>
                    <a:pt x="2124" y="13"/>
                  </a:lnTo>
                  <a:lnTo>
                    <a:pt x="2125" y="11"/>
                  </a:lnTo>
                  <a:lnTo>
                    <a:pt x="2129" y="8"/>
                  </a:lnTo>
                  <a:lnTo>
                    <a:pt x="2131" y="7"/>
                  </a:lnTo>
                  <a:lnTo>
                    <a:pt x="2136" y="7"/>
                  </a:lnTo>
                  <a:lnTo>
                    <a:pt x="2138" y="8"/>
                  </a:lnTo>
                  <a:lnTo>
                    <a:pt x="2142" y="10"/>
                  </a:lnTo>
                  <a:lnTo>
                    <a:pt x="2144" y="12"/>
                  </a:lnTo>
                  <a:lnTo>
                    <a:pt x="2150" y="20"/>
                  </a:lnTo>
                  <a:lnTo>
                    <a:pt x="2154" y="23"/>
                  </a:lnTo>
                  <a:lnTo>
                    <a:pt x="2157" y="23"/>
                  </a:lnTo>
                  <a:lnTo>
                    <a:pt x="2159" y="22"/>
                  </a:lnTo>
                  <a:lnTo>
                    <a:pt x="2162" y="19"/>
                  </a:lnTo>
                  <a:lnTo>
                    <a:pt x="2162" y="17"/>
                  </a:lnTo>
                  <a:lnTo>
                    <a:pt x="2162" y="12"/>
                  </a:lnTo>
                  <a:close/>
                  <a:moveTo>
                    <a:pt x="2581" y="54"/>
                  </a:moveTo>
                  <a:lnTo>
                    <a:pt x="2581" y="49"/>
                  </a:lnTo>
                  <a:lnTo>
                    <a:pt x="2581" y="48"/>
                  </a:lnTo>
                  <a:lnTo>
                    <a:pt x="2580" y="48"/>
                  </a:lnTo>
                  <a:lnTo>
                    <a:pt x="2578" y="48"/>
                  </a:lnTo>
                  <a:lnTo>
                    <a:pt x="2559" y="48"/>
                  </a:lnTo>
                  <a:lnTo>
                    <a:pt x="2557" y="46"/>
                  </a:lnTo>
                  <a:lnTo>
                    <a:pt x="2555" y="45"/>
                  </a:lnTo>
                  <a:lnTo>
                    <a:pt x="2555" y="65"/>
                  </a:lnTo>
                  <a:lnTo>
                    <a:pt x="2555" y="81"/>
                  </a:lnTo>
                  <a:lnTo>
                    <a:pt x="2554" y="86"/>
                  </a:lnTo>
                  <a:lnTo>
                    <a:pt x="2548" y="93"/>
                  </a:lnTo>
                  <a:lnTo>
                    <a:pt x="2545" y="94"/>
                  </a:lnTo>
                  <a:lnTo>
                    <a:pt x="2535" y="94"/>
                  </a:lnTo>
                  <a:lnTo>
                    <a:pt x="2532" y="92"/>
                  </a:lnTo>
                  <a:lnTo>
                    <a:pt x="2525" y="84"/>
                  </a:lnTo>
                  <a:lnTo>
                    <a:pt x="2523" y="76"/>
                  </a:lnTo>
                  <a:lnTo>
                    <a:pt x="2523" y="60"/>
                  </a:lnTo>
                  <a:lnTo>
                    <a:pt x="2524" y="55"/>
                  </a:lnTo>
                  <a:lnTo>
                    <a:pt x="2530" y="48"/>
                  </a:lnTo>
                  <a:lnTo>
                    <a:pt x="2534" y="46"/>
                  </a:lnTo>
                  <a:lnTo>
                    <a:pt x="2542" y="46"/>
                  </a:lnTo>
                  <a:lnTo>
                    <a:pt x="2546" y="48"/>
                  </a:lnTo>
                  <a:lnTo>
                    <a:pt x="2553" y="57"/>
                  </a:lnTo>
                  <a:lnTo>
                    <a:pt x="2555" y="65"/>
                  </a:lnTo>
                  <a:lnTo>
                    <a:pt x="2555" y="45"/>
                  </a:lnTo>
                  <a:lnTo>
                    <a:pt x="2553" y="44"/>
                  </a:lnTo>
                  <a:lnTo>
                    <a:pt x="2547" y="42"/>
                  </a:lnTo>
                  <a:lnTo>
                    <a:pt x="2530" y="42"/>
                  </a:lnTo>
                  <a:lnTo>
                    <a:pt x="2522" y="45"/>
                  </a:lnTo>
                  <a:lnTo>
                    <a:pt x="2511" y="56"/>
                  </a:lnTo>
                  <a:lnTo>
                    <a:pt x="2508" y="63"/>
                  </a:lnTo>
                  <a:lnTo>
                    <a:pt x="2508" y="76"/>
                  </a:lnTo>
                  <a:lnTo>
                    <a:pt x="2509" y="81"/>
                  </a:lnTo>
                  <a:lnTo>
                    <a:pt x="2514" y="89"/>
                  </a:lnTo>
                  <a:lnTo>
                    <a:pt x="2518" y="93"/>
                  </a:lnTo>
                  <a:lnTo>
                    <a:pt x="2523" y="95"/>
                  </a:lnTo>
                  <a:lnTo>
                    <a:pt x="2517" y="100"/>
                  </a:lnTo>
                  <a:lnTo>
                    <a:pt x="2513" y="104"/>
                  </a:lnTo>
                  <a:lnTo>
                    <a:pt x="2510" y="109"/>
                  </a:lnTo>
                  <a:lnTo>
                    <a:pt x="2509" y="111"/>
                  </a:lnTo>
                  <a:lnTo>
                    <a:pt x="2509" y="116"/>
                  </a:lnTo>
                  <a:lnTo>
                    <a:pt x="2509" y="117"/>
                  </a:lnTo>
                  <a:lnTo>
                    <a:pt x="2512" y="120"/>
                  </a:lnTo>
                  <a:lnTo>
                    <a:pt x="2514" y="122"/>
                  </a:lnTo>
                  <a:lnTo>
                    <a:pt x="2517" y="123"/>
                  </a:lnTo>
                  <a:lnTo>
                    <a:pt x="2511" y="130"/>
                  </a:lnTo>
                  <a:lnTo>
                    <a:pt x="2509" y="132"/>
                  </a:lnTo>
                  <a:lnTo>
                    <a:pt x="2505" y="137"/>
                  </a:lnTo>
                  <a:lnTo>
                    <a:pt x="2503" y="140"/>
                  </a:lnTo>
                  <a:lnTo>
                    <a:pt x="2502" y="143"/>
                  </a:lnTo>
                  <a:lnTo>
                    <a:pt x="2501" y="144"/>
                  </a:lnTo>
                  <a:lnTo>
                    <a:pt x="2501" y="149"/>
                  </a:lnTo>
                  <a:lnTo>
                    <a:pt x="2503" y="152"/>
                  </a:lnTo>
                  <a:lnTo>
                    <a:pt x="2508" y="155"/>
                  </a:lnTo>
                  <a:lnTo>
                    <a:pt x="2515" y="160"/>
                  </a:lnTo>
                  <a:lnTo>
                    <a:pt x="2525" y="163"/>
                  </a:lnTo>
                  <a:lnTo>
                    <a:pt x="2551" y="163"/>
                  </a:lnTo>
                  <a:lnTo>
                    <a:pt x="2562" y="158"/>
                  </a:lnTo>
                  <a:lnTo>
                    <a:pt x="2569" y="152"/>
                  </a:lnTo>
                  <a:lnTo>
                    <a:pt x="2577" y="144"/>
                  </a:lnTo>
                  <a:lnTo>
                    <a:pt x="2581" y="138"/>
                  </a:lnTo>
                  <a:lnTo>
                    <a:pt x="2580" y="126"/>
                  </a:lnTo>
                  <a:lnTo>
                    <a:pt x="2580" y="124"/>
                  </a:lnTo>
                  <a:lnTo>
                    <a:pt x="2579" y="123"/>
                  </a:lnTo>
                  <a:lnTo>
                    <a:pt x="2574" y="118"/>
                  </a:lnTo>
                  <a:lnTo>
                    <a:pt x="2574" y="132"/>
                  </a:lnTo>
                  <a:lnTo>
                    <a:pt x="2574" y="139"/>
                  </a:lnTo>
                  <a:lnTo>
                    <a:pt x="2572" y="143"/>
                  </a:lnTo>
                  <a:lnTo>
                    <a:pt x="2562" y="150"/>
                  </a:lnTo>
                  <a:lnTo>
                    <a:pt x="2554" y="152"/>
                  </a:lnTo>
                  <a:lnTo>
                    <a:pt x="2533" y="152"/>
                  </a:lnTo>
                  <a:lnTo>
                    <a:pt x="2524" y="150"/>
                  </a:lnTo>
                  <a:lnTo>
                    <a:pt x="2515" y="145"/>
                  </a:lnTo>
                  <a:lnTo>
                    <a:pt x="2514" y="142"/>
                  </a:lnTo>
                  <a:lnTo>
                    <a:pt x="2514" y="137"/>
                  </a:lnTo>
                  <a:lnTo>
                    <a:pt x="2514" y="135"/>
                  </a:lnTo>
                  <a:lnTo>
                    <a:pt x="2517" y="130"/>
                  </a:lnTo>
                  <a:lnTo>
                    <a:pt x="2519" y="127"/>
                  </a:lnTo>
                  <a:lnTo>
                    <a:pt x="2522" y="124"/>
                  </a:lnTo>
                  <a:lnTo>
                    <a:pt x="2529" y="125"/>
                  </a:lnTo>
                  <a:lnTo>
                    <a:pt x="2539" y="126"/>
                  </a:lnTo>
                  <a:lnTo>
                    <a:pt x="2561" y="126"/>
                  </a:lnTo>
                  <a:lnTo>
                    <a:pt x="2567" y="127"/>
                  </a:lnTo>
                  <a:lnTo>
                    <a:pt x="2573" y="130"/>
                  </a:lnTo>
                  <a:lnTo>
                    <a:pt x="2574" y="132"/>
                  </a:lnTo>
                  <a:lnTo>
                    <a:pt x="2574" y="118"/>
                  </a:lnTo>
                  <a:lnTo>
                    <a:pt x="2572" y="116"/>
                  </a:lnTo>
                  <a:lnTo>
                    <a:pt x="2568" y="114"/>
                  </a:lnTo>
                  <a:lnTo>
                    <a:pt x="2563" y="113"/>
                  </a:lnTo>
                  <a:lnTo>
                    <a:pt x="2559" y="113"/>
                  </a:lnTo>
                  <a:lnTo>
                    <a:pt x="2552" y="113"/>
                  </a:lnTo>
                  <a:lnTo>
                    <a:pt x="2533" y="112"/>
                  </a:lnTo>
                  <a:lnTo>
                    <a:pt x="2529" y="112"/>
                  </a:lnTo>
                  <a:lnTo>
                    <a:pt x="2525" y="111"/>
                  </a:lnTo>
                  <a:lnTo>
                    <a:pt x="2523" y="111"/>
                  </a:lnTo>
                  <a:lnTo>
                    <a:pt x="2521" y="109"/>
                  </a:lnTo>
                  <a:lnTo>
                    <a:pt x="2520" y="108"/>
                  </a:lnTo>
                  <a:lnTo>
                    <a:pt x="2520" y="106"/>
                  </a:lnTo>
                  <a:lnTo>
                    <a:pt x="2521" y="104"/>
                  </a:lnTo>
                  <a:lnTo>
                    <a:pt x="2523" y="101"/>
                  </a:lnTo>
                  <a:lnTo>
                    <a:pt x="2524" y="99"/>
                  </a:lnTo>
                  <a:lnTo>
                    <a:pt x="2527" y="97"/>
                  </a:lnTo>
                  <a:lnTo>
                    <a:pt x="2531" y="98"/>
                  </a:lnTo>
                  <a:lnTo>
                    <a:pt x="2535" y="99"/>
                  </a:lnTo>
                  <a:lnTo>
                    <a:pt x="2549" y="99"/>
                  </a:lnTo>
                  <a:lnTo>
                    <a:pt x="2554" y="97"/>
                  </a:lnTo>
                  <a:lnTo>
                    <a:pt x="2556" y="96"/>
                  </a:lnTo>
                  <a:lnTo>
                    <a:pt x="2558" y="94"/>
                  </a:lnTo>
                  <a:lnTo>
                    <a:pt x="2568" y="85"/>
                  </a:lnTo>
                  <a:lnTo>
                    <a:pt x="2570" y="79"/>
                  </a:lnTo>
                  <a:lnTo>
                    <a:pt x="2570" y="65"/>
                  </a:lnTo>
                  <a:lnTo>
                    <a:pt x="2569" y="60"/>
                  </a:lnTo>
                  <a:lnTo>
                    <a:pt x="2566" y="56"/>
                  </a:lnTo>
                  <a:lnTo>
                    <a:pt x="2578" y="56"/>
                  </a:lnTo>
                  <a:lnTo>
                    <a:pt x="2580" y="56"/>
                  </a:lnTo>
                  <a:lnTo>
                    <a:pt x="2581" y="55"/>
                  </a:lnTo>
                  <a:lnTo>
                    <a:pt x="2581" y="5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34" name="Google Shape;339;p29">
              <a:extLst>
                <a:ext uri="{FF2B5EF4-FFF2-40B4-BE49-F238E27FC236}">
                  <a16:creationId xmlns:a16="http://schemas.microsoft.com/office/drawing/2014/main" id="{1C21C663-2BD6-D1B0-DE03-7764B688F967}"/>
                </a:ext>
              </a:extLst>
            </p:cNvPr>
            <p:cNvSpPr>
              <a:spLocks/>
            </p:cNvSpPr>
            <p:nvPr/>
          </p:nvSpPr>
          <p:spPr bwMode="auto">
            <a:xfrm>
              <a:off x="6589" y="1113"/>
              <a:ext cx="1191" cy="522"/>
            </a:xfrm>
            <a:custGeom>
              <a:avLst/>
              <a:gdLst>
                <a:gd name="T0" fmla="*/ 0 w 1191"/>
                <a:gd name="T1" fmla="*/ 0 h 522"/>
                <a:gd name="T2" fmla="*/ 1190 w 1191"/>
                <a:gd name="T3" fmla="*/ 0 h 522"/>
                <a:gd name="T4" fmla="*/ 1190 w 1191"/>
                <a:gd name="T5" fmla="*/ 521 h 522"/>
                <a:gd name="T6" fmla="*/ 0 60000 65536"/>
                <a:gd name="T7" fmla="*/ 0 60000 65536"/>
                <a:gd name="T8" fmla="*/ 0 60000 65536"/>
              </a:gdLst>
              <a:ahLst/>
              <a:cxnLst>
                <a:cxn ang="T6">
                  <a:pos x="T0" y="T1"/>
                </a:cxn>
                <a:cxn ang="T7">
                  <a:pos x="T2" y="T3"/>
                </a:cxn>
                <a:cxn ang="T8">
                  <a:pos x="T4" y="T5"/>
                </a:cxn>
              </a:cxnLst>
              <a:rect l="0" t="0" r="r" b="b"/>
              <a:pathLst>
                <a:path w="1191" h="522" extrusionOk="0">
                  <a:moveTo>
                    <a:pt x="0" y="0"/>
                  </a:moveTo>
                  <a:lnTo>
                    <a:pt x="1190" y="0"/>
                  </a:lnTo>
                  <a:lnTo>
                    <a:pt x="1190" y="521"/>
                  </a:lnTo>
                </a:path>
              </a:pathLst>
            </a:custGeom>
            <a:noFill/>
            <a:ln w="9525" cap="flat" cmpd="sng">
              <a:solidFill>
                <a:srgbClr val="00AEE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35" name="Google Shape;340;p29">
              <a:extLst>
                <a:ext uri="{FF2B5EF4-FFF2-40B4-BE49-F238E27FC236}">
                  <a16:creationId xmlns:a16="http://schemas.microsoft.com/office/drawing/2014/main" id="{19CF257B-E896-4F8F-0F67-44A0B9250D41}"/>
                </a:ext>
              </a:extLst>
            </p:cNvPr>
            <p:cNvSpPr>
              <a:spLocks/>
            </p:cNvSpPr>
            <p:nvPr/>
          </p:nvSpPr>
          <p:spPr bwMode="auto">
            <a:xfrm>
              <a:off x="5307" y="908"/>
              <a:ext cx="2076" cy="727"/>
            </a:xfrm>
            <a:custGeom>
              <a:avLst/>
              <a:gdLst>
                <a:gd name="T0" fmla="*/ 2076 w 2076"/>
                <a:gd name="T1" fmla="*/ 726 h 727"/>
                <a:gd name="T2" fmla="*/ 2076 w 2076"/>
                <a:gd name="T3" fmla="*/ 0 h 727"/>
                <a:gd name="T4" fmla="*/ 0 w 2076"/>
                <a:gd name="T5" fmla="*/ 0 h 727"/>
                <a:gd name="T6" fmla="*/ 0 60000 65536"/>
                <a:gd name="T7" fmla="*/ 0 60000 65536"/>
                <a:gd name="T8" fmla="*/ 0 60000 65536"/>
              </a:gdLst>
              <a:ahLst/>
              <a:cxnLst>
                <a:cxn ang="T6">
                  <a:pos x="T0" y="T1"/>
                </a:cxn>
                <a:cxn ang="T7">
                  <a:pos x="T2" y="T3"/>
                </a:cxn>
                <a:cxn ang="T8">
                  <a:pos x="T4" y="T5"/>
                </a:cxn>
              </a:cxnLst>
              <a:rect l="0" t="0" r="r" b="b"/>
              <a:pathLst>
                <a:path w="2076" h="727" extrusionOk="0">
                  <a:moveTo>
                    <a:pt x="2076" y="726"/>
                  </a:moveTo>
                  <a:lnTo>
                    <a:pt x="2076" y="0"/>
                  </a:lnTo>
                  <a:lnTo>
                    <a:pt x="0" y="0"/>
                  </a:lnTo>
                </a:path>
              </a:pathLst>
            </a:custGeom>
            <a:noFill/>
            <a:ln w="9525" cap="flat" cmpd="sng">
              <a:solidFill>
                <a:srgbClr val="00AEE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36" name="Google Shape;341;p29">
              <a:extLst>
                <a:ext uri="{FF2B5EF4-FFF2-40B4-BE49-F238E27FC236}">
                  <a16:creationId xmlns:a16="http://schemas.microsoft.com/office/drawing/2014/main" id="{9014CEF7-ED04-F1DC-A272-FA7568B3E339}"/>
                </a:ext>
              </a:extLst>
            </p:cNvPr>
            <p:cNvCxnSpPr>
              <a:cxnSpLocks noChangeShapeType="1"/>
            </p:cNvCxnSpPr>
            <p:nvPr/>
          </p:nvCxnSpPr>
          <p:spPr bwMode="auto">
            <a:xfrm>
              <a:off x="6985" y="1634"/>
              <a:ext cx="0" cy="0"/>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sp>
          <p:nvSpPr>
            <p:cNvPr id="37" name="Google Shape;342;p29">
              <a:extLst>
                <a:ext uri="{FF2B5EF4-FFF2-40B4-BE49-F238E27FC236}">
                  <a16:creationId xmlns:a16="http://schemas.microsoft.com/office/drawing/2014/main" id="{D126603C-F46D-DC14-1803-FC72E7A26976}"/>
                </a:ext>
              </a:extLst>
            </p:cNvPr>
            <p:cNvSpPr>
              <a:spLocks/>
            </p:cNvSpPr>
            <p:nvPr/>
          </p:nvSpPr>
          <p:spPr bwMode="auto">
            <a:xfrm>
              <a:off x="6985" y="890"/>
              <a:ext cx="794" cy="226"/>
            </a:xfrm>
            <a:custGeom>
              <a:avLst/>
              <a:gdLst>
                <a:gd name="T0" fmla="*/ 794 w 794"/>
                <a:gd name="T1" fmla="*/ 223 h 226"/>
                <a:gd name="T2" fmla="*/ 746 w 794"/>
                <a:gd name="T3" fmla="*/ 159 h 226"/>
                <a:gd name="T4" fmla="*/ 689 w 794"/>
                <a:gd name="T5" fmla="*/ 104 h 226"/>
                <a:gd name="T6" fmla="*/ 623 w 794"/>
                <a:gd name="T7" fmla="*/ 60 h 226"/>
                <a:gd name="T8" fmla="*/ 552 w 794"/>
                <a:gd name="T9" fmla="*/ 27 h 226"/>
                <a:gd name="T10" fmla="*/ 476 w 794"/>
                <a:gd name="T11" fmla="*/ 7 h 226"/>
                <a:gd name="T12" fmla="*/ 397 w 794"/>
                <a:gd name="T13" fmla="*/ 0 h 226"/>
                <a:gd name="T14" fmla="*/ 318 w 794"/>
                <a:gd name="T15" fmla="*/ 7 h 226"/>
                <a:gd name="T16" fmla="*/ 242 w 794"/>
                <a:gd name="T17" fmla="*/ 27 h 226"/>
                <a:gd name="T18" fmla="*/ 170 w 794"/>
                <a:gd name="T19" fmla="*/ 60 h 226"/>
                <a:gd name="T20" fmla="*/ 105 w 794"/>
                <a:gd name="T21" fmla="*/ 105 h 226"/>
                <a:gd name="T22" fmla="*/ 48 w 794"/>
                <a:gd name="T23" fmla="*/ 160 h 226"/>
                <a:gd name="T24" fmla="*/ 0 w 794"/>
                <a:gd name="T25" fmla="*/ 225 h 2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4" h="226" extrusionOk="0">
                  <a:moveTo>
                    <a:pt x="794" y="223"/>
                  </a:moveTo>
                  <a:lnTo>
                    <a:pt x="746" y="159"/>
                  </a:lnTo>
                  <a:lnTo>
                    <a:pt x="689" y="104"/>
                  </a:lnTo>
                  <a:lnTo>
                    <a:pt x="623" y="60"/>
                  </a:lnTo>
                  <a:lnTo>
                    <a:pt x="552" y="27"/>
                  </a:lnTo>
                  <a:lnTo>
                    <a:pt x="476" y="7"/>
                  </a:lnTo>
                  <a:lnTo>
                    <a:pt x="397" y="0"/>
                  </a:lnTo>
                  <a:lnTo>
                    <a:pt x="318" y="7"/>
                  </a:lnTo>
                  <a:lnTo>
                    <a:pt x="242" y="27"/>
                  </a:lnTo>
                  <a:lnTo>
                    <a:pt x="170" y="60"/>
                  </a:lnTo>
                  <a:lnTo>
                    <a:pt x="105" y="105"/>
                  </a:lnTo>
                  <a:lnTo>
                    <a:pt x="48" y="160"/>
                  </a:lnTo>
                  <a:lnTo>
                    <a:pt x="0" y="225"/>
                  </a:lnTo>
                </a:path>
              </a:pathLst>
            </a:custGeom>
            <a:noFill/>
            <a:ln w="16400"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38" name="Google Shape;343;p29">
              <a:extLst>
                <a:ext uri="{FF2B5EF4-FFF2-40B4-BE49-F238E27FC236}">
                  <a16:creationId xmlns:a16="http://schemas.microsoft.com/office/drawing/2014/main" id="{FFF0A817-32D7-4A34-47AD-A0A9E7D79259}"/>
                </a:ext>
              </a:extLst>
            </p:cNvPr>
            <p:cNvSpPr>
              <a:spLocks/>
            </p:cNvSpPr>
            <p:nvPr/>
          </p:nvSpPr>
          <p:spPr bwMode="auto">
            <a:xfrm>
              <a:off x="6589" y="1113"/>
              <a:ext cx="397" cy="522"/>
            </a:xfrm>
            <a:custGeom>
              <a:avLst/>
              <a:gdLst>
                <a:gd name="T0" fmla="*/ 396 w 397"/>
                <a:gd name="T1" fmla="*/ 0 h 522"/>
                <a:gd name="T2" fmla="*/ 210 w 397"/>
                <a:gd name="T3" fmla="*/ 241 h 522"/>
                <a:gd name="T4" fmla="*/ 0 w 397"/>
                <a:gd name="T5" fmla="*/ 521 h 522"/>
                <a:gd name="T6" fmla="*/ 0 60000 65536"/>
                <a:gd name="T7" fmla="*/ 0 60000 65536"/>
                <a:gd name="T8" fmla="*/ 0 60000 65536"/>
              </a:gdLst>
              <a:ahLst/>
              <a:cxnLst>
                <a:cxn ang="T6">
                  <a:pos x="T0" y="T1"/>
                </a:cxn>
                <a:cxn ang="T7">
                  <a:pos x="T2" y="T3"/>
                </a:cxn>
                <a:cxn ang="T8">
                  <a:pos x="T4" y="T5"/>
                </a:cxn>
              </a:cxnLst>
              <a:rect l="0" t="0" r="r" b="b"/>
              <a:pathLst>
                <a:path w="397" h="522" extrusionOk="0">
                  <a:moveTo>
                    <a:pt x="396" y="0"/>
                  </a:moveTo>
                  <a:lnTo>
                    <a:pt x="210" y="241"/>
                  </a:lnTo>
                  <a:lnTo>
                    <a:pt x="0" y="521"/>
                  </a:lnTo>
                </a:path>
              </a:pathLst>
            </a:custGeom>
            <a:noFill/>
            <a:ln w="16400"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39" name="Google Shape;344;p29">
              <a:extLst>
                <a:ext uri="{FF2B5EF4-FFF2-40B4-BE49-F238E27FC236}">
                  <a16:creationId xmlns:a16="http://schemas.microsoft.com/office/drawing/2014/main" id="{5777447C-2492-08C8-F707-97FBDF99A1A4}"/>
                </a:ext>
              </a:extLst>
            </p:cNvPr>
            <p:cNvSpPr>
              <a:spLocks/>
            </p:cNvSpPr>
            <p:nvPr/>
          </p:nvSpPr>
          <p:spPr bwMode="auto">
            <a:xfrm>
              <a:off x="7779" y="1113"/>
              <a:ext cx="398" cy="521"/>
            </a:xfrm>
            <a:custGeom>
              <a:avLst/>
              <a:gdLst>
                <a:gd name="T0" fmla="*/ 0 w 398"/>
                <a:gd name="T1" fmla="*/ 0 h 521"/>
                <a:gd name="T2" fmla="*/ 186 w 398"/>
                <a:gd name="T3" fmla="*/ 241 h 521"/>
                <a:gd name="T4" fmla="*/ 398 w 398"/>
                <a:gd name="T5" fmla="*/ 521 h 521"/>
                <a:gd name="T6" fmla="*/ 0 60000 65536"/>
                <a:gd name="T7" fmla="*/ 0 60000 65536"/>
                <a:gd name="T8" fmla="*/ 0 60000 65536"/>
              </a:gdLst>
              <a:ahLst/>
              <a:cxnLst>
                <a:cxn ang="T6">
                  <a:pos x="T0" y="T1"/>
                </a:cxn>
                <a:cxn ang="T7">
                  <a:pos x="T2" y="T3"/>
                </a:cxn>
                <a:cxn ang="T8">
                  <a:pos x="T4" y="T5"/>
                </a:cxn>
              </a:cxnLst>
              <a:rect l="0" t="0" r="r" b="b"/>
              <a:pathLst>
                <a:path w="398" h="521" extrusionOk="0">
                  <a:moveTo>
                    <a:pt x="0" y="0"/>
                  </a:moveTo>
                  <a:lnTo>
                    <a:pt x="186" y="241"/>
                  </a:lnTo>
                  <a:lnTo>
                    <a:pt x="398" y="521"/>
                  </a:lnTo>
                </a:path>
              </a:pathLst>
            </a:custGeom>
            <a:noFill/>
            <a:ln w="16400"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40" name="Google Shape;345;p29">
              <a:extLst>
                <a:ext uri="{FF2B5EF4-FFF2-40B4-BE49-F238E27FC236}">
                  <a16:creationId xmlns:a16="http://schemas.microsoft.com/office/drawing/2014/main" id="{77437D97-8B65-B472-3DA3-0D3649481ED6}"/>
                </a:ext>
              </a:extLst>
            </p:cNvPr>
            <p:cNvSpPr>
              <a:spLocks/>
            </p:cNvSpPr>
            <p:nvPr/>
          </p:nvSpPr>
          <p:spPr bwMode="auto">
            <a:xfrm>
              <a:off x="8574" y="2154"/>
              <a:ext cx="794" cy="223"/>
            </a:xfrm>
            <a:custGeom>
              <a:avLst/>
              <a:gdLst>
                <a:gd name="T0" fmla="*/ 0 w 794"/>
                <a:gd name="T1" fmla="*/ 0 h 223"/>
                <a:gd name="T2" fmla="*/ 48 w 794"/>
                <a:gd name="T3" fmla="*/ 64 h 223"/>
                <a:gd name="T4" fmla="*/ 105 w 794"/>
                <a:gd name="T5" fmla="*/ 119 h 223"/>
                <a:gd name="T6" fmla="*/ 171 w 794"/>
                <a:gd name="T7" fmla="*/ 163 h 223"/>
                <a:gd name="T8" fmla="*/ 242 w 794"/>
                <a:gd name="T9" fmla="*/ 196 h 223"/>
                <a:gd name="T10" fmla="*/ 318 w 794"/>
                <a:gd name="T11" fmla="*/ 216 h 223"/>
                <a:gd name="T12" fmla="*/ 397 w 794"/>
                <a:gd name="T13" fmla="*/ 223 h 223"/>
                <a:gd name="T14" fmla="*/ 476 w 794"/>
                <a:gd name="T15" fmla="*/ 216 h 223"/>
                <a:gd name="T16" fmla="*/ 552 w 794"/>
                <a:gd name="T17" fmla="*/ 196 h 223"/>
                <a:gd name="T18" fmla="*/ 623 w 794"/>
                <a:gd name="T19" fmla="*/ 163 h 223"/>
                <a:gd name="T20" fmla="*/ 689 w 794"/>
                <a:gd name="T21" fmla="*/ 119 h 223"/>
                <a:gd name="T22" fmla="*/ 746 w 794"/>
                <a:gd name="T23" fmla="*/ 64 h 223"/>
                <a:gd name="T24" fmla="*/ 794 w 794"/>
                <a:gd name="T25" fmla="*/ 0 h 2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4" h="223" extrusionOk="0">
                  <a:moveTo>
                    <a:pt x="0" y="0"/>
                  </a:moveTo>
                  <a:lnTo>
                    <a:pt x="48" y="64"/>
                  </a:lnTo>
                  <a:lnTo>
                    <a:pt x="105" y="119"/>
                  </a:lnTo>
                  <a:lnTo>
                    <a:pt x="171" y="163"/>
                  </a:lnTo>
                  <a:lnTo>
                    <a:pt x="242" y="196"/>
                  </a:lnTo>
                  <a:lnTo>
                    <a:pt x="318" y="216"/>
                  </a:lnTo>
                  <a:lnTo>
                    <a:pt x="397" y="223"/>
                  </a:lnTo>
                  <a:lnTo>
                    <a:pt x="476" y="216"/>
                  </a:lnTo>
                  <a:lnTo>
                    <a:pt x="552" y="196"/>
                  </a:lnTo>
                  <a:lnTo>
                    <a:pt x="623" y="163"/>
                  </a:lnTo>
                  <a:lnTo>
                    <a:pt x="689" y="119"/>
                  </a:lnTo>
                  <a:lnTo>
                    <a:pt x="746" y="64"/>
                  </a:lnTo>
                  <a:lnTo>
                    <a:pt x="794" y="0"/>
                  </a:lnTo>
                </a:path>
              </a:pathLst>
            </a:custGeom>
            <a:noFill/>
            <a:ln w="16400"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41" name="Google Shape;346;p29">
              <a:extLst>
                <a:ext uri="{FF2B5EF4-FFF2-40B4-BE49-F238E27FC236}">
                  <a16:creationId xmlns:a16="http://schemas.microsoft.com/office/drawing/2014/main" id="{447CD04A-E107-3435-89D2-6615216181D8}"/>
                </a:ext>
              </a:extLst>
            </p:cNvPr>
            <p:cNvSpPr>
              <a:spLocks/>
            </p:cNvSpPr>
            <p:nvPr/>
          </p:nvSpPr>
          <p:spPr bwMode="auto">
            <a:xfrm>
              <a:off x="8177" y="1634"/>
              <a:ext cx="397" cy="520"/>
            </a:xfrm>
            <a:custGeom>
              <a:avLst/>
              <a:gdLst>
                <a:gd name="T0" fmla="*/ 396 w 397"/>
                <a:gd name="T1" fmla="*/ 520 h 520"/>
                <a:gd name="T2" fmla="*/ 214 w 397"/>
                <a:gd name="T3" fmla="*/ 279 h 520"/>
                <a:gd name="T4" fmla="*/ 0 w 397"/>
                <a:gd name="T5" fmla="*/ 0 h 520"/>
                <a:gd name="T6" fmla="*/ 0 60000 65536"/>
                <a:gd name="T7" fmla="*/ 0 60000 65536"/>
                <a:gd name="T8" fmla="*/ 0 60000 65536"/>
              </a:gdLst>
              <a:ahLst/>
              <a:cxnLst>
                <a:cxn ang="T6">
                  <a:pos x="T0" y="T1"/>
                </a:cxn>
                <a:cxn ang="T7">
                  <a:pos x="T2" y="T3"/>
                </a:cxn>
                <a:cxn ang="T8">
                  <a:pos x="T4" y="T5"/>
                </a:cxn>
              </a:cxnLst>
              <a:rect l="0" t="0" r="r" b="b"/>
              <a:pathLst>
                <a:path w="397" h="520" extrusionOk="0">
                  <a:moveTo>
                    <a:pt x="396" y="520"/>
                  </a:moveTo>
                  <a:lnTo>
                    <a:pt x="214" y="279"/>
                  </a:lnTo>
                  <a:lnTo>
                    <a:pt x="0" y="0"/>
                  </a:lnTo>
                </a:path>
              </a:pathLst>
            </a:custGeom>
            <a:noFill/>
            <a:ln w="16400"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42" name="Google Shape;347;p29">
              <a:extLst>
                <a:ext uri="{FF2B5EF4-FFF2-40B4-BE49-F238E27FC236}">
                  <a16:creationId xmlns:a16="http://schemas.microsoft.com/office/drawing/2014/main" id="{11B57491-E90E-0FDC-DDF8-CE8F3B5D5528}"/>
                </a:ext>
              </a:extLst>
            </p:cNvPr>
            <p:cNvSpPr>
              <a:spLocks/>
            </p:cNvSpPr>
            <p:nvPr/>
          </p:nvSpPr>
          <p:spPr bwMode="auto">
            <a:xfrm>
              <a:off x="9367" y="1633"/>
              <a:ext cx="400" cy="520"/>
            </a:xfrm>
            <a:custGeom>
              <a:avLst/>
              <a:gdLst>
                <a:gd name="T0" fmla="*/ 0 w 400"/>
                <a:gd name="T1" fmla="*/ 520 h 520"/>
                <a:gd name="T2" fmla="*/ 186 w 400"/>
                <a:gd name="T3" fmla="*/ 279 h 520"/>
                <a:gd name="T4" fmla="*/ 399 w 400"/>
                <a:gd name="T5" fmla="*/ 0 h 520"/>
                <a:gd name="T6" fmla="*/ 0 60000 65536"/>
                <a:gd name="T7" fmla="*/ 0 60000 65536"/>
                <a:gd name="T8" fmla="*/ 0 60000 65536"/>
              </a:gdLst>
              <a:ahLst/>
              <a:cxnLst>
                <a:cxn ang="T6">
                  <a:pos x="T0" y="T1"/>
                </a:cxn>
                <a:cxn ang="T7">
                  <a:pos x="T2" y="T3"/>
                </a:cxn>
                <a:cxn ang="T8">
                  <a:pos x="T4" y="T5"/>
                </a:cxn>
              </a:cxnLst>
              <a:rect l="0" t="0" r="r" b="b"/>
              <a:pathLst>
                <a:path w="400" h="520" extrusionOk="0">
                  <a:moveTo>
                    <a:pt x="0" y="520"/>
                  </a:moveTo>
                  <a:lnTo>
                    <a:pt x="186" y="279"/>
                  </a:lnTo>
                  <a:lnTo>
                    <a:pt x="399" y="0"/>
                  </a:lnTo>
                </a:path>
              </a:pathLst>
            </a:custGeom>
            <a:noFill/>
            <a:ln w="16400" cap="flat" cmpd="sng">
              <a:solidFill>
                <a:srgbClr val="EC008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43" name="Google Shape;348;p29">
              <a:extLst>
                <a:ext uri="{FF2B5EF4-FFF2-40B4-BE49-F238E27FC236}">
                  <a16:creationId xmlns:a16="http://schemas.microsoft.com/office/drawing/2014/main" id="{162B6A27-C9AB-4E9B-87AE-6A6C8497CC71}"/>
                </a:ext>
              </a:extLst>
            </p:cNvPr>
            <p:cNvCxnSpPr>
              <a:cxnSpLocks noChangeShapeType="1"/>
            </p:cNvCxnSpPr>
            <p:nvPr/>
          </p:nvCxnSpPr>
          <p:spPr bwMode="auto">
            <a:xfrm>
              <a:off x="8569" y="1637"/>
              <a:ext cx="0" cy="478"/>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44" name="Google Shape;349;p29">
              <a:extLst>
                <a:ext uri="{FF2B5EF4-FFF2-40B4-BE49-F238E27FC236}">
                  <a16:creationId xmlns:a16="http://schemas.microsoft.com/office/drawing/2014/main" id="{BF636957-D098-B275-7CEB-E2E2E29ECCB0}"/>
                </a:ext>
              </a:extLst>
            </p:cNvPr>
            <p:cNvCxnSpPr>
              <a:cxnSpLocks noChangeShapeType="1"/>
            </p:cNvCxnSpPr>
            <p:nvPr/>
          </p:nvCxnSpPr>
          <p:spPr bwMode="auto">
            <a:xfrm>
              <a:off x="8988" y="1634"/>
              <a:ext cx="0" cy="743"/>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45" name="Google Shape;350;p29">
              <a:extLst>
                <a:ext uri="{FF2B5EF4-FFF2-40B4-BE49-F238E27FC236}">
                  <a16:creationId xmlns:a16="http://schemas.microsoft.com/office/drawing/2014/main" id="{DC033205-2C26-FEDC-C8A9-448BA3892961}"/>
                </a:ext>
              </a:extLst>
            </p:cNvPr>
            <p:cNvCxnSpPr>
              <a:cxnSpLocks noChangeShapeType="1"/>
            </p:cNvCxnSpPr>
            <p:nvPr/>
          </p:nvCxnSpPr>
          <p:spPr bwMode="auto">
            <a:xfrm>
              <a:off x="9391" y="1634"/>
              <a:ext cx="0" cy="483"/>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sp>
          <p:nvSpPr>
            <p:cNvPr id="46" name="Google Shape;351;p29">
              <a:extLst>
                <a:ext uri="{FF2B5EF4-FFF2-40B4-BE49-F238E27FC236}">
                  <a16:creationId xmlns:a16="http://schemas.microsoft.com/office/drawing/2014/main" id="{A5DB9161-0437-EBA7-154F-B738A510AC41}"/>
                </a:ext>
              </a:extLst>
            </p:cNvPr>
            <p:cNvSpPr>
              <a:spLocks/>
            </p:cNvSpPr>
            <p:nvPr/>
          </p:nvSpPr>
          <p:spPr bwMode="auto">
            <a:xfrm>
              <a:off x="6475" y="1684"/>
              <a:ext cx="77" cy="123"/>
            </a:xfrm>
            <a:custGeom>
              <a:avLst/>
              <a:gdLst>
                <a:gd name="T0" fmla="*/ 47 w 77"/>
                <a:gd name="T1" fmla="*/ 0 h 123"/>
                <a:gd name="T2" fmla="*/ 33 w 77"/>
                <a:gd name="T3" fmla="*/ 0 h 123"/>
                <a:gd name="T4" fmla="*/ 27 w 77"/>
                <a:gd name="T5" fmla="*/ 2 h 123"/>
                <a:gd name="T6" fmla="*/ 22 w 77"/>
                <a:gd name="T7" fmla="*/ 6 h 123"/>
                <a:gd name="T8" fmla="*/ 15 w 77"/>
                <a:gd name="T9" fmla="*/ 10 h 123"/>
                <a:gd name="T10" fmla="*/ 10 w 77"/>
                <a:gd name="T11" fmla="*/ 18 h 123"/>
                <a:gd name="T12" fmla="*/ 2 w 77"/>
                <a:gd name="T13" fmla="*/ 37 h 123"/>
                <a:gd name="T14" fmla="*/ 0 w 77"/>
                <a:gd name="T15" fmla="*/ 49 h 123"/>
                <a:gd name="T16" fmla="*/ 0 w 77"/>
                <a:gd name="T17" fmla="*/ 64 h 123"/>
                <a:gd name="T18" fmla="*/ 1 w 77"/>
                <a:gd name="T19" fmla="*/ 73 h 123"/>
                <a:gd name="T20" fmla="*/ 2 w 77"/>
                <a:gd name="T21" fmla="*/ 84 h 123"/>
                <a:gd name="T22" fmla="*/ 5 w 77"/>
                <a:gd name="T23" fmla="*/ 94 h 123"/>
                <a:gd name="T24" fmla="*/ 9 w 77"/>
                <a:gd name="T25" fmla="*/ 102 h 123"/>
                <a:gd name="T26" fmla="*/ 17 w 77"/>
                <a:gd name="T27" fmla="*/ 116 h 123"/>
                <a:gd name="T28" fmla="*/ 26 w 77"/>
                <a:gd name="T29" fmla="*/ 122 h 123"/>
                <a:gd name="T30" fmla="*/ 43 w 77"/>
                <a:gd name="T31" fmla="*/ 122 h 123"/>
                <a:gd name="T32" fmla="*/ 49 w 77"/>
                <a:gd name="T33" fmla="*/ 120 h 123"/>
                <a:gd name="T34" fmla="*/ 54 w 77"/>
                <a:gd name="T35" fmla="*/ 117 h 123"/>
                <a:gd name="T36" fmla="*/ 31 w 77"/>
                <a:gd name="T37" fmla="*/ 117 h 123"/>
                <a:gd name="T38" fmla="*/ 26 w 77"/>
                <a:gd name="T39" fmla="*/ 112 h 123"/>
                <a:gd name="T40" fmla="*/ 23 w 77"/>
                <a:gd name="T41" fmla="*/ 104 h 123"/>
                <a:gd name="T42" fmla="*/ 20 w 77"/>
                <a:gd name="T43" fmla="*/ 96 h 123"/>
                <a:gd name="T44" fmla="*/ 19 w 77"/>
                <a:gd name="T45" fmla="*/ 86 h 123"/>
                <a:gd name="T46" fmla="*/ 17 w 77"/>
                <a:gd name="T47" fmla="*/ 76 h 123"/>
                <a:gd name="T48" fmla="*/ 17 w 77"/>
                <a:gd name="T49" fmla="*/ 69 h 123"/>
                <a:gd name="T50" fmla="*/ 17 w 77"/>
                <a:gd name="T51" fmla="*/ 54 h 123"/>
                <a:gd name="T52" fmla="*/ 18 w 77"/>
                <a:gd name="T53" fmla="*/ 44 h 123"/>
                <a:gd name="T54" fmla="*/ 21 w 77"/>
                <a:gd name="T55" fmla="*/ 23 h 123"/>
                <a:gd name="T56" fmla="*/ 24 w 77"/>
                <a:gd name="T57" fmla="*/ 16 h 123"/>
                <a:gd name="T58" fmla="*/ 31 w 77"/>
                <a:gd name="T59" fmla="*/ 8 h 123"/>
                <a:gd name="T60" fmla="*/ 34 w 77"/>
                <a:gd name="T61" fmla="*/ 6 h 123"/>
                <a:gd name="T62" fmla="*/ 56 w 77"/>
                <a:gd name="T63" fmla="*/ 6 h 123"/>
                <a:gd name="T64" fmla="*/ 55 w 77"/>
                <a:gd name="T65" fmla="*/ 5 h 123"/>
                <a:gd name="T66" fmla="*/ 47 w 77"/>
                <a:gd name="T67" fmla="*/ 0 h 123"/>
                <a:gd name="T68" fmla="*/ 56 w 77"/>
                <a:gd name="T69" fmla="*/ 6 h 123"/>
                <a:gd name="T70" fmla="*/ 42 w 77"/>
                <a:gd name="T71" fmla="*/ 6 h 123"/>
                <a:gd name="T72" fmla="*/ 44 w 77"/>
                <a:gd name="T73" fmla="*/ 7 h 123"/>
                <a:gd name="T74" fmla="*/ 47 w 77"/>
                <a:gd name="T75" fmla="*/ 9 h 123"/>
                <a:gd name="T76" fmla="*/ 50 w 77"/>
                <a:gd name="T77" fmla="*/ 11 h 123"/>
                <a:gd name="T78" fmla="*/ 53 w 77"/>
                <a:gd name="T79" fmla="*/ 16 h 123"/>
                <a:gd name="T80" fmla="*/ 58 w 77"/>
                <a:gd name="T81" fmla="*/ 32 h 123"/>
                <a:gd name="T82" fmla="*/ 59 w 77"/>
                <a:gd name="T83" fmla="*/ 43 h 123"/>
                <a:gd name="T84" fmla="*/ 59 w 77"/>
                <a:gd name="T85" fmla="*/ 60 h 123"/>
                <a:gd name="T86" fmla="*/ 59 w 77"/>
                <a:gd name="T87" fmla="*/ 69 h 123"/>
                <a:gd name="T88" fmla="*/ 58 w 77"/>
                <a:gd name="T89" fmla="*/ 80 h 123"/>
                <a:gd name="T90" fmla="*/ 57 w 77"/>
                <a:gd name="T91" fmla="*/ 90 h 123"/>
                <a:gd name="T92" fmla="*/ 55 w 77"/>
                <a:gd name="T93" fmla="*/ 98 h 123"/>
                <a:gd name="T94" fmla="*/ 53 w 77"/>
                <a:gd name="T95" fmla="*/ 105 h 123"/>
                <a:gd name="T96" fmla="*/ 51 w 77"/>
                <a:gd name="T97" fmla="*/ 110 h 123"/>
                <a:gd name="T98" fmla="*/ 44 w 77"/>
                <a:gd name="T99" fmla="*/ 115 h 123"/>
                <a:gd name="T100" fmla="*/ 41 w 77"/>
                <a:gd name="T101" fmla="*/ 117 h 123"/>
                <a:gd name="T102" fmla="*/ 54 w 77"/>
                <a:gd name="T103" fmla="*/ 117 h 123"/>
                <a:gd name="T104" fmla="*/ 61 w 77"/>
                <a:gd name="T105" fmla="*/ 112 h 123"/>
                <a:gd name="T106" fmla="*/ 66 w 77"/>
                <a:gd name="T107" fmla="*/ 105 h 123"/>
                <a:gd name="T108" fmla="*/ 74 w 77"/>
                <a:gd name="T109" fmla="*/ 85 h 123"/>
                <a:gd name="T110" fmla="*/ 76 w 77"/>
                <a:gd name="T111" fmla="*/ 74 h 123"/>
                <a:gd name="T112" fmla="*/ 76 w 77"/>
                <a:gd name="T113" fmla="*/ 60 h 123"/>
                <a:gd name="T114" fmla="*/ 75 w 77"/>
                <a:gd name="T115" fmla="*/ 46 h 123"/>
                <a:gd name="T116" fmla="*/ 73 w 77"/>
                <a:gd name="T117" fmla="*/ 34 h 123"/>
                <a:gd name="T118" fmla="*/ 69 w 77"/>
                <a:gd name="T119" fmla="*/ 23 h 123"/>
                <a:gd name="T120" fmla="*/ 63 w 77"/>
                <a:gd name="T121" fmla="*/ 14 h 123"/>
                <a:gd name="T122" fmla="*/ 56 w 77"/>
                <a:gd name="T123" fmla="*/ 6 h 1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7" h="123" extrusionOk="0">
                  <a:moveTo>
                    <a:pt x="47" y="0"/>
                  </a:moveTo>
                  <a:lnTo>
                    <a:pt x="33" y="0"/>
                  </a:lnTo>
                  <a:lnTo>
                    <a:pt x="27" y="2"/>
                  </a:lnTo>
                  <a:lnTo>
                    <a:pt x="22" y="6"/>
                  </a:lnTo>
                  <a:lnTo>
                    <a:pt x="15" y="10"/>
                  </a:lnTo>
                  <a:lnTo>
                    <a:pt x="10" y="18"/>
                  </a:lnTo>
                  <a:lnTo>
                    <a:pt x="2" y="37"/>
                  </a:lnTo>
                  <a:lnTo>
                    <a:pt x="0" y="49"/>
                  </a:lnTo>
                  <a:lnTo>
                    <a:pt x="0" y="64"/>
                  </a:lnTo>
                  <a:lnTo>
                    <a:pt x="1" y="73"/>
                  </a:lnTo>
                  <a:lnTo>
                    <a:pt x="2" y="84"/>
                  </a:lnTo>
                  <a:lnTo>
                    <a:pt x="5" y="94"/>
                  </a:lnTo>
                  <a:lnTo>
                    <a:pt x="9" y="102"/>
                  </a:lnTo>
                  <a:lnTo>
                    <a:pt x="17" y="116"/>
                  </a:lnTo>
                  <a:lnTo>
                    <a:pt x="26" y="122"/>
                  </a:lnTo>
                  <a:lnTo>
                    <a:pt x="43" y="122"/>
                  </a:lnTo>
                  <a:lnTo>
                    <a:pt x="49" y="120"/>
                  </a:lnTo>
                  <a:lnTo>
                    <a:pt x="54" y="117"/>
                  </a:lnTo>
                  <a:lnTo>
                    <a:pt x="31" y="117"/>
                  </a:lnTo>
                  <a:lnTo>
                    <a:pt x="26" y="112"/>
                  </a:lnTo>
                  <a:lnTo>
                    <a:pt x="23" y="104"/>
                  </a:lnTo>
                  <a:lnTo>
                    <a:pt x="20" y="96"/>
                  </a:lnTo>
                  <a:lnTo>
                    <a:pt x="19" y="86"/>
                  </a:lnTo>
                  <a:lnTo>
                    <a:pt x="17" y="76"/>
                  </a:lnTo>
                  <a:lnTo>
                    <a:pt x="17" y="69"/>
                  </a:lnTo>
                  <a:lnTo>
                    <a:pt x="17" y="54"/>
                  </a:lnTo>
                  <a:lnTo>
                    <a:pt x="18" y="44"/>
                  </a:lnTo>
                  <a:lnTo>
                    <a:pt x="21" y="23"/>
                  </a:lnTo>
                  <a:lnTo>
                    <a:pt x="24" y="16"/>
                  </a:lnTo>
                  <a:lnTo>
                    <a:pt x="31" y="8"/>
                  </a:lnTo>
                  <a:lnTo>
                    <a:pt x="34" y="6"/>
                  </a:lnTo>
                  <a:lnTo>
                    <a:pt x="56" y="6"/>
                  </a:lnTo>
                  <a:lnTo>
                    <a:pt x="55" y="5"/>
                  </a:lnTo>
                  <a:lnTo>
                    <a:pt x="47" y="0"/>
                  </a:lnTo>
                  <a:close/>
                  <a:moveTo>
                    <a:pt x="56" y="6"/>
                  </a:moveTo>
                  <a:lnTo>
                    <a:pt x="42" y="6"/>
                  </a:lnTo>
                  <a:lnTo>
                    <a:pt x="44" y="7"/>
                  </a:lnTo>
                  <a:lnTo>
                    <a:pt x="47" y="9"/>
                  </a:lnTo>
                  <a:lnTo>
                    <a:pt x="50" y="11"/>
                  </a:lnTo>
                  <a:lnTo>
                    <a:pt x="53" y="16"/>
                  </a:lnTo>
                  <a:lnTo>
                    <a:pt x="58" y="32"/>
                  </a:lnTo>
                  <a:lnTo>
                    <a:pt x="59" y="43"/>
                  </a:lnTo>
                  <a:lnTo>
                    <a:pt x="59" y="60"/>
                  </a:lnTo>
                  <a:lnTo>
                    <a:pt x="59" y="69"/>
                  </a:lnTo>
                  <a:lnTo>
                    <a:pt x="58" y="80"/>
                  </a:lnTo>
                  <a:lnTo>
                    <a:pt x="57" y="90"/>
                  </a:lnTo>
                  <a:lnTo>
                    <a:pt x="55" y="98"/>
                  </a:lnTo>
                  <a:lnTo>
                    <a:pt x="53" y="105"/>
                  </a:lnTo>
                  <a:lnTo>
                    <a:pt x="51" y="110"/>
                  </a:lnTo>
                  <a:lnTo>
                    <a:pt x="44" y="115"/>
                  </a:lnTo>
                  <a:lnTo>
                    <a:pt x="41" y="117"/>
                  </a:lnTo>
                  <a:lnTo>
                    <a:pt x="54" y="117"/>
                  </a:lnTo>
                  <a:lnTo>
                    <a:pt x="61" y="112"/>
                  </a:lnTo>
                  <a:lnTo>
                    <a:pt x="66" y="105"/>
                  </a:lnTo>
                  <a:lnTo>
                    <a:pt x="74" y="85"/>
                  </a:lnTo>
                  <a:lnTo>
                    <a:pt x="76" y="74"/>
                  </a:lnTo>
                  <a:lnTo>
                    <a:pt x="76" y="60"/>
                  </a:lnTo>
                  <a:lnTo>
                    <a:pt x="75" y="46"/>
                  </a:lnTo>
                  <a:lnTo>
                    <a:pt x="73" y="34"/>
                  </a:lnTo>
                  <a:lnTo>
                    <a:pt x="69" y="23"/>
                  </a:lnTo>
                  <a:lnTo>
                    <a:pt x="63" y="14"/>
                  </a:lnTo>
                  <a:lnTo>
                    <a:pt x="56" y="6"/>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47" name="Google Shape;352;p29">
              <a:extLst>
                <a:ext uri="{FF2B5EF4-FFF2-40B4-BE49-F238E27FC236}">
                  <a16:creationId xmlns:a16="http://schemas.microsoft.com/office/drawing/2014/main" id="{466F2CDF-B939-22BC-8402-C8846EAD39BC}"/>
                </a:ext>
              </a:extLst>
            </p:cNvPr>
            <p:cNvSpPr>
              <a:spLocks/>
            </p:cNvSpPr>
            <p:nvPr/>
          </p:nvSpPr>
          <p:spPr bwMode="auto">
            <a:xfrm>
              <a:off x="4613" y="910"/>
              <a:ext cx="1497" cy="1467"/>
            </a:xfrm>
            <a:custGeom>
              <a:avLst/>
              <a:gdLst>
                <a:gd name="T0" fmla="*/ 1496 w 1497"/>
                <a:gd name="T1" fmla="*/ 735 h 1467"/>
                <a:gd name="T2" fmla="*/ 1486 w 1497"/>
                <a:gd name="T3" fmla="*/ 626 h 1467"/>
                <a:gd name="T4" fmla="*/ 1456 w 1497"/>
                <a:gd name="T5" fmla="*/ 502 h 1467"/>
                <a:gd name="T6" fmla="*/ 1430 w 1497"/>
                <a:gd name="T7" fmla="*/ 434 h 1467"/>
                <a:gd name="T8" fmla="*/ 1397 w 1497"/>
                <a:gd name="T9" fmla="*/ 370 h 1467"/>
                <a:gd name="T10" fmla="*/ 1358 w 1497"/>
                <a:gd name="T11" fmla="*/ 310 h 1467"/>
                <a:gd name="T12" fmla="*/ 1314 w 1497"/>
                <a:gd name="T13" fmla="*/ 254 h 1467"/>
                <a:gd name="T14" fmla="*/ 1264 w 1497"/>
                <a:gd name="T15" fmla="*/ 203 h 1467"/>
                <a:gd name="T16" fmla="*/ 1210 w 1497"/>
                <a:gd name="T17" fmla="*/ 157 h 1467"/>
                <a:gd name="T18" fmla="*/ 1151 w 1497"/>
                <a:gd name="T19" fmla="*/ 115 h 1467"/>
                <a:gd name="T20" fmla="*/ 1089 w 1497"/>
                <a:gd name="T21" fmla="*/ 80 h 1467"/>
                <a:gd name="T22" fmla="*/ 1024 w 1497"/>
                <a:gd name="T23" fmla="*/ 51 h 1467"/>
                <a:gd name="T24" fmla="*/ 955 w 1497"/>
                <a:gd name="T25" fmla="*/ 28 h 1467"/>
                <a:gd name="T26" fmla="*/ 885 w 1497"/>
                <a:gd name="T27" fmla="*/ 12 h 1467"/>
                <a:gd name="T28" fmla="*/ 812 w 1497"/>
                <a:gd name="T29" fmla="*/ 3 h 1467"/>
                <a:gd name="T30" fmla="*/ 756 w 1497"/>
                <a:gd name="T31" fmla="*/ 0 h 1467"/>
                <a:gd name="T32" fmla="*/ 700 w 1497"/>
                <a:gd name="T33" fmla="*/ 2 h 1467"/>
                <a:gd name="T34" fmla="*/ 624 w 1497"/>
                <a:gd name="T35" fmla="*/ 9 h 1467"/>
                <a:gd name="T36" fmla="*/ 549 w 1497"/>
                <a:gd name="T37" fmla="*/ 25 h 1467"/>
                <a:gd name="T38" fmla="*/ 477 w 1497"/>
                <a:gd name="T39" fmla="*/ 49 h 1467"/>
                <a:gd name="T40" fmla="*/ 408 w 1497"/>
                <a:gd name="T41" fmla="*/ 80 h 1467"/>
                <a:gd name="T42" fmla="*/ 342 w 1497"/>
                <a:gd name="T43" fmla="*/ 118 h 1467"/>
                <a:gd name="T44" fmla="*/ 280 w 1497"/>
                <a:gd name="T45" fmla="*/ 162 h 1467"/>
                <a:gd name="T46" fmla="*/ 223 w 1497"/>
                <a:gd name="T47" fmla="*/ 212 h 1467"/>
                <a:gd name="T48" fmla="*/ 171 w 1497"/>
                <a:gd name="T49" fmla="*/ 268 h 1467"/>
                <a:gd name="T50" fmla="*/ 125 w 1497"/>
                <a:gd name="T51" fmla="*/ 328 h 1467"/>
                <a:gd name="T52" fmla="*/ 86 w 1497"/>
                <a:gd name="T53" fmla="*/ 393 h 1467"/>
                <a:gd name="T54" fmla="*/ 53 w 1497"/>
                <a:gd name="T55" fmla="*/ 462 h 1467"/>
                <a:gd name="T56" fmla="*/ 29 w 1497"/>
                <a:gd name="T57" fmla="*/ 534 h 1467"/>
                <a:gd name="T58" fmla="*/ 13 w 1497"/>
                <a:gd name="T59" fmla="*/ 610 h 1467"/>
                <a:gd name="T60" fmla="*/ 0 w 1497"/>
                <a:gd name="T61" fmla="*/ 719 h 1467"/>
                <a:gd name="T62" fmla="*/ 1 w 1497"/>
                <a:gd name="T63" fmla="*/ 772 h 1467"/>
                <a:gd name="T64" fmla="*/ 16 w 1497"/>
                <a:gd name="T65" fmla="*/ 880 h 1467"/>
                <a:gd name="T66" fmla="*/ 32 w 1497"/>
                <a:gd name="T67" fmla="*/ 948 h 1467"/>
                <a:gd name="T68" fmla="*/ 61 w 1497"/>
                <a:gd name="T69" fmla="*/ 1023 h 1467"/>
                <a:gd name="T70" fmla="*/ 99 w 1497"/>
                <a:gd name="T71" fmla="*/ 1097 h 1467"/>
                <a:gd name="T72" fmla="*/ 142 w 1497"/>
                <a:gd name="T73" fmla="*/ 1165 h 1467"/>
                <a:gd name="T74" fmla="*/ 187 w 1497"/>
                <a:gd name="T75" fmla="*/ 1217 h 1467"/>
                <a:gd name="T76" fmla="*/ 265 w 1497"/>
                <a:gd name="T77" fmla="*/ 1295 h 1467"/>
                <a:gd name="T78" fmla="*/ 333 w 1497"/>
                <a:gd name="T79" fmla="*/ 1344 h 1467"/>
                <a:gd name="T80" fmla="*/ 397 w 1497"/>
                <a:gd name="T81" fmla="*/ 1382 h 1467"/>
                <a:gd name="T82" fmla="*/ 463 w 1497"/>
                <a:gd name="T83" fmla="*/ 1412 h 1467"/>
                <a:gd name="T84" fmla="*/ 533 w 1497"/>
                <a:gd name="T85" fmla="*/ 1436 h 1467"/>
                <a:gd name="T86" fmla="*/ 614 w 1497"/>
                <a:gd name="T87" fmla="*/ 1458 h 1467"/>
                <a:gd name="T88" fmla="*/ 670 w 1497"/>
                <a:gd name="T89" fmla="*/ 1462 h 1467"/>
                <a:gd name="T90" fmla="*/ 724 w 1497"/>
                <a:gd name="T91" fmla="*/ 1466 h 1467"/>
                <a:gd name="T92" fmla="*/ 857 w 1497"/>
                <a:gd name="T93" fmla="*/ 1460 h 1467"/>
                <a:gd name="T94" fmla="*/ 932 w 1497"/>
                <a:gd name="T95" fmla="*/ 1446 h 1467"/>
                <a:gd name="T96" fmla="*/ 1006 w 1497"/>
                <a:gd name="T97" fmla="*/ 1424 h 1467"/>
                <a:gd name="T98" fmla="*/ 1076 w 1497"/>
                <a:gd name="T99" fmla="*/ 1395 h 1467"/>
                <a:gd name="T100" fmla="*/ 1142 w 1497"/>
                <a:gd name="T101" fmla="*/ 1359 h 1467"/>
                <a:gd name="T102" fmla="*/ 1205 w 1497"/>
                <a:gd name="T103" fmla="*/ 1316 h 1467"/>
                <a:gd name="T104" fmla="*/ 1262 w 1497"/>
                <a:gd name="T105" fmla="*/ 1268 h 1467"/>
                <a:gd name="T106" fmla="*/ 1315 w 1497"/>
                <a:gd name="T107" fmla="*/ 1214 h 1467"/>
                <a:gd name="T108" fmla="*/ 1362 w 1497"/>
                <a:gd name="T109" fmla="*/ 1154 h 1467"/>
                <a:gd name="T110" fmla="*/ 1403 w 1497"/>
                <a:gd name="T111" fmla="*/ 1090 h 1467"/>
                <a:gd name="T112" fmla="*/ 1436 w 1497"/>
                <a:gd name="T113" fmla="*/ 1022 h 1467"/>
                <a:gd name="T114" fmla="*/ 1463 w 1497"/>
                <a:gd name="T115" fmla="*/ 950 h 1467"/>
                <a:gd name="T116" fmla="*/ 1482 w 1497"/>
                <a:gd name="T117" fmla="*/ 874 h 1467"/>
                <a:gd name="T118" fmla="*/ 1494 w 1497"/>
                <a:gd name="T119" fmla="*/ 765 h 1467"/>
                <a:gd name="T120" fmla="*/ 1496 w 1497"/>
                <a:gd name="T121" fmla="*/ 735 h 146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497" h="1467" extrusionOk="0">
                  <a:moveTo>
                    <a:pt x="1496" y="735"/>
                  </a:moveTo>
                  <a:lnTo>
                    <a:pt x="1486" y="626"/>
                  </a:lnTo>
                  <a:lnTo>
                    <a:pt x="1456" y="502"/>
                  </a:lnTo>
                  <a:lnTo>
                    <a:pt x="1430" y="434"/>
                  </a:lnTo>
                  <a:lnTo>
                    <a:pt x="1397" y="370"/>
                  </a:lnTo>
                  <a:lnTo>
                    <a:pt x="1358" y="310"/>
                  </a:lnTo>
                  <a:lnTo>
                    <a:pt x="1314" y="254"/>
                  </a:lnTo>
                  <a:lnTo>
                    <a:pt x="1264" y="203"/>
                  </a:lnTo>
                  <a:lnTo>
                    <a:pt x="1210" y="157"/>
                  </a:lnTo>
                  <a:lnTo>
                    <a:pt x="1151" y="115"/>
                  </a:lnTo>
                  <a:lnTo>
                    <a:pt x="1089" y="80"/>
                  </a:lnTo>
                  <a:lnTo>
                    <a:pt x="1024" y="51"/>
                  </a:lnTo>
                  <a:lnTo>
                    <a:pt x="955" y="28"/>
                  </a:lnTo>
                  <a:lnTo>
                    <a:pt x="885" y="12"/>
                  </a:lnTo>
                  <a:lnTo>
                    <a:pt x="812" y="3"/>
                  </a:lnTo>
                  <a:lnTo>
                    <a:pt x="756" y="0"/>
                  </a:lnTo>
                  <a:lnTo>
                    <a:pt x="700" y="2"/>
                  </a:lnTo>
                  <a:lnTo>
                    <a:pt x="624" y="9"/>
                  </a:lnTo>
                  <a:lnTo>
                    <a:pt x="549" y="25"/>
                  </a:lnTo>
                  <a:lnTo>
                    <a:pt x="477" y="49"/>
                  </a:lnTo>
                  <a:lnTo>
                    <a:pt x="408" y="80"/>
                  </a:lnTo>
                  <a:lnTo>
                    <a:pt x="342" y="118"/>
                  </a:lnTo>
                  <a:lnTo>
                    <a:pt x="280" y="162"/>
                  </a:lnTo>
                  <a:lnTo>
                    <a:pt x="223" y="212"/>
                  </a:lnTo>
                  <a:lnTo>
                    <a:pt x="171" y="268"/>
                  </a:lnTo>
                  <a:lnTo>
                    <a:pt x="125" y="328"/>
                  </a:lnTo>
                  <a:lnTo>
                    <a:pt x="86" y="393"/>
                  </a:lnTo>
                  <a:lnTo>
                    <a:pt x="53" y="462"/>
                  </a:lnTo>
                  <a:lnTo>
                    <a:pt x="29" y="534"/>
                  </a:lnTo>
                  <a:lnTo>
                    <a:pt x="13" y="610"/>
                  </a:lnTo>
                  <a:lnTo>
                    <a:pt x="0" y="719"/>
                  </a:lnTo>
                  <a:lnTo>
                    <a:pt x="1" y="772"/>
                  </a:lnTo>
                  <a:lnTo>
                    <a:pt x="16" y="880"/>
                  </a:lnTo>
                  <a:lnTo>
                    <a:pt x="32" y="948"/>
                  </a:lnTo>
                  <a:lnTo>
                    <a:pt x="61" y="1023"/>
                  </a:lnTo>
                  <a:lnTo>
                    <a:pt x="99" y="1097"/>
                  </a:lnTo>
                  <a:lnTo>
                    <a:pt x="142" y="1165"/>
                  </a:lnTo>
                  <a:lnTo>
                    <a:pt x="187" y="1217"/>
                  </a:lnTo>
                  <a:lnTo>
                    <a:pt x="265" y="1295"/>
                  </a:lnTo>
                  <a:lnTo>
                    <a:pt x="333" y="1344"/>
                  </a:lnTo>
                  <a:lnTo>
                    <a:pt x="397" y="1382"/>
                  </a:lnTo>
                  <a:lnTo>
                    <a:pt x="463" y="1412"/>
                  </a:lnTo>
                  <a:lnTo>
                    <a:pt x="533" y="1436"/>
                  </a:lnTo>
                  <a:lnTo>
                    <a:pt x="614" y="1458"/>
                  </a:lnTo>
                  <a:lnTo>
                    <a:pt x="670" y="1462"/>
                  </a:lnTo>
                  <a:lnTo>
                    <a:pt x="724" y="1466"/>
                  </a:lnTo>
                  <a:lnTo>
                    <a:pt x="857" y="1460"/>
                  </a:lnTo>
                  <a:lnTo>
                    <a:pt x="932" y="1446"/>
                  </a:lnTo>
                  <a:lnTo>
                    <a:pt x="1006" y="1424"/>
                  </a:lnTo>
                  <a:lnTo>
                    <a:pt x="1076" y="1395"/>
                  </a:lnTo>
                  <a:lnTo>
                    <a:pt x="1142" y="1359"/>
                  </a:lnTo>
                  <a:lnTo>
                    <a:pt x="1205" y="1316"/>
                  </a:lnTo>
                  <a:lnTo>
                    <a:pt x="1262" y="1268"/>
                  </a:lnTo>
                  <a:lnTo>
                    <a:pt x="1315" y="1214"/>
                  </a:lnTo>
                  <a:lnTo>
                    <a:pt x="1362" y="1154"/>
                  </a:lnTo>
                  <a:lnTo>
                    <a:pt x="1403" y="1090"/>
                  </a:lnTo>
                  <a:lnTo>
                    <a:pt x="1436" y="1022"/>
                  </a:lnTo>
                  <a:lnTo>
                    <a:pt x="1463" y="950"/>
                  </a:lnTo>
                  <a:lnTo>
                    <a:pt x="1482" y="874"/>
                  </a:lnTo>
                  <a:lnTo>
                    <a:pt x="1494" y="765"/>
                  </a:lnTo>
                  <a:lnTo>
                    <a:pt x="1496" y="735"/>
                  </a:lnTo>
                  <a:close/>
                </a:path>
              </a:pathLst>
            </a:custGeom>
            <a:noFill/>
            <a:ln w="9525" cap="flat" cmpd="sng">
              <a:solidFill>
                <a:srgbClr val="00AEEF"/>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48" name="Google Shape;353;p29">
              <a:extLst>
                <a:ext uri="{FF2B5EF4-FFF2-40B4-BE49-F238E27FC236}">
                  <a16:creationId xmlns:a16="http://schemas.microsoft.com/office/drawing/2014/main" id="{FA9EEE3E-7A06-4696-4972-D081CE5762C1}"/>
                </a:ext>
              </a:extLst>
            </p:cNvPr>
            <p:cNvCxnSpPr>
              <a:cxnSpLocks noChangeShapeType="1"/>
            </p:cNvCxnSpPr>
            <p:nvPr/>
          </p:nvCxnSpPr>
          <p:spPr bwMode="auto">
            <a:xfrm>
              <a:off x="9391" y="2116"/>
              <a:ext cx="0" cy="2"/>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49" name="Google Shape;354;p29">
              <a:extLst>
                <a:ext uri="{FF2B5EF4-FFF2-40B4-BE49-F238E27FC236}">
                  <a16:creationId xmlns:a16="http://schemas.microsoft.com/office/drawing/2014/main" id="{982ECD65-55F5-9ACB-CAAE-8C91D001AF65}"/>
                </a:ext>
              </a:extLst>
            </p:cNvPr>
            <p:cNvCxnSpPr>
              <a:cxnSpLocks noChangeShapeType="1"/>
            </p:cNvCxnSpPr>
            <p:nvPr/>
          </p:nvCxnSpPr>
          <p:spPr bwMode="auto">
            <a:xfrm>
              <a:off x="8988" y="2377"/>
              <a:ext cx="0" cy="1"/>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50" name="Google Shape;355;p29">
              <a:extLst>
                <a:ext uri="{FF2B5EF4-FFF2-40B4-BE49-F238E27FC236}">
                  <a16:creationId xmlns:a16="http://schemas.microsoft.com/office/drawing/2014/main" id="{C72A188E-F23F-B78D-662D-9140678CCD7B}"/>
                </a:ext>
              </a:extLst>
            </p:cNvPr>
            <p:cNvCxnSpPr>
              <a:cxnSpLocks noChangeShapeType="1"/>
            </p:cNvCxnSpPr>
            <p:nvPr/>
          </p:nvCxnSpPr>
          <p:spPr bwMode="auto">
            <a:xfrm>
              <a:off x="7383" y="908"/>
              <a:ext cx="1011" cy="0"/>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pic>
          <p:nvPicPr>
            <p:cNvPr id="51" name="Google Shape;356;p29">
              <a:extLst>
                <a:ext uri="{FF2B5EF4-FFF2-40B4-BE49-F238E27FC236}">
                  <a16:creationId xmlns:a16="http://schemas.microsoft.com/office/drawing/2014/main" id="{63325103-3D9F-54D1-3613-901F313B91D0}"/>
                </a:ext>
              </a:extLst>
            </p:cNvPr>
            <p:cNvPicPr preferRelativeResize="0">
              <a:picLocks noChangeAspect="1" noChangeArrowheads="1"/>
            </p:cNvPicPr>
            <p:nvPr/>
          </p:nvPicPr>
          <p:blipFill>
            <a:blip r:embed="R27379f45e5b949cb">
              <a:extLst>
                <a:ext uri="{28A0092B-C50C-407E-A947-70E740481C1C}">
                  <a14:useLocalDpi xmlns:a14="http://schemas.microsoft.com/office/drawing/2010/main" val="0"/>
                </a:ext>
              </a:extLst>
            </a:blip>
            <a:srcRect/>
            <a:stretch>
              <a:fillRect/>
            </a:stretch>
          </p:blipFill>
          <p:spPr bwMode="auto">
            <a:xfrm>
              <a:off x="6260" y="1130"/>
              <a:ext cx="127"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Google Shape;357;p29">
              <a:extLst>
                <a:ext uri="{FF2B5EF4-FFF2-40B4-BE49-F238E27FC236}">
                  <a16:creationId xmlns:a16="http://schemas.microsoft.com/office/drawing/2014/main" id="{A8A9AAC3-F213-1672-00EC-3EB0A3B7B9A2}"/>
                </a:ext>
              </a:extLst>
            </p:cNvPr>
            <p:cNvPicPr preferRelativeResize="0">
              <a:picLocks noChangeAspect="1" noChangeArrowheads="1"/>
            </p:cNvPicPr>
            <p:nvPr/>
          </p:nvPicPr>
          <p:blipFill>
            <a:blip r:embed="R8168eb03a14b4ec0">
              <a:extLst>
                <a:ext uri="{28A0092B-C50C-407E-A947-70E740481C1C}">
                  <a14:useLocalDpi xmlns:a14="http://schemas.microsoft.com/office/drawing/2010/main" val="0"/>
                </a:ext>
              </a:extLst>
            </a:blip>
            <a:srcRect/>
            <a:stretch>
              <a:fillRect/>
            </a:stretch>
          </p:blipFill>
          <p:spPr bwMode="auto">
            <a:xfrm>
              <a:off x="4664" y="943"/>
              <a:ext cx="1652"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3" name="Google Shape;358;p29">
              <a:extLst>
                <a:ext uri="{FF2B5EF4-FFF2-40B4-BE49-F238E27FC236}">
                  <a16:creationId xmlns:a16="http://schemas.microsoft.com/office/drawing/2014/main" id="{4E64C1F4-3FD8-B675-01B3-6EDAD9E8728E}"/>
                </a:ext>
              </a:extLst>
            </p:cNvPr>
            <p:cNvCxnSpPr>
              <a:cxnSpLocks noChangeShapeType="1"/>
            </p:cNvCxnSpPr>
            <p:nvPr/>
          </p:nvCxnSpPr>
          <p:spPr bwMode="auto">
            <a:xfrm>
              <a:off x="5373" y="859"/>
              <a:ext cx="0" cy="99"/>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sp>
          <p:nvSpPr>
            <p:cNvPr id="54" name="Google Shape;359;p29">
              <a:extLst>
                <a:ext uri="{FF2B5EF4-FFF2-40B4-BE49-F238E27FC236}">
                  <a16:creationId xmlns:a16="http://schemas.microsoft.com/office/drawing/2014/main" id="{C3EBD182-D6A0-A7F8-F63E-5A32816A8E6A}"/>
                </a:ext>
              </a:extLst>
            </p:cNvPr>
            <p:cNvSpPr>
              <a:spLocks/>
            </p:cNvSpPr>
            <p:nvPr/>
          </p:nvSpPr>
          <p:spPr bwMode="auto">
            <a:xfrm>
              <a:off x="4700" y="2208"/>
              <a:ext cx="71" cy="81"/>
            </a:xfrm>
            <a:custGeom>
              <a:avLst/>
              <a:gdLst>
                <a:gd name="T0" fmla="*/ 58 w 71"/>
                <a:gd name="T1" fmla="*/ 0 h 81"/>
                <a:gd name="T2" fmla="*/ 44 w 71"/>
                <a:gd name="T3" fmla="*/ 0 h 81"/>
                <a:gd name="T4" fmla="*/ 36 w 71"/>
                <a:gd name="T5" fmla="*/ 3 h 81"/>
                <a:gd name="T6" fmla="*/ 19 w 71"/>
                <a:gd name="T7" fmla="*/ 13 h 81"/>
                <a:gd name="T8" fmla="*/ 13 w 71"/>
                <a:gd name="T9" fmla="*/ 20 h 81"/>
                <a:gd name="T10" fmla="*/ 2 w 71"/>
                <a:gd name="T11" fmla="*/ 38 h 81"/>
                <a:gd name="T12" fmla="*/ 0 w 71"/>
                <a:gd name="T13" fmla="*/ 46 h 81"/>
                <a:gd name="T14" fmla="*/ 0 w 71"/>
                <a:gd name="T15" fmla="*/ 62 h 81"/>
                <a:gd name="T16" fmla="*/ 2 w 71"/>
                <a:gd name="T17" fmla="*/ 68 h 81"/>
                <a:gd name="T18" fmla="*/ 10 w 71"/>
                <a:gd name="T19" fmla="*/ 78 h 81"/>
                <a:gd name="T20" fmla="*/ 17 w 71"/>
                <a:gd name="T21" fmla="*/ 81 h 81"/>
                <a:gd name="T22" fmla="*/ 25 w 71"/>
                <a:gd name="T23" fmla="*/ 81 h 81"/>
                <a:gd name="T24" fmla="*/ 34 w 71"/>
                <a:gd name="T25" fmla="*/ 80 h 81"/>
                <a:gd name="T26" fmla="*/ 44 w 71"/>
                <a:gd name="T27" fmla="*/ 76 h 81"/>
                <a:gd name="T28" fmla="*/ 50 w 71"/>
                <a:gd name="T29" fmla="*/ 72 h 81"/>
                <a:gd name="T30" fmla="*/ 28 w 71"/>
                <a:gd name="T31" fmla="*/ 72 h 81"/>
                <a:gd name="T32" fmla="*/ 24 w 71"/>
                <a:gd name="T33" fmla="*/ 70 h 81"/>
                <a:gd name="T34" fmla="*/ 16 w 71"/>
                <a:gd name="T35" fmla="*/ 63 h 81"/>
                <a:gd name="T36" fmla="*/ 15 w 71"/>
                <a:gd name="T37" fmla="*/ 58 h 81"/>
                <a:gd name="T38" fmla="*/ 15 w 71"/>
                <a:gd name="T39" fmla="*/ 49 h 81"/>
                <a:gd name="T40" fmla="*/ 15 w 71"/>
                <a:gd name="T41" fmla="*/ 46 h 81"/>
                <a:gd name="T42" fmla="*/ 27 w 71"/>
                <a:gd name="T43" fmla="*/ 45 h 81"/>
                <a:gd name="T44" fmla="*/ 36 w 71"/>
                <a:gd name="T45" fmla="*/ 43 h 81"/>
                <a:gd name="T46" fmla="*/ 39 w 71"/>
                <a:gd name="T47" fmla="*/ 42 h 81"/>
                <a:gd name="T48" fmla="*/ 16 w 71"/>
                <a:gd name="T49" fmla="*/ 42 h 81"/>
                <a:gd name="T50" fmla="*/ 19 w 71"/>
                <a:gd name="T51" fmla="*/ 30 h 81"/>
                <a:gd name="T52" fmla="*/ 24 w 71"/>
                <a:gd name="T53" fmla="*/ 20 h 81"/>
                <a:gd name="T54" fmla="*/ 37 w 71"/>
                <a:gd name="T55" fmla="*/ 8 h 81"/>
                <a:gd name="T56" fmla="*/ 43 w 71"/>
                <a:gd name="T57" fmla="*/ 5 h 81"/>
                <a:gd name="T58" fmla="*/ 67 w 71"/>
                <a:gd name="T59" fmla="*/ 5 h 81"/>
                <a:gd name="T60" fmla="*/ 63 w 71"/>
                <a:gd name="T61" fmla="*/ 2 h 81"/>
                <a:gd name="T62" fmla="*/ 58 w 71"/>
                <a:gd name="T63" fmla="*/ 0 h 81"/>
                <a:gd name="T64" fmla="*/ 62 w 71"/>
                <a:gd name="T65" fmla="*/ 58 h 81"/>
                <a:gd name="T66" fmla="*/ 55 w 71"/>
                <a:gd name="T67" fmla="*/ 64 h 81"/>
                <a:gd name="T68" fmla="*/ 49 w 71"/>
                <a:gd name="T69" fmla="*/ 68 h 81"/>
                <a:gd name="T70" fmla="*/ 41 w 71"/>
                <a:gd name="T71" fmla="*/ 71 h 81"/>
                <a:gd name="T72" fmla="*/ 37 w 71"/>
                <a:gd name="T73" fmla="*/ 72 h 81"/>
                <a:gd name="T74" fmla="*/ 50 w 71"/>
                <a:gd name="T75" fmla="*/ 72 h 81"/>
                <a:gd name="T76" fmla="*/ 54 w 71"/>
                <a:gd name="T77" fmla="*/ 69 h 81"/>
                <a:gd name="T78" fmla="*/ 64 w 71"/>
                <a:gd name="T79" fmla="*/ 61 h 81"/>
                <a:gd name="T80" fmla="*/ 62 w 71"/>
                <a:gd name="T81" fmla="*/ 58 h 81"/>
                <a:gd name="T82" fmla="*/ 67 w 71"/>
                <a:gd name="T83" fmla="*/ 5 h 81"/>
                <a:gd name="T84" fmla="*/ 52 w 71"/>
                <a:gd name="T85" fmla="*/ 5 h 81"/>
                <a:gd name="T86" fmla="*/ 54 w 71"/>
                <a:gd name="T87" fmla="*/ 5 h 81"/>
                <a:gd name="T88" fmla="*/ 57 w 71"/>
                <a:gd name="T89" fmla="*/ 8 h 81"/>
                <a:gd name="T90" fmla="*/ 58 w 71"/>
                <a:gd name="T91" fmla="*/ 10 h 81"/>
                <a:gd name="T92" fmla="*/ 58 w 71"/>
                <a:gd name="T93" fmla="*/ 17 h 81"/>
                <a:gd name="T94" fmla="*/ 56 w 71"/>
                <a:gd name="T95" fmla="*/ 21 h 81"/>
                <a:gd name="T96" fmla="*/ 49 w 71"/>
                <a:gd name="T97" fmla="*/ 30 h 81"/>
                <a:gd name="T98" fmla="*/ 44 w 71"/>
                <a:gd name="T99" fmla="*/ 34 h 81"/>
                <a:gd name="T100" fmla="*/ 31 w 71"/>
                <a:gd name="T101" fmla="*/ 39 h 81"/>
                <a:gd name="T102" fmla="*/ 24 w 71"/>
                <a:gd name="T103" fmla="*/ 41 h 81"/>
                <a:gd name="T104" fmla="*/ 16 w 71"/>
                <a:gd name="T105" fmla="*/ 42 h 81"/>
                <a:gd name="T106" fmla="*/ 39 w 71"/>
                <a:gd name="T107" fmla="*/ 42 h 81"/>
                <a:gd name="T108" fmla="*/ 52 w 71"/>
                <a:gd name="T109" fmla="*/ 37 h 81"/>
                <a:gd name="T110" fmla="*/ 60 w 71"/>
                <a:gd name="T111" fmla="*/ 32 h 81"/>
                <a:gd name="T112" fmla="*/ 69 w 71"/>
                <a:gd name="T113" fmla="*/ 22 h 81"/>
                <a:gd name="T114" fmla="*/ 70 w 71"/>
                <a:gd name="T115" fmla="*/ 18 h 81"/>
                <a:gd name="T116" fmla="*/ 70 w 71"/>
                <a:gd name="T117" fmla="*/ 9 h 81"/>
                <a:gd name="T118" fmla="*/ 69 w 71"/>
                <a:gd name="T119" fmla="*/ 6 h 81"/>
                <a:gd name="T120" fmla="*/ 67 w 71"/>
                <a:gd name="T121" fmla="*/ 5 h 8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1" h="81" extrusionOk="0">
                  <a:moveTo>
                    <a:pt x="58" y="0"/>
                  </a:moveTo>
                  <a:lnTo>
                    <a:pt x="44" y="0"/>
                  </a:lnTo>
                  <a:lnTo>
                    <a:pt x="36" y="3"/>
                  </a:lnTo>
                  <a:lnTo>
                    <a:pt x="19" y="13"/>
                  </a:lnTo>
                  <a:lnTo>
                    <a:pt x="13" y="20"/>
                  </a:lnTo>
                  <a:lnTo>
                    <a:pt x="2" y="38"/>
                  </a:lnTo>
                  <a:lnTo>
                    <a:pt x="0" y="46"/>
                  </a:lnTo>
                  <a:lnTo>
                    <a:pt x="0" y="62"/>
                  </a:lnTo>
                  <a:lnTo>
                    <a:pt x="2" y="68"/>
                  </a:lnTo>
                  <a:lnTo>
                    <a:pt x="10" y="78"/>
                  </a:lnTo>
                  <a:lnTo>
                    <a:pt x="17" y="81"/>
                  </a:lnTo>
                  <a:lnTo>
                    <a:pt x="25" y="81"/>
                  </a:lnTo>
                  <a:lnTo>
                    <a:pt x="34" y="80"/>
                  </a:lnTo>
                  <a:lnTo>
                    <a:pt x="44" y="76"/>
                  </a:lnTo>
                  <a:lnTo>
                    <a:pt x="50" y="72"/>
                  </a:lnTo>
                  <a:lnTo>
                    <a:pt x="28" y="72"/>
                  </a:lnTo>
                  <a:lnTo>
                    <a:pt x="24" y="70"/>
                  </a:lnTo>
                  <a:lnTo>
                    <a:pt x="16" y="63"/>
                  </a:lnTo>
                  <a:lnTo>
                    <a:pt x="15" y="58"/>
                  </a:lnTo>
                  <a:lnTo>
                    <a:pt x="15" y="49"/>
                  </a:lnTo>
                  <a:lnTo>
                    <a:pt x="15" y="46"/>
                  </a:lnTo>
                  <a:lnTo>
                    <a:pt x="27" y="45"/>
                  </a:lnTo>
                  <a:lnTo>
                    <a:pt x="36" y="43"/>
                  </a:lnTo>
                  <a:lnTo>
                    <a:pt x="39" y="42"/>
                  </a:lnTo>
                  <a:lnTo>
                    <a:pt x="16" y="42"/>
                  </a:lnTo>
                  <a:lnTo>
                    <a:pt x="19" y="30"/>
                  </a:lnTo>
                  <a:lnTo>
                    <a:pt x="24" y="20"/>
                  </a:lnTo>
                  <a:lnTo>
                    <a:pt x="37" y="8"/>
                  </a:lnTo>
                  <a:lnTo>
                    <a:pt x="43" y="5"/>
                  </a:lnTo>
                  <a:lnTo>
                    <a:pt x="67" y="5"/>
                  </a:lnTo>
                  <a:lnTo>
                    <a:pt x="63" y="2"/>
                  </a:lnTo>
                  <a:lnTo>
                    <a:pt x="58" y="0"/>
                  </a:lnTo>
                  <a:close/>
                  <a:moveTo>
                    <a:pt x="62" y="58"/>
                  </a:moveTo>
                  <a:lnTo>
                    <a:pt x="55" y="64"/>
                  </a:lnTo>
                  <a:lnTo>
                    <a:pt x="49" y="68"/>
                  </a:lnTo>
                  <a:lnTo>
                    <a:pt x="41" y="71"/>
                  </a:lnTo>
                  <a:lnTo>
                    <a:pt x="37" y="72"/>
                  </a:lnTo>
                  <a:lnTo>
                    <a:pt x="50" y="72"/>
                  </a:lnTo>
                  <a:lnTo>
                    <a:pt x="54" y="69"/>
                  </a:lnTo>
                  <a:lnTo>
                    <a:pt x="64" y="61"/>
                  </a:lnTo>
                  <a:lnTo>
                    <a:pt x="62" y="58"/>
                  </a:lnTo>
                  <a:close/>
                  <a:moveTo>
                    <a:pt x="67" y="5"/>
                  </a:moveTo>
                  <a:lnTo>
                    <a:pt x="52" y="5"/>
                  </a:lnTo>
                  <a:lnTo>
                    <a:pt x="54" y="5"/>
                  </a:lnTo>
                  <a:lnTo>
                    <a:pt x="57" y="8"/>
                  </a:lnTo>
                  <a:lnTo>
                    <a:pt x="58" y="10"/>
                  </a:lnTo>
                  <a:lnTo>
                    <a:pt x="58" y="17"/>
                  </a:lnTo>
                  <a:lnTo>
                    <a:pt x="56" y="21"/>
                  </a:lnTo>
                  <a:lnTo>
                    <a:pt x="49" y="30"/>
                  </a:lnTo>
                  <a:lnTo>
                    <a:pt x="44" y="34"/>
                  </a:lnTo>
                  <a:lnTo>
                    <a:pt x="31" y="39"/>
                  </a:lnTo>
                  <a:lnTo>
                    <a:pt x="24" y="41"/>
                  </a:lnTo>
                  <a:lnTo>
                    <a:pt x="16" y="42"/>
                  </a:lnTo>
                  <a:lnTo>
                    <a:pt x="39" y="42"/>
                  </a:lnTo>
                  <a:lnTo>
                    <a:pt x="52" y="37"/>
                  </a:lnTo>
                  <a:lnTo>
                    <a:pt x="60" y="32"/>
                  </a:lnTo>
                  <a:lnTo>
                    <a:pt x="69" y="22"/>
                  </a:lnTo>
                  <a:lnTo>
                    <a:pt x="70" y="18"/>
                  </a:lnTo>
                  <a:lnTo>
                    <a:pt x="70" y="9"/>
                  </a:lnTo>
                  <a:lnTo>
                    <a:pt x="69" y="6"/>
                  </a:lnTo>
                  <a:lnTo>
                    <a:pt x="67" y="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pic>
          <p:nvPicPr>
            <p:cNvPr id="55" name="Google Shape;360;p29">
              <a:extLst>
                <a:ext uri="{FF2B5EF4-FFF2-40B4-BE49-F238E27FC236}">
                  <a16:creationId xmlns:a16="http://schemas.microsoft.com/office/drawing/2014/main" id="{0BC28C06-B45E-F0B1-CA5E-EFEA0C1743F6}"/>
                </a:ext>
              </a:extLst>
            </p:cNvPr>
            <p:cNvPicPr preferRelativeResize="0">
              <a:picLocks noChangeAspect="1" noChangeArrowheads="1"/>
            </p:cNvPicPr>
            <p:nvPr/>
          </p:nvPicPr>
          <p:blipFill>
            <a:blip r:embed="Rbab539255d4c42e1">
              <a:extLst>
                <a:ext uri="{28A0092B-C50C-407E-A947-70E740481C1C}">
                  <a14:useLocalDpi xmlns:a14="http://schemas.microsoft.com/office/drawing/2010/main" val="0"/>
                </a:ext>
              </a:extLst>
            </a:blip>
            <a:srcRect/>
            <a:stretch>
              <a:fillRect/>
            </a:stretch>
          </p:blipFill>
          <p:spPr bwMode="auto">
            <a:xfrm>
              <a:off x="5259" y="2413"/>
              <a:ext cx="144"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6" name="Google Shape;361;p29">
              <a:extLst>
                <a:ext uri="{FF2B5EF4-FFF2-40B4-BE49-F238E27FC236}">
                  <a16:creationId xmlns:a16="http://schemas.microsoft.com/office/drawing/2014/main" id="{242FD16F-C153-9C41-C4CE-55330BB10D54}"/>
                </a:ext>
              </a:extLst>
            </p:cNvPr>
            <p:cNvCxnSpPr>
              <a:cxnSpLocks noChangeShapeType="1"/>
            </p:cNvCxnSpPr>
            <p:nvPr/>
          </p:nvCxnSpPr>
          <p:spPr bwMode="auto">
            <a:xfrm>
              <a:off x="4811" y="2077"/>
              <a:ext cx="0" cy="68"/>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cxnSp>
          <p:nvCxnSpPr>
            <p:cNvPr id="57" name="Google Shape;362;p29">
              <a:extLst>
                <a:ext uri="{FF2B5EF4-FFF2-40B4-BE49-F238E27FC236}">
                  <a16:creationId xmlns:a16="http://schemas.microsoft.com/office/drawing/2014/main" id="{B1734513-41F0-4E7E-430A-96B5547DD204}"/>
                </a:ext>
              </a:extLst>
            </p:cNvPr>
            <p:cNvCxnSpPr>
              <a:cxnSpLocks noChangeShapeType="1"/>
            </p:cNvCxnSpPr>
            <p:nvPr/>
          </p:nvCxnSpPr>
          <p:spPr bwMode="auto">
            <a:xfrm>
              <a:off x="4779" y="2204"/>
              <a:ext cx="12" cy="0"/>
            </a:xfrm>
            <a:prstGeom prst="straightConnector1">
              <a:avLst/>
            </a:prstGeom>
            <a:noFill/>
            <a:ln w="9525">
              <a:solidFill>
                <a:srgbClr val="231F20"/>
              </a:solidFill>
              <a:miter lim="800000"/>
              <a:headEnd/>
              <a:tailEnd/>
            </a:ln>
            <a:extLst>
              <a:ext uri="{909E8E84-426E-40DD-AFC4-6F175D3DCCD1}">
                <a14:hiddenFill xmlns:a14="http://schemas.microsoft.com/office/drawing/2010/main">
                  <a:noFill/>
                </a14:hiddenFill>
              </a:ext>
            </a:extLst>
          </p:spPr>
        </p:cxnSp>
        <p:pic>
          <p:nvPicPr>
            <p:cNvPr id="58" name="Google Shape;363;p29">
              <a:extLst>
                <a:ext uri="{FF2B5EF4-FFF2-40B4-BE49-F238E27FC236}">
                  <a16:creationId xmlns:a16="http://schemas.microsoft.com/office/drawing/2014/main" id="{4D458666-BAAB-AE89-C636-2B5E30F85145}"/>
                </a:ext>
              </a:extLst>
            </p:cNvPr>
            <p:cNvPicPr preferRelativeResize="0">
              <a:picLocks noChangeAspect="1" noChangeArrowheads="1"/>
            </p:cNvPicPr>
            <p:nvPr/>
          </p:nvPicPr>
          <p:blipFill>
            <a:blip r:embed="Re2ba8c1b0cfd4095">
              <a:extLst>
                <a:ext uri="{28A0092B-C50C-407E-A947-70E740481C1C}">
                  <a14:useLocalDpi xmlns:a14="http://schemas.microsoft.com/office/drawing/2010/main" val="0"/>
                </a:ext>
              </a:extLst>
            </a:blip>
            <a:srcRect/>
            <a:stretch>
              <a:fillRect/>
            </a:stretch>
          </p:blipFill>
          <p:spPr bwMode="auto">
            <a:xfrm>
              <a:off x="5866" y="2076"/>
              <a:ext cx="127"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Google Shape;364;p29">
              <a:extLst>
                <a:ext uri="{FF2B5EF4-FFF2-40B4-BE49-F238E27FC236}">
                  <a16:creationId xmlns:a16="http://schemas.microsoft.com/office/drawing/2014/main" id="{B86C3DE3-E1A7-7BAB-1224-49E8CE0C18E7}"/>
                </a:ext>
              </a:extLst>
            </p:cNvPr>
            <p:cNvSpPr>
              <a:spLocks/>
            </p:cNvSpPr>
            <p:nvPr/>
          </p:nvSpPr>
          <p:spPr bwMode="auto">
            <a:xfrm>
              <a:off x="5375" y="687"/>
              <a:ext cx="79" cy="126"/>
            </a:xfrm>
            <a:custGeom>
              <a:avLst/>
              <a:gdLst>
                <a:gd name="T0" fmla="*/ 45 w 79"/>
                <a:gd name="T1" fmla="*/ 8 h 126"/>
                <a:gd name="T2" fmla="*/ 25 w 79"/>
                <a:gd name="T3" fmla="*/ 8 h 126"/>
                <a:gd name="T4" fmla="*/ 27 w 79"/>
                <a:gd name="T5" fmla="*/ 8 h 126"/>
                <a:gd name="T6" fmla="*/ 29 w 79"/>
                <a:gd name="T7" fmla="*/ 10 h 126"/>
                <a:gd name="T8" fmla="*/ 30 w 79"/>
                <a:gd name="T9" fmla="*/ 11 h 126"/>
                <a:gd name="T10" fmla="*/ 30 w 79"/>
                <a:gd name="T11" fmla="*/ 14 h 126"/>
                <a:gd name="T12" fmla="*/ 29 w 79"/>
                <a:gd name="T13" fmla="*/ 18 h 126"/>
                <a:gd name="T14" fmla="*/ 0 w 79"/>
                <a:gd name="T15" fmla="*/ 116 h 126"/>
                <a:gd name="T16" fmla="*/ 10 w 79"/>
                <a:gd name="T17" fmla="*/ 123 h 126"/>
                <a:gd name="T18" fmla="*/ 19 w 79"/>
                <a:gd name="T19" fmla="*/ 126 h 126"/>
                <a:gd name="T20" fmla="*/ 35 w 79"/>
                <a:gd name="T21" fmla="*/ 126 h 126"/>
                <a:gd name="T22" fmla="*/ 43 w 79"/>
                <a:gd name="T23" fmla="*/ 123 h 126"/>
                <a:gd name="T24" fmla="*/ 45 w 79"/>
                <a:gd name="T25" fmla="*/ 122 h 126"/>
                <a:gd name="T26" fmla="*/ 24 w 79"/>
                <a:gd name="T27" fmla="*/ 122 h 126"/>
                <a:gd name="T28" fmla="*/ 19 w 79"/>
                <a:gd name="T29" fmla="*/ 120 h 126"/>
                <a:gd name="T30" fmla="*/ 14 w 79"/>
                <a:gd name="T31" fmla="*/ 117 h 126"/>
                <a:gd name="T32" fmla="*/ 25 w 79"/>
                <a:gd name="T33" fmla="*/ 78 h 126"/>
                <a:gd name="T34" fmla="*/ 27 w 79"/>
                <a:gd name="T35" fmla="*/ 70 h 126"/>
                <a:gd name="T36" fmla="*/ 31 w 79"/>
                <a:gd name="T37" fmla="*/ 64 h 126"/>
                <a:gd name="T38" fmla="*/ 35 w 79"/>
                <a:gd name="T39" fmla="*/ 60 h 126"/>
                <a:gd name="T40" fmla="*/ 30 w 79"/>
                <a:gd name="T41" fmla="*/ 60 h 126"/>
                <a:gd name="T42" fmla="*/ 45 w 79"/>
                <a:gd name="T43" fmla="*/ 8 h 126"/>
                <a:gd name="T44" fmla="*/ 75 w 79"/>
                <a:gd name="T45" fmla="*/ 53 h 126"/>
                <a:gd name="T46" fmla="*/ 55 w 79"/>
                <a:gd name="T47" fmla="*/ 53 h 126"/>
                <a:gd name="T48" fmla="*/ 58 w 79"/>
                <a:gd name="T49" fmla="*/ 55 h 126"/>
                <a:gd name="T50" fmla="*/ 61 w 79"/>
                <a:gd name="T51" fmla="*/ 58 h 126"/>
                <a:gd name="T52" fmla="*/ 64 w 79"/>
                <a:gd name="T53" fmla="*/ 61 h 126"/>
                <a:gd name="T54" fmla="*/ 65 w 79"/>
                <a:gd name="T55" fmla="*/ 65 h 126"/>
                <a:gd name="T56" fmla="*/ 65 w 79"/>
                <a:gd name="T57" fmla="*/ 79 h 126"/>
                <a:gd name="T58" fmla="*/ 63 w 79"/>
                <a:gd name="T59" fmla="*/ 88 h 126"/>
                <a:gd name="T60" fmla="*/ 55 w 79"/>
                <a:gd name="T61" fmla="*/ 106 h 126"/>
                <a:gd name="T62" fmla="*/ 50 w 79"/>
                <a:gd name="T63" fmla="*/ 112 h 126"/>
                <a:gd name="T64" fmla="*/ 39 w 79"/>
                <a:gd name="T65" fmla="*/ 120 h 126"/>
                <a:gd name="T66" fmla="*/ 34 w 79"/>
                <a:gd name="T67" fmla="*/ 122 h 126"/>
                <a:gd name="T68" fmla="*/ 45 w 79"/>
                <a:gd name="T69" fmla="*/ 122 h 126"/>
                <a:gd name="T70" fmla="*/ 59 w 79"/>
                <a:gd name="T71" fmla="*/ 113 h 126"/>
                <a:gd name="T72" fmla="*/ 66 w 79"/>
                <a:gd name="T73" fmla="*/ 106 h 126"/>
                <a:gd name="T74" fmla="*/ 71 w 79"/>
                <a:gd name="T75" fmla="*/ 96 h 126"/>
                <a:gd name="T76" fmla="*/ 77 w 79"/>
                <a:gd name="T77" fmla="*/ 87 h 126"/>
                <a:gd name="T78" fmla="*/ 79 w 79"/>
                <a:gd name="T79" fmla="*/ 78 h 126"/>
                <a:gd name="T80" fmla="*/ 79 w 79"/>
                <a:gd name="T81" fmla="*/ 61 h 126"/>
                <a:gd name="T82" fmla="*/ 77 w 79"/>
                <a:gd name="T83" fmla="*/ 56 h 126"/>
                <a:gd name="T84" fmla="*/ 75 w 79"/>
                <a:gd name="T85" fmla="*/ 53 h 126"/>
                <a:gd name="T86" fmla="*/ 64 w 79"/>
                <a:gd name="T87" fmla="*/ 45 h 126"/>
                <a:gd name="T88" fmla="*/ 53 w 79"/>
                <a:gd name="T89" fmla="*/ 45 h 126"/>
                <a:gd name="T90" fmla="*/ 49 w 79"/>
                <a:gd name="T91" fmla="*/ 46 h 126"/>
                <a:gd name="T92" fmla="*/ 40 w 79"/>
                <a:gd name="T93" fmla="*/ 50 h 126"/>
                <a:gd name="T94" fmla="*/ 36 w 79"/>
                <a:gd name="T95" fmla="*/ 54 h 126"/>
                <a:gd name="T96" fmla="*/ 30 w 79"/>
                <a:gd name="T97" fmla="*/ 60 h 126"/>
                <a:gd name="T98" fmla="*/ 35 w 79"/>
                <a:gd name="T99" fmla="*/ 60 h 126"/>
                <a:gd name="T100" fmla="*/ 41 w 79"/>
                <a:gd name="T101" fmla="*/ 56 h 126"/>
                <a:gd name="T102" fmla="*/ 46 w 79"/>
                <a:gd name="T103" fmla="*/ 53 h 126"/>
                <a:gd name="T104" fmla="*/ 75 w 79"/>
                <a:gd name="T105" fmla="*/ 53 h 126"/>
                <a:gd name="T106" fmla="*/ 69 w 79"/>
                <a:gd name="T107" fmla="*/ 47 h 126"/>
                <a:gd name="T108" fmla="*/ 64 w 79"/>
                <a:gd name="T109" fmla="*/ 45 h 126"/>
                <a:gd name="T110" fmla="*/ 47 w 79"/>
                <a:gd name="T111" fmla="*/ 0 h 126"/>
                <a:gd name="T112" fmla="*/ 17 w 79"/>
                <a:gd name="T113" fmla="*/ 5 h 126"/>
                <a:gd name="T114" fmla="*/ 17 w 79"/>
                <a:gd name="T115" fmla="*/ 8 h 126"/>
                <a:gd name="T116" fmla="*/ 20 w 79"/>
                <a:gd name="T117" fmla="*/ 8 h 126"/>
                <a:gd name="T118" fmla="*/ 21 w 79"/>
                <a:gd name="T119" fmla="*/ 8 h 126"/>
                <a:gd name="T120" fmla="*/ 45 w 79"/>
                <a:gd name="T121" fmla="*/ 8 h 126"/>
                <a:gd name="T122" fmla="*/ 47 w 79"/>
                <a:gd name="T123" fmla="*/ 0 h 12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9" h="126" extrusionOk="0">
                  <a:moveTo>
                    <a:pt x="45" y="8"/>
                  </a:moveTo>
                  <a:lnTo>
                    <a:pt x="25" y="8"/>
                  </a:lnTo>
                  <a:lnTo>
                    <a:pt x="27" y="8"/>
                  </a:lnTo>
                  <a:lnTo>
                    <a:pt x="29" y="10"/>
                  </a:lnTo>
                  <a:lnTo>
                    <a:pt x="30" y="11"/>
                  </a:lnTo>
                  <a:lnTo>
                    <a:pt x="30" y="14"/>
                  </a:lnTo>
                  <a:lnTo>
                    <a:pt x="29" y="18"/>
                  </a:lnTo>
                  <a:lnTo>
                    <a:pt x="0" y="116"/>
                  </a:lnTo>
                  <a:lnTo>
                    <a:pt x="10" y="123"/>
                  </a:lnTo>
                  <a:lnTo>
                    <a:pt x="19" y="126"/>
                  </a:lnTo>
                  <a:lnTo>
                    <a:pt x="35" y="126"/>
                  </a:lnTo>
                  <a:lnTo>
                    <a:pt x="43" y="123"/>
                  </a:lnTo>
                  <a:lnTo>
                    <a:pt x="45" y="122"/>
                  </a:lnTo>
                  <a:lnTo>
                    <a:pt x="24" y="122"/>
                  </a:lnTo>
                  <a:lnTo>
                    <a:pt x="19" y="120"/>
                  </a:lnTo>
                  <a:lnTo>
                    <a:pt x="14" y="117"/>
                  </a:lnTo>
                  <a:lnTo>
                    <a:pt x="25" y="78"/>
                  </a:lnTo>
                  <a:lnTo>
                    <a:pt x="27" y="70"/>
                  </a:lnTo>
                  <a:lnTo>
                    <a:pt x="31" y="64"/>
                  </a:lnTo>
                  <a:lnTo>
                    <a:pt x="35" y="60"/>
                  </a:lnTo>
                  <a:lnTo>
                    <a:pt x="30" y="60"/>
                  </a:lnTo>
                  <a:lnTo>
                    <a:pt x="45" y="8"/>
                  </a:lnTo>
                  <a:close/>
                  <a:moveTo>
                    <a:pt x="75" y="53"/>
                  </a:moveTo>
                  <a:lnTo>
                    <a:pt x="55" y="53"/>
                  </a:lnTo>
                  <a:lnTo>
                    <a:pt x="58" y="55"/>
                  </a:lnTo>
                  <a:lnTo>
                    <a:pt x="61" y="58"/>
                  </a:lnTo>
                  <a:lnTo>
                    <a:pt x="64" y="61"/>
                  </a:lnTo>
                  <a:lnTo>
                    <a:pt x="65" y="65"/>
                  </a:lnTo>
                  <a:lnTo>
                    <a:pt x="65" y="79"/>
                  </a:lnTo>
                  <a:lnTo>
                    <a:pt x="63" y="88"/>
                  </a:lnTo>
                  <a:lnTo>
                    <a:pt x="55" y="106"/>
                  </a:lnTo>
                  <a:lnTo>
                    <a:pt x="50" y="112"/>
                  </a:lnTo>
                  <a:lnTo>
                    <a:pt x="39" y="120"/>
                  </a:lnTo>
                  <a:lnTo>
                    <a:pt x="34" y="122"/>
                  </a:lnTo>
                  <a:lnTo>
                    <a:pt x="45" y="122"/>
                  </a:lnTo>
                  <a:lnTo>
                    <a:pt x="59" y="113"/>
                  </a:lnTo>
                  <a:lnTo>
                    <a:pt x="66" y="106"/>
                  </a:lnTo>
                  <a:lnTo>
                    <a:pt x="71" y="96"/>
                  </a:lnTo>
                  <a:lnTo>
                    <a:pt x="77" y="87"/>
                  </a:lnTo>
                  <a:lnTo>
                    <a:pt x="79" y="78"/>
                  </a:lnTo>
                  <a:lnTo>
                    <a:pt x="79" y="61"/>
                  </a:lnTo>
                  <a:lnTo>
                    <a:pt x="77" y="56"/>
                  </a:lnTo>
                  <a:lnTo>
                    <a:pt x="75" y="53"/>
                  </a:lnTo>
                  <a:close/>
                  <a:moveTo>
                    <a:pt x="64" y="45"/>
                  </a:moveTo>
                  <a:lnTo>
                    <a:pt x="53" y="45"/>
                  </a:lnTo>
                  <a:lnTo>
                    <a:pt x="49" y="46"/>
                  </a:lnTo>
                  <a:lnTo>
                    <a:pt x="40" y="50"/>
                  </a:lnTo>
                  <a:lnTo>
                    <a:pt x="36" y="54"/>
                  </a:lnTo>
                  <a:lnTo>
                    <a:pt x="30" y="60"/>
                  </a:lnTo>
                  <a:lnTo>
                    <a:pt x="35" y="60"/>
                  </a:lnTo>
                  <a:lnTo>
                    <a:pt x="41" y="56"/>
                  </a:lnTo>
                  <a:lnTo>
                    <a:pt x="46" y="53"/>
                  </a:lnTo>
                  <a:lnTo>
                    <a:pt x="75" y="53"/>
                  </a:lnTo>
                  <a:lnTo>
                    <a:pt x="69" y="47"/>
                  </a:lnTo>
                  <a:lnTo>
                    <a:pt x="64" y="45"/>
                  </a:lnTo>
                  <a:close/>
                  <a:moveTo>
                    <a:pt x="47" y="0"/>
                  </a:moveTo>
                  <a:lnTo>
                    <a:pt x="17" y="5"/>
                  </a:lnTo>
                  <a:lnTo>
                    <a:pt x="17" y="8"/>
                  </a:lnTo>
                  <a:lnTo>
                    <a:pt x="20" y="8"/>
                  </a:lnTo>
                  <a:lnTo>
                    <a:pt x="21" y="8"/>
                  </a:lnTo>
                  <a:lnTo>
                    <a:pt x="45" y="8"/>
                  </a:lnTo>
                  <a:lnTo>
                    <a:pt x="47"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pic>
          <p:nvPicPr>
            <p:cNvPr id="60" name="Google Shape;365;p29">
              <a:extLst>
                <a:ext uri="{FF2B5EF4-FFF2-40B4-BE49-F238E27FC236}">
                  <a16:creationId xmlns:a16="http://schemas.microsoft.com/office/drawing/2014/main" id="{4AC4D0A2-F795-59BE-D0B9-1D9A7689D921}"/>
                </a:ext>
              </a:extLst>
            </p:cNvPr>
            <p:cNvPicPr preferRelativeResize="0">
              <a:picLocks noChangeAspect="1" noChangeArrowheads="1"/>
            </p:cNvPicPr>
            <p:nvPr/>
          </p:nvPicPr>
          <p:blipFill>
            <a:blip r:embed="R0d41277ca3684e9d">
              <a:extLst>
                <a:ext uri="{28A0092B-C50C-407E-A947-70E740481C1C}">
                  <a14:useLocalDpi xmlns:a14="http://schemas.microsoft.com/office/drawing/2010/main" val="0"/>
                </a:ext>
              </a:extLst>
            </a:blip>
            <a:srcRect/>
            <a:stretch>
              <a:fillRect/>
            </a:stretch>
          </p:blipFill>
          <p:spPr bwMode="auto">
            <a:xfrm>
              <a:off x="8228" y="1186"/>
              <a:ext cx="184"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1" name="Google Shape;366;p29">
              <a:extLst>
                <a:ext uri="{FF2B5EF4-FFF2-40B4-BE49-F238E27FC236}">
                  <a16:creationId xmlns:a16="http://schemas.microsoft.com/office/drawing/2014/main" id="{ADF30D0A-FFFD-58AF-A5BF-D0A32B8054BF}"/>
                </a:ext>
              </a:extLst>
            </p:cNvPr>
            <p:cNvCxnSpPr>
              <a:cxnSpLocks noChangeShapeType="1"/>
            </p:cNvCxnSpPr>
            <p:nvPr/>
          </p:nvCxnSpPr>
          <p:spPr bwMode="auto">
            <a:xfrm>
              <a:off x="8354" y="1393"/>
              <a:ext cx="0" cy="135"/>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sp>
          <p:nvSpPr>
            <p:cNvPr id="62" name="Google Shape;367;p29">
              <a:extLst>
                <a:ext uri="{FF2B5EF4-FFF2-40B4-BE49-F238E27FC236}">
                  <a16:creationId xmlns:a16="http://schemas.microsoft.com/office/drawing/2014/main" id="{04E8A514-F4FE-0FFF-0D00-DA2E4206C0F9}"/>
                </a:ext>
              </a:extLst>
            </p:cNvPr>
            <p:cNvSpPr>
              <a:spLocks/>
            </p:cNvSpPr>
            <p:nvPr/>
          </p:nvSpPr>
          <p:spPr bwMode="auto">
            <a:xfrm>
              <a:off x="8326" y="1528"/>
              <a:ext cx="56" cy="109"/>
            </a:xfrm>
            <a:custGeom>
              <a:avLst/>
              <a:gdLst>
                <a:gd name="T0" fmla="*/ 55 w 56"/>
                <a:gd name="T1" fmla="*/ 0 h 109"/>
                <a:gd name="T2" fmla="*/ 0 w 56"/>
                <a:gd name="T3" fmla="*/ 0 h 109"/>
                <a:gd name="T4" fmla="*/ 27 w 56"/>
                <a:gd name="T5" fmla="*/ 109 h 109"/>
                <a:gd name="T6" fmla="*/ 55 w 56"/>
                <a:gd name="T7" fmla="*/ 0 h 1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 h="109" extrusionOk="0">
                  <a:moveTo>
                    <a:pt x="55" y="0"/>
                  </a:moveTo>
                  <a:lnTo>
                    <a:pt x="0" y="0"/>
                  </a:lnTo>
                  <a:lnTo>
                    <a:pt x="27" y="109"/>
                  </a:lnTo>
                  <a:lnTo>
                    <a:pt x="55" y="0"/>
                  </a:lnTo>
                  <a:close/>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63" name="Google Shape;368;p29">
              <a:extLst>
                <a:ext uri="{FF2B5EF4-FFF2-40B4-BE49-F238E27FC236}">
                  <a16:creationId xmlns:a16="http://schemas.microsoft.com/office/drawing/2014/main" id="{0A3AC374-00B9-AC30-DADD-FBAC2293AAED}"/>
                </a:ext>
              </a:extLst>
            </p:cNvPr>
            <p:cNvSpPr>
              <a:spLocks/>
            </p:cNvSpPr>
            <p:nvPr/>
          </p:nvSpPr>
          <p:spPr bwMode="auto">
            <a:xfrm>
              <a:off x="8326" y="1528"/>
              <a:ext cx="56" cy="109"/>
            </a:xfrm>
            <a:custGeom>
              <a:avLst/>
              <a:gdLst>
                <a:gd name="T0" fmla="*/ 27 w 56"/>
                <a:gd name="T1" fmla="*/ 109 h 109"/>
                <a:gd name="T2" fmla="*/ 55 w 56"/>
                <a:gd name="T3" fmla="*/ 0 h 109"/>
                <a:gd name="T4" fmla="*/ 0 w 56"/>
                <a:gd name="T5" fmla="*/ 0 h 109"/>
                <a:gd name="T6" fmla="*/ 27 w 56"/>
                <a:gd name="T7" fmla="*/ 109 h 1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 h="109" extrusionOk="0">
                  <a:moveTo>
                    <a:pt x="27" y="109"/>
                  </a:moveTo>
                  <a:lnTo>
                    <a:pt x="55" y="0"/>
                  </a:lnTo>
                  <a:lnTo>
                    <a:pt x="0" y="0"/>
                  </a:lnTo>
                  <a:lnTo>
                    <a:pt x="27" y="109"/>
                  </a:lnTo>
                  <a:close/>
                </a:path>
              </a:pathLst>
            </a:custGeom>
            <a:noFill/>
            <a:ln w="9525" cap="flat" cmpd="sng">
              <a:solidFill>
                <a:srgbClr val="EC008C"/>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64" name="Google Shape;369;p29">
              <a:extLst>
                <a:ext uri="{FF2B5EF4-FFF2-40B4-BE49-F238E27FC236}">
                  <a16:creationId xmlns:a16="http://schemas.microsoft.com/office/drawing/2014/main" id="{E5699288-EADE-31A9-B6A6-A3B61973861E}"/>
                </a:ext>
              </a:extLst>
            </p:cNvPr>
            <p:cNvCxnSpPr>
              <a:cxnSpLocks noChangeShapeType="1"/>
            </p:cNvCxnSpPr>
            <p:nvPr/>
          </p:nvCxnSpPr>
          <p:spPr bwMode="auto">
            <a:xfrm>
              <a:off x="8354" y="1149"/>
              <a:ext cx="0" cy="0"/>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sp>
          <p:nvSpPr>
            <p:cNvPr id="65" name="Google Shape;370;p29">
              <a:extLst>
                <a:ext uri="{FF2B5EF4-FFF2-40B4-BE49-F238E27FC236}">
                  <a16:creationId xmlns:a16="http://schemas.microsoft.com/office/drawing/2014/main" id="{1E1F12FF-65C3-F83C-3BFE-115F6AB38944}"/>
                </a:ext>
              </a:extLst>
            </p:cNvPr>
            <p:cNvSpPr>
              <a:spLocks/>
            </p:cNvSpPr>
            <p:nvPr/>
          </p:nvSpPr>
          <p:spPr bwMode="auto">
            <a:xfrm>
              <a:off x="8326" y="906"/>
              <a:ext cx="56" cy="108"/>
            </a:xfrm>
            <a:custGeom>
              <a:avLst/>
              <a:gdLst>
                <a:gd name="T0" fmla="*/ 28 w 56"/>
                <a:gd name="T1" fmla="*/ 0 h 108"/>
                <a:gd name="T2" fmla="*/ 0 w 56"/>
                <a:gd name="T3" fmla="*/ 107 h 108"/>
                <a:gd name="T4" fmla="*/ 56 w 56"/>
                <a:gd name="T5" fmla="*/ 107 h 108"/>
                <a:gd name="T6" fmla="*/ 28 w 56"/>
                <a:gd name="T7" fmla="*/ 0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 h="108" extrusionOk="0">
                  <a:moveTo>
                    <a:pt x="28" y="0"/>
                  </a:moveTo>
                  <a:lnTo>
                    <a:pt x="0" y="107"/>
                  </a:lnTo>
                  <a:lnTo>
                    <a:pt x="56" y="107"/>
                  </a:lnTo>
                  <a:lnTo>
                    <a:pt x="28" y="0"/>
                  </a:lnTo>
                  <a:close/>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66" name="Google Shape;371;p29">
              <a:extLst>
                <a:ext uri="{FF2B5EF4-FFF2-40B4-BE49-F238E27FC236}">
                  <a16:creationId xmlns:a16="http://schemas.microsoft.com/office/drawing/2014/main" id="{6A3B8755-1C38-C6CC-1002-9F5DD00A3BD1}"/>
                </a:ext>
              </a:extLst>
            </p:cNvPr>
            <p:cNvSpPr>
              <a:spLocks/>
            </p:cNvSpPr>
            <p:nvPr/>
          </p:nvSpPr>
          <p:spPr bwMode="auto">
            <a:xfrm>
              <a:off x="8326" y="906"/>
              <a:ext cx="56" cy="108"/>
            </a:xfrm>
            <a:custGeom>
              <a:avLst/>
              <a:gdLst>
                <a:gd name="T0" fmla="*/ 28 w 56"/>
                <a:gd name="T1" fmla="*/ 0 h 108"/>
                <a:gd name="T2" fmla="*/ 0 w 56"/>
                <a:gd name="T3" fmla="*/ 107 h 108"/>
                <a:gd name="T4" fmla="*/ 56 w 56"/>
                <a:gd name="T5" fmla="*/ 107 h 108"/>
                <a:gd name="T6" fmla="*/ 28 w 56"/>
                <a:gd name="T7" fmla="*/ 0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 h="108" extrusionOk="0">
                  <a:moveTo>
                    <a:pt x="28" y="0"/>
                  </a:moveTo>
                  <a:lnTo>
                    <a:pt x="0" y="107"/>
                  </a:lnTo>
                  <a:lnTo>
                    <a:pt x="56" y="107"/>
                  </a:lnTo>
                  <a:lnTo>
                    <a:pt x="28" y="0"/>
                  </a:lnTo>
                  <a:close/>
                </a:path>
              </a:pathLst>
            </a:custGeom>
            <a:noFill/>
            <a:ln w="9525" cap="flat" cmpd="sng">
              <a:solidFill>
                <a:srgbClr val="EC008C"/>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67" name="Google Shape;372;p29">
              <a:extLst>
                <a:ext uri="{FF2B5EF4-FFF2-40B4-BE49-F238E27FC236}">
                  <a16:creationId xmlns:a16="http://schemas.microsoft.com/office/drawing/2014/main" id="{F773357B-B76E-1844-62E0-1404510046B2}"/>
                </a:ext>
              </a:extLst>
            </p:cNvPr>
            <p:cNvCxnSpPr>
              <a:cxnSpLocks noChangeShapeType="1"/>
            </p:cNvCxnSpPr>
            <p:nvPr/>
          </p:nvCxnSpPr>
          <p:spPr bwMode="auto">
            <a:xfrm>
              <a:off x="9777" y="1637"/>
              <a:ext cx="0" cy="1037"/>
            </a:xfrm>
            <a:prstGeom prst="straightConnector1">
              <a:avLst/>
            </a:prstGeom>
            <a:noFill/>
            <a:ln w="9525">
              <a:solidFill>
                <a:srgbClr val="00AEEF"/>
              </a:solidFill>
              <a:miter lim="800000"/>
              <a:headEnd/>
              <a:tailEnd/>
            </a:ln>
            <a:extLst>
              <a:ext uri="{909E8E84-426E-40DD-AFC4-6F175D3DCCD1}">
                <a14:hiddenFill xmlns:a14="http://schemas.microsoft.com/office/drawing/2010/main">
                  <a:noFill/>
                </a14:hiddenFill>
              </a:ext>
            </a:extLst>
          </p:spPr>
        </p:cxnSp>
        <p:sp>
          <p:nvSpPr>
            <p:cNvPr id="68" name="Google Shape;373;p29">
              <a:extLst>
                <a:ext uri="{FF2B5EF4-FFF2-40B4-BE49-F238E27FC236}">
                  <a16:creationId xmlns:a16="http://schemas.microsoft.com/office/drawing/2014/main" id="{FC4D89D0-F77D-A936-18FD-6E40086B34C8}"/>
                </a:ext>
              </a:extLst>
            </p:cNvPr>
            <p:cNvSpPr>
              <a:spLocks/>
            </p:cNvSpPr>
            <p:nvPr/>
          </p:nvSpPr>
          <p:spPr bwMode="auto">
            <a:xfrm>
              <a:off x="9816" y="1683"/>
              <a:ext cx="77" cy="123"/>
            </a:xfrm>
            <a:custGeom>
              <a:avLst/>
              <a:gdLst>
                <a:gd name="T0" fmla="*/ 48 w 77"/>
                <a:gd name="T1" fmla="*/ 0 h 123"/>
                <a:gd name="T2" fmla="*/ 33 w 77"/>
                <a:gd name="T3" fmla="*/ 0 h 123"/>
                <a:gd name="T4" fmla="*/ 28 w 77"/>
                <a:gd name="T5" fmla="*/ 1 h 123"/>
                <a:gd name="T6" fmla="*/ 22 w 77"/>
                <a:gd name="T7" fmla="*/ 5 h 123"/>
                <a:gd name="T8" fmla="*/ 16 w 77"/>
                <a:gd name="T9" fmla="*/ 10 h 123"/>
                <a:gd name="T10" fmla="*/ 10 w 77"/>
                <a:gd name="T11" fmla="*/ 17 h 123"/>
                <a:gd name="T12" fmla="*/ 2 w 77"/>
                <a:gd name="T13" fmla="*/ 37 h 123"/>
                <a:gd name="T14" fmla="*/ 0 w 77"/>
                <a:gd name="T15" fmla="*/ 48 h 123"/>
                <a:gd name="T16" fmla="*/ 0 w 77"/>
                <a:gd name="T17" fmla="*/ 64 h 123"/>
                <a:gd name="T18" fmla="*/ 1 w 77"/>
                <a:gd name="T19" fmla="*/ 73 h 123"/>
                <a:gd name="T20" fmla="*/ 3 w 77"/>
                <a:gd name="T21" fmla="*/ 83 h 123"/>
                <a:gd name="T22" fmla="*/ 6 w 77"/>
                <a:gd name="T23" fmla="*/ 93 h 123"/>
                <a:gd name="T24" fmla="*/ 10 w 77"/>
                <a:gd name="T25" fmla="*/ 102 h 123"/>
                <a:gd name="T26" fmla="*/ 17 w 77"/>
                <a:gd name="T27" fmla="*/ 115 h 123"/>
                <a:gd name="T28" fmla="*/ 27 w 77"/>
                <a:gd name="T29" fmla="*/ 122 h 123"/>
                <a:gd name="T30" fmla="*/ 43 w 77"/>
                <a:gd name="T31" fmla="*/ 122 h 123"/>
                <a:gd name="T32" fmla="*/ 49 w 77"/>
                <a:gd name="T33" fmla="*/ 120 h 123"/>
                <a:gd name="T34" fmla="*/ 54 w 77"/>
                <a:gd name="T35" fmla="*/ 116 h 123"/>
                <a:gd name="T36" fmla="*/ 31 w 77"/>
                <a:gd name="T37" fmla="*/ 116 h 123"/>
                <a:gd name="T38" fmla="*/ 27 w 77"/>
                <a:gd name="T39" fmla="*/ 112 h 123"/>
                <a:gd name="T40" fmla="*/ 23 w 77"/>
                <a:gd name="T41" fmla="*/ 103 h 123"/>
                <a:gd name="T42" fmla="*/ 21 w 77"/>
                <a:gd name="T43" fmla="*/ 95 h 123"/>
                <a:gd name="T44" fmla="*/ 19 w 77"/>
                <a:gd name="T45" fmla="*/ 86 h 123"/>
                <a:gd name="T46" fmla="*/ 18 w 77"/>
                <a:gd name="T47" fmla="*/ 75 h 123"/>
                <a:gd name="T48" fmla="*/ 17 w 77"/>
                <a:gd name="T49" fmla="*/ 69 h 123"/>
                <a:gd name="T50" fmla="*/ 17 w 77"/>
                <a:gd name="T51" fmla="*/ 54 h 123"/>
                <a:gd name="T52" fmla="*/ 18 w 77"/>
                <a:gd name="T53" fmla="*/ 44 h 123"/>
                <a:gd name="T54" fmla="*/ 21 w 77"/>
                <a:gd name="T55" fmla="*/ 23 h 123"/>
                <a:gd name="T56" fmla="*/ 24 w 77"/>
                <a:gd name="T57" fmla="*/ 15 h 123"/>
                <a:gd name="T58" fmla="*/ 31 w 77"/>
                <a:gd name="T59" fmla="*/ 7 h 123"/>
                <a:gd name="T60" fmla="*/ 35 w 77"/>
                <a:gd name="T61" fmla="*/ 5 h 123"/>
                <a:gd name="T62" fmla="*/ 57 w 77"/>
                <a:gd name="T63" fmla="*/ 5 h 123"/>
                <a:gd name="T64" fmla="*/ 56 w 77"/>
                <a:gd name="T65" fmla="*/ 4 h 123"/>
                <a:gd name="T66" fmla="*/ 48 w 77"/>
                <a:gd name="T67" fmla="*/ 0 h 123"/>
                <a:gd name="T68" fmla="*/ 57 w 77"/>
                <a:gd name="T69" fmla="*/ 5 h 123"/>
                <a:gd name="T70" fmla="*/ 42 w 77"/>
                <a:gd name="T71" fmla="*/ 5 h 123"/>
                <a:gd name="T72" fmla="*/ 45 w 77"/>
                <a:gd name="T73" fmla="*/ 6 h 123"/>
                <a:gd name="T74" fmla="*/ 47 w 77"/>
                <a:gd name="T75" fmla="*/ 8 h 123"/>
                <a:gd name="T76" fmla="*/ 50 w 77"/>
                <a:gd name="T77" fmla="*/ 11 h 123"/>
                <a:gd name="T78" fmla="*/ 53 w 77"/>
                <a:gd name="T79" fmla="*/ 16 h 123"/>
                <a:gd name="T80" fmla="*/ 58 w 77"/>
                <a:gd name="T81" fmla="*/ 31 h 123"/>
                <a:gd name="T82" fmla="*/ 59 w 77"/>
                <a:gd name="T83" fmla="*/ 43 h 123"/>
                <a:gd name="T84" fmla="*/ 59 w 77"/>
                <a:gd name="T85" fmla="*/ 60 h 123"/>
                <a:gd name="T86" fmla="*/ 59 w 77"/>
                <a:gd name="T87" fmla="*/ 69 h 123"/>
                <a:gd name="T88" fmla="*/ 58 w 77"/>
                <a:gd name="T89" fmla="*/ 80 h 123"/>
                <a:gd name="T90" fmla="*/ 57 w 77"/>
                <a:gd name="T91" fmla="*/ 90 h 123"/>
                <a:gd name="T92" fmla="*/ 55 w 77"/>
                <a:gd name="T93" fmla="*/ 98 h 123"/>
                <a:gd name="T94" fmla="*/ 54 w 77"/>
                <a:gd name="T95" fmla="*/ 105 h 123"/>
                <a:gd name="T96" fmla="*/ 51 w 77"/>
                <a:gd name="T97" fmla="*/ 109 h 123"/>
                <a:gd name="T98" fmla="*/ 44 w 77"/>
                <a:gd name="T99" fmla="*/ 115 h 123"/>
                <a:gd name="T100" fmla="*/ 41 w 77"/>
                <a:gd name="T101" fmla="*/ 116 h 123"/>
                <a:gd name="T102" fmla="*/ 54 w 77"/>
                <a:gd name="T103" fmla="*/ 116 h 123"/>
                <a:gd name="T104" fmla="*/ 62 w 77"/>
                <a:gd name="T105" fmla="*/ 111 h 123"/>
                <a:gd name="T106" fmla="*/ 67 w 77"/>
                <a:gd name="T107" fmla="*/ 104 h 123"/>
                <a:gd name="T108" fmla="*/ 74 w 77"/>
                <a:gd name="T109" fmla="*/ 85 h 123"/>
                <a:gd name="T110" fmla="*/ 76 w 77"/>
                <a:gd name="T111" fmla="*/ 73 h 123"/>
                <a:gd name="T112" fmla="*/ 76 w 77"/>
                <a:gd name="T113" fmla="*/ 60 h 123"/>
                <a:gd name="T114" fmla="*/ 75 w 77"/>
                <a:gd name="T115" fmla="*/ 46 h 123"/>
                <a:gd name="T116" fmla="*/ 73 w 77"/>
                <a:gd name="T117" fmla="*/ 34 h 123"/>
                <a:gd name="T118" fmla="*/ 69 w 77"/>
                <a:gd name="T119" fmla="*/ 23 h 123"/>
                <a:gd name="T120" fmla="*/ 63 w 77"/>
                <a:gd name="T121" fmla="*/ 13 h 123"/>
                <a:gd name="T122" fmla="*/ 57 w 77"/>
                <a:gd name="T123" fmla="*/ 5 h 1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7" h="123" extrusionOk="0">
                  <a:moveTo>
                    <a:pt x="48" y="0"/>
                  </a:moveTo>
                  <a:lnTo>
                    <a:pt x="33" y="0"/>
                  </a:lnTo>
                  <a:lnTo>
                    <a:pt x="28" y="1"/>
                  </a:lnTo>
                  <a:lnTo>
                    <a:pt x="22" y="5"/>
                  </a:lnTo>
                  <a:lnTo>
                    <a:pt x="16" y="10"/>
                  </a:lnTo>
                  <a:lnTo>
                    <a:pt x="10" y="17"/>
                  </a:lnTo>
                  <a:lnTo>
                    <a:pt x="2" y="37"/>
                  </a:lnTo>
                  <a:lnTo>
                    <a:pt x="0" y="48"/>
                  </a:lnTo>
                  <a:lnTo>
                    <a:pt x="0" y="64"/>
                  </a:lnTo>
                  <a:lnTo>
                    <a:pt x="1" y="73"/>
                  </a:lnTo>
                  <a:lnTo>
                    <a:pt x="3" y="83"/>
                  </a:lnTo>
                  <a:lnTo>
                    <a:pt x="6" y="93"/>
                  </a:lnTo>
                  <a:lnTo>
                    <a:pt x="10" y="102"/>
                  </a:lnTo>
                  <a:lnTo>
                    <a:pt x="17" y="115"/>
                  </a:lnTo>
                  <a:lnTo>
                    <a:pt x="27" y="122"/>
                  </a:lnTo>
                  <a:lnTo>
                    <a:pt x="43" y="122"/>
                  </a:lnTo>
                  <a:lnTo>
                    <a:pt x="49" y="120"/>
                  </a:lnTo>
                  <a:lnTo>
                    <a:pt x="54" y="116"/>
                  </a:lnTo>
                  <a:lnTo>
                    <a:pt x="31" y="116"/>
                  </a:lnTo>
                  <a:lnTo>
                    <a:pt x="27" y="112"/>
                  </a:lnTo>
                  <a:lnTo>
                    <a:pt x="23" y="103"/>
                  </a:lnTo>
                  <a:lnTo>
                    <a:pt x="21" y="95"/>
                  </a:lnTo>
                  <a:lnTo>
                    <a:pt x="19" y="86"/>
                  </a:lnTo>
                  <a:lnTo>
                    <a:pt x="18" y="75"/>
                  </a:lnTo>
                  <a:lnTo>
                    <a:pt x="17" y="69"/>
                  </a:lnTo>
                  <a:lnTo>
                    <a:pt x="17" y="54"/>
                  </a:lnTo>
                  <a:lnTo>
                    <a:pt x="18" y="44"/>
                  </a:lnTo>
                  <a:lnTo>
                    <a:pt x="21" y="23"/>
                  </a:lnTo>
                  <a:lnTo>
                    <a:pt x="24" y="15"/>
                  </a:lnTo>
                  <a:lnTo>
                    <a:pt x="31" y="7"/>
                  </a:lnTo>
                  <a:lnTo>
                    <a:pt x="35" y="5"/>
                  </a:lnTo>
                  <a:lnTo>
                    <a:pt x="57" y="5"/>
                  </a:lnTo>
                  <a:lnTo>
                    <a:pt x="56" y="4"/>
                  </a:lnTo>
                  <a:lnTo>
                    <a:pt x="48" y="0"/>
                  </a:lnTo>
                  <a:close/>
                  <a:moveTo>
                    <a:pt x="57" y="5"/>
                  </a:moveTo>
                  <a:lnTo>
                    <a:pt x="42" y="5"/>
                  </a:lnTo>
                  <a:lnTo>
                    <a:pt x="45" y="6"/>
                  </a:lnTo>
                  <a:lnTo>
                    <a:pt x="47" y="8"/>
                  </a:lnTo>
                  <a:lnTo>
                    <a:pt x="50" y="11"/>
                  </a:lnTo>
                  <a:lnTo>
                    <a:pt x="53" y="16"/>
                  </a:lnTo>
                  <a:lnTo>
                    <a:pt x="58" y="31"/>
                  </a:lnTo>
                  <a:lnTo>
                    <a:pt x="59" y="43"/>
                  </a:lnTo>
                  <a:lnTo>
                    <a:pt x="59" y="60"/>
                  </a:lnTo>
                  <a:lnTo>
                    <a:pt x="59" y="69"/>
                  </a:lnTo>
                  <a:lnTo>
                    <a:pt x="58" y="80"/>
                  </a:lnTo>
                  <a:lnTo>
                    <a:pt x="57" y="90"/>
                  </a:lnTo>
                  <a:lnTo>
                    <a:pt x="55" y="98"/>
                  </a:lnTo>
                  <a:lnTo>
                    <a:pt x="54" y="105"/>
                  </a:lnTo>
                  <a:lnTo>
                    <a:pt x="51" y="109"/>
                  </a:lnTo>
                  <a:lnTo>
                    <a:pt x="44" y="115"/>
                  </a:lnTo>
                  <a:lnTo>
                    <a:pt x="41" y="116"/>
                  </a:lnTo>
                  <a:lnTo>
                    <a:pt x="54" y="116"/>
                  </a:lnTo>
                  <a:lnTo>
                    <a:pt x="62" y="111"/>
                  </a:lnTo>
                  <a:lnTo>
                    <a:pt x="67" y="104"/>
                  </a:lnTo>
                  <a:lnTo>
                    <a:pt x="74" y="85"/>
                  </a:lnTo>
                  <a:lnTo>
                    <a:pt x="76" y="73"/>
                  </a:lnTo>
                  <a:lnTo>
                    <a:pt x="76" y="60"/>
                  </a:lnTo>
                  <a:lnTo>
                    <a:pt x="75" y="46"/>
                  </a:lnTo>
                  <a:lnTo>
                    <a:pt x="73" y="34"/>
                  </a:lnTo>
                  <a:lnTo>
                    <a:pt x="69" y="23"/>
                  </a:lnTo>
                  <a:lnTo>
                    <a:pt x="63" y="13"/>
                  </a:lnTo>
                  <a:lnTo>
                    <a:pt x="57" y="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pic>
          <p:nvPicPr>
            <p:cNvPr id="69" name="Google Shape;374;p29">
              <a:extLst>
                <a:ext uri="{FF2B5EF4-FFF2-40B4-BE49-F238E27FC236}">
                  <a16:creationId xmlns:a16="http://schemas.microsoft.com/office/drawing/2014/main" id="{DB47FD00-94D1-3E2A-D239-48FC61000C27}"/>
                </a:ext>
              </a:extLst>
            </p:cNvPr>
            <p:cNvPicPr preferRelativeResize="0">
              <a:picLocks noChangeAspect="1" noChangeArrowheads="1"/>
            </p:cNvPicPr>
            <p:nvPr/>
          </p:nvPicPr>
          <p:blipFill>
            <a:blip r:embed="R17b809eea3bf4169">
              <a:extLst>
                <a:ext uri="{28A0092B-C50C-407E-A947-70E740481C1C}">
                  <a14:useLocalDpi xmlns:a14="http://schemas.microsoft.com/office/drawing/2010/main" val="0"/>
                </a:ext>
              </a:extLst>
            </a:blip>
            <a:srcRect/>
            <a:stretch>
              <a:fillRect/>
            </a:stretch>
          </p:blipFill>
          <p:spPr bwMode="auto">
            <a:xfrm>
              <a:off x="7927" y="2545"/>
              <a:ext cx="4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0" name="Google Shape;375;p29">
              <a:extLst>
                <a:ext uri="{FF2B5EF4-FFF2-40B4-BE49-F238E27FC236}">
                  <a16:creationId xmlns:a16="http://schemas.microsoft.com/office/drawing/2014/main" id="{6AFA463C-C100-9581-4FE4-952E888725A5}"/>
                </a:ext>
              </a:extLst>
            </p:cNvPr>
            <p:cNvCxnSpPr>
              <a:cxnSpLocks noChangeShapeType="1"/>
            </p:cNvCxnSpPr>
            <p:nvPr/>
          </p:nvCxnSpPr>
          <p:spPr bwMode="auto">
            <a:xfrm>
              <a:off x="7864" y="2592"/>
              <a:ext cx="0" cy="1"/>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sp>
          <p:nvSpPr>
            <p:cNvPr id="71" name="Google Shape;376;p29">
              <a:extLst>
                <a:ext uri="{FF2B5EF4-FFF2-40B4-BE49-F238E27FC236}">
                  <a16:creationId xmlns:a16="http://schemas.microsoft.com/office/drawing/2014/main" id="{B3A9516F-68DB-C612-49F9-3738910F76AF}"/>
                </a:ext>
              </a:extLst>
            </p:cNvPr>
            <p:cNvSpPr>
              <a:spLocks/>
            </p:cNvSpPr>
            <p:nvPr/>
          </p:nvSpPr>
          <p:spPr bwMode="auto">
            <a:xfrm>
              <a:off x="6582" y="2564"/>
              <a:ext cx="108" cy="54"/>
            </a:xfrm>
            <a:custGeom>
              <a:avLst/>
              <a:gdLst>
                <a:gd name="T0" fmla="*/ 107 w 108"/>
                <a:gd name="T1" fmla="*/ 0 h 54"/>
                <a:gd name="T2" fmla="*/ 0 w 108"/>
                <a:gd name="T3" fmla="*/ 28 h 54"/>
                <a:gd name="T4" fmla="*/ 107 w 108"/>
                <a:gd name="T5" fmla="*/ 54 h 54"/>
                <a:gd name="T6" fmla="*/ 107 w 108"/>
                <a:gd name="T7" fmla="*/ 0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54" extrusionOk="0">
                  <a:moveTo>
                    <a:pt x="107" y="0"/>
                  </a:moveTo>
                  <a:lnTo>
                    <a:pt x="0" y="28"/>
                  </a:lnTo>
                  <a:lnTo>
                    <a:pt x="107" y="54"/>
                  </a:lnTo>
                  <a:lnTo>
                    <a:pt x="107" y="0"/>
                  </a:lnTo>
                  <a:close/>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72" name="Google Shape;377;p29">
              <a:extLst>
                <a:ext uri="{FF2B5EF4-FFF2-40B4-BE49-F238E27FC236}">
                  <a16:creationId xmlns:a16="http://schemas.microsoft.com/office/drawing/2014/main" id="{A6F302AA-DADA-4063-BD75-18D3C7AB163C}"/>
                </a:ext>
              </a:extLst>
            </p:cNvPr>
            <p:cNvSpPr>
              <a:spLocks/>
            </p:cNvSpPr>
            <p:nvPr/>
          </p:nvSpPr>
          <p:spPr bwMode="auto">
            <a:xfrm>
              <a:off x="6582" y="2564"/>
              <a:ext cx="108" cy="54"/>
            </a:xfrm>
            <a:custGeom>
              <a:avLst/>
              <a:gdLst>
                <a:gd name="T0" fmla="*/ 0 w 108"/>
                <a:gd name="T1" fmla="*/ 28 h 54"/>
                <a:gd name="T2" fmla="*/ 107 w 108"/>
                <a:gd name="T3" fmla="*/ 54 h 54"/>
                <a:gd name="T4" fmla="*/ 107 w 108"/>
                <a:gd name="T5" fmla="*/ 0 h 54"/>
                <a:gd name="T6" fmla="*/ 0 w 108"/>
                <a:gd name="T7" fmla="*/ 28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 h="54" extrusionOk="0">
                  <a:moveTo>
                    <a:pt x="0" y="28"/>
                  </a:moveTo>
                  <a:lnTo>
                    <a:pt x="107" y="54"/>
                  </a:lnTo>
                  <a:lnTo>
                    <a:pt x="107" y="0"/>
                  </a:lnTo>
                  <a:lnTo>
                    <a:pt x="0" y="28"/>
                  </a:lnTo>
                  <a:close/>
                </a:path>
              </a:pathLst>
            </a:custGeom>
            <a:noFill/>
            <a:ln w="9525" cap="flat" cmpd="sng">
              <a:solidFill>
                <a:srgbClr val="EC008C"/>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cxnSp>
          <p:nvCxnSpPr>
            <p:cNvPr id="73" name="Google Shape;378;p29">
              <a:extLst>
                <a:ext uri="{FF2B5EF4-FFF2-40B4-BE49-F238E27FC236}">
                  <a16:creationId xmlns:a16="http://schemas.microsoft.com/office/drawing/2014/main" id="{65BE53F5-F04C-BD7D-9581-AA81D7A74AEA}"/>
                </a:ext>
              </a:extLst>
            </p:cNvPr>
            <p:cNvCxnSpPr>
              <a:cxnSpLocks noChangeShapeType="1"/>
            </p:cNvCxnSpPr>
            <p:nvPr/>
          </p:nvCxnSpPr>
          <p:spPr bwMode="auto">
            <a:xfrm>
              <a:off x="8415" y="2592"/>
              <a:ext cx="1253" cy="0"/>
            </a:xfrm>
            <a:prstGeom prst="straightConnector1">
              <a:avLst/>
            </a:prstGeom>
            <a:noFill/>
            <a:ln w="9525">
              <a:solidFill>
                <a:srgbClr val="EC008C"/>
              </a:solidFill>
              <a:miter lim="800000"/>
              <a:headEnd/>
              <a:tailEnd/>
            </a:ln>
            <a:extLst>
              <a:ext uri="{909E8E84-426E-40DD-AFC4-6F175D3DCCD1}">
                <a14:hiddenFill xmlns:a14="http://schemas.microsoft.com/office/drawing/2010/main">
                  <a:noFill/>
                </a14:hiddenFill>
              </a:ext>
            </a:extLst>
          </p:spPr>
        </p:cxnSp>
        <p:sp>
          <p:nvSpPr>
            <p:cNvPr id="74" name="Google Shape;379;p29">
              <a:extLst>
                <a:ext uri="{FF2B5EF4-FFF2-40B4-BE49-F238E27FC236}">
                  <a16:creationId xmlns:a16="http://schemas.microsoft.com/office/drawing/2014/main" id="{0B6DB083-A0E8-7B6D-7223-3CBC26A7652A}"/>
                </a:ext>
              </a:extLst>
            </p:cNvPr>
            <p:cNvSpPr>
              <a:spLocks/>
            </p:cNvSpPr>
            <p:nvPr/>
          </p:nvSpPr>
          <p:spPr bwMode="auto">
            <a:xfrm>
              <a:off x="9667" y="2564"/>
              <a:ext cx="109" cy="54"/>
            </a:xfrm>
            <a:custGeom>
              <a:avLst/>
              <a:gdLst>
                <a:gd name="T0" fmla="*/ 0 w 109"/>
                <a:gd name="T1" fmla="*/ 0 h 54"/>
                <a:gd name="T2" fmla="*/ 0 w 109"/>
                <a:gd name="T3" fmla="*/ 53 h 54"/>
                <a:gd name="T4" fmla="*/ 109 w 109"/>
                <a:gd name="T5" fmla="*/ 27 h 54"/>
                <a:gd name="T6" fmla="*/ 0 w 109"/>
                <a:gd name="T7" fmla="*/ 0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9" h="54" extrusionOk="0">
                  <a:moveTo>
                    <a:pt x="0" y="0"/>
                  </a:moveTo>
                  <a:lnTo>
                    <a:pt x="0" y="53"/>
                  </a:lnTo>
                  <a:lnTo>
                    <a:pt x="109" y="27"/>
                  </a:lnTo>
                  <a:lnTo>
                    <a:pt x="0" y="0"/>
                  </a:lnTo>
                  <a:close/>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sp>
          <p:nvSpPr>
            <p:cNvPr id="75" name="Google Shape;380;p29">
              <a:extLst>
                <a:ext uri="{FF2B5EF4-FFF2-40B4-BE49-F238E27FC236}">
                  <a16:creationId xmlns:a16="http://schemas.microsoft.com/office/drawing/2014/main" id="{62BE3E71-AE25-2D60-835C-558D6D0EAE76}"/>
                </a:ext>
              </a:extLst>
            </p:cNvPr>
            <p:cNvSpPr>
              <a:spLocks/>
            </p:cNvSpPr>
            <p:nvPr/>
          </p:nvSpPr>
          <p:spPr bwMode="auto">
            <a:xfrm>
              <a:off x="9667" y="2564"/>
              <a:ext cx="109" cy="54"/>
            </a:xfrm>
            <a:custGeom>
              <a:avLst/>
              <a:gdLst>
                <a:gd name="T0" fmla="*/ 109 w 109"/>
                <a:gd name="T1" fmla="*/ 27 h 54"/>
                <a:gd name="T2" fmla="*/ 0 w 109"/>
                <a:gd name="T3" fmla="*/ 0 h 54"/>
                <a:gd name="T4" fmla="*/ 0 w 109"/>
                <a:gd name="T5" fmla="*/ 53 h 54"/>
                <a:gd name="T6" fmla="*/ 109 w 109"/>
                <a:gd name="T7" fmla="*/ 27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9" h="54" extrusionOk="0">
                  <a:moveTo>
                    <a:pt x="109" y="27"/>
                  </a:moveTo>
                  <a:lnTo>
                    <a:pt x="0" y="0"/>
                  </a:lnTo>
                  <a:lnTo>
                    <a:pt x="0" y="53"/>
                  </a:lnTo>
                  <a:lnTo>
                    <a:pt x="109" y="27"/>
                  </a:lnTo>
                  <a:close/>
                </a:path>
              </a:pathLst>
            </a:custGeom>
            <a:noFill/>
            <a:ln w="9525" cap="flat" cmpd="sng">
              <a:solidFill>
                <a:srgbClr val="EC008C"/>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p>
              <a:endParaRPr lang="en-IN">
                <a:latin typeface="Times New Roman" panose="02020603050405020304" pitchFamily="18" charset="0"/>
                <a:cs typeface="Times New Roman" panose="02020603050405020304" pitchFamily="18" charset="0"/>
              </a:endParaRPr>
            </a:p>
          </p:txBody>
        </p:sp>
        <p:pic>
          <p:nvPicPr>
            <p:cNvPr id="76" name="Google Shape;381;p29">
              <a:extLst>
                <a:ext uri="{FF2B5EF4-FFF2-40B4-BE49-F238E27FC236}">
                  <a16:creationId xmlns:a16="http://schemas.microsoft.com/office/drawing/2014/main" id="{5B4B2F76-9344-1B5B-2013-149544F89DD8}"/>
                </a:ext>
              </a:extLst>
            </p:cNvPr>
            <p:cNvPicPr preferRelativeResize="0">
              <a:picLocks noChangeAspect="1" noChangeArrowheads="1"/>
            </p:cNvPicPr>
            <p:nvPr/>
          </p:nvPicPr>
          <p:blipFill>
            <a:blip r:embed="Rf6f86039e8de4a2c">
              <a:extLst>
                <a:ext uri="{28A0092B-C50C-407E-A947-70E740481C1C}">
                  <a14:useLocalDpi xmlns:a14="http://schemas.microsoft.com/office/drawing/2010/main" val="0"/>
                </a:ext>
              </a:extLst>
            </a:blip>
            <a:srcRect/>
            <a:stretch>
              <a:fillRect/>
            </a:stretch>
          </p:blipFill>
          <p:spPr bwMode="auto">
            <a:xfrm>
              <a:off x="2857" y="2280"/>
              <a:ext cx="16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65981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e41ac55447bb4a8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b="1" dirty="0">
                <a:solidFill>
                  <a:schemeClr val="bg1"/>
                </a:solidFill>
                <a:latin typeface="+mn-lt"/>
                <a:cs typeface="Calibri" panose="020F0502020204030204" pitchFamily="34" charset="0"/>
              </a:rPr>
              <a:t>Peak (Maximum) Value</a:t>
            </a:r>
          </a:p>
        </p:txBody>
      </p:sp>
      <p:sp>
        <p:nvSpPr>
          <p:cNvPr id="5" name="TextBox 4">
            <a:extLst>
              <a:ext uri="{FF2B5EF4-FFF2-40B4-BE49-F238E27FC236}">
                <a16:creationId xmlns:a16="http://schemas.microsoft.com/office/drawing/2014/main" id="{3789FB6D-7E04-4DD7-7D98-3B13A009BE44}"/>
              </a:ext>
            </a:extLst>
          </p:cNvPr>
          <p:cNvSpPr txBox="1"/>
          <p:nvPr/>
        </p:nvSpPr>
        <p:spPr>
          <a:xfrm>
            <a:off x="811658" y="2119452"/>
            <a:ext cx="7274104" cy="3299365"/>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The peak value is the maximum value (positive or negative) reached by a waveform during one cycle.</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altLang="en-US" sz="2200" dirty="0">
              <a:latin typeface="Calibri" panose="020F0502020204030204"/>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en-US" sz="2200" i="0" u="none" strike="noStrike" kern="1200" cap="none" spc="0" normalizeH="0" baseline="0" noProof="0" dirty="0">
              <a:ln>
                <a:noFill/>
              </a:ln>
              <a:effectLst/>
              <a:uLnTx/>
              <a:uFillTx/>
              <a:latin typeface="Calibri" panose="020F0502020204030204"/>
              <a:ea typeface="+mn-ea"/>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Highlighting Points:</a:t>
            </a:r>
          </a:p>
          <a:p>
            <a:pPr marL="342900" marR="0" lvl="0" indent="-342900" algn="just"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Denoted by: 𝑉𝑚  or 𝐼𝑚</a:t>
            </a:r>
          </a:p>
          <a:p>
            <a:pPr marL="342900" marR="0" lvl="0" indent="-342900" algn="just"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​Represents the amplitude of the wave</a:t>
            </a:r>
          </a:p>
          <a:p>
            <a:pPr marL="342900" marR="0" lvl="0" indent="-342900" algn="just"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Occurs once every half cycle</a:t>
            </a:r>
          </a:p>
        </p:txBody>
      </p:sp>
    </p:spTree>
    <p:extLst>
      <p:ext uri="{BB962C8B-B14F-4D97-AF65-F5344CB8AC3E}">
        <p14:creationId xmlns:p14="http://schemas.microsoft.com/office/powerpoint/2010/main" val="1071091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359E-7012-07A1-50DA-255C6FA788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6061E4-228D-C1FC-8530-CEA9B9D76FB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71DC1CB-330E-B0F8-FCB9-01E46EEED0A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5916653-3607-4B54-506B-1AACE1C5239E}"/>
              </a:ext>
            </a:extLst>
          </p:cNvPr>
          <p:cNvSpPr>
            <a:spLocks noChangeArrowheads="1"/>
          </p:cNvSpPr>
          <p:nvPr>
            <p:custDataLst>
              <p:tags r:id="R6b1c37ade6814a6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Average Value</a:t>
            </a:r>
          </a:p>
        </p:txBody>
      </p:sp>
      <p:sp>
        <p:nvSpPr>
          <p:cNvPr id="5" name="TextBox 4">
            <a:extLst>
              <a:ext uri="{FF2B5EF4-FFF2-40B4-BE49-F238E27FC236}">
                <a16:creationId xmlns:a16="http://schemas.microsoft.com/office/drawing/2014/main" id="{4B685A7A-AA40-A798-4F1A-025336853CCC}"/>
              </a:ext>
            </a:extLst>
          </p:cNvPr>
          <p:cNvSpPr txBox="1"/>
          <p:nvPr/>
        </p:nvSpPr>
        <p:spPr>
          <a:xfrm>
            <a:off x="729465" y="2210749"/>
            <a:ext cx="7428216" cy="3171125"/>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The average value of a pure sinusoidal wave over a full cycle is zero.</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altLang="en-US" sz="2200" dirty="0">
              <a:latin typeface="Calibri" panose="020F05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However, for practical calculations, average value is taken over one-half cycle.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Average Value Formula:</a:t>
            </a:r>
          </a:p>
          <a:p>
            <a:pPr marR="0" lvl="0" algn="ctr"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𝑉𝑎𝑣𝑔=2𝑉𝑚/𝜋</a:t>
            </a:r>
          </a:p>
          <a:p>
            <a:pPr marR="0" lvl="0" algn="ctr"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​𝐼𝑎𝑣𝑔=2𝐼𝑚/𝜋</a:t>
            </a:r>
          </a:p>
        </p:txBody>
      </p:sp>
    </p:spTree>
    <p:extLst>
      <p:ext uri="{BB962C8B-B14F-4D97-AF65-F5344CB8AC3E}">
        <p14:creationId xmlns:p14="http://schemas.microsoft.com/office/powerpoint/2010/main" val="2907963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2671-C0F2-0018-1E2A-5CBEECF448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13C277-D0E0-D335-4DAF-41961A43FB65}"/>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113164F-C5BE-FEAA-65E7-69FA6CC5D6D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EEDC857-5A09-9ECB-4E36-CBB9EC23AE31}"/>
              </a:ext>
            </a:extLst>
          </p:cNvPr>
          <p:cNvSpPr>
            <a:spLocks noChangeArrowheads="1"/>
          </p:cNvSpPr>
          <p:nvPr>
            <p:custDataLst>
              <p:tags r:id="R3fc57dcf00a442af"/>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R.M.S. Value</a:t>
            </a:r>
          </a:p>
        </p:txBody>
      </p:sp>
      <p:sp>
        <p:nvSpPr>
          <p:cNvPr id="5" name="TextBox 4">
            <a:extLst>
              <a:ext uri="{FF2B5EF4-FFF2-40B4-BE49-F238E27FC236}">
                <a16:creationId xmlns:a16="http://schemas.microsoft.com/office/drawing/2014/main" id="{29D666E4-B35A-6942-BEBB-D1ED77290329}"/>
              </a:ext>
            </a:extLst>
          </p:cNvPr>
          <p:cNvSpPr txBox="1"/>
          <p:nvPr/>
        </p:nvSpPr>
        <p:spPr>
          <a:xfrm>
            <a:off x="821427" y="1970906"/>
            <a:ext cx="7428216" cy="3732304"/>
          </a:xfrm>
          <a:prstGeom prst="rect">
            <a:avLst/>
          </a:prstGeom>
          <a:noFill/>
        </p:spPr>
        <p:txBody>
          <a:bodyPr wrap="square">
            <a:spAutoFit/>
          </a:bodyPr>
          <a:lstStyle/>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R.M.S. (Root Mean Square) value represents the effective or equivalent DC value of an AC quantity.</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altLang="en-US" sz="2200" dirty="0">
              <a:latin typeface="Calibri" panose="020F0502020204030204"/>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Formula:</a:t>
            </a:r>
          </a:p>
          <a:p>
            <a:pPr marR="0" lvl="0" algn="ctr"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𝑉𝑟𝑚𝑠=𝑉𝑚/</a:t>
            </a:r>
            <a:r>
              <a:rPr kumimoji="0" lang="en-US" altLang="en-US" sz="220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t>
            </a:r>
            <a:r>
              <a:rPr kumimoji="0" lang="en-US" altLang="en-US" sz="2200" i="0" u="none" strike="noStrike" kern="1200" cap="none" spc="0" normalizeH="0" baseline="0" noProof="0" dirty="0">
                <a:ln>
                  <a:noFill/>
                </a:ln>
                <a:effectLst/>
                <a:uLnTx/>
                <a:uFillTx/>
                <a:latin typeface="Calibri" panose="020F0502020204030204"/>
                <a:ea typeface="+mn-ea"/>
                <a:cs typeface="+mn-cs"/>
              </a:rPr>
              <a:t>2</a:t>
            </a:r>
          </a:p>
          <a:p>
            <a:pPr marR="0" lvl="0" algn="ctr"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𝐼𝑟𝑚𝑠=𝐼𝑚/</a:t>
            </a:r>
            <a:r>
              <a:rPr kumimoji="0" lang="en-US" altLang="en-US" sz="220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a:t>
            </a:r>
            <a:r>
              <a:rPr kumimoji="0" lang="en-US" altLang="en-US" sz="2200" i="0" u="none" strike="noStrike" kern="1200" cap="none" spc="0" normalizeH="0" baseline="0" noProof="0" dirty="0">
                <a:ln>
                  <a:noFill/>
                </a:ln>
                <a:effectLst/>
                <a:uLnTx/>
                <a:uFillTx/>
                <a:latin typeface="Calibri" panose="020F0502020204030204"/>
                <a:ea typeface="+mn-ea"/>
                <a:cs typeface="+mn-cs"/>
              </a:rPr>
              <a:t>2 ​ </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Highlighting Points: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Used in power calculations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Most commonly used value in AC analysis</a:t>
            </a:r>
          </a:p>
        </p:txBody>
      </p:sp>
    </p:spTree>
    <p:extLst>
      <p:ext uri="{BB962C8B-B14F-4D97-AF65-F5344CB8AC3E}">
        <p14:creationId xmlns:p14="http://schemas.microsoft.com/office/powerpoint/2010/main" val="205589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B376D43-15E8-347D-9149-9C447A16BB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307B5A-7492-BEF4-7BC1-6CC7BE9256D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5856E61-737E-212D-C64B-BE99869EB20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CD09761-CE9A-8565-232A-52947E10D317}"/>
              </a:ext>
            </a:extLst>
          </p:cNvPr>
          <p:cNvSpPr>
            <a:spLocks noChangeArrowheads="1"/>
          </p:cNvSpPr>
          <p:nvPr>
            <p:custDataLst>
              <p:tags r:id="Rb77d6f78f622413c"/>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b="1" dirty="0">
                <a:solidFill>
                  <a:schemeClr val="bg1"/>
                </a:solidFill>
                <a:latin typeface="+mn-lt"/>
                <a:cs typeface="Calibri" panose="020F0502020204030204" pitchFamily="34" charset="0"/>
              </a:rPr>
              <a:t>Frequency, Cycle, and Period</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4C0E9033-395D-BC0E-1C50-B2B6B0CD7ABB}"/>
              </a:ext>
            </a:extLst>
          </p:cNvPr>
          <p:cNvSpPr txBox="1"/>
          <p:nvPr/>
        </p:nvSpPr>
        <p:spPr>
          <a:xfrm>
            <a:off x="806942" y="2128603"/>
            <a:ext cx="7201342" cy="3477875"/>
          </a:xfrm>
          <a:prstGeom prst="rect">
            <a:avLst/>
          </a:prstGeom>
          <a:noFill/>
        </p:spPr>
        <p:txBody>
          <a:bodyPr wrap="square" rtlCol="0">
            <a:spAutoFit/>
          </a:bodyPr>
          <a:lstStyle/>
          <a:p>
            <a:pPr marL="342900" indent="-342900">
              <a:buFont typeface="Arial" panose="020B0604020202020204" pitchFamily="34" charset="0"/>
              <a:buChar char="•"/>
            </a:pPr>
            <a:r>
              <a:rPr lang="en-US" sz="2200" dirty="0"/>
              <a:t>Cycle : One complete set of positive and negative values of alternating quantity is known as cycle</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Time Period: The time taken by an alternating quantity to complete one cycle is called its time period T. For example, a 50-Hz alternating current has a time period of 1/50 second.</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Frequency : The number of cycles/second is called the frequency of the alternating quantity. Its unit is hertz (Hz).</a:t>
            </a:r>
          </a:p>
        </p:txBody>
      </p:sp>
    </p:spTree>
    <p:extLst>
      <p:ext uri="{BB962C8B-B14F-4D97-AF65-F5344CB8AC3E}">
        <p14:creationId xmlns:p14="http://schemas.microsoft.com/office/powerpoint/2010/main" val="159344809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050442FE-8A54-83DC-A2B1-4113BAAE0D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CA2B54-0807-DCDA-0C40-5F553228300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F5DBC1D-A481-C2D2-46AE-E6D02C47091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3D1CFC3-A715-41D0-81A4-C4FC877603F9}"/>
              </a:ext>
            </a:extLst>
          </p:cNvPr>
          <p:cNvSpPr>
            <a:spLocks noChangeArrowheads="1"/>
          </p:cNvSpPr>
          <p:nvPr>
            <p:custDataLst>
              <p:tags r:id="Race9d841b04b4ba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Peak Factor and Form Factor</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9A9F396B-77F3-78F5-E8DE-0C7634482B71}"/>
              </a:ext>
            </a:extLst>
          </p:cNvPr>
          <p:cNvSpPr txBox="1"/>
          <p:nvPr/>
        </p:nvSpPr>
        <p:spPr>
          <a:xfrm>
            <a:off x="806942" y="2128603"/>
            <a:ext cx="7201342" cy="3139321"/>
          </a:xfrm>
          <a:prstGeom prst="rect">
            <a:avLst/>
          </a:prstGeom>
          <a:noFill/>
        </p:spPr>
        <p:txBody>
          <a:bodyPr wrap="square" rtlCol="0">
            <a:spAutoFit/>
          </a:bodyPr>
          <a:lstStyle/>
          <a:p>
            <a:pPr marL="342900" indent="-342900">
              <a:buFont typeface="Arial" panose="020B0604020202020204" pitchFamily="34" charset="0"/>
              <a:buChar char="•"/>
            </a:pPr>
            <a:r>
              <a:rPr lang="en-US" sz="2200" dirty="0"/>
              <a:t>Peak Factor = Peak Value/RMS Value</a:t>
            </a:r>
          </a:p>
          <a:p>
            <a:r>
              <a:rPr lang="en-US" sz="2200" dirty="0"/>
              <a:t>                            =𝑉𝑚/𝑉𝑟𝑚𝑠≈1.414</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Form Factor = RMS Value/Average Value</a:t>
            </a:r>
          </a:p>
          <a:p>
            <a:r>
              <a:rPr lang="en-US" sz="2200" dirty="0"/>
              <a:t>                            =𝑉𝑟𝑚𝑠/𝑉𝑎𝑣𝑔≈1.11 </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Highlighting Points:</a:t>
            </a:r>
          </a:p>
          <a:p>
            <a:pPr marL="342900" indent="-342900">
              <a:buFont typeface="Courier New" panose="02070309020205020404" pitchFamily="49" charset="0"/>
              <a:buChar char="o"/>
            </a:pPr>
            <a:r>
              <a:rPr lang="en-US" sz="2200" dirty="0"/>
              <a:t>Used in waveform comparison</a:t>
            </a:r>
          </a:p>
          <a:p>
            <a:pPr marL="342900" indent="-342900">
              <a:buFont typeface="Courier New" panose="02070309020205020404" pitchFamily="49" charset="0"/>
              <a:buChar char="o"/>
            </a:pPr>
            <a:r>
              <a:rPr lang="en-US" sz="2200" dirty="0"/>
              <a:t>Standard values for pure sine wave</a:t>
            </a:r>
          </a:p>
        </p:txBody>
      </p:sp>
    </p:spTree>
    <p:extLst>
      <p:ext uri="{BB962C8B-B14F-4D97-AF65-F5344CB8AC3E}">
        <p14:creationId xmlns:p14="http://schemas.microsoft.com/office/powerpoint/2010/main" val="4045194712"/>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5DC85E9-8CCA-37DF-EDED-36FE9DE3CE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765191-3B87-162F-A7C8-9EDF0D26356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F3A13FD-9CAD-D1EE-AC6C-14BB86D4FCD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CB4BECB9-180E-FCB3-8674-90689C13F130}"/>
              </a:ext>
            </a:extLst>
          </p:cNvPr>
          <p:cNvSpPr>
            <a:spLocks noChangeArrowheads="1"/>
          </p:cNvSpPr>
          <p:nvPr>
            <p:custDataLst>
              <p:tags r:id="R1b186c8165274f9e"/>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Phase Difference</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FFC0D9C1-ECF8-3BF4-C2AF-D31FE7A473C8}"/>
              </a:ext>
            </a:extLst>
          </p:cNvPr>
          <p:cNvSpPr txBox="1"/>
          <p:nvPr/>
        </p:nvSpPr>
        <p:spPr>
          <a:xfrm>
            <a:off x="806942" y="2128603"/>
            <a:ext cx="7201342"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t>Phase difference is the angular displacement between two sinusoidal waveforms of the same frequency.</a:t>
            </a:r>
          </a:p>
        </p:txBody>
      </p:sp>
      <p:grpSp>
        <p:nvGrpSpPr>
          <p:cNvPr id="3" name="Google Shape;405;p31">
            <a:extLst>
              <a:ext uri="{FF2B5EF4-FFF2-40B4-BE49-F238E27FC236}">
                <a16:creationId xmlns:a16="http://schemas.microsoft.com/office/drawing/2014/main" id="{E8D6C447-BC30-BD3A-D80B-6E07D9D7325D}"/>
              </a:ext>
            </a:extLst>
          </p:cNvPr>
          <p:cNvGrpSpPr>
            <a:grpSpLocks/>
          </p:cNvGrpSpPr>
          <p:nvPr/>
        </p:nvGrpSpPr>
        <p:grpSpPr bwMode="auto">
          <a:xfrm>
            <a:off x="1685925" y="3539001"/>
            <a:ext cx="5772150" cy="2117725"/>
            <a:chOff x="2404" y="1338"/>
            <a:chExt cx="7361" cy="2298"/>
          </a:xfrm>
        </p:grpSpPr>
        <p:pic>
          <p:nvPicPr>
            <p:cNvPr id="6" name="Google Shape;406;p31">
              <a:extLst>
                <a:ext uri="{FF2B5EF4-FFF2-40B4-BE49-F238E27FC236}">
                  <a16:creationId xmlns:a16="http://schemas.microsoft.com/office/drawing/2014/main" id="{E9B9C668-16FD-CCED-565F-F8241458A8FF}"/>
                </a:ext>
              </a:extLst>
            </p:cNvPr>
            <p:cNvPicPr preferRelativeResize="0">
              <a:picLocks noChangeAspect="1" noChangeArrowheads="1"/>
            </p:cNvPicPr>
            <p:nvPr/>
          </p:nvPicPr>
          <p:blipFill>
            <a:blip r:embed="R6467c6b9f7924d26">
              <a:extLst>
                <a:ext uri="{28A0092B-C50C-407E-A947-70E740481C1C}">
                  <a14:useLocalDpi xmlns:a14="http://schemas.microsoft.com/office/drawing/2010/main" val="0"/>
                </a:ext>
              </a:extLst>
            </a:blip>
            <a:srcRect/>
            <a:stretch>
              <a:fillRect/>
            </a:stretch>
          </p:blipFill>
          <p:spPr bwMode="auto">
            <a:xfrm>
              <a:off x="2522" y="1653"/>
              <a:ext cx="121"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407;p31">
              <a:extLst>
                <a:ext uri="{FF2B5EF4-FFF2-40B4-BE49-F238E27FC236}">
                  <a16:creationId xmlns:a16="http://schemas.microsoft.com/office/drawing/2014/main" id="{01CE9BAC-65E1-EF61-BB09-C7C513FC0275}"/>
                </a:ext>
              </a:extLst>
            </p:cNvPr>
            <p:cNvPicPr preferRelativeResize="0">
              <a:picLocks noChangeAspect="1" noChangeArrowheads="1"/>
            </p:cNvPicPr>
            <p:nvPr/>
          </p:nvPicPr>
          <p:blipFill>
            <a:blip r:embed="R13a44f9cf6c2460b">
              <a:extLst>
                <a:ext uri="{28A0092B-C50C-407E-A947-70E740481C1C}">
                  <a14:useLocalDpi xmlns:a14="http://schemas.microsoft.com/office/drawing/2010/main" val="0"/>
                </a:ext>
              </a:extLst>
            </a:blip>
            <a:srcRect/>
            <a:stretch>
              <a:fillRect/>
            </a:stretch>
          </p:blipFill>
          <p:spPr bwMode="auto">
            <a:xfrm>
              <a:off x="2404" y="1338"/>
              <a:ext cx="5159" cy="2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408;p31">
              <a:extLst>
                <a:ext uri="{FF2B5EF4-FFF2-40B4-BE49-F238E27FC236}">
                  <a16:creationId xmlns:a16="http://schemas.microsoft.com/office/drawing/2014/main" id="{0F4F36F6-9670-DB90-79A1-FD18F113C0AD}"/>
                </a:ext>
              </a:extLst>
            </p:cNvPr>
            <p:cNvPicPr preferRelativeResize="0">
              <a:picLocks noChangeAspect="1" noChangeArrowheads="1"/>
            </p:cNvPicPr>
            <p:nvPr/>
          </p:nvPicPr>
          <p:blipFill>
            <a:blip r:embed="Rf8638336feca4ff6">
              <a:extLst>
                <a:ext uri="{28A0092B-C50C-407E-A947-70E740481C1C}">
                  <a14:useLocalDpi xmlns:a14="http://schemas.microsoft.com/office/drawing/2010/main" val="0"/>
                </a:ext>
              </a:extLst>
            </a:blip>
            <a:srcRect/>
            <a:stretch>
              <a:fillRect/>
            </a:stretch>
          </p:blipFill>
          <p:spPr bwMode="auto">
            <a:xfrm>
              <a:off x="7690" y="1568"/>
              <a:ext cx="2075" cy="1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409;p31">
              <a:extLst>
                <a:ext uri="{FF2B5EF4-FFF2-40B4-BE49-F238E27FC236}">
                  <a16:creationId xmlns:a16="http://schemas.microsoft.com/office/drawing/2014/main" id="{38350618-3477-F303-8335-862E87B52676}"/>
                </a:ext>
              </a:extLst>
            </p:cNvPr>
            <p:cNvPicPr preferRelativeResize="0">
              <a:picLocks noChangeAspect="1" noChangeArrowheads="1"/>
            </p:cNvPicPr>
            <p:nvPr/>
          </p:nvPicPr>
          <p:blipFill>
            <a:blip r:embed="R8b7e8a7136d042a1">
              <a:extLst>
                <a:ext uri="{28A0092B-C50C-407E-A947-70E740481C1C}">
                  <a14:useLocalDpi xmlns:a14="http://schemas.microsoft.com/office/drawing/2010/main" val="0"/>
                </a:ext>
              </a:extLst>
            </a:blip>
            <a:srcRect/>
            <a:stretch>
              <a:fillRect/>
            </a:stretch>
          </p:blipFill>
          <p:spPr bwMode="auto">
            <a:xfrm>
              <a:off x="6226" y="3494"/>
              <a:ext cx="18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410;p31">
              <a:extLst>
                <a:ext uri="{FF2B5EF4-FFF2-40B4-BE49-F238E27FC236}">
                  <a16:creationId xmlns:a16="http://schemas.microsoft.com/office/drawing/2014/main" id="{97E91291-DE40-7BD8-E1BB-A80F8E8E394C}"/>
                </a:ext>
              </a:extLst>
            </p:cNvPr>
            <p:cNvPicPr preferRelativeResize="0">
              <a:picLocks noChangeAspect="1" noChangeArrowheads="1"/>
            </p:cNvPicPr>
            <p:nvPr/>
          </p:nvPicPr>
          <p:blipFill>
            <a:blip r:embed="Recd2def243384b2b">
              <a:extLst>
                <a:ext uri="{28A0092B-C50C-407E-A947-70E740481C1C}">
                  <a14:useLocalDpi xmlns:a14="http://schemas.microsoft.com/office/drawing/2010/main" val="0"/>
                </a:ext>
              </a:extLst>
            </a:blip>
            <a:srcRect/>
            <a:stretch>
              <a:fillRect/>
            </a:stretch>
          </p:blipFill>
          <p:spPr bwMode="auto">
            <a:xfrm>
              <a:off x="8696" y="3493"/>
              <a:ext cx="18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001673806"/>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4A85EF39-7758-CBE6-09D8-1E801D4E63D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1B4F01-7339-90A2-BF25-15E1698499E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4672A22-E6AC-156D-8BFB-54D5F74462D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7022658-0DEA-BD07-ABB3-30F9398FA2FE}"/>
              </a:ext>
            </a:extLst>
          </p:cNvPr>
          <p:cNvSpPr>
            <a:spLocks noChangeArrowheads="1"/>
          </p:cNvSpPr>
          <p:nvPr>
            <p:custDataLst>
              <p:tags r:id="R9644632069e1457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Phase Difference</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85421DB7-78BC-16F0-D6E5-48DB40C30716}"/>
              </a:ext>
            </a:extLst>
          </p:cNvPr>
          <p:cNvSpPr txBox="1"/>
          <p:nvPr/>
        </p:nvSpPr>
        <p:spPr>
          <a:xfrm>
            <a:off x="806942" y="2021908"/>
            <a:ext cx="7201342" cy="2462213"/>
          </a:xfrm>
          <a:prstGeom prst="rect">
            <a:avLst/>
          </a:prstGeom>
          <a:noFill/>
        </p:spPr>
        <p:txBody>
          <a:bodyPr wrap="square" rtlCol="0">
            <a:spAutoFit/>
          </a:bodyPr>
          <a:lstStyle/>
          <a:p>
            <a:pPr marL="342900" indent="-342900">
              <a:buFont typeface="Arial" panose="020B0604020202020204" pitchFamily="34" charset="0"/>
              <a:buChar char="•"/>
            </a:pPr>
            <a:r>
              <a:rPr lang="en-US" sz="2200" dirty="0"/>
              <a:t>Leading phase difference: A quantity which attains its zero or positive maximum value before the compared to the other quantity. </a:t>
            </a:r>
          </a:p>
          <a:p>
            <a:pPr marL="342900" indent="-342900">
              <a:buFont typeface="Arial" panose="020B0604020202020204" pitchFamily="34" charset="0"/>
              <a:buChar char="•"/>
            </a:pPr>
            <a:r>
              <a:rPr lang="en-US" sz="2200" dirty="0"/>
              <a:t>Lagging phase difference: A quantity which attains its zero or positive maximum value after the other quantity.</a:t>
            </a:r>
          </a:p>
          <a:p>
            <a:pPr marL="342900" indent="-342900">
              <a:buFont typeface="Arial" panose="020B0604020202020204" pitchFamily="34" charset="0"/>
              <a:buChar char="•"/>
            </a:pPr>
            <a:r>
              <a:rPr lang="en-US" sz="2200" dirty="0"/>
              <a:t>In-Phase: Voltage and current reach maxima/minima at the same time</a:t>
            </a:r>
          </a:p>
        </p:txBody>
      </p:sp>
      <p:pic>
        <p:nvPicPr>
          <p:cNvPr id="11" name="Google Shape;422;p32">
            <a:extLst>
              <a:ext uri="{FF2B5EF4-FFF2-40B4-BE49-F238E27FC236}">
                <a16:creationId xmlns:a16="http://schemas.microsoft.com/office/drawing/2014/main" id="{9F7308C6-91A7-46A0-91AB-D2C0B6C4F02F}"/>
              </a:ext>
            </a:extLst>
          </p:cNvPr>
          <p:cNvPicPr preferRelativeResize="0">
            <a:picLocks noChangeAspect="1" noChangeArrowheads="1"/>
          </p:cNvPicPr>
          <p:nvPr/>
        </p:nvPicPr>
        <p:blipFill>
          <a:blip r:embed="R3186b6ecb22f4b24">
            <a:extLst>
              <a:ext uri="{28A0092B-C50C-407E-A947-70E740481C1C}">
                <a14:useLocalDpi xmlns:a14="http://schemas.microsoft.com/office/drawing/2010/main" val="0"/>
              </a:ext>
            </a:extLst>
          </a:blip>
          <a:srcRect/>
          <a:stretch>
            <a:fillRect/>
          </a:stretch>
        </p:blipFill>
        <p:spPr bwMode="auto">
          <a:xfrm>
            <a:off x="1440656" y="4484121"/>
            <a:ext cx="6262687"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1218268"/>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88E8BE2-699E-AD6F-517C-71C387EFB11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248D9F3-17FC-236C-A062-5BD5471440D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FFA1A2A-A27B-DBA8-926F-85033AB0B37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F905E023-FC7F-2DF2-AA26-41D4C65EE30F}"/>
              </a:ext>
            </a:extLst>
          </p:cNvPr>
          <p:cNvSpPr>
            <a:spLocks noChangeArrowheads="1"/>
          </p:cNvSpPr>
          <p:nvPr>
            <p:custDataLst>
              <p:tags r:id="R7822212f92c3446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4DBE3C71-3383-0A38-7F8B-4426F7622326}"/>
              </a:ext>
            </a:extLst>
          </p:cNvPr>
          <p:cNvSpPr txBox="1"/>
          <p:nvPr/>
        </p:nvSpPr>
        <p:spPr>
          <a:xfrm>
            <a:off x="806942" y="2021908"/>
            <a:ext cx="7201342" cy="4493538"/>
          </a:xfrm>
          <a:prstGeom prst="rect">
            <a:avLst/>
          </a:prstGeom>
          <a:noFill/>
        </p:spPr>
        <p:txBody>
          <a:bodyPr wrap="square" rtlCol="0">
            <a:spAutoFit/>
          </a:bodyPr>
          <a:lstStyle/>
          <a:p>
            <a:pPr marL="342900" indent="-342900">
              <a:buFont typeface="Arial" panose="020B0604020202020204" pitchFamily="34" charset="0"/>
              <a:buChar char="•"/>
            </a:pPr>
            <a:r>
              <a:rPr lang="en-US" sz="2200" dirty="0"/>
              <a:t>A phasor is a rotating vector representing a sinusoidal function with constant amplitude and frequency.</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Used to simplify the analysis of sinusoidal waveforms in AC circuits.</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Phasor Notation:</a:t>
            </a:r>
          </a:p>
          <a:p>
            <a:pPr marL="342900" indent="-342900">
              <a:buFont typeface="Courier New" panose="02070309020205020404" pitchFamily="49" charset="0"/>
              <a:buChar char="o"/>
            </a:pPr>
            <a:r>
              <a:rPr lang="en-US" sz="2200" dirty="0"/>
              <a:t>𝑉=𝑉𝑚∠𝜙</a:t>
            </a:r>
          </a:p>
          <a:p>
            <a:pPr marL="342900" indent="-342900">
              <a:buFont typeface="Courier New" panose="02070309020205020404" pitchFamily="49" charset="0"/>
              <a:buChar char="o"/>
            </a:pPr>
            <a:r>
              <a:rPr lang="el-GR" sz="2200" dirty="0"/>
              <a:t>𝐼=𝐼𝑚∠𝜃</a:t>
            </a:r>
            <a:endParaRPr lang="en-US" sz="2200" dirty="0"/>
          </a:p>
          <a:p>
            <a:pPr marL="342900" indent="-342900">
              <a:buFont typeface="Courier New" panose="02070309020205020404" pitchFamily="49" charset="0"/>
              <a:buChar char="o"/>
            </a:pPr>
            <a:endParaRPr lang="en-US" sz="2200" dirty="0"/>
          </a:p>
          <a:p>
            <a:pPr marL="342900" indent="-342900">
              <a:buFont typeface="Arial" panose="020B0604020202020204" pitchFamily="34" charset="0"/>
              <a:buChar char="•"/>
            </a:pPr>
            <a:r>
              <a:rPr lang="en-US" sz="2200" dirty="0"/>
              <a:t>Highlighting Points:</a:t>
            </a:r>
          </a:p>
          <a:p>
            <a:pPr marL="342900" indent="-342900">
              <a:buFont typeface="Courier New" panose="02070309020205020404" pitchFamily="49" charset="0"/>
              <a:buChar char="o"/>
            </a:pPr>
            <a:r>
              <a:rPr lang="en-US" sz="2200" dirty="0"/>
              <a:t>Easier to apply Ohm’s Law and KVL/KCL in AC</a:t>
            </a:r>
          </a:p>
          <a:p>
            <a:pPr marL="342900" indent="-342900">
              <a:buFont typeface="Courier New" panose="02070309020205020404" pitchFamily="49" charset="0"/>
              <a:buChar char="o"/>
            </a:pPr>
            <a:r>
              <a:rPr lang="en-US" sz="2200" dirty="0"/>
              <a:t>Visualizes phase relationships clearly</a:t>
            </a:r>
          </a:p>
        </p:txBody>
      </p:sp>
    </p:spTree>
    <p:extLst>
      <p:ext uri="{BB962C8B-B14F-4D97-AF65-F5344CB8AC3E}">
        <p14:creationId xmlns:p14="http://schemas.microsoft.com/office/powerpoint/2010/main" val="306430973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47148453-CF03-3777-34CA-8540E555BFF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1C93630-7F92-121E-53D7-C7D532CBC3E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C15567D-16F3-102E-71E8-65D2E50658A0}"/>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E57517B4-10C8-45DC-019B-C42DD6F8799F}"/>
              </a:ext>
            </a:extLst>
          </p:cNvPr>
          <p:cNvSpPr>
            <a:spLocks noChangeArrowheads="1"/>
          </p:cNvSpPr>
          <p:nvPr>
            <p:custDataLst>
              <p:tags r:id="R18ac8739d030479d"/>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dirty="0">
              <a:solidFill>
                <a:schemeClr val="bg1"/>
              </a:solidFill>
              <a:latin typeface="+mn-lt"/>
              <a:cs typeface="Times New Roman" panose="02020603050405020304" pitchFamily="18" charset="0"/>
            </a:endParaRPr>
          </a:p>
        </p:txBody>
      </p:sp>
      <p:pic>
        <p:nvPicPr>
          <p:cNvPr id="6" name="Picture 5" descr="series rlc circuit vectors">
            <a:extLst>
              <a:ext uri="{FF2B5EF4-FFF2-40B4-BE49-F238E27FC236}">
                <a16:creationId xmlns:a16="http://schemas.microsoft.com/office/drawing/2014/main" id="{97B9C821-40CF-EF80-4CB3-AE79482B1575}"/>
              </a:ext>
            </a:extLst>
          </p:cNvPr>
          <p:cNvPicPr>
            <a:picLocks noChangeAspect="1" noChangeArrowheads="1"/>
          </p:cNvPicPr>
          <p:nvPr/>
        </p:nvPicPr>
        <p:blipFill>
          <a:blip r:embed="Rb656d78d18e94e0f">
            <a:extLst>
              <a:ext uri="{28A0092B-C50C-407E-A947-70E740481C1C}">
                <a14:useLocalDpi xmlns:a14="http://schemas.microsoft.com/office/drawing/2010/main" val="0"/>
              </a:ext>
            </a:extLst>
          </a:blip>
          <a:srcRect/>
          <a:stretch>
            <a:fillRect/>
          </a:stretch>
        </p:blipFill>
        <p:spPr bwMode="auto">
          <a:xfrm>
            <a:off x="729464" y="2210263"/>
            <a:ext cx="7356297" cy="374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009272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938992"/>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Rectangular and Polar Representation of Phasors, Examples Based on Theory</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3970318"/>
          </a:xfrm>
          <a:prstGeom prst="rect">
            <a:avLst/>
          </a:prstGeom>
          <a:noFill/>
        </p:spPr>
        <p:txBody>
          <a:bodyPr wrap="square">
            <a:spAutoFit/>
          </a:bodyPr>
          <a:lstStyle/>
          <a:p>
            <a:r>
              <a:rPr lang="en-US" b="1" dirty="0">
                <a:solidFill>
                  <a:schemeClr val="bg1"/>
                </a:solidFill>
              </a:rPr>
              <a:t>Content </a:t>
            </a:r>
          </a:p>
          <a:p>
            <a:endParaRPr lang="en-US" dirty="0"/>
          </a:p>
          <a:p>
            <a:pPr marL="342900" indent="-342900" algn="just">
              <a:buAutoNum type="arabicPeriod"/>
            </a:pPr>
            <a:r>
              <a:rPr lang="en-IN" sz="2400" dirty="0"/>
              <a:t>Introduction to phasor representation          1</a:t>
            </a:r>
          </a:p>
          <a:p>
            <a:pPr marL="342900" indent="-342900" algn="just">
              <a:buAutoNum type="arabicPeriod"/>
            </a:pPr>
            <a:r>
              <a:rPr lang="en-IN" sz="2400" dirty="0"/>
              <a:t>Rectangular form of phasor                             2</a:t>
            </a:r>
          </a:p>
          <a:p>
            <a:pPr marL="342900" indent="-342900" algn="just">
              <a:buAutoNum type="arabicPeriod"/>
            </a:pPr>
            <a:r>
              <a:rPr lang="en-IN" sz="2400" dirty="0"/>
              <a:t>Polar form of phasor                                         3</a:t>
            </a:r>
          </a:p>
          <a:p>
            <a:pPr marL="342900" indent="-342900" algn="just">
              <a:buAutoNum type="arabicPeriod"/>
            </a:pPr>
            <a:r>
              <a:rPr lang="en-IN" sz="2400" dirty="0"/>
              <a:t>Conversion: Rectangular to Polar                   4 </a:t>
            </a:r>
          </a:p>
          <a:p>
            <a:pPr marL="342900" indent="-342900" algn="just">
              <a:buAutoNum type="arabicPeriod"/>
            </a:pPr>
            <a:r>
              <a:rPr lang="en-IN" sz="2400" dirty="0"/>
              <a:t>Conversion: Polar to Rectangular                   5</a:t>
            </a:r>
          </a:p>
          <a:p>
            <a:pPr marL="342900" indent="-342900" algn="just">
              <a:buAutoNum type="arabicPeriod"/>
            </a:pPr>
            <a:r>
              <a:rPr lang="en-US" sz="2400" dirty="0"/>
              <a:t>Example 1: Conversion of a Phasor                6</a:t>
            </a:r>
          </a:p>
          <a:p>
            <a:pPr marL="342900" indent="-342900" algn="just">
              <a:buAutoNum type="arabicPeriod"/>
            </a:pPr>
            <a:r>
              <a:rPr lang="en-US" sz="2400" dirty="0"/>
              <a:t>Example 2: AC Circuit Using Polar Representation                                                   </a:t>
            </a:r>
            <a:r>
              <a:rPr lang="en-IN" sz="2400" dirty="0"/>
              <a:t>7</a:t>
            </a:r>
            <a:endParaRPr lang="en-US" sz="2400" dirty="0"/>
          </a:p>
          <a:p>
            <a:pPr marL="342900" indent="-342900" algn="just">
              <a:buAutoNum type="arabicPeriod"/>
            </a:pPr>
            <a:r>
              <a:rPr lang="en-IN" sz="2400" dirty="0"/>
              <a:t>Graphical Representation of Phasors </a:t>
            </a:r>
            <a:r>
              <a:rPr lang="en-US" sz="2400" dirty="0"/>
              <a:t>            8</a:t>
            </a:r>
          </a:p>
        </p:txBody>
      </p:sp>
    </p:spTree>
    <p:extLst>
      <p:ext uri="{BB962C8B-B14F-4D97-AF65-F5344CB8AC3E}">
        <p14:creationId xmlns:p14="http://schemas.microsoft.com/office/powerpoint/2010/main" val="2278835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7ecc5b6340f44b7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IN" altLang="en-US" sz="2800" b="1" dirty="0">
                <a:solidFill>
                  <a:schemeClr val="bg1"/>
                </a:solidFill>
                <a:latin typeface="Times New Roman" panose="02020603050405020304" pitchFamily="18" charset="0"/>
                <a:cs typeface="Calibri" panose="020F0502020204030204" pitchFamily="34" charset="0"/>
              </a:rPr>
              <a:t>Introduction to Phasor Representation</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3877ABAD-0E75-0C03-1886-BFA70B4C509B}"/>
              </a:ext>
            </a:extLst>
          </p:cNvPr>
          <p:cNvSpPr txBox="1"/>
          <p:nvPr/>
        </p:nvSpPr>
        <p:spPr>
          <a:xfrm>
            <a:off x="811657" y="2119452"/>
            <a:ext cx="7274105" cy="3264483"/>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400" i="0" u="none" strike="noStrike" kern="1200" cap="none" spc="0" normalizeH="0" baseline="0" noProof="0" dirty="0">
                <a:ln>
                  <a:noFill/>
                </a:ln>
                <a:effectLst/>
                <a:uLnTx/>
                <a:uFillTx/>
                <a:latin typeface="Calibri" panose="020F0502020204030204"/>
                <a:ea typeface="+mn-ea"/>
                <a:cs typeface="+mn-cs"/>
              </a:rPr>
              <a:t>A phasor is a complex number representing a sinusoidal function of time in the frequency domain. It simplifies analysis of AC circuits by converting differential equations into algebraic equations.</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altLang="en-US" sz="2400" dirty="0">
              <a:latin typeface="Calibri" panose="020F0502020204030204"/>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400" i="0" u="none" strike="noStrike" kern="1200" cap="none" spc="0" normalizeH="0" baseline="0" noProof="0" dirty="0">
                <a:ln>
                  <a:noFill/>
                </a:ln>
                <a:effectLst/>
                <a:uLnTx/>
                <a:uFillTx/>
                <a:latin typeface="Calibri" panose="020F0502020204030204"/>
                <a:ea typeface="+mn-ea"/>
                <a:cs typeface="+mn-cs"/>
              </a:rPr>
              <a:t>Highlighting Points:</a:t>
            </a:r>
          </a:p>
          <a:p>
            <a:pPr marL="342900" marR="0" lvl="0" indent="-342900" algn="just"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400" i="0" u="none" strike="noStrike" kern="1200" cap="none" spc="0" normalizeH="0" baseline="0" noProof="0" dirty="0">
                <a:ln>
                  <a:noFill/>
                </a:ln>
                <a:effectLst/>
                <a:uLnTx/>
                <a:uFillTx/>
                <a:latin typeface="Calibri" panose="020F0502020204030204"/>
                <a:ea typeface="+mn-ea"/>
                <a:cs typeface="+mn-cs"/>
              </a:rPr>
              <a:t>Phasors contain both magnitude and phase angle</a:t>
            </a:r>
          </a:p>
          <a:p>
            <a:pPr marL="342900" marR="0" lvl="0" indent="-342900" algn="just"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400" i="0" u="none" strike="noStrike" kern="1200" cap="none" spc="0" normalizeH="0" baseline="0" noProof="0" dirty="0">
                <a:ln>
                  <a:noFill/>
                </a:ln>
                <a:effectLst/>
                <a:uLnTx/>
                <a:uFillTx/>
                <a:latin typeface="Calibri" panose="020F0502020204030204"/>
                <a:ea typeface="+mn-ea"/>
                <a:cs typeface="+mn-cs"/>
              </a:rPr>
              <a:t>Used in steady-state sinusoidal analysis</a:t>
            </a:r>
          </a:p>
        </p:txBody>
      </p:sp>
    </p:spTree>
    <p:extLst>
      <p:ext uri="{BB962C8B-B14F-4D97-AF65-F5344CB8AC3E}">
        <p14:creationId xmlns:p14="http://schemas.microsoft.com/office/powerpoint/2010/main" val="3465981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f8dd014dfc9d4ce6"/>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b="1" dirty="0">
                <a:solidFill>
                  <a:schemeClr val="bg1"/>
                </a:solidFill>
                <a:latin typeface="+mn-lt"/>
                <a:cs typeface="Calibri" panose="020F0502020204030204" pitchFamily="34" charset="0"/>
              </a:rPr>
              <a:t>Rectangular Form of Phasor</a:t>
            </a:r>
          </a:p>
        </p:txBody>
      </p:sp>
      <p:sp>
        <p:nvSpPr>
          <p:cNvPr id="5" name="TextBox 4">
            <a:extLst>
              <a:ext uri="{FF2B5EF4-FFF2-40B4-BE49-F238E27FC236}">
                <a16:creationId xmlns:a16="http://schemas.microsoft.com/office/drawing/2014/main" id="{3789FB6D-7E04-4DD7-7D98-3B13A009BE44}"/>
              </a:ext>
            </a:extLst>
          </p:cNvPr>
          <p:cNvSpPr txBox="1"/>
          <p:nvPr/>
        </p:nvSpPr>
        <p:spPr>
          <a:xfrm>
            <a:off x="811658" y="2119452"/>
            <a:ext cx="7274104" cy="3860544"/>
          </a:xfrm>
          <a:prstGeom prst="rect">
            <a:avLst/>
          </a:prstGeom>
          <a:noFill/>
        </p:spPr>
        <p:txBody>
          <a:bodyPr wrap="square">
            <a:sp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In Rectangular form, a phasor is expressed as:</a:t>
            </a:r>
          </a:p>
          <a:p>
            <a:pPr marR="0" lvl="0" algn="ctr"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𝐴=𝑥+𝑗𝑦 </a:t>
            </a:r>
          </a:p>
          <a:p>
            <a:pPr marR="0" lvl="0" algn="just"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Where:</a:t>
            </a:r>
          </a:p>
          <a:p>
            <a:pPr marR="0" lvl="0" algn="just"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𝑥: Real part (horizontal axis)</a:t>
            </a:r>
          </a:p>
          <a:p>
            <a:pPr marR="0" lvl="0" algn="just"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𝑦: Imaginary part (vertical axis)</a:t>
            </a:r>
          </a:p>
          <a:p>
            <a:pPr marR="0" lvl="0" algn="just"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𝑗=</a:t>
            </a:r>
            <a:r>
              <a:rPr kumimoji="0" lang="en-US" altLang="en-US" sz="220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t>
            </a:r>
            <a:r>
              <a:rPr kumimoji="0" lang="en-US" altLang="en-US" sz="2200" i="0" u="none" strike="noStrike" kern="1200" cap="none" spc="0" normalizeH="0" baseline="0" noProof="0" dirty="0">
                <a:ln>
                  <a:noFill/>
                </a:ln>
                <a:effectLst/>
                <a:uLnTx/>
                <a:uFillTx/>
                <a:latin typeface="Calibri" panose="020F0502020204030204"/>
                <a:ea typeface="+mn-ea"/>
                <a:cs typeface="+mn-cs"/>
              </a:rPr>
              <a:t>−1</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Highlighting Points:</a:t>
            </a:r>
          </a:p>
          <a:p>
            <a:pPr marL="342900" marR="0" lvl="0" indent="-342900" algn="just"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Useful in phasor addition/subtraction</a:t>
            </a:r>
          </a:p>
          <a:p>
            <a:pPr marL="342900" marR="0" lvl="0" indent="-342900" algn="just"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Represents phasors on the complex plane</a:t>
            </a:r>
          </a:p>
        </p:txBody>
      </p:sp>
    </p:spTree>
    <p:extLst>
      <p:ext uri="{BB962C8B-B14F-4D97-AF65-F5344CB8AC3E}">
        <p14:creationId xmlns:p14="http://schemas.microsoft.com/office/powerpoint/2010/main" val="1071091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359E-7012-07A1-50DA-255C6FA788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6061E4-228D-C1FC-8530-CEA9B9D76FB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71DC1CB-330E-B0F8-FCB9-01E46EEED0A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5916653-3607-4B54-506B-1AACE1C5239E}"/>
              </a:ext>
            </a:extLst>
          </p:cNvPr>
          <p:cNvSpPr>
            <a:spLocks noChangeArrowheads="1"/>
          </p:cNvSpPr>
          <p:nvPr>
            <p:custDataLst>
              <p:tags r:id="Ra0853f23a3624fd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Polar Form of Phasor</a:t>
            </a:r>
          </a:p>
        </p:txBody>
      </p:sp>
      <p:sp>
        <p:nvSpPr>
          <p:cNvPr id="5" name="TextBox 4">
            <a:extLst>
              <a:ext uri="{FF2B5EF4-FFF2-40B4-BE49-F238E27FC236}">
                <a16:creationId xmlns:a16="http://schemas.microsoft.com/office/drawing/2014/main" id="{4B685A7A-AA40-A798-4F1A-025336853CCC}"/>
              </a:ext>
            </a:extLst>
          </p:cNvPr>
          <p:cNvSpPr txBox="1"/>
          <p:nvPr/>
        </p:nvSpPr>
        <p:spPr>
          <a:xfrm>
            <a:off x="729465" y="2210749"/>
            <a:ext cx="7428216" cy="3860544"/>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In Polar form, a phasor is represented as:𝐴=∣𝐴∣∠𝜃</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en-US" sz="2200" i="0" u="none" strike="noStrike" kern="1200" cap="none" spc="0" normalizeH="0" baseline="0" noProof="0" dirty="0">
              <a:ln>
                <a:noFill/>
              </a:ln>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Where:</a:t>
            </a:r>
          </a:p>
          <a:p>
            <a:pPr marL="342900" marR="0" lvl="0" indent="-342900" algn="l"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∣𝐴∣: Magnitude of the phasor</a:t>
            </a:r>
          </a:p>
          <a:p>
            <a:pPr marL="342900" marR="0" lvl="0" indent="-342900" algn="l"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𝜃: Phase angle (degrees or radians)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en-US" sz="2200" i="0" u="none" strike="noStrike" kern="1200" cap="none" spc="0" normalizeH="0" baseline="0" noProof="0" dirty="0">
              <a:ln>
                <a:noFill/>
              </a:ln>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Highlighting Points:</a:t>
            </a:r>
          </a:p>
          <a:p>
            <a:pPr marL="342900" marR="0" lvl="0" indent="-342900" algn="l"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Preferred for phasor multiplication/division</a:t>
            </a:r>
          </a:p>
          <a:p>
            <a:pPr marL="342900" marR="0" lvl="0" indent="-342900" algn="l"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Provides clear view of phase relationship</a:t>
            </a:r>
          </a:p>
        </p:txBody>
      </p:sp>
    </p:spTree>
    <p:extLst>
      <p:ext uri="{BB962C8B-B14F-4D97-AF65-F5344CB8AC3E}">
        <p14:creationId xmlns:p14="http://schemas.microsoft.com/office/powerpoint/2010/main" val="2907963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2671-C0F2-0018-1E2A-5CBEECF448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13C277-D0E0-D335-4DAF-41961A43FB65}"/>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113164F-C5BE-FEAA-65E7-69FA6CC5D6D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EEDC857-5A09-9ECB-4E36-CBB9EC23AE31}"/>
              </a:ext>
            </a:extLst>
          </p:cNvPr>
          <p:cNvSpPr>
            <a:spLocks noChangeArrowheads="1"/>
          </p:cNvSpPr>
          <p:nvPr>
            <p:custDataLst>
              <p:tags r:id="R0ab85a2d8a4d498d"/>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Conversion: Rectangular to Polar</a:t>
            </a:r>
          </a:p>
        </p:txBody>
      </p:sp>
      <p:sp>
        <p:nvSpPr>
          <p:cNvPr id="5" name="TextBox 4">
            <a:extLst>
              <a:ext uri="{FF2B5EF4-FFF2-40B4-BE49-F238E27FC236}">
                <a16:creationId xmlns:a16="http://schemas.microsoft.com/office/drawing/2014/main" id="{29D666E4-B35A-6942-BEBB-D1ED77290329}"/>
              </a:ext>
            </a:extLst>
          </p:cNvPr>
          <p:cNvSpPr txBox="1"/>
          <p:nvPr/>
        </p:nvSpPr>
        <p:spPr>
          <a:xfrm>
            <a:off x="821427" y="1970906"/>
            <a:ext cx="7428216" cy="3427605"/>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To convert 𝐴=𝑥+𝑗𝑦 to polar form:</a:t>
            </a:r>
          </a:p>
          <a:p>
            <a:pPr marR="0" lvl="0" algn="l" defTabSz="914400" rtl="0" eaLnBrk="1" fontAlgn="auto" latinLnBrk="0" hangingPunct="1">
              <a:lnSpc>
                <a:spcPct val="90000"/>
              </a:lnSpc>
              <a:spcBef>
                <a:spcPts val="1000"/>
              </a:spcBef>
              <a:spcAft>
                <a:spcPts val="0"/>
              </a:spcAft>
              <a:buClrTx/>
              <a:buSzTx/>
              <a:tabLst/>
              <a:defRPr/>
            </a:pPr>
            <a:endParaRPr kumimoji="0" lang="en-US" altLang="en-US" sz="2200" i="0" u="none" strike="noStrike" kern="1200" cap="none" spc="0" normalizeH="0" baseline="0" noProof="0" dirty="0">
              <a:ln>
                <a:noFill/>
              </a:ln>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Magnitude: ∣𝐴∣=</a:t>
            </a:r>
            <a:r>
              <a:rPr kumimoji="0" lang="en-US" altLang="en-US" sz="220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t>
            </a:r>
            <a:r>
              <a:rPr kumimoji="0" lang="en-US" altLang="en-US" sz="2200" i="0" u="none" strike="noStrike" kern="1200" cap="none" spc="0" normalizeH="0" baseline="0" noProof="0" dirty="0">
                <a:ln>
                  <a:noFill/>
                </a:ln>
                <a:effectLst/>
                <a:uLnTx/>
                <a:uFillTx/>
                <a:latin typeface="Calibri" panose="020F0502020204030204"/>
                <a:ea typeface="+mn-ea"/>
                <a:cs typeface="+mn-cs"/>
              </a:rPr>
              <a:t>𝑥2+𝑦2 ​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Angle: 𝜃=tan⁡−1(𝑦/𝑥)</a:t>
            </a:r>
            <a:r>
              <a:rPr kumimoji="0" lang="el-GR" altLang="en-US" sz="2200" i="0" u="none" strike="noStrike" kern="1200" cap="none" spc="0" normalizeH="0" baseline="0" noProof="0" dirty="0">
                <a:ln>
                  <a:noFill/>
                </a:ln>
                <a:effectLst/>
                <a:uLnTx/>
                <a:uFillTx/>
                <a:latin typeface="Calibri" panose="020F0502020204030204"/>
                <a:ea typeface="+mn-ea"/>
                <a:cs typeface="+mn-cs"/>
              </a:rPr>
              <a:t> </a:t>
            </a:r>
            <a:endParaRPr kumimoji="0" lang="en-US" altLang="en-US" sz="2200" i="0" u="none" strike="noStrike" kern="1200" cap="none" spc="0" normalizeH="0" baseline="0" noProof="0" dirty="0">
              <a:ln>
                <a:noFill/>
              </a:ln>
              <a:effectLst/>
              <a:uLnTx/>
              <a:uFillTx/>
              <a:latin typeface="Calibri" panose="020F0502020204030204"/>
              <a:ea typeface="+mn-ea"/>
              <a:cs typeface="+mn-cs"/>
            </a:endParaRPr>
          </a:p>
          <a:p>
            <a:pPr marR="0" lvl="0" algn="l" defTabSz="914400" rtl="0" eaLnBrk="1" fontAlgn="auto" latinLnBrk="0" hangingPunct="1">
              <a:lnSpc>
                <a:spcPct val="90000"/>
              </a:lnSpc>
              <a:spcBef>
                <a:spcPts val="1000"/>
              </a:spcBef>
              <a:spcAft>
                <a:spcPts val="0"/>
              </a:spcAft>
              <a:buClrTx/>
              <a:buSzTx/>
              <a:tabLst/>
              <a:defRPr/>
            </a:pPr>
            <a:endParaRPr kumimoji="0" lang="en-US" altLang="en-US" sz="2200" i="0" u="none" strike="noStrike" kern="1200" cap="none" spc="0" normalizeH="0" baseline="0" noProof="0" dirty="0">
              <a:ln>
                <a:noFill/>
              </a:ln>
              <a:effectLst/>
              <a:uLnTx/>
              <a:uFillTx/>
              <a:latin typeface="Calibri" panose="020F0502020204030204"/>
              <a:ea typeface="+mn-ea"/>
              <a:cs typeface="+mn-cs"/>
            </a:endParaRPr>
          </a:p>
          <a:p>
            <a:pPr marR="0" lvl="0" algn="l" defTabSz="914400" rtl="0" eaLnBrk="1" fontAlgn="auto" latinLnBrk="0" hangingPunct="1">
              <a:lnSpc>
                <a:spcPct val="90000"/>
              </a:lnSpc>
              <a:spcBef>
                <a:spcPts val="1000"/>
              </a:spcBef>
              <a:spcAft>
                <a:spcPts val="0"/>
              </a:spcAft>
              <a:buClrTx/>
              <a:buSzTx/>
              <a:tabLst/>
              <a:defRPr/>
            </a:pPr>
            <a:endParaRPr lang="en-US" altLang="en-US" sz="2200" dirty="0">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Highlighting Points: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effectLst/>
                <a:uLnTx/>
                <a:uFillTx/>
                <a:latin typeface="Calibri" panose="020F0502020204030204"/>
                <a:ea typeface="+mn-ea"/>
                <a:cs typeface="+mn-cs"/>
              </a:rPr>
              <a:t>Make sure to adjust angle according to quadrant</a:t>
            </a:r>
          </a:p>
        </p:txBody>
      </p:sp>
    </p:spTree>
    <p:extLst>
      <p:ext uri="{BB962C8B-B14F-4D97-AF65-F5344CB8AC3E}">
        <p14:creationId xmlns:p14="http://schemas.microsoft.com/office/powerpoint/2010/main" val="205589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B376D43-15E8-347D-9149-9C447A16BB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307B5A-7492-BEF4-7BC1-6CC7BE9256D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5856E61-737E-212D-C64B-BE99869EB20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CD09761-CE9A-8565-232A-52947E10D317}"/>
              </a:ext>
            </a:extLst>
          </p:cNvPr>
          <p:cNvSpPr>
            <a:spLocks noChangeArrowheads="1"/>
          </p:cNvSpPr>
          <p:nvPr>
            <p:custDataLst>
              <p:tags r:id="R61858fe005c84f92"/>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b="1" dirty="0">
                <a:solidFill>
                  <a:schemeClr val="bg1"/>
                </a:solidFill>
                <a:latin typeface="+mn-lt"/>
                <a:cs typeface="Calibri" panose="020F0502020204030204" pitchFamily="34" charset="0"/>
              </a:rPr>
              <a:t>Conversion: Polar to Rectangular</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4C0E9033-395D-BC0E-1C50-B2B6B0CD7ABB}"/>
              </a:ext>
            </a:extLst>
          </p:cNvPr>
          <p:cNvSpPr txBox="1"/>
          <p:nvPr/>
        </p:nvSpPr>
        <p:spPr>
          <a:xfrm>
            <a:off x="806942" y="2128603"/>
            <a:ext cx="7201342" cy="3139321"/>
          </a:xfrm>
          <a:prstGeom prst="rect">
            <a:avLst/>
          </a:prstGeom>
          <a:noFill/>
        </p:spPr>
        <p:txBody>
          <a:bodyPr wrap="square" rtlCol="0">
            <a:spAutoFit/>
          </a:bodyPr>
          <a:lstStyle/>
          <a:p>
            <a:r>
              <a:rPr lang="en-US" sz="2200" dirty="0"/>
              <a:t>To convert 𝐴=∣𝐴∣∠𝜃</a:t>
            </a:r>
            <a:r>
              <a:rPr lang="el-GR" sz="2200" dirty="0"/>
              <a:t> </a:t>
            </a:r>
            <a:r>
              <a:rPr lang="en-US" sz="2200" dirty="0"/>
              <a:t>to rectangular form:</a:t>
            </a:r>
          </a:p>
          <a:p>
            <a:endParaRPr lang="en-US" sz="2200" dirty="0"/>
          </a:p>
          <a:p>
            <a:pPr marL="342900" indent="-342900">
              <a:buFont typeface="Arial" panose="020B0604020202020204" pitchFamily="34" charset="0"/>
              <a:buChar char="•"/>
            </a:pPr>
            <a:r>
              <a:rPr lang="en-US" sz="2200" dirty="0"/>
              <a:t>Real part: 𝑥=∣𝐴∣cos⁡(𝜃) </a:t>
            </a:r>
          </a:p>
          <a:p>
            <a:pPr marL="342900" indent="-342900">
              <a:buFont typeface="Arial" panose="020B0604020202020204" pitchFamily="34" charset="0"/>
              <a:buChar char="•"/>
            </a:pPr>
            <a:r>
              <a:rPr lang="en-US" sz="2200" dirty="0"/>
              <a:t>Imaginary part: 𝑦=∣𝐴∣sin⁡(𝜃)</a:t>
            </a:r>
          </a:p>
          <a:p>
            <a:endParaRPr lang="en-US" sz="2200" dirty="0"/>
          </a:p>
          <a:p>
            <a:r>
              <a:rPr lang="en-US" sz="2200" dirty="0"/>
              <a:t>Highlighting Points:</a:t>
            </a:r>
          </a:p>
          <a:p>
            <a:endParaRPr lang="en-US" sz="2200" dirty="0"/>
          </a:p>
          <a:p>
            <a:pPr marL="342900" indent="-342900">
              <a:buFont typeface="Arial" panose="020B0604020202020204" pitchFamily="34" charset="0"/>
              <a:buChar char="•"/>
            </a:pPr>
            <a:r>
              <a:rPr lang="en-US" sz="2200" dirty="0"/>
              <a:t>Angle must be in radians if using a calculator</a:t>
            </a:r>
          </a:p>
          <a:p>
            <a:pPr marL="342900" indent="-342900">
              <a:buFont typeface="Arial" panose="020B0604020202020204" pitchFamily="34" charset="0"/>
              <a:buChar char="•"/>
            </a:pPr>
            <a:r>
              <a:rPr lang="en-US" sz="2200" dirty="0"/>
              <a:t>Helps in using phasors in matrix or loop equations</a:t>
            </a:r>
          </a:p>
        </p:txBody>
      </p:sp>
    </p:spTree>
    <p:extLst>
      <p:ext uri="{BB962C8B-B14F-4D97-AF65-F5344CB8AC3E}">
        <p14:creationId xmlns:p14="http://schemas.microsoft.com/office/powerpoint/2010/main" val="1593448091"/>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050442FE-8A54-83DC-A2B1-4113BAAE0D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CA2B54-0807-DCDA-0C40-5F553228300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F5DBC1D-A481-C2D2-46AE-E6D02C47091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3D1CFC3-A715-41D0-81A4-C4FC877603F9}"/>
              </a:ext>
            </a:extLst>
          </p:cNvPr>
          <p:cNvSpPr>
            <a:spLocks noChangeArrowheads="1"/>
          </p:cNvSpPr>
          <p:nvPr>
            <p:custDataLst>
              <p:tags r:id="Rfc90078454f8465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Example 1 – Conversion of a Phasor</a:t>
            </a:r>
            <a:endParaRPr lang="en-IN" altLang="en-US"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9A9F396B-77F3-78F5-E8DE-0C7634482B71}"/>
              </a:ext>
            </a:extLst>
          </p:cNvPr>
          <p:cNvSpPr txBox="1"/>
          <p:nvPr/>
        </p:nvSpPr>
        <p:spPr>
          <a:xfrm>
            <a:off x="806942" y="2128603"/>
            <a:ext cx="7201342" cy="4154984"/>
          </a:xfrm>
          <a:prstGeom prst="rect">
            <a:avLst/>
          </a:prstGeom>
          <a:noFill/>
        </p:spPr>
        <p:txBody>
          <a:bodyPr wrap="square" rtlCol="0">
            <a:spAutoFit/>
          </a:bodyPr>
          <a:lstStyle/>
          <a:p>
            <a:r>
              <a:rPr lang="en-US" sz="2200" dirty="0"/>
              <a:t>Given: 𝐴=6+𝑗8</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Magnitude: ∣𝐴∣=</a:t>
            </a:r>
            <a:r>
              <a:rPr lang="en-US" sz="2200" dirty="0">
                <a:latin typeface="Times New Roman" panose="02020603050405020304" pitchFamily="18" charset="0"/>
                <a:cs typeface="Times New Roman" panose="02020603050405020304" pitchFamily="18" charset="0"/>
              </a:rPr>
              <a:t>√ 36 </a:t>
            </a:r>
            <a:r>
              <a:rPr lang="en-US" sz="2200" dirty="0"/>
              <a:t>+ 64</a:t>
            </a:r>
          </a:p>
          <a:p>
            <a:r>
              <a:rPr lang="en-US" sz="2200" dirty="0"/>
              <a:t>                                 =10</a:t>
            </a:r>
          </a:p>
          <a:p>
            <a:pPr marL="342900" indent="-342900">
              <a:buFont typeface="Arial" panose="020B0604020202020204" pitchFamily="34" charset="0"/>
              <a:buChar char="•"/>
            </a:pPr>
            <a:r>
              <a:rPr lang="en-US" sz="2200" dirty="0"/>
              <a:t>Angle: 𝜃=tan⁡−1(8/6)</a:t>
            </a:r>
          </a:p>
          <a:p>
            <a:r>
              <a:rPr lang="en-US" sz="2200" dirty="0"/>
              <a:t>                    =53.13∘</a:t>
            </a:r>
          </a:p>
          <a:p>
            <a:pPr marL="342900" indent="-342900">
              <a:buFont typeface="Arial" panose="020B0604020202020204" pitchFamily="34" charset="0"/>
              <a:buChar char="•"/>
            </a:pPr>
            <a:r>
              <a:rPr lang="en-US" sz="2200" dirty="0"/>
              <a:t>Polar Form: 𝐴=10∠53.13∘A</a:t>
            </a:r>
          </a:p>
          <a:p>
            <a:r>
              <a:rPr lang="en-US" sz="2200" dirty="0"/>
              <a:t>                               =10∠53.13 ∘ </a:t>
            </a:r>
          </a:p>
          <a:p>
            <a:endParaRPr lang="en-US" sz="2200" dirty="0"/>
          </a:p>
          <a:p>
            <a:endParaRPr lang="en-US" sz="2200" dirty="0"/>
          </a:p>
          <a:p>
            <a:r>
              <a:rPr lang="en-US" sz="2200" dirty="0"/>
              <a:t>Highlighting Points:</a:t>
            </a:r>
          </a:p>
          <a:p>
            <a:pPr marL="342900" indent="-342900">
              <a:buFont typeface="Arial" panose="020B0604020202020204" pitchFamily="34" charset="0"/>
              <a:buChar char="•"/>
            </a:pPr>
            <a:r>
              <a:rPr lang="en-US" sz="2200" dirty="0"/>
              <a:t>Accurate angle is important in power factor analysis</a:t>
            </a:r>
          </a:p>
        </p:txBody>
      </p:sp>
    </p:spTree>
    <p:extLst>
      <p:ext uri="{BB962C8B-B14F-4D97-AF65-F5344CB8AC3E}">
        <p14:creationId xmlns:p14="http://schemas.microsoft.com/office/powerpoint/2010/main" val="4045194712"/>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938992"/>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Purely Resistive Load</a:t>
            </a:r>
          </a:p>
          <a:p>
            <a:pPr algn="ctr"/>
            <a:endPar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C126386D-BC35-8FF8-BA96-05B65F45181C}"/>
              </a:ext>
            </a:extLst>
          </p:cNvPr>
          <p:cNvSpPr txBox="1"/>
          <p:nvPr/>
        </p:nvSpPr>
        <p:spPr>
          <a:xfrm>
            <a:off x="446066" y="2200685"/>
            <a:ext cx="6074227" cy="313932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200" b="0" i="0" u="none" strike="noStrike" cap="none" normalizeH="0" baseline="0" dirty="0">
                <a:ln>
                  <a:noFill/>
                </a:ln>
                <a:solidFill>
                  <a:schemeClr val="tx1"/>
                </a:solidFill>
                <a:effectLst/>
              </a:rPr>
              <a:t>Introduction to AC and Resistive Loads </a:t>
            </a:r>
            <a:r>
              <a:rPr lang="en-US" altLang="en-US" sz="2200" dirty="0"/>
              <a:t>……………..</a:t>
            </a:r>
            <a:r>
              <a:rPr kumimoji="0" lang="en-US" altLang="en-US" sz="2200" b="0" i="0" u="none" strike="noStrike" cap="none" normalizeH="0" baseline="0" dirty="0">
                <a:ln>
                  <a:noFill/>
                </a:ln>
                <a:solidFill>
                  <a:schemeClr val="tx1"/>
                </a:solidFill>
                <a:effectLst/>
              </a:rPr>
              <a:t>3</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0" i="0" u="none" strike="noStrike" cap="none" normalizeH="0" baseline="0" dirty="0">
                <a:ln>
                  <a:noFill/>
                </a:ln>
                <a:solidFill>
                  <a:schemeClr val="tx1"/>
                </a:solidFill>
                <a:effectLst/>
              </a:rPr>
              <a:t>Characteristics of Purely Resistive Load </a:t>
            </a:r>
            <a:r>
              <a:rPr lang="en-US" altLang="en-US" sz="2200" dirty="0"/>
              <a:t>…………….</a:t>
            </a:r>
            <a:r>
              <a:rPr kumimoji="0" lang="en-US" altLang="en-US" sz="2200" b="0" i="0" u="none" strike="noStrike" cap="none" normalizeH="0" baseline="0" dirty="0">
                <a:ln>
                  <a:noFill/>
                </a:ln>
                <a:solidFill>
                  <a:schemeClr val="tx1"/>
                </a:solidFill>
                <a:effectLst/>
              </a:rPr>
              <a:t>4</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0" i="0" u="none" strike="noStrike" cap="none" normalizeH="0" baseline="0" dirty="0">
                <a:ln>
                  <a:noFill/>
                </a:ln>
                <a:solidFill>
                  <a:schemeClr val="tx1"/>
                </a:solidFill>
                <a:effectLst/>
              </a:rPr>
              <a:t>Voltage and Current Relationship ……………………..5</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0" i="0" u="none" strike="noStrike" cap="none" normalizeH="0" baseline="0" dirty="0">
                <a:ln>
                  <a:noFill/>
                </a:ln>
                <a:solidFill>
                  <a:schemeClr val="tx1"/>
                </a:solidFill>
                <a:effectLst/>
              </a:rPr>
              <a:t>Phasor Representation </a:t>
            </a:r>
            <a:r>
              <a:rPr lang="en-US" altLang="en-US" sz="2200" dirty="0"/>
              <a:t>……………………………………..</a:t>
            </a:r>
            <a:r>
              <a:rPr kumimoji="0" lang="en-US" altLang="en-US" sz="2200" b="0" i="0" u="none" strike="noStrike" cap="none" normalizeH="0" baseline="0" dirty="0">
                <a:ln>
                  <a:noFill/>
                </a:ln>
                <a:solidFill>
                  <a:schemeClr val="tx1"/>
                </a:solidFill>
                <a:effectLst/>
              </a:rPr>
              <a:t>6</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200" b="0" i="0" u="none" strike="noStrike" cap="none" normalizeH="0" baseline="0" dirty="0">
                <a:ln>
                  <a:noFill/>
                </a:ln>
                <a:solidFill>
                  <a:schemeClr val="tx1"/>
                </a:solidFill>
                <a:effectLst/>
              </a:rPr>
              <a:t>Waveforms of Voltage and Current …………………..7</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200" b="0" i="0" u="none" strike="noStrike" cap="none" normalizeH="0" baseline="0" dirty="0">
                <a:ln>
                  <a:noFill/>
                </a:ln>
                <a:solidFill>
                  <a:schemeClr val="tx1"/>
                </a:solidFill>
                <a:effectLst/>
              </a:rPr>
              <a:t>Power in Pure Resistive Load …………………………….8</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200" b="0" i="0" u="none" strike="noStrike" cap="none" normalizeH="0" baseline="0" dirty="0">
                <a:ln>
                  <a:noFill/>
                </a:ln>
                <a:solidFill>
                  <a:schemeClr val="tx1"/>
                </a:solidFill>
                <a:effectLst/>
              </a:rPr>
              <a:t>Key Points / Summary </a:t>
            </a:r>
            <a:r>
              <a:rPr lang="en-US" altLang="en-US" sz="2200" dirty="0"/>
              <a:t>……………………………………….</a:t>
            </a:r>
            <a:r>
              <a:rPr kumimoji="0" lang="en-US" altLang="en-US" sz="2200" b="0" i="0" u="none" strike="noStrike" cap="none" normalizeH="0" baseline="0" dirty="0">
                <a:ln>
                  <a:noFill/>
                </a:ln>
                <a:solidFill>
                  <a:schemeClr val="tx1"/>
                </a:solidFill>
                <a:effectLst/>
              </a:rPr>
              <a:t>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278835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a8ed6d24dcb94a6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2800" b="1" dirty="0">
                <a:solidFill>
                  <a:schemeClr val="bg1"/>
                </a:solidFill>
                <a:latin typeface="Times New Roman" panose="02020603050405020304" pitchFamily="18" charset="0"/>
                <a:cs typeface="Calibri" panose="020F0502020204030204" pitchFamily="34" charset="0"/>
              </a:rPr>
              <a:t>Introduction to AC and Resistive Load</a:t>
            </a:r>
            <a:endParaRPr lang="en-IN" altLang="en-US" dirty="0">
              <a:solidFill>
                <a:schemeClr val="bg1"/>
              </a:solidFill>
              <a:latin typeface="+mn-lt"/>
              <a:cs typeface="Times New Roman" panose="02020603050405020304" pitchFamily="18" charset="0"/>
            </a:endParaRPr>
          </a:p>
        </p:txBody>
      </p:sp>
      <p:sp>
        <p:nvSpPr>
          <p:cNvPr id="6" name="Rectangle 2">
            <a:extLst>
              <a:ext uri="{FF2B5EF4-FFF2-40B4-BE49-F238E27FC236}">
                <a16:creationId xmlns:a16="http://schemas.microsoft.com/office/drawing/2014/main" id="{C34417C1-B2DB-B994-93A1-D7327C192324}"/>
              </a:ext>
            </a:extLst>
          </p:cNvPr>
          <p:cNvSpPr>
            <a:spLocks noChangeArrowheads="1"/>
          </p:cNvSpPr>
          <p:nvPr/>
        </p:nvSpPr>
        <p:spPr bwMode="auto">
          <a:xfrm>
            <a:off x="502506" y="1904592"/>
            <a:ext cx="7810213"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Alternating Current (AC) is a type of electrical current that varies sinusoidally with time.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AC voltage: </a:t>
            </a:r>
          </a:p>
          <a:p>
            <a:pPr marL="0" marR="0" lvl="0" indent="0" algn="ctr" defTabSz="914400" rtl="0" eaLnBrk="0" fontAlgn="base" latinLnBrk="0" hangingPunct="0">
              <a:lnSpc>
                <a:spcPct val="100000"/>
              </a:lnSpc>
              <a:spcBef>
                <a:spcPct val="0"/>
              </a:spcBef>
              <a:spcAft>
                <a:spcPct val="0"/>
              </a:spcAft>
              <a:buClrTx/>
              <a:buSzTx/>
              <a:tabLst/>
            </a:pPr>
            <a:r>
              <a:rPr lang="en-US" altLang="en-US" sz="2400" dirty="0"/>
              <a:t>V</a:t>
            </a:r>
            <a:r>
              <a:rPr kumimoji="0" lang="en-US" altLang="en-US" sz="2400" i="0" u="none" strike="noStrike" cap="none" normalizeH="0" baseline="0" dirty="0">
                <a:ln>
                  <a:noFill/>
                </a:ln>
                <a:solidFill>
                  <a:schemeClr val="tx1"/>
                </a:solidFill>
                <a:effectLst/>
              </a:rPr>
              <a:t>(t) = </a:t>
            </a:r>
            <a:r>
              <a:rPr kumimoji="0" lang="en-US" altLang="en-US" sz="2400" i="0" u="none" strike="noStrike" cap="none" normalizeH="0" baseline="0" dirty="0" err="1">
                <a:ln>
                  <a:noFill/>
                </a:ln>
                <a:solidFill>
                  <a:schemeClr val="tx1"/>
                </a:solidFill>
                <a:effectLst/>
              </a:rPr>
              <a:t>Vm</a:t>
            </a:r>
            <a:r>
              <a:rPr kumimoji="0" lang="en-US" altLang="en-US" sz="2400" i="0" u="none" strike="noStrike" cap="none" normalizeH="0" baseline="0" dirty="0">
                <a:ln>
                  <a:noFill/>
                </a:ln>
                <a:solidFill>
                  <a:schemeClr val="tx1"/>
                </a:solidFill>
                <a:effectLst/>
              </a:rPr>
              <a:t> × sin(</a:t>
            </a:r>
            <a:r>
              <a:rPr kumimoji="0" lang="en-US" altLang="en-US" sz="2400" i="0" u="none" strike="noStrike" cap="none" normalizeH="0" baseline="0" dirty="0" err="1">
                <a:ln>
                  <a:noFill/>
                </a:ln>
                <a:solidFill>
                  <a:schemeClr val="tx1"/>
                </a:solidFill>
                <a:effectLst/>
              </a:rPr>
              <a:t>ωt</a:t>
            </a:r>
            <a:r>
              <a:rPr kumimoji="0" lang="en-US" altLang="en-US" sz="240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endParaRPr lang="en-US" altLang="en-US" sz="2200" dirty="0"/>
          </a:p>
          <a:p>
            <a:pPr marL="0" marR="0" lvl="0" indent="0"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a:ln>
                  <a:noFill/>
                </a:ln>
                <a:solidFill>
                  <a:schemeClr val="tx1"/>
                </a:solidFill>
                <a:effectLst/>
              </a:rPr>
              <a:t>Where,</a:t>
            </a:r>
            <a:br>
              <a:rPr kumimoji="0" lang="en-US" altLang="en-US" sz="2200" i="0" u="none" strike="noStrike" cap="none" normalizeH="0" baseline="0" dirty="0">
                <a:ln>
                  <a:noFill/>
                </a:ln>
                <a:solidFill>
                  <a:schemeClr val="tx1"/>
                </a:solidFill>
                <a:effectLst/>
              </a:rPr>
            </a:br>
            <a:r>
              <a:rPr kumimoji="0" lang="en-US" altLang="en-US" sz="2200" i="0" u="none" strike="noStrike" cap="none" normalizeH="0" baseline="0" dirty="0" err="1">
                <a:ln>
                  <a:noFill/>
                </a:ln>
                <a:solidFill>
                  <a:schemeClr val="tx1"/>
                </a:solidFill>
                <a:effectLst/>
              </a:rPr>
              <a:t>Vm</a:t>
            </a:r>
            <a:r>
              <a:rPr kumimoji="0" lang="en-US" altLang="en-US" sz="2200" i="0" u="none" strike="noStrike" cap="none" normalizeH="0" baseline="0" dirty="0">
                <a:ln>
                  <a:noFill/>
                </a:ln>
                <a:solidFill>
                  <a:schemeClr val="tx1"/>
                </a:solidFill>
                <a:effectLst/>
              </a:rPr>
              <a:t> = peak voltage, ω = angular frequency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 resistive load is an electrical component that resists the flow of current and converts electrical energy into heat.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Common examples of resistive loads: incandescent bulbs, electric heaters, resistors.</a:t>
            </a:r>
          </a:p>
        </p:txBody>
      </p:sp>
    </p:spTree>
    <p:extLst>
      <p:ext uri="{BB962C8B-B14F-4D97-AF65-F5344CB8AC3E}">
        <p14:creationId xmlns:p14="http://schemas.microsoft.com/office/powerpoint/2010/main" val="3465981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2c75086d3b7442ce"/>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Characteristics of Purely Resistive Load</a:t>
            </a:r>
            <a:endParaRPr lang="en-IN" altLang="en-US" b="1" dirty="0">
              <a:solidFill>
                <a:schemeClr val="bg1"/>
              </a:solidFill>
              <a:latin typeface="+mn-lt"/>
              <a:cs typeface="Calibri" panose="020F0502020204030204" pitchFamily="34" charset="0"/>
            </a:endParaRPr>
          </a:p>
        </p:txBody>
      </p:sp>
      <p:sp>
        <p:nvSpPr>
          <p:cNvPr id="14" name="TextBox 13">
            <a:extLst>
              <a:ext uri="{FF2B5EF4-FFF2-40B4-BE49-F238E27FC236}">
                <a16:creationId xmlns:a16="http://schemas.microsoft.com/office/drawing/2014/main" id="{FA449FAC-8416-BCDD-ACE4-41FDD019DBD1}"/>
              </a:ext>
            </a:extLst>
          </p:cNvPr>
          <p:cNvSpPr txBox="1"/>
          <p:nvPr/>
        </p:nvSpPr>
        <p:spPr>
          <a:xfrm>
            <a:off x="729465" y="1990164"/>
            <a:ext cx="4037407" cy="4493538"/>
          </a:xfrm>
          <a:prstGeom prst="rect">
            <a:avLst/>
          </a:prstGeom>
          <a:noFill/>
        </p:spPr>
        <p:txBody>
          <a:bodyPr wrap="square">
            <a:spAutoFit/>
          </a:bodyPr>
          <a:lstStyle/>
          <a:p>
            <a:pPr algn="just">
              <a:buFont typeface="Arial" panose="020B0604020202020204" pitchFamily="34" charset="0"/>
              <a:buChar char="•"/>
            </a:pPr>
            <a:r>
              <a:rPr lang="en-US" sz="2200" dirty="0"/>
              <a:t>In a purely resistive circuit, the load contains only resistance (R); no inductance (L) or capacitance (C).</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voltage and current are in the same phase.</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There is no phase difference (θ = 0°) between voltage and current.</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Power is completely dissipated as heat in the resistor.</a:t>
            </a:r>
          </a:p>
        </p:txBody>
      </p:sp>
      <p:pic>
        <p:nvPicPr>
          <p:cNvPr id="17" name="Picture 16">
            <a:extLst>
              <a:ext uri="{FF2B5EF4-FFF2-40B4-BE49-F238E27FC236}">
                <a16:creationId xmlns:a16="http://schemas.microsoft.com/office/drawing/2014/main" id="{1ECC97C5-BCD9-A724-A244-82F4B1F3D175}"/>
              </a:ext>
            </a:extLst>
          </p:cNvPr>
          <p:cNvPicPr>
            <a:picLocks noChangeAspect="1"/>
          </p:cNvPicPr>
          <p:nvPr/>
        </p:nvPicPr>
        <p:blipFill>
          <a:blip r:embed="Rdef253b7c8ac4c47"/>
          <a:stretch>
            <a:fillRect/>
          </a:stretch>
        </p:blipFill>
        <p:spPr>
          <a:xfrm>
            <a:off x="4766872" y="2243500"/>
            <a:ext cx="4224020" cy="3302862"/>
          </a:xfrm>
          <a:prstGeom prst="rect">
            <a:avLst/>
          </a:prstGeom>
        </p:spPr>
      </p:pic>
      <p:sp>
        <p:nvSpPr>
          <p:cNvPr id="18" name="TextBox 17">
            <a:extLst>
              <a:ext uri="{FF2B5EF4-FFF2-40B4-BE49-F238E27FC236}">
                <a16:creationId xmlns:a16="http://schemas.microsoft.com/office/drawing/2014/main" id="{AFA8C167-171F-2D15-F35C-134813582A5B}"/>
              </a:ext>
            </a:extLst>
          </p:cNvPr>
          <p:cNvSpPr txBox="1"/>
          <p:nvPr/>
        </p:nvSpPr>
        <p:spPr>
          <a:xfrm>
            <a:off x="5588125" y="5656726"/>
            <a:ext cx="3402767" cy="276999"/>
          </a:xfrm>
          <a:prstGeom prst="rect">
            <a:avLst/>
          </a:prstGeom>
          <a:noFill/>
        </p:spPr>
        <p:txBody>
          <a:bodyPr wrap="square" rtlCol="0">
            <a:spAutoFit/>
          </a:bodyPr>
          <a:lstStyle/>
          <a:p>
            <a:r>
              <a:rPr lang="en-US" sz="1200" dirty="0"/>
              <a:t>Figure 2.1 Purely Resistive Circuit</a:t>
            </a:r>
            <a:endParaRPr lang="en-IN" sz="1200" dirty="0"/>
          </a:p>
        </p:txBody>
      </p:sp>
    </p:spTree>
    <p:extLst>
      <p:ext uri="{BB962C8B-B14F-4D97-AF65-F5344CB8AC3E}">
        <p14:creationId xmlns:p14="http://schemas.microsoft.com/office/powerpoint/2010/main" val="1071091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fed8b20e50aa47c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Voltage and Current Relationship</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60914D54-8130-A9E3-805C-7248B29D42D8}"/>
              </a:ext>
            </a:extLst>
          </p:cNvPr>
          <p:cNvSpPr>
            <a:spLocks noChangeArrowheads="1"/>
          </p:cNvSpPr>
          <p:nvPr/>
        </p:nvSpPr>
        <p:spPr bwMode="auto">
          <a:xfrm>
            <a:off x="729465" y="1830557"/>
            <a:ext cx="7393286"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Ohm’s Law applies: V = I × R</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If </a:t>
            </a:r>
          </a:p>
          <a:p>
            <a:pPr marL="0" marR="0" lvl="0" indent="0" algn="ctr" defTabSz="914400" rtl="0" eaLnBrk="0" fontAlgn="base" latinLnBrk="0" hangingPunct="0">
              <a:lnSpc>
                <a:spcPct val="100000"/>
              </a:lnSpc>
              <a:spcBef>
                <a:spcPct val="0"/>
              </a:spcBef>
              <a:spcAft>
                <a:spcPct val="0"/>
              </a:spcAft>
              <a:buClrTx/>
              <a:buSzTx/>
              <a:tabLst/>
            </a:pPr>
            <a:r>
              <a:rPr lang="en-US" altLang="en-US" sz="2200" dirty="0"/>
              <a:t>V</a:t>
            </a:r>
            <a:r>
              <a:rPr kumimoji="0" lang="en-US" altLang="en-US" sz="2200" i="0" u="none" strike="noStrike" cap="none" normalizeH="0" baseline="0" dirty="0">
                <a:ln>
                  <a:noFill/>
                </a:ln>
                <a:solidFill>
                  <a:schemeClr val="tx1"/>
                </a:solidFill>
                <a:effectLst/>
              </a:rPr>
              <a:t>(t) = </a:t>
            </a:r>
            <a:r>
              <a:rPr kumimoji="0" lang="en-US" altLang="en-US" sz="2200" i="0" u="none" strike="noStrike" cap="none" normalizeH="0" baseline="0" dirty="0" err="1">
                <a:ln>
                  <a:noFill/>
                </a:ln>
                <a:solidFill>
                  <a:schemeClr val="tx1"/>
                </a:solidFill>
                <a:effectLst/>
              </a:rPr>
              <a:t>Vm</a:t>
            </a:r>
            <a:r>
              <a:rPr kumimoji="0" lang="en-US" altLang="en-US" sz="2200" i="0" u="none" strike="noStrike" cap="none" normalizeH="0" baseline="0" dirty="0">
                <a:ln>
                  <a:noFill/>
                </a:ln>
                <a:solidFill>
                  <a:schemeClr val="tx1"/>
                </a:solidFill>
                <a:effectLst/>
              </a:rPr>
              <a:t> × sin(</a:t>
            </a:r>
            <a:r>
              <a:rPr kumimoji="0" lang="en-US" altLang="en-US" sz="2200" i="0" u="none" strike="noStrike" cap="none" normalizeH="0" baseline="0" dirty="0" err="1">
                <a:ln>
                  <a:noFill/>
                </a:ln>
                <a:solidFill>
                  <a:schemeClr val="tx1"/>
                </a:solidFill>
                <a:effectLst/>
              </a:rPr>
              <a:t>ωt</a:t>
            </a:r>
            <a:r>
              <a:rPr kumimoji="0" lang="en-US" altLang="en-US" sz="2200" i="0" u="none" strike="noStrike" cap="none" normalizeH="0" baseline="0" dirty="0">
                <a:ln>
                  <a:noFill/>
                </a:ln>
                <a:solidFill>
                  <a:schemeClr val="tx1"/>
                </a:solidFill>
                <a:effectLst/>
              </a:rPr>
              <a:t>), </a:t>
            </a:r>
          </a:p>
          <a:p>
            <a:pPr marL="0" marR="0" lvl="0" indent="0"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a:ln>
                  <a:noFill/>
                </a:ln>
                <a:solidFill>
                  <a:schemeClr val="tx1"/>
                </a:solidFill>
                <a:effectLst/>
              </a:rPr>
              <a:t>Then Current: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err="1">
                <a:ln>
                  <a:noFill/>
                </a:ln>
                <a:solidFill>
                  <a:schemeClr val="tx1"/>
                </a:solidFill>
                <a:effectLst/>
              </a:rPr>
              <a:t>i</a:t>
            </a:r>
            <a:r>
              <a:rPr kumimoji="0" lang="en-US" altLang="en-US" sz="2200" i="0" u="none" strike="noStrike" cap="none" normalizeH="0" baseline="0" dirty="0">
                <a:ln>
                  <a:noFill/>
                </a:ln>
                <a:solidFill>
                  <a:schemeClr val="tx1"/>
                </a:solidFill>
                <a:effectLst/>
              </a:rPr>
              <a:t>(t) = </a:t>
            </a:r>
            <a:r>
              <a:rPr kumimoji="0" lang="en-US" altLang="en-US" sz="2200" i="0" u="none" strike="noStrike" cap="none" normalizeH="0" baseline="0" dirty="0" err="1">
                <a:ln>
                  <a:noFill/>
                </a:ln>
                <a:solidFill>
                  <a:schemeClr val="tx1"/>
                </a:solidFill>
                <a:effectLst/>
              </a:rPr>
              <a:t>Im</a:t>
            </a:r>
            <a:r>
              <a:rPr kumimoji="0" lang="en-US" altLang="en-US" sz="2200" i="0" u="none" strike="noStrike" cap="none" normalizeH="0" baseline="0" dirty="0">
                <a:ln>
                  <a:noFill/>
                </a:ln>
                <a:solidFill>
                  <a:schemeClr val="tx1"/>
                </a:solidFill>
                <a:effectLst/>
              </a:rPr>
              <a:t> × sin(</a:t>
            </a:r>
            <a:r>
              <a:rPr kumimoji="0" lang="en-US" altLang="en-US" sz="2200" i="0" u="none" strike="noStrike" cap="none" normalizeH="0" baseline="0" dirty="0" err="1">
                <a:ln>
                  <a:noFill/>
                </a:ln>
                <a:solidFill>
                  <a:schemeClr val="tx1"/>
                </a:solidFill>
                <a:effectLst/>
              </a:rPr>
              <a:t>ωt</a:t>
            </a:r>
            <a:r>
              <a:rPr kumimoji="0" lang="en-US" altLang="en-US" sz="2200" i="0" u="none" strike="noStrike" cap="none" normalizeH="0" baseline="0" dirty="0">
                <a:ln>
                  <a:noFill/>
                </a:ln>
                <a:solidFill>
                  <a:schemeClr val="tx1"/>
                </a:solidFill>
                <a:effectLst/>
              </a:rPr>
              <a:t>) </a:t>
            </a:r>
          </a:p>
          <a:p>
            <a:pPr marL="0" marR="0" lvl="0" indent="0" defTabSz="914400" rtl="0" eaLnBrk="0" fontAlgn="base" latinLnBrk="0" hangingPunct="0">
              <a:lnSpc>
                <a:spcPct val="100000"/>
              </a:lnSpc>
              <a:spcBef>
                <a:spcPct val="0"/>
              </a:spcBef>
              <a:spcAft>
                <a:spcPct val="0"/>
              </a:spcAft>
              <a:buClrTx/>
              <a:buSzTx/>
              <a:tabLst/>
            </a:pPr>
            <a:r>
              <a:rPr lang="en-US" altLang="en-US" sz="2200" dirty="0"/>
              <a:t>wh</a:t>
            </a:r>
            <a:r>
              <a:rPr kumimoji="0" lang="en-US" altLang="en-US" sz="2200" i="0" u="none" strike="noStrike" cap="none" normalizeH="0" baseline="0" dirty="0">
                <a:ln>
                  <a:noFill/>
                </a:ln>
                <a:solidFill>
                  <a:schemeClr val="tx1"/>
                </a:solidFill>
                <a:effectLst/>
              </a:rPr>
              <a:t>ere,</a:t>
            </a:r>
            <a:r>
              <a:rPr lang="en-US" altLang="en-US" sz="2200" dirty="0"/>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err="1">
                <a:ln>
                  <a:noFill/>
                </a:ln>
                <a:solidFill>
                  <a:schemeClr val="tx1"/>
                </a:solidFill>
                <a:effectLst/>
              </a:rPr>
              <a:t>Im</a:t>
            </a:r>
            <a:r>
              <a:rPr kumimoji="0" lang="en-US" altLang="en-US" sz="2200" i="0" u="none" strike="noStrike" cap="none" normalizeH="0" baseline="0" dirty="0">
                <a:ln>
                  <a:noFill/>
                </a:ln>
                <a:solidFill>
                  <a:schemeClr val="tx1"/>
                </a:solidFill>
                <a:effectLst/>
              </a:rPr>
              <a:t> = </a:t>
            </a:r>
            <a:r>
              <a:rPr kumimoji="0" lang="en-US" altLang="en-US" sz="2200" i="0" u="none" strike="noStrike" cap="none" normalizeH="0" baseline="0" dirty="0" err="1">
                <a:ln>
                  <a:noFill/>
                </a:ln>
                <a:solidFill>
                  <a:schemeClr val="tx1"/>
                </a:solidFill>
                <a:effectLst/>
              </a:rPr>
              <a:t>Vm</a:t>
            </a:r>
            <a:r>
              <a:rPr kumimoji="0" lang="en-US" altLang="en-US" sz="2200" i="0" u="none" strike="noStrike" cap="none" normalizeH="0" baseline="0" dirty="0">
                <a:ln>
                  <a:noFill/>
                </a:ln>
                <a:solidFill>
                  <a:schemeClr val="tx1"/>
                </a:solidFill>
                <a:effectLst/>
              </a:rPr>
              <a:t> / R</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Both voltage and current have identical waveforms and peak at the same time.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No time lag or lead between voltage and current.</a:t>
            </a:r>
          </a:p>
        </p:txBody>
      </p:sp>
    </p:spTree>
    <p:extLst>
      <p:ext uri="{BB962C8B-B14F-4D97-AF65-F5344CB8AC3E}">
        <p14:creationId xmlns:p14="http://schemas.microsoft.com/office/powerpoint/2010/main" val="3860129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692ce9c6e5d344c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pic>
        <p:nvPicPr>
          <p:cNvPr id="5" name="Picture 4">
            <a:extLst>
              <a:ext uri="{FF2B5EF4-FFF2-40B4-BE49-F238E27FC236}">
                <a16:creationId xmlns:a16="http://schemas.microsoft.com/office/drawing/2014/main" id="{D08E2D1F-0DBE-2F2E-B2FE-8338E7C9FB36}"/>
              </a:ext>
            </a:extLst>
          </p:cNvPr>
          <p:cNvPicPr>
            <a:picLocks noChangeAspect="1"/>
          </p:cNvPicPr>
          <p:nvPr/>
        </p:nvPicPr>
        <p:blipFill>
          <a:blip r:embed="R7029ce18edf44971">
            <a:extLst>
              <a:ext uri="{28A0092B-C50C-407E-A947-70E740481C1C}">
                <a14:useLocalDpi xmlns:a14="http://schemas.microsoft.com/office/drawing/2010/main" val="0"/>
              </a:ext>
            </a:extLst>
          </a:blip>
          <a:srcRect/>
          <a:stretch>
            <a:fillRect/>
          </a:stretch>
        </p:blipFill>
        <p:spPr bwMode="auto">
          <a:xfrm>
            <a:off x="4886794" y="2563743"/>
            <a:ext cx="3902630" cy="2922613"/>
          </a:xfrm>
          <a:prstGeom prst="rect">
            <a:avLst/>
          </a:prstGeom>
          <a:noFill/>
          <a:ln>
            <a:noFill/>
          </a:ln>
        </p:spPr>
      </p:pic>
      <p:sp>
        <p:nvSpPr>
          <p:cNvPr id="6" name="Rectangle 1">
            <a:extLst>
              <a:ext uri="{FF2B5EF4-FFF2-40B4-BE49-F238E27FC236}">
                <a16:creationId xmlns:a16="http://schemas.microsoft.com/office/drawing/2014/main" id="{BA01170B-F1ED-1808-394A-8185FAC15198}"/>
              </a:ext>
            </a:extLst>
          </p:cNvPr>
          <p:cNvSpPr>
            <a:spLocks noChangeArrowheads="1"/>
          </p:cNvSpPr>
          <p:nvPr/>
        </p:nvSpPr>
        <p:spPr bwMode="auto">
          <a:xfrm>
            <a:off x="354577" y="2116836"/>
            <a:ext cx="421742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Phasors are rotating vectors used to represent sinusoidal quantities.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For a purely resistive load: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phasor (V) and current phasor (I) lie on the same axis.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Phase angle θ = 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No angular separation between phasors.</a:t>
            </a:r>
          </a:p>
        </p:txBody>
      </p:sp>
      <p:sp>
        <p:nvSpPr>
          <p:cNvPr id="7" name="TextBox 6">
            <a:extLst>
              <a:ext uri="{FF2B5EF4-FFF2-40B4-BE49-F238E27FC236}">
                <a16:creationId xmlns:a16="http://schemas.microsoft.com/office/drawing/2014/main" id="{CEAC4C04-67E5-46C4-E8BB-B4EA6FA655C6}"/>
              </a:ext>
            </a:extLst>
          </p:cNvPr>
          <p:cNvSpPr txBox="1"/>
          <p:nvPr/>
        </p:nvSpPr>
        <p:spPr>
          <a:xfrm>
            <a:off x="5766058" y="5557423"/>
            <a:ext cx="3023365" cy="276999"/>
          </a:xfrm>
          <a:prstGeom prst="rect">
            <a:avLst/>
          </a:prstGeom>
          <a:noFill/>
        </p:spPr>
        <p:txBody>
          <a:bodyPr wrap="square" rtlCol="0">
            <a:spAutoFit/>
          </a:bodyPr>
          <a:lstStyle/>
          <a:p>
            <a:r>
              <a:rPr lang="en-US" sz="1200" dirty="0"/>
              <a:t>Figure 2.2 Phasor Diagram</a:t>
            </a:r>
            <a:endParaRPr lang="en-IN" sz="1200" dirty="0"/>
          </a:p>
        </p:txBody>
      </p:sp>
    </p:spTree>
    <p:extLst>
      <p:ext uri="{BB962C8B-B14F-4D97-AF65-F5344CB8AC3E}">
        <p14:creationId xmlns:p14="http://schemas.microsoft.com/office/powerpoint/2010/main" val="2223914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cc2bf285ac83481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3015177" y="5434314"/>
            <a:ext cx="3023365" cy="276999"/>
          </a:xfrm>
          <a:prstGeom prst="rect">
            <a:avLst/>
          </a:prstGeom>
          <a:noFill/>
        </p:spPr>
        <p:txBody>
          <a:bodyPr wrap="square" rtlCol="0">
            <a:spAutoFit/>
          </a:bodyPr>
          <a:lstStyle/>
          <a:p>
            <a:pPr algn="ctr"/>
            <a:r>
              <a:rPr lang="en-US" sz="1200" dirty="0"/>
              <a:t>Figure 2.2 Waveform Diagram</a:t>
            </a:r>
            <a:endParaRPr lang="en-IN" sz="1200" dirty="0"/>
          </a:p>
        </p:txBody>
      </p:sp>
      <p:sp>
        <p:nvSpPr>
          <p:cNvPr id="8" name="Rectangle 2">
            <a:extLst>
              <a:ext uri="{FF2B5EF4-FFF2-40B4-BE49-F238E27FC236}">
                <a16:creationId xmlns:a16="http://schemas.microsoft.com/office/drawing/2014/main" id="{F7DDBFCC-BF6A-15DF-6855-F9AFF5296D4D}"/>
              </a:ext>
            </a:extLst>
          </p:cNvPr>
          <p:cNvSpPr>
            <a:spLocks noChangeArrowheads="1"/>
          </p:cNvSpPr>
          <p:nvPr/>
        </p:nvSpPr>
        <p:spPr bwMode="auto">
          <a:xfrm>
            <a:off x="539308" y="5711313"/>
            <a:ext cx="79751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Both waveforms are sinusoidal and superimpose in time.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Peak values of current and voltage occur simultaneously.</a:t>
            </a:r>
          </a:p>
        </p:txBody>
      </p:sp>
      <p:pic>
        <p:nvPicPr>
          <p:cNvPr id="9" name="Picture 8">
            <a:extLst>
              <a:ext uri="{FF2B5EF4-FFF2-40B4-BE49-F238E27FC236}">
                <a16:creationId xmlns:a16="http://schemas.microsoft.com/office/drawing/2014/main" id="{9ED30111-5936-6C70-51CA-E196B5B3DB83}"/>
              </a:ext>
            </a:extLst>
          </p:cNvPr>
          <p:cNvPicPr>
            <a:picLocks noChangeAspect="1"/>
          </p:cNvPicPr>
          <p:nvPr/>
        </p:nvPicPr>
        <p:blipFill>
          <a:blip r:embed="R2f45c8ebef0b4c64"/>
          <a:stretch>
            <a:fillRect/>
          </a:stretch>
        </p:blipFill>
        <p:spPr>
          <a:xfrm>
            <a:off x="1176558" y="1907376"/>
            <a:ext cx="6700602" cy="3399142"/>
          </a:xfrm>
          <a:prstGeom prst="rect">
            <a:avLst/>
          </a:prstGeom>
        </p:spPr>
      </p:pic>
    </p:spTree>
    <p:extLst>
      <p:ext uri="{BB962C8B-B14F-4D97-AF65-F5344CB8AC3E}">
        <p14:creationId xmlns:p14="http://schemas.microsoft.com/office/powerpoint/2010/main" val="20670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bcc2813c8abd493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Pure Resistive Load</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E7A6CE15-F9A4-2F83-9FD4-EEB8AF8310BC}"/>
              </a:ext>
            </a:extLst>
          </p:cNvPr>
          <p:cNvSpPr txBox="1"/>
          <p:nvPr/>
        </p:nvSpPr>
        <p:spPr>
          <a:xfrm>
            <a:off x="729465" y="2041302"/>
            <a:ext cx="7356296" cy="4401205"/>
          </a:xfrm>
          <a:prstGeom prst="rect">
            <a:avLst/>
          </a:prstGeom>
          <a:noFill/>
        </p:spPr>
        <p:txBody>
          <a:bodyPr wrap="square">
            <a:spAutoFit/>
          </a:bodyPr>
          <a:lstStyle/>
          <a:p>
            <a:pPr>
              <a:buFont typeface="Arial" panose="020B0604020202020204" pitchFamily="34" charset="0"/>
              <a:buChar char="•"/>
            </a:pPr>
            <a:r>
              <a:rPr lang="en-IN" sz="2000" b="1" dirty="0"/>
              <a:t>Instantaneous Power</a:t>
            </a:r>
            <a:r>
              <a:rPr lang="en-IN" sz="2000" dirty="0"/>
              <a:t>:</a:t>
            </a:r>
          </a:p>
          <a:p>
            <a:pPr algn="ctr"/>
            <a:r>
              <a:rPr lang="en-IN" sz="2000" i="1" dirty="0"/>
              <a:t>p(t) = v(t) × </a:t>
            </a:r>
            <a:r>
              <a:rPr lang="en-IN" sz="2000" i="1" dirty="0" err="1"/>
              <a:t>i</a:t>
            </a:r>
            <a:r>
              <a:rPr lang="en-IN" sz="2000" i="1" dirty="0"/>
              <a:t>(t) = Vm × Im × sin²(</a:t>
            </a:r>
            <a:r>
              <a:rPr lang="el-GR" sz="2000" i="1" dirty="0"/>
              <a:t>ω</a:t>
            </a:r>
            <a:r>
              <a:rPr lang="en-IN" sz="2000" i="1" dirty="0"/>
              <a:t>t)</a:t>
            </a:r>
          </a:p>
          <a:p>
            <a:pPr>
              <a:buFont typeface="Arial" panose="020B0604020202020204" pitchFamily="34" charset="0"/>
              <a:buChar char="•"/>
            </a:pPr>
            <a:r>
              <a:rPr lang="en-IN" sz="2000" dirty="0"/>
              <a:t>Since sin²(</a:t>
            </a:r>
            <a:r>
              <a:rPr lang="el-GR" sz="2000" dirty="0"/>
              <a:t>ω</a:t>
            </a:r>
            <a:r>
              <a:rPr lang="en-IN" sz="2000" dirty="0"/>
              <a:t>t) is always positive, power is always positive.</a:t>
            </a:r>
          </a:p>
          <a:p>
            <a:endParaRPr lang="en-IN" sz="2000" dirty="0"/>
          </a:p>
          <a:p>
            <a:pPr>
              <a:buFont typeface="Arial" panose="020B0604020202020204" pitchFamily="34" charset="0"/>
              <a:buChar char="•"/>
            </a:pPr>
            <a:r>
              <a:rPr lang="en-IN" sz="2000" b="1" dirty="0"/>
              <a:t>Average Power (P)</a:t>
            </a:r>
            <a:r>
              <a:rPr lang="en-IN" sz="2000" dirty="0"/>
              <a:t> over one cycle:</a:t>
            </a:r>
          </a:p>
          <a:p>
            <a:pPr algn="ctr"/>
            <a:r>
              <a:rPr lang="en-IN" sz="2000" i="1" dirty="0"/>
              <a:t>P = (Vm × Im) / 2 = Vrms × Irms</a:t>
            </a:r>
          </a:p>
          <a:p>
            <a:pPr>
              <a:buFont typeface="Arial" panose="020B0604020202020204" pitchFamily="34" charset="0"/>
              <a:buChar char="•"/>
            </a:pPr>
            <a:r>
              <a:rPr lang="en-IN" sz="2000" dirty="0"/>
              <a:t>Power is continuously consumed in the resistor and converted to heat.</a:t>
            </a:r>
          </a:p>
          <a:p>
            <a:pPr>
              <a:buFont typeface="Arial" panose="020B0604020202020204" pitchFamily="34" charset="0"/>
              <a:buChar char="•"/>
            </a:pPr>
            <a:endParaRPr lang="en-IN" sz="2000" dirty="0"/>
          </a:p>
          <a:p>
            <a:pPr>
              <a:buNone/>
            </a:pPr>
            <a:r>
              <a:rPr lang="en-IN" sz="2000" b="1" dirty="0"/>
              <a:t>Key Formulas:</a:t>
            </a:r>
            <a:endParaRPr lang="en-IN" sz="2000" i="1" dirty="0"/>
          </a:p>
          <a:p>
            <a:pPr algn="ctr"/>
            <a:r>
              <a:rPr lang="en-IN" sz="2000" i="1" dirty="0"/>
              <a:t>V(t) = Vm × sin(</a:t>
            </a:r>
            <a:r>
              <a:rPr lang="el-GR" sz="2000" i="1" dirty="0"/>
              <a:t>ω</a:t>
            </a:r>
            <a:r>
              <a:rPr lang="en-IN" sz="2000" i="1" dirty="0"/>
              <a:t>t)</a:t>
            </a:r>
          </a:p>
          <a:p>
            <a:pPr algn="ctr"/>
            <a:r>
              <a:rPr lang="en-IN" sz="2000" i="1" dirty="0"/>
              <a:t>I(t) = Im × sin(</a:t>
            </a:r>
            <a:r>
              <a:rPr lang="el-GR" sz="2000" i="1" dirty="0"/>
              <a:t>ω</a:t>
            </a:r>
            <a:r>
              <a:rPr lang="en-IN" sz="2000" i="1" dirty="0"/>
              <a:t>t)</a:t>
            </a:r>
          </a:p>
          <a:p>
            <a:pPr algn="ctr"/>
            <a:r>
              <a:rPr lang="en-IN" sz="2000" i="1" dirty="0"/>
              <a:t>P(t) = Vm × Im × sin²(</a:t>
            </a:r>
            <a:r>
              <a:rPr lang="el-GR" sz="2000" i="1" dirty="0"/>
              <a:t>ω</a:t>
            </a:r>
            <a:r>
              <a:rPr lang="en-IN" sz="2000" i="1" dirty="0"/>
              <a:t>t)</a:t>
            </a:r>
          </a:p>
          <a:p>
            <a:pPr algn="ctr"/>
            <a:r>
              <a:rPr lang="en-IN" sz="2000" i="1" dirty="0"/>
              <a:t>Pavg = (Vm × Im)/2 = Vrms × Irms</a:t>
            </a:r>
          </a:p>
        </p:txBody>
      </p:sp>
    </p:spTree>
    <p:extLst>
      <p:ext uri="{BB962C8B-B14F-4D97-AF65-F5344CB8AC3E}">
        <p14:creationId xmlns:p14="http://schemas.microsoft.com/office/powerpoint/2010/main" val="3562077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64094ef9732244c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DFA289C3-5E39-62C7-CABF-CC939694A852}"/>
              </a:ext>
            </a:extLst>
          </p:cNvPr>
          <p:cNvSpPr>
            <a:spLocks noChangeArrowheads="1"/>
          </p:cNvSpPr>
          <p:nvPr/>
        </p:nvSpPr>
        <p:spPr bwMode="auto">
          <a:xfrm>
            <a:off x="729465" y="2225323"/>
            <a:ext cx="719311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 a purely resistive AC circuit, voltage and current are in phase (θ = 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No reactive components → no energy is stored or returned.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Phasors of V and I align, indicating phase alignment.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is always positive, indicating real power consumption.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Useful for understanding basic power dissipation in AC resistive loads.</a:t>
            </a:r>
          </a:p>
        </p:txBody>
      </p:sp>
    </p:spTree>
    <p:extLst>
      <p:ext uri="{BB962C8B-B14F-4D97-AF65-F5344CB8AC3E}">
        <p14:creationId xmlns:p14="http://schemas.microsoft.com/office/powerpoint/2010/main" val="2468331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938992"/>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Purely Inductive Load</a:t>
            </a:r>
          </a:p>
          <a:p>
            <a:pPr algn="ctr"/>
            <a:endPar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54C18343-D6DC-C67F-A035-D91529970AF1}"/>
              </a:ext>
            </a:extLst>
          </p:cNvPr>
          <p:cNvSpPr>
            <a:spLocks noChangeArrowheads="1"/>
          </p:cNvSpPr>
          <p:nvPr/>
        </p:nvSpPr>
        <p:spPr bwMode="auto">
          <a:xfrm>
            <a:off x="513264" y="2320605"/>
            <a:ext cx="593983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Introduction to Inductance and AC Circuits ……….. 3</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Characteristics of Purely Inductive Load …………….. 4</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Voltage and Current Relationship ………………………. 5</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Phasor Representation ………………………………………. 6</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Waveforms of Voltage and Current ……………………. 7</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Power in Pure Inductive Load …………………………….. 8</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Key Points / Summary ………………………………………… 9</a:t>
            </a:r>
          </a:p>
        </p:txBody>
      </p:sp>
    </p:spTree>
    <p:extLst>
      <p:ext uri="{BB962C8B-B14F-4D97-AF65-F5344CB8AC3E}">
        <p14:creationId xmlns:p14="http://schemas.microsoft.com/office/powerpoint/2010/main" val="2278835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99a26ea6bad14acf"/>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2800" b="1" dirty="0">
                <a:solidFill>
                  <a:schemeClr val="bg1"/>
                </a:solidFill>
                <a:latin typeface="Times New Roman" panose="02020603050405020304" pitchFamily="18" charset="0"/>
                <a:cs typeface="Calibri" panose="020F0502020204030204" pitchFamily="34" charset="0"/>
              </a:rPr>
              <a:t>Introduction to Inductance and AC Circuits</a:t>
            </a:r>
            <a:endParaRPr lang="en-IN" altLang="en-US"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597A8A6D-02ED-5F25-7D52-BEDCFF282EA6}"/>
              </a:ext>
            </a:extLst>
          </p:cNvPr>
          <p:cNvSpPr>
            <a:spLocks noChangeArrowheads="1"/>
          </p:cNvSpPr>
          <p:nvPr/>
        </p:nvSpPr>
        <p:spPr bwMode="auto">
          <a:xfrm>
            <a:off x="729465" y="2017995"/>
            <a:ext cx="735629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An inductor opposes changes in current and stores energy in a magnetic field.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 AC circuits, the current continuously changes direction, and inductors exhibit inductive reactance (XL).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inductive reactance is given by: XL = 2π</a:t>
            </a:r>
            <a:r>
              <a:rPr kumimoji="0" lang="en-US" altLang="en-US" sz="2200" i="0" u="none" strike="noStrike" cap="none" normalizeH="0" baseline="0" dirty="0" err="1">
                <a:ln>
                  <a:noFill/>
                </a:ln>
                <a:solidFill>
                  <a:schemeClr val="tx1"/>
                </a:solidFill>
                <a:effectLst/>
              </a:rPr>
              <a:t>fL</a:t>
            </a:r>
            <a:r>
              <a:rPr kumimoji="0" lang="en-US" altLang="en-US" sz="2200" i="0" u="none" strike="noStrike" cap="none" normalizeH="0" baseline="0" dirty="0">
                <a:ln>
                  <a:noFill/>
                </a:ln>
                <a:solidFill>
                  <a:schemeClr val="tx1"/>
                </a:solidFill>
                <a:effectLst/>
              </a:rPr>
              <a:t>, where</a:t>
            </a:r>
            <a:br>
              <a:rPr kumimoji="0" lang="en-US" altLang="en-US" sz="2200" i="0" u="none" strike="noStrike" cap="none" normalizeH="0" baseline="0" dirty="0">
                <a:ln>
                  <a:noFill/>
                </a:ln>
                <a:solidFill>
                  <a:schemeClr val="tx1"/>
                </a:solidFill>
                <a:effectLst/>
              </a:rPr>
            </a:br>
            <a:r>
              <a:rPr kumimoji="0" lang="en-US" altLang="en-US" sz="2200" i="0" u="none" strike="noStrike" cap="none" normalizeH="0" baseline="0" dirty="0">
                <a:ln>
                  <a:noFill/>
                </a:ln>
                <a:solidFill>
                  <a:schemeClr val="tx1"/>
                </a:solidFill>
                <a:effectLst/>
              </a:rPr>
              <a:t>f = frequency, L = inductance in henry (H)</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 pure inductive load has only inductance, no resistance or capacitance.</a:t>
            </a:r>
          </a:p>
        </p:txBody>
      </p:sp>
    </p:spTree>
    <p:extLst>
      <p:ext uri="{BB962C8B-B14F-4D97-AF65-F5344CB8AC3E}">
        <p14:creationId xmlns:p14="http://schemas.microsoft.com/office/powerpoint/2010/main" val="34659817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fbbdd258947e4c1d"/>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Characteristics of Purely Inductive Load</a:t>
            </a:r>
            <a:endParaRPr lang="en-IN" altLang="en-US" b="1" dirty="0">
              <a:solidFill>
                <a:schemeClr val="bg1"/>
              </a:solidFill>
              <a:latin typeface="+mn-lt"/>
              <a:cs typeface="Calibri" panose="020F0502020204030204" pitchFamily="34" charset="0"/>
            </a:endParaRPr>
          </a:p>
        </p:txBody>
      </p:sp>
      <p:sp>
        <p:nvSpPr>
          <p:cNvPr id="18" name="TextBox 17">
            <a:extLst>
              <a:ext uri="{FF2B5EF4-FFF2-40B4-BE49-F238E27FC236}">
                <a16:creationId xmlns:a16="http://schemas.microsoft.com/office/drawing/2014/main" id="{AFA8C167-171F-2D15-F35C-134813582A5B}"/>
              </a:ext>
            </a:extLst>
          </p:cNvPr>
          <p:cNvSpPr txBox="1"/>
          <p:nvPr/>
        </p:nvSpPr>
        <p:spPr>
          <a:xfrm>
            <a:off x="5588125" y="5656726"/>
            <a:ext cx="3402767" cy="276999"/>
          </a:xfrm>
          <a:prstGeom prst="rect">
            <a:avLst/>
          </a:prstGeom>
          <a:noFill/>
        </p:spPr>
        <p:txBody>
          <a:bodyPr wrap="square" rtlCol="0">
            <a:spAutoFit/>
          </a:bodyPr>
          <a:lstStyle/>
          <a:p>
            <a:r>
              <a:rPr lang="en-US" sz="1200" dirty="0"/>
              <a:t>Figure 2.1 Purely Inductive Circuit</a:t>
            </a:r>
            <a:endParaRPr lang="en-IN" sz="1200" dirty="0"/>
          </a:p>
        </p:txBody>
      </p:sp>
      <p:sp>
        <p:nvSpPr>
          <p:cNvPr id="5" name="TextBox 4">
            <a:extLst>
              <a:ext uri="{FF2B5EF4-FFF2-40B4-BE49-F238E27FC236}">
                <a16:creationId xmlns:a16="http://schemas.microsoft.com/office/drawing/2014/main" id="{E44F0186-8CF2-ADA2-D305-87FD3DEB5257}"/>
              </a:ext>
            </a:extLst>
          </p:cNvPr>
          <p:cNvSpPr txBox="1"/>
          <p:nvPr/>
        </p:nvSpPr>
        <p:spPr>
          <a:xfrm>
            <a:off x="729465" y="2130042"/>
            <a:ext cx="3647664" cy="4093428"/>
          </a:xfrm>
          <a:prstGeom prst="rect">
            <a:avLst/>
          </a:prstGeom>
          <a:noFill/>
        </p:spPr>
        <p:txBody>
          <a:bodyPr wrap="square">
            <a:spAutoFit/>
          </a:bodyPr>
          <a:lstStyle/>
          <a:p>
            <a:pPr algn="just">
              <a:buFont typeface="Arial" panose="020B0604020202020204" pitchFamily="34" charset="0"/>
              <a:buChar char="•"/>
            </a:pPr>
            <a:r>
              <a:rPr lang="en-US" sz="2000" dirty="0"/>
              <a:t>In a purely inductive circuit, current lags voltage by 90° (π/2 radians).</a:t>
            </a:r>
          </a:p>
          <a:p>
            <a:pPr algn="just">
              <a:buFont typeface="Arial" panose="020B0604020202020204" pitchFamily="34" charset="0"/>
              <a:buChar char="•"/>
            </a:pPr>
            <a:endParaRPr lang="en-US" sz="2000" dirty="0"/>
          </a:p>
          <a:p>
            <a:pPr algn="just">
              <a:buFont typeface="Arial" panose="020B0604020202020204" pitchFamily="34" charset="0"/>
              <a:buChar char="•"/>
            </a:pPr>
            <a:r>
              <a:rPr lang="en-US" sz="2000" dirty="0"/>
              <a:t>The energy is alternately stored and released by the inductor; no real power is consumed.</a:t>
            </a:r>
          </a:p>
          <a:p>
            <a:pPr algn="just">
              <a:buFont typeface="Arial" panose="020B0604020202020204" pitchFamily="34" charset="0"/>
              <a:buChar char="•"/>
            </a:pPr>
            <a:endParaRPr lang="en-US" sz="2000" dirty="0"/>
          </a:p>
          <a:p>
            <a:pPr algn="just">
              <a:buFont typeface="Arial" panose="020B0604020202020204" pitchFamily="34" charset="0"/>
              <a:buChar char="•"/>
            </a:pPr>
            <a:r>
              <a:rPr lang="en-US" sz="2000" dirty="0"/>
              <a:t>The circuit absorbs and returns power to the source each cycle.</a:t>
            </a:r>
          </a:p>
          <a:p>
            <a:pPr algn="just">
              <a:buFont typeface="Arial" panose="020B0604020202020204" pitchFamily="34" charset="0"/>
              <a:buChar char="•"/>
            </a:pPr>
            <a:endParaRPr lang="en-US" sz="2000" dirty="0"/>
          </a:p>
          <a:p>
            <a:pPr algn="just">
              <a:buFont typeface="Arial" panose="020B0604020202020204" pitchFamily="34" charset="0"/>
              <a:buChar char="•"/>
            </a:pPr>
            <a:r>
              <a:rPr lang="en-US" sz="2000" dirty="0"/>
              <a:t>The average power consumed over a full cycle is zero.</a:t>
            </a:r>
          </a:p>
        </p:txBody>
      </p:sp>
      <p:pic>
        <p:nvPicPr>
          <p:cNvPr id="6" name="Picture 5">
            <a:extLst>
              <a:ext uri="{FF2B5EF4-FFF2-40B4-BE49-F238E27FC236}">
                <a16:creationId xmlns:a16="http://schemas.microsoft.com/office/drawing/2014/main" id="{1ECCC853-1CE3-DBF2-59B3-AA73F91D9A69}"/>
              </a:ext>
            </a:extLst>
          </p:cNvPr>
          <p:cNvPicPr>
            <a:picLocks noChangeAspect="1"/>
          </p:cNvPicPr>
          <p:nvPr/>
        </p:nvPicPr>
        <p:blipFill>
          <a:blip r:embed="Rba7c9e6e32e34aa1">
            <a:extLst>
              <a:ext uri="{28A0092B-C50C-407E-A947-70E740481C1C}">
                <a14:useLocalDpi xmlns:a14="http://schemas.microsoft.com/office/drawing/2010/main" val="0"/>
              </a:ext>
            </a:extLst>
          </a:blip>
          <a:stretch>
            <a:fillRect/>
          </a:stretch>
        </p:blipFill>
        <p:spPr>
          <a:xfrm>
            <a:off x="4766872" y="2200056"/>
            <a:ext cx="3647663" cy="3100824"/>
          </a:xfrm>
          <a:prstGeom prst="rect">
            <a:avLst/>
          </a:prstGeom>
        </p:spPr>
      </p:pic>
    </p:spTree>
    <p:extLst>
      <p:ext uri="{BB962C8B-B14F-4D97-AF65-F5344CB8AC3E}">
        <p14:creationId xmlns:p14="http://schemas.microsoft.com/office/powerpoint/2010/main" val="10710913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309a3f7fd5af4286"/>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Voltage and Current Relationship</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72651EAE-76E5-E713-A161-1BC07BD93E5B}"/>
              </a:ext>
            </a:extLst>
          </p:cNvPr>
          <p:cNvSpPr txBox="1"/>
          <p:nvPr/>
        </p:nvSpPr>
        <p:spPr>
          <a:xfrm>
            <a:off x="729465" y="2021908"/>
            <a:ext cx="7356296" cy="4216539"/>
          </a:xfrm>
          <a:prstGeom prst="rect">
            <a:avLst/>
          </a:prstGeom>
          <a:noFill/>
        </p:spPr>
        <p:txBody>
          <a:bodyPr wrap="square">
            <a:spAutoFit/>
          </a:bodyPr>
          <a:lstStyle/>
          <a:p>
            <a:pPr>
              <a:buFont typeface="Arial" panose="020B0604020202020204" pitchFamily="34" charset="0"/>
              <a:buChar char="•"/>
            </a:pPr>
            <a:r>
              <a:rPr lang="en-IN" sz="2200" dirty="0"/>
              <a:t>Applied voltage: </a:t>
            </a:r>
          </a:p>
          <a:p>
            <a:pPr algn="ctr"/>
            <a:r>
              <a:rPr lang="en-IN" sz="2400" b="1" i="1" dirty="0"/>
              <a:t>v(t) = </a:t>
            </a:r>
            <a:r>
              <a:rPr lang="en-IN" sz="2400" b="1" i="1" dirty="0" err="1"/>
              <a:t>Vm</a:t>
            </a:r>
            <a:r>
              <a:rPr lang="en-IN" sz="2400" b="1" i="1" dirty="0"/>
              <a:t> × sin(</a:t>
            </a:r>
            <a:r>
              <a:rPr lang="el-GR" sz="2400" b="1" i="1" dirty="0"/>
              <a:t>ω</a:t>
            </a:r>
            <a:r>
              <a:rPr lang="en-IN" sz="2400" b="1" i="1" dirty="0"/>
              <a:t>t)</a:t>
            </a:r>
            <a:endParaRPr lang="en-IN" sz="2400" i="1" dirty="0"/>
          </a:p>
          <a:p>
            <a:pPr>
              <a:buFont typeface="Arial" panose="020B0604020202020204" pitchFamily="34" charset="0"/>
              <a:buChar char="•"/>
            </a:pPr>
            <a:r>
              <a:rPr lang="en-IN" sz="2200" dirty="0"/>
              <a:t>Current through pure inductor:</a:t>
            </a:r>
          </a:p>
          <a:p>
            <a:pPr algn="ctr"/>
            <a:r>
              <a:rPr lang="en-IN" sz="2400" b="1" dirty="0" err="1"/>
              <a:t>i</a:t>
            </a:r>
            <a:r>
              <a:rPr lang="en-IN" sz="2400" b="1" dirty="0"/>
              <a:t>(t) = </a:t>
            </a:r>
            <a:r>
              <a:rPr lang="en-IN" sz="2400" b="1" dirty="0" err="1"/>
              <a:t>Im</a:t>
            </a:r>
            <a:r>
              <a:rPr lang="en-IN" sz="2400" b="1" dirty="0"/>
              <a:t> × sin(</a:t>
            </a:r>
            <a:r>
              <a:rPr lang="el-GR" sz="2400" b="1" dirty="0"/>
              <a:t>ω</a:t>
            </a:r>
            <a:r>
              <a:rPr lang="en-IN" sz="2400" b="1" dirty="0"/>
              <a:t>t − 90°) = </a:t>
            </a:r>
            <a:r>
              <a:rPr lang="en-IN" sz="2400" b="1" dirty="0" err="1"/>
              <a:t>Im</a:t>
            </a:r>
            <a:r>
              <a:rPr lang="en-IN" sz="2400" b="1" dirty="0"/>
              <a:t> × (−cos(</a:t>
            </a:r>
            <a:r>
              <a:rPr lang="el-GR" sz="2400" b="1" dirty="0"/>
              <a:t>ω</a:t>
            </a:r>
            <a:r>
              <a:rPr lang="en-IN" sz="2400" b="1" dirty="0"/>
              <a:t>t))</a:t>
            </a:r>
          </a:p>
          <a:p>
            <a:pPr algn="ctr"/>
            <a:endParaRPr lang="en-IN" sz="2200" dirty="0"/>
          </a:p>
          <a:p>
            <a:pPr>
              <a:buFont typeface="Arial" panose="020B0604020202020204" pitchFamily="34" charset="0"/>
              <a:buChar char="•"/>
            </a:pPr>
            <a:r>
              <a:rPr lang="en-IN" sz="2200" dirty="0"/>
              <a:t>Current lags the voltage by 90° due to inductive nature.</a:t>
            </a:r>
          </a:p>
          <a:p>
            <a:pPr>
              <a:buFont typeface="Arial" panose="020B0604020202020204" pitchFamily="34" charset="0"/>
              <a:buChar char="•"/>
            </a:pPr>
            <a:endParaRPr lang="en-IN" sz="2200" dirty="0"/>
          </a:p>
          <a:p>
            <a:pPr>
              <a:buFont typeface="Arial" panose="020B0604020202020204" pitchFamily="34" charset="0"/>
              <a:buChar char="•"/>
            </a:pPr>
            <a:r>
              <a:rPr lang="en-IN" sz="2200" dirty="0"/>
              <a:t>Peak of current occurs </a:t>
            </a:r>
            <a:r>
              <a:rPr lang="en-IN" sz="2200" b="1" dirty="0"/>
              <a:t>after</a:t>
            </a:r>
            <a:r>
              <a:rPr lang="en-IN" sz="2200" dirty="0"/>
              <a:t> the peak of voltage.</a:t>
            </a:r>
          </a:p>
          <a:p>
            <a:pPr>
              <a:buFont typeface="Arial" panose="020B0604020202020204" pitchFamily="34" charset="0"/>
              <a:buChar char="•"/>
            </a:pPr>
            <a:endParaRPr lang="en-IN" sz="2200" dirty="0"/>
          </a:p>
          <a:p>
            <a:pPr>
              <a:buNone/>
            </a:pPr>
            <a:r>
              <a:rPr lang="en-IN" sz="2200" b="1" dirty="0"/>
              <a:t>Key Formula:</a:t>
            </a:r>
            <a:endParaRPr lang="en-IN" sz="2200" dirty="0"/>
          </a:p>
          <a:p>
            <a:pPr algn="ctr"/>
            <a:r>
              <a:rPr lang="en-IN" sz="2400" b="1" i="1" dirty="0" err="1"/>
              <a:t>Im</a:t>
            </a:r>
            <a:r>
              <a:rPr lang="en-IN" sz="2400" b="1" i="1" dirty="0"/>
              <a:t> = </a:t>
            </a:r>
            <a:r>
              <a:rPr lang="en-IN" sz="2400" b="1" i="1" dirty="0" err="1"/>
              <a:t>Vm</a:t>
            </a:r>
            <a:r>
              <a:rPr lang="en-IN" sz="2400" b="1" i="1" dirty="0"/>
              <a:t> / XL</a:t>
            </a:r>
            <a:r>
              <a:rPr lang="en-IN" sz="2400" i="1" dirty="0"/>
              <a:t>, </a:t>
            </a:r>
          </a:p>
          <a:p>
            <a:r>
              <a:rPr lang="en-IN" sz="2200" dirty="0"/>
              <a:t>where XL = 2</a:t>
            </a:r>
            <a:r>
              <a:rPr lang="el-GR" sz="2200" dirty="0"/>
              <a:t>π</a:t>
            </a:r>
            <a:r>
              <a:rPr lang="en-IN" sz="2200" dirty="0" err="1"/>
              <a:t>fL</a:t>
            </a:r>
            <a:endParaRPr lang="en-IN" sz="2200" dirty="0"/>
          </a:p>
        </p:txBody>
      </p:sp>
    </p:spTree>
    <p:extLst>
      <p:ext uri="{BB962C8B-B14F-4D97-AF65-F5344CB8AC3E}">
        <p14:creationId xmlns:p14="http://schemas.microsoft.com/office/powerpoint/2010/main" val="3860129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015961b2c57c4c82"/>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5766058" y="5557423"/>
            <a:ext cx="3023365" cy="276999"/>
          </a:xfrm>
          <a:prstGeom prst="rect">
            <a:avLst/>
          </a:prstGeom>
          <a:noFill/>
        </p:spPr>
        <p:txBody>
          <a:bodyPr wrap="square" rtlCol="0">
            <a:spAutoFit/>
          </a:bodyPr>
          <a:lstStyle/>
          <a:p>
            <a:r>
              <a:rPr lang="en-US" sz="1200" dirty="0"/>
              <a:t>Figure 2.2 Phasor Diagram</a:t>
            </a:r>
            <a:endParaRPr lang="en-IN" sz="1200" dirty="0"/>
          </a:p>
        </p:txBody>
      </p:sp>
      <p:sp>
        <p:nvSpPr>
          <p:cNvPr id="3" name="Rectangle 1">
            <a:extLst>
              <a:ext uri="{FF2B5EF4-FFF2-40B4-BE49-F238E27FC236}">
                <a16:creationId xmlns:a16="http://schemas.microsoft.com/office/drawing/2014/main" id="{03228833-69B9-0720-C408-FC70E8F0F08C}"/>
              </a:ext>
            </a:extLst>
          </p:cNvPr>
          <p:cNvSpPr>
            <a:spLocks noChangeArrowheads="1"/>
          </p:cNvSpPr>
          <p:nvPr/>
        </p:nvSpPr>
        <p:spPr bwMode="auto">
          <a:xfrm>
            <a:off x="539308" y="2116834"/>
            <a:ext cx="3717899"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tx1"/>
                </a:solidFill>
                <a:effectLst/>
              </a:rPr>
              <a:t>In phasor form:</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Voltage phasor </a:t>
            </a:r>
            <a:r>
              <a:rPr kumimoji="0" lang="en-US" altLang="en-US" sz="2200" b="1" i="0" u="none" strike="noStrike" cap="none" normalizeH="0" baseline="0" dirty="0">
                <a:ln>
                  <a:noFill/>
                </a:ln>
                <a:solidFill>
                  <a:schemeClr val="tx1"/>
                </a:solidFill>
                <a:effectLst/>
              </a:rPr>
              <a:t>leads</a:t>
            </a:r>
            <a:r>
              <a:rPr kumimoji="0" lang="en-US" altLang="en-US" sz="2200" b="0" i="0" u="none" strike="noStrike" cap="none" normalizeH="0" baseline="0" dirty="0">
                <a:ln>
                  <a:noFill/>
                </a:ln>
                <a:solidFill>
                  <a:schemeClr val="tx1"/>
                </a:solidFill>
                <a:effectLst/>
              </a:rPr>
              <a:t> the current phasor by 90°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Alternatively, </a:t>
            </a:r>
            <a:r>
              <a:rPr kumimoji="0" lang="en-US" altLang="en-US" sz="2200" b="1" i="0" u="none" strike="noStrike" cap="none" normalizeH="0" baseline="0" dirty="0">
                <a:ln>
                  <a:noFill/>
                </a:ln>
                <a:solidFill>
                  <a:schemeClr val="tx1"/>
                </a:solidFill>
                <a:effectLst/>
              </a:rPr>
              <a:t>current lags</a:t>
            </a:r>
            <a:r>
              <a:rPr kumimoji="0" lang="en-US" altLang="en-US" sz="2200" b="0" i="0" u="none" strike="noStrike" cap="none" normalizeH="0" baseline="0" dirty="0">
                <a:ln>
                  <a:noFill/>
                </a:ln>
                <a:solidFill>
                  <a:schemeClr val="tx1"/>
                </a:solidFill>
                <a:effectLst/>
              </a:rPr>
              <a:t> the voltage phasor by 90°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This 90° phase shift represents purely inductive behavior.</a:t>
            </a:r>
          </a:p>
        </p:txBody>
      </p:sp>
      <p:pic>
        <p:nvPicPr>
          <p:cNvPr id="8" name="Picture 7">
            <a:extLst>
              <a:ext uri="{FF2B5EF4-FFF2-40B4-BE49-F238E27FC236}">
                <a16:creationId xmlns:a16="http://schemas.microsoft.com/office/drawing/2014/main" id="{795E0243-A0AB-EB19-6F52-9242DE6F0CD3}"/>
              </a:ext>
            </a:extLst>
          </p:cNvPr>
          <p:cNvPicPr>
            <a:picLocks noChangeAspect="1"/>
          </p:cNvPicPr>
          <p:nvPr/>
        </p:nvPicPr>
        <p:blipFill>
          <a:blip r:embed="Rb921be077a0b45e9">
            <a:extLst>
              <a:ext uri="{28A0092B-C50C-407E-A947-70E740481C1C}">
                <a14:useLocalDpi xmlns:a14="http://schemas.microsoft.com/office/drawing/2010/main" val="0"/>
              </a:ext>
            </a:extLst>
          </a:blip>
          <a:srcRect/>
          <a:stretch>
            <a:fillRect/>
          </a:stretch>
        </p:blipFill>
        <p:spPr bwMode="auto">
          <a:xfrm>
            <a:off x="4886795" y="2568180"/>
            <a:ext cx="3447919" cy="2913735"/>
          </a:xfrm>
          <a:prstGeom prst="rect">
            <a:avLst/>
          </a:prstGeom>
          <a:noFill/>
          <a:ln>
            <a:noFill/>
          </a:ln>
        </p:spPr>
      </p:pic>
    </p:spTree>
    <p:extLst>
      <p:ext uri="{BB962C8B-B14F-4D97-AF65-F5344CB8AC3E}">
        <p14:creationId xmlns:p14="http://schemas.microsoft.com/office/powerpoint/2010/main" val="22239144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9f22f628ed7e4d1f"/>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4943073" y="6138852"/>
            <a:ext cx="3023365" cy="276999"/>
          </a:xfrm>
          <a:prstGeom prst="rect">
            <a:avLst/>
          </a:prstGeom>
          <a:noFill/>
        </p:spPr>
        <p:txBody>
          <a:bodyPr wrap="square" rtlCol="0">
            <a:spAutoFit/>
          </a:bodyPr>
          <a:lstStyle/>
          <a:p>
            <a:pPr algn="ctr"/>
            <a:r>
              <a:rPr lang="en-US" sz="1200" dirty="0"/>
              <a:t>Figure 2.2 Waveform Diagram</a:t>
            </a:r>
            <a:endParaRPr lang="en-IN" sz="1200" dirty="0"/>
          </a:p>
        </p:txBody>
      </p:sp>
      <p:sp>
        <p:nvSpPr>
          <p:cNvPr id="3" name="Rectangle 1">
            <a:extLst>
              <a:ext uri="{FF2B5EF4-FFF2-40B4-BE49-F238E27FC236}">
                <a16:creationId xmlns:a16="http://schemas.microsoft.com/office/drawing/2014/main" id="{D571963F-8770-D6CF-6DD6-7064DF742E92}"/>
              </a:ext>
            </a:extLst>
          </p:cNvPr>
          <p:cNvSpPr>
            <a:spLocks noChangeArrowheads="1"/>
          </p:cNvSpPr>
          <p:nvPr/>
        </p:nvSpPr>
        <p:spPr bwMode="auto">
          <a:xfrm>
            <a:off x="354577" y="2022329"/>
            <a:ext cx="341581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waveform: sinusoidal</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Current waveform: sinusoidal and lags voltage by 90°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Zero crossing of current occurs after zero crossing of voltage.</a:t>
            </a:r>
          </a:p>
        </p:txBody>
      </p:sp>
      <p:pic>
        <p:nvPicPr>
          <p:cNvPr id="5" name="Picture 4">
            <a:extLst>
              <a:ext uri="{FF2B5EF4-FFF2-40B4-BE49-F238E27FC236}">
                <a16:creationId xmlns:a16="http://schemas.microsoft.com/office/drawing/2014/main" id="{9CB70824-EA36-6DA0-A32C-3667E5D34852}"/>
              </a:ext>
            </a:extLst>
          </p:cNvPr>
          <p:cNvPicPr>
            <a:picLocks noChangeAspect="1"/>
          </p:cNvPicPr>
          <p:nvPr/>
        </p:nvPicPr>
        <p:blipFill>
          <a:blip r:embed="R3d00ddb1f24b4068"/>
          <a:stretch>
            <a:fillRect/>
          </a:stretch>
        </p:blipFill>
        <p:spPr>
          <a:xfrm>
            <a:off x="4047345" y="1954342"/>
            <a:ext cx="4650550" cy="4184510"/>
          </a:xfrm>
          <a:prstGeom prst="rect">
            <a:avLst/>
          </a:prstGeom>
        </p:spPr>
      </p:pic>
    </p:spTree>
    <p:extLst>
      <p:ext uri="{BB962C8B-B14F-4D97-AF65-F5344CB8AC3E}">
        <p14:creationId xmlns:p14="http://schemas.microsoft.com/office/powerpoint/2010/main" val="206709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17ae04845907498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Pure Inductive Load</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D2F33DDC-3565-3A79-C400-3EB8DEC6CA2C}"/>
              </a:ext>
            </a:extLst>
          </p:cNvPr>
          <p:cNvSpPr txBox="1"/>
          <p:nvPr/>
        </p:nvSpPr>
        <p:spPr>
          <a:xfrm>
            <a:off x="729464" y="2021907"/>
            <a:ext cx="7545105" cy="4154984"/>
          </a:xfrm>
          <a:prstGeom prst="rect">
            <a:avLst/>
          </a:prstGeom>
          <a:noFill/>
        </p:spPr>
        <p:txBody>
          <a:bodyPr wrap="square">
            <a:spAutoFit/>
          </a:bodyPr>
          <a:lstStyle/>
          <a:p>
            <a:pPr>
              <a:buFont typeface="Arial" panose="020B0604020202020204" pitchFamily="34" charset="0"/>
              <a:buChar char="•"/>
            </a:pPr>
            <a:r>
              <a:rPr lang="en-IN" sz="2200" b="1" dirty="0"/>
              <a:t>Instantaneous Power</a:t>
            </a:r>
            <a:r>
              <a:rPr lang="en-IN" sz="2200" dirty="0"/>
              <a:t>:</a:t>
            </a:r>
          </a:p>
          <a:p>
            <a:pPr>
              <a:buFont typeface="Arial" panose="020B0604020202020204" pitchFamily="34" charset="0"/>
              <a:buChar char="•"/>
            </a:pPr>
            <a:endParaRPr lang="en-IN" sz="2200" dirty="0"/>
          </a:p>
          <a:p>
            <a:pPr algn="ctr"/>
            <a:r>
              <a:rPr lang="en-IN" sz="2200" dirty="0"/>
              <a:t>p(t) = v(t) × </a:t>
            </a:r>
            <a:r>
              <a:rPr lang="en-IN" sz="2200" dirty="0" err="1"/>
              <a:t>i</a:t>
            </a:r>
            <a:r>
              <a:rPr lang="en-IN" sz="2200" dirty="0"/>
              <a:t>(t) = </a:t>
            </a:r>
            <a:r>
              <a:rPr lang="en-IN" sz="2200" dirty="0" err="1"/>
              <a:t>Vm</a:t>
            </a:r>
            <a:r>
              <a:rPr lang="en-IN" sz="2200" dirty="0"/>
              <a:t> × </a:t>
            </a:r>
            <a:r>
              <a:rPr lang="en-IN" sz="2200" dirty="0" err="1"/>
              <a:t>Im</a:t>
            </a:r>
            <a:r>
              <a:rPr lang="en-IN" sz="2200" dirty="0"/>
              <a:t> × sin(</a:t>
            </a:r>
            <a:r>
              <a:rPr lang="el-GR" sz="2200" dirty="0"/>
              <a:t>ω</a:t>
            </a:r>
            <a:r>
              <a:rPr lang="en-IN" sz="2200" dirty="0"/>
              <a:t>t) × sin(</a:t>
            </a:r>
            <a:r>
              <a:rPr lang="el-GR" sz="2200" dirty="0"/>
              <a:t>ω</a:t>
            </a:r>
            <a:r>
              <a:rPr lang="en-IN" sz="2200" dirty="0"/>
              <a:t>t − 90°)</a:t>
            </a:r>
            <a:br>
              <a:rPr lang="en-IN" sz="2200" dirty="0"/>
            </a:br>
            <a:r>
              <a:rPr lang="en-IN" sz="2200" dirty="0"/>
              <a:t>p(t) = </a:t>
            </a:r>
            <a:r>
              <a:rPr lang="en-IN" sz="2200" dirty="0" err="1"/>
              <a:t>Vm</a:t>
            </a:r>
            <a:r>
              <a:rPr lang="en-IN" sz="2200" dirty="0"/>
              <a:t> × </a:t>
            </a:r>
            <a:r>
              <a:rPr lang="en-IN" sz="2200" dirty="0" err="1"/>
              <a:t>Im</a:t>
            </a:r>
            <a:r>
              <a:rPr lang="en-IN" sz="2200" dirty="0"/>
              <a:t> × sin(</a:t>
            </a:r>
            <a:r>
              <a:rPr lang="el-GR" sz="2200" dirty="0"/>
              <a:t>ω</a:t>
            </a:r>
            <a:r>
              <a:rPr lang="en-IN" sz="2200" dirty="0"/>
              <a:t>t) × (−cos(</a:t>
            </a:r>
            <a:r>
              <a:rPr lang="el-GR" sz="2200" dirty="0"/>
              <a:t>ω</a:t>
            </a:r>
            <a:r>
              <a:rPr lang="en-IN" sz="2200" dirty="0"/>
              <a:t>t))</a:t>
            </a:r>
            <a:br>
              <a:rPr lang="en-IN" sz="2200" dirty="0"/>
            </a:br>
            <a:r>
              <a:rPr lang="en-IN" sz="2200" dirty="0"/>
              <a:t>p(t) = −</a:t>
            </a:r>
            <a:r>
              <a:rPr lang="en-IN" sz="2200" dirty="0" err="1"/>
              <a:t>Vm</a:t>
            </a:r>
            <a:r>
              <a:rPr lang="en-IN" sz="2200" dirty="0"/>
              <a:t> × </a:t>
            </a:r>
            <a:r>
              <a:rPr lang="en-IN" sz="2200" dirty="0" err="1"/>
              <a:t>Im</a:t>
            </a:r>
            <a:r>
              <a:rPr lang="en-IN" sz="2200" dirty="0"/>
              <a:t> × sin(</a:t>
            </a:r>
            <a:r>
              <a:rPr lang="el-GR" sz="2200" dirty="0"/>
              <a:t>ω</a:t>
            </a:r>
            <a:r>
              <a:rPr lang="en-IN" sz="2200" dirty="0"/>
              <a:t>t) × cos(</a:t>
            </a:r>
            <a:r>
              <a:rPr lang="el-GR" sz="2200" dirty="0"/>
              <a:t>ω</a:t>
            </a:r>
            <a:r>
              <a:rPr lang="en-IN" sz="2200" dirty="0"/>
              <a:t>t)</a:t>
            </a:r>
          </a:p>
          <a:p>
            <a:pPr algn="ctr"/>
            <a:endParaRPr lang="en-IN" sz="2200" dirty="0"/>
          </a:p>
          <a:p>
            <a:pPr>
              <a:buFont typeface="Arial" panose="020B0604020202020204" pitchFamily="34" charset="0"/>
              <a:buChar char="•"/>
            </a:pPr>
            <a:r>
              <a:rPr lang="en-IN" sz="2200" dirty="0"/>
              <a:t>This results in alternating positive and negative power.</a:t>
            </a:r>
          </a:p>
          <a:p>
            <a:pPr>
              <a:buFont typeface="Arial" panose="020B0604020202020204" pitchFamily="34" charset="0"/>
              <a:buChar char="•"/>
            </a:pPr>
            <a:r>
              <a:rPr lang="en-IN" sz="2200" dirty="0"/>
              <a:t>Average Power (P) = 0 (No net power consumed)</a:t>
            </a:r>
          </a:p>
          <a:p>
            <a:pPr>
              <a:buFont typeface="Arial" panose="020B0604020202020204" pitchFamily="34" charset="0"/>
              <a:buChar char="•"/>
            </a:pPr>
            <a:endParaRPr lang="en-IN" sz="2200" dirty="0"/>
          </a:p>
          <a:p>
            <a:pPr>
              <a:buNone/>
            </a:pPr>
            <a:r>
              <a:rPr lang="en-IN" sz="2200" b="1" dirty="0"/>
              <a:t>Important Observation:</a:t>
            </a:r>
            <a:endParaRPr lang="en-IN" sz="2200" dirty="0"/>
          </a:p>
          <a:p>
            <a:pPr>
              <a:buFont typeface="Arial" panose="020B0604020202020204" pitchFamily="34" charset="0"/>
              <a:buChar char="•"/>
            </a:pPr>
            <a:r>
              <a:rPr lang="en-IN" sz="2200" dirty="0"/>
              <a:t>Power oscillates between source and inductor.</a:t>
            </a:r>
          </a:p>
          <a:p>
            <a:pPr>
              <a:buFont typeface="Arial" panose="020B0604020202020204" pitchFamily="34" charset="0"/>
              <a:buChar char="•"/>
            </a:pPr>
            <a:r>
              <a:rPr lang="en-IN" sz="2200" dirty="0"/>
              <a:t>Energy is stored and returned, not dissipated.</a:t>
            </a:r>
          </a:p>
        </p:txBody>
      </p:sp>
    </p:spTree>
    <p:extLst>
      <p:ext uri="{BB962C8B-B14F-4D97-AF65-F5344CB8AC3E}">
        <p14:creationId xmlns:p14="http://schemas.microsoft.com/office/powerpoint/2010/main" val="35620777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b42bc7f5c5634a6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5" name="Rectangle 1">
            <a:extLst>
              <a:ext uri="{FF2B5EF4-FFF2-40B4-BE49-F238E27FC236}">
                <a16:creationId xmlns:a16="http://schemas.microsoft.com/office/drawing/2014/main" id="{0D2BF3AE-C82C-8E60-48AB-EC9B9057D8FD}"/>
              </a:ext>
            </a:extLst>
          </p:cNvPr>
          <p:cNvSpPr>
            <a:spLocks noChangeArrowheads="1"/>
          </p:cNvSpPr>
          <p:nvPr/>
        </p:nvSpPr>
        <p:spPr bwMode="auto">
          <a:xfrm>
            <a:off x="854439" y="2098544"/>
            <a:ext cx="723132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 a purely inductive AC circuit, current lags voltage by 90°.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Inductor stores energy in its magnetic field and returns it back.</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Phasor diagram shows 90° lag of current behind voltage.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No real power is consumed; average power is zero.</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Circuit is reactive, and power oscillates within the system.</a:t>
            </a:r>
          </a:p>
        </p:txBody>
      </p:sp>
    </p:spTree>
    <p:extLst>
      <p:ext uri="{BB962C8B-B14F-4D97-AF65-F5344CB8AC3E}">
        <p14:creationId xmlns:p14="http://schemas.microsoft.com/office/powerpoint/2010/main" val="2468331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938992"/>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Purely Capacitive Load</a:t>
            </a:r>
          </a:p>
          <a:p>
            <a:pPr algn="ctr"/>
            <a:endPar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54C18343-D6DC-C67F-A035-D91529970AF1}"/>
              </a:ext>
            </a:extLst>
          </p:cNvPr>
          <p:cNvSpPr>
            <a:spLocks noChangeArrowheads="1"/>
          </p:cNvSpPr>
          <p:nvPr/>
        </p:nvSpPr>
        <p:spPr bwMode="auto">
          <a:xfrm>
            <a:off x="513264" y="2320605"/>
            <a:ext cx="593983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Introduction to </a:t>
            </a:r>
            <a:r>
              <a:rPr lang="en-US" altLang="en-US" sz="2000" dirty="0"/>
              <a:t>Capaci</a:t>
            </a:r>
            <a:r>
              <a:rPr kumimoji="0" lang="en-US" altLang="en-US" sz="2000" b="0" i="0" u="none" strike="noStrike" cap="none" normalizeH="0" baseline="0" dirty="0">
                <a:ln>
                  <a:noFill/>
                </a:ln>
                <a:solidFill>
                  <a:schemeClr val="tx1"/>
                </a:solidFill>
                <a:effectLst/>
              </a:rPr>
              <a:t>tance and AC Circuits ……….. 3</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Characteristics of Purely </a:t>
            </a:r>
            <a:r>
              <a:rPr lang="en-US" altLang="en-US" sz="2000" dirty="0"/>
              <a:t>Capaci</a:t>
            </a:r>
            <a:r>
              <a:rPr kumimoji="0" lang="en-US" altLang="en-US" sz="2000" b="0" i="0" u="none" strike="noStrike" cap="none" normalizeH="0" baseline="0" dirty="0">
                <a:ln>
                  <a:noFill/>
                </a:ln>
                <a:solidFill>
                  <a:schemeClr val="tx1"/>
                </a:solidFill>
                <a:effectLst/>
              </a:rPr>
              <a:t>tive Load …………….. 4</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Voltage and Current Relationship ………………………. 5</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Phasor Representation ………………………………………. 6</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Waveforms of Voltage and Current ……………………. 7</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Power in Pure </a:t>
            </a:r>
            <a:r>
              <a:rPr lang="en-US" altLang="en-US" sz="2000" dirty="0"/>
              <a:t>Capaci</a:t>
            </a:r>
            <a:r>
              <a:rPr kumimoji="0" lang="en-US" altLang="en-US" sz="2000" b="0" i="0" u="none" strike="noStrike" cap="none" normalizeH="0" baseline="0" dirty="0">
                <a:ln>
                  <a:noFill/>
                </a:ln>
                <a:solidFill>
                  <a:schemeClr val="tx1"/>
                </a:solidFill>
                <a:effectLst/>
              </a:rPr>
              <a:t>tive Load …………………………….. 8</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rPr>
              <a:t>Key Points / Summary ………………………………………… 9</a:t>
            </a:r>
          </a:p>
        </p:txBody>
      </p:sp>
    </p:spTree>
    <p:extLst>
      <p:ext uri="{BB962C8B-B14F-4D97-AF65-F5344CB8AC3E}">
        <p14:creationId xmlns:p14="http://schemas.microsoft.com/office/powerpoint/2010/main" val="2278835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483b7e407f834a9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Capacitance and AC Circuits</a:t>
            </a:r>
            <a:endParaRPr lang="en-IN" altLang="en-US" sz="3000" dirty="0">
              <a:solidFill>
                <a:schemeClr val="bg1"/>
              </a:solidFill>
              <a:latin typeface="+mn-lt"/>
              <a:cs typeface="Times New Roman" panose="02020603050405020304" pitchFamily="18" charset="0"/>
            </a:endParaRPr>
          </a:p>
        </p:txBody>
      </p:sp>
      <p:sp>
        <p:nvSpPr>
          <p:cNvPr id="6" name="TextBox 5">
            <a:extLst>
              <a:ext uri="{FF2B5EF4-FFF2-40B4-BE49-F238E27FC236}">
                <a16:creationId xmlns:a16="http://schemas.microsoft.com/office/drawing/2014/main" id="{6CC8C11B-70B1-34BD-0363-588AEEBA0671}"/>
              </a:ext>
            </a:extLst>
          </p:cNvPr>
          <p:cNvSpPr txBox="1"/>
          <p:nvPr/>
        </p:nvSpPr>
        <p:spPr>
          <a:xfrm>
            <a:off x="729464" y="2021908"/>
            <a:ext cx="7356297" cy="3816429"/>
          </a:xfrm>
          <a:prstGeom prst="rect">
            <a:avLst/>
          </a:prstGeom>
          <a:noFill/>
        </p:spPr>
        <p:txBody>
          <a:bodyPr wrap="square">
            <a:spAutoFit/>
          </a:bodyPr>
          <a:lstStyle/>
          <a:p>
            <a:pPr algn="just">
              <a:buFont typeface="Arial" panose="020B0604020202020204" pitchFamily="34" charset="0"/>
              <a:buChar char="•"/>
            </a:pPr>
            <a:r>
              <a:rPr lang="en-US" sz="2200" dirty="0"/>
              <a:t>A capacitor stores electrical energy in the form of an electric field between its plates.</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In an AC circuit, capacitors exhibit capacitive reactance (XC) which opposes current flow.</a:t>
            </a:r>
          </a:p>
          <a:p>
            <a:pPr algn="just">
              <a:buFont typeface="Arial" panose="020B0604020202020204" pitchFamily="34" charset="0"/>
              <a:buChar char="•"/>
            </a:pPr>
            <a:endParaRPr lang="en-US" sz="2200" dirty="0"/>
          </a:p>
          <a:p>
            <a:pPr>
              <a:buFont typeface="Arial" panose="020B0604020202020204" pitchFamily="34" charset="0"/>
              <a:buChar char="•"/>
            </a:pPr>
            <a:r>
              <a:rPr lang="en-US" sz="2200" dirty="0"/>
              <a:t>Capacitive reactance is given by: XC = 1 / (2π</a:t>
            </a:r>
            <a:r>
              <a:rPr lang="en-US" sz="2200" dirty="0" err="1"/>
              <a:t>fC</a:t>
            </a:r>
            <a:r>
              <a:rPr lang="en-US" sz="2200" dirty="0"/>
              <a:t>)</a:t>
            </a:r>
            <a:br>
              <a:rPr lang="en-US" sz="2200" dirty="0"/>
            </a:br>
            <a:r>
              <a:rPr lang="en-US" sz="2200" dirty="0"/>
              <a:t>where, f = frequency, C = capacitance in farads (F)</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A purely capacitive circuit contains only capacitance, with no resistance or inductance.</a:t>
            </a:r>
          </a:p>
        </p:txBody>
      </p:sp>
    </p:spTree>
    <p:extLst>
      <p:ext uri="{BB962C8B-B14F-4D97-AF65-F5344CB8AC3E}">
        <p14:creationId xmlns:p14="http://schemas.microsoft.com/office/powerpoint/2010/main" val="34659817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798a731354fd4b5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Characteristics of Purely Capacitive Load</a:t>
            </a:r>
            <a:endParaRPr lang="en-IN" altLang="en-US" b="1" dirty="0">
              <a:solidFill>
                <a:schemeClr val="bg1"/>
              </a:solidFill>
              <a:latin typeface="+mn-lt"/>
              <a:cs typeface="Calibri" panose="020F0502020204030204" pitchFamily="34" charset="0"/>
            </a:endParaRPr>
          </a:p>
        </p:txBody>
      </p:sp>
      <p:sp>
        <p:nvSpPr>
          <p:cNvPr id="18" name="TextBox 17">
            <a:extLst>
              <a:ext uri="{FF2B5EF4-FFF2-40B4-BE49-F238E27FC236}">
                <a16:creationId xmlns:a16="http://schemas.microsoft.com/office/drawing/2014/main" id="{AFA8C167-171F-2D15-F35C-134813582A5B}"/>
              </a:ext>
            </a:extLst>
          </p:cNvPr>
          <p:cNvSpPr txBox="1"/>
          <p:nvPr/>
        </p:nvSpPr>
        <p:spPr>
          <a:xfrm>
            <a:off x="5588125" y="5656726"/>
            <a:ext cx="3402767" cy="276999"/>
          </a:xfrm>
          <a:prstGeom prst="rect">
            <a:avLst/>
          </a:prstGeom>
          <a:noFill/>
        </p:spPr>
        <p:txBody>
          <a:bodyPr wrap="square" rtlCol="0">
            <a:spAutoFit/>
          </a:bodyPr>
          <a:lstStyle/>
          <a:p>
            <a:r>
              <a:rPr lang="en-US" sz="1200" dirty="0"/>
              <a:t>Figure 2.1 Purely Capacitive Circuit</a:t>
            </a:r>
            <a:endParaRPr lang="en-IN" sz="1200" dirty="0"/>
          </a:p>
        </p:txBody>
      </p:sp>
      <p:sp>
        <p:nvSpPr>
          <p:cNvPr id="7" name="TextBox 6">
            <a:extLst>
              <a:ext uri="{FF2B5EF4-FFF2-40B4-BE49-F238E27FC236}">
                <a16:creationId xmlns:a16="http://schemas.microsoft.com/office/drawing/2014/main" id="{F764BD0E-234C-FBEE-9C88-33A338968434}"/>
              </a:ext>
            </a:extLst>
          </p:cNvPr>
          <p:cNvSpPr txBox="1"/>
          <p:nvPr/>
        </p:nvSpPr>
        <p:spPr>
          <a:xfrm>
            <a:off x="729465" y="2021908"/>
            <a:ext cx="3647663" cy="4493538"/>
          </a:xfrm>
          <a:prstGeom prst="rect">
            <a:avLst/>
          </a:prstGeom>
          <a:noFill/>
        </p:spPr>
        <p:txBody>
          <a:bodyPr wrap="square">
            <a:spAutoFit/>
          </a:bodyPr>
          <a:lstStyle/>
          <a:p>
            <a:pPr algn="just">
              <a:buFont typeface="Arial" panose="020B0604020202020204" pitchFamily="34" charset="0"/>
              <a:buChar char="•"/>
            </a:pPr>
            <a:r>
              <a:rPr lang="en-US" sz="2200" dirty="0"/>
              <a:t>In a purely capacitive AC circuit, current leads voltage by 90° (π/2 radians).</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capacitor charges and discharges every half-cycle.</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No real power is consumed; energy is stored and then returned.</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average power over a full cycle is zero.</a:t>
            </a:r>
          </a:p>
        </p:txBody>
      </p:sp>
      <p:pic>
        <p:nvPicPr>
          <p:cNvPr id="8" name="Picture 7">
            <a:extLst>
              <a:ext uri="{FF2B5EF4-FFF2-40B4-BE49-F238E27FC236}">
                <a16:creationId xmlns:a16="http://schemas.microsoft.com/office/drawing/2014/main" id="{F763CEEB-3CF1-5115-D3A9-F0FD4A0C6186}"/>
              </a:ext>
            </a:extLst>
          </p:cNvPr>
          <p:cNvPicPr>
            <a:picLocks noChangeAspect="1"/>
          </p:cNvPicPr>
          <p:nvPr/>
        </p:nvPicPr>
        <p:blipFill>
          <a:blip r:embed="R9e51bb663c1842ce">
            <a:extLst>
              <a:ext uri="{28A0092B-C50C-407E-A947-70E740481C1C}">
                <a14:useLocalDpi xmlns:a14="http://schemas.microsoft.com/office/drawing/2010/main" val="0"/>
              </a:ext>
            </a:extLst>
          </a:blip>
          <a:stretch>
            <a:fillRect/>
          </a:stretch>
        </p:blipFill>
        <p:spPr>
          <a:xfrm>
            <a:off x="4690276" y="2426492"/>
            <a:ext cx="3943262" cy="3029925"/>
          </a:xfrm>
          <a:prstGeom prst="rect">
            <a:avLst/>
          </a:prstGeom>
        </p:spPr>
      </p:pic>
    </p:spTree>
    <p:extLst>
      <p:ext uri="{BB962C8B-B14F-4D97-AF65-F5344CB8AC3E}">
        <p14:creationId xmlns:p14="http://schemas.microsoft.com/office/powerpoint/2010/main" val="10710913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dc809fb5c159468b"/>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Voltage and Current Relationship</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E169A46E-3765-CB1A-3959-8289D78EAA10}"/>
              </a:ext>
            </a:extLst>
          </p:cNvPr>
          <p:cNvSpPr txBox="1"/>
          <p:nvPr/>
        </p:nvSpPr>
        <p:spPr>
          <a:xfrm>
            <a:off x="729465" y="2021908"/>
            <a:ext cx="7356296" cy="4278094"/>
          </a:xfrm>
          <a:prstGeom prst="rect">
            <a:avLst/>
          </a:prstGeom>
          <a:noFill/>
        </p:spPr>
        <p:txBody>
          <a:bodyPr wrap="square">
            <a:spAutoFit/>
          </a:bodyPr>
          <a:lstStyle/>
          <a:p>
            <a:pPr>
              <a:buFont typeface="Arial" panose="020B0604020202020204" pitchFamily="34" charset="0"/>
              <a:buChar char="•"/>
            </a:pPr>
            <a:r>
              <a:rPr lang="en-IN" sz="2200" dirty="0"/>
              <a:t>Applied voltage: </a:t>
            </a:r>
          </a:p>
          <a:p>
            <a:pPr algn="ctr"/>
            <a:r>
              <a:rPr lang="en-IN" sz="2400" i="1" dirty="0"/>
              <a:t>v(t) = Vm × sin(</a:t>
            </a:r>
            <a:r>
              <a:rPr lang="el-GR" sz="2400" i="1" dirty="0"/>
              <a:t>ω</a:t>
            </a:r>
            <a:r>
              <a:rPr lang="en-IN" sz="2400" i="1" dirty="0"/>
              <a:t>t)</a:t>
            </a:r>
          </a:p>
          <a:p>
            <a:pPr algn="ctr"/>
            <a:endParaRPr lang="en-IN" sz="2400" i="1" dirty="0"/>
          </a:p>
          <a:p>
            <a:pPr>
              <a:buFont typeface="Arial" panose="020B0604020202020204" pitchFamily="34" charset="0"/>
              <a:buChar char="•"/>
            </a:pPr>
            <a:r>
              <a:rPr lang="en-IN" sz="2200" dirty="0"/>
              <a:t>Current through pure capacitor:</a:t>
            </a:r>
          </a:p>
          <a:p>
            <a:pPr algn="ctr"/>
            <a:r>
              <a:rPr lang="en-IN" sz="2400" dirty="0" err="1"/>
              <a:t>i</a:t>
            </a:r>
            <a:r>
              <a:rPr lang="en-IN" sz="2400" dirty="0"/>
              <a:t>(t) = Im × sin(</a:t>
            </a:r>
            <a:r>
              <a:rPr lang="el-GR" sz="2400" dirty="0"/>
              <a:t>ω</a:t>
            </a:r>
            <a:r>
              <a:rPr lang="en-IN" sz="2400" dirty="0"/>
              <a:t>t + 90°) = Im × cos(</a:t>
            </a:r>
            <a:r>
              <a:rPr lang="el-GR" sz="2400" dirty="0"/>
              <a:t>ω</a:t>
            </a:r>
            <a:r>
              <a:rPr lang="en-IN" sz="2400" dirty="0"/>
              <a:t>t)</a:t>
            </a:r>
          </a:p>
          <a:p>
            <a:pPr algn="ctr"/>
            <a:endParaRPr lang="en-IN" sz="2400" dirty="0"/>
          </a:p>
          <a:p>
            <a:pPr>
              <a:buFont typeface="Arial" panose="020B0604020202020204" pitchFamily="34" charset="0"/>
              <a:buChar char="•"/>
            </a:pPr>
            <a:r>
              <a:rPr lang="en-IN" sz="2200" dirty="0"/>
              <a:t>Current leads voltage by 90° in time domain.</a:t>
            </a:r>
          </a:p>
          <a:p>
            <a:pPr>
              <a:buFont typeface="Arial" panose="020B0604020202020204" pitchFamily="34" charset="0"/>
              <a:buChar char="•"/>
            </a:pPr>
            <a:endParaRPr lang="en-IN" sz="2200" dirty="0"/>
          </a:p>
          <a:p>
            <a:pPr>
              <a:buFont typeface="Arial" panose="020B0604020202020204" pitchFamily="34" charset="0"/>
              <a:buChar char="•"/>
            </a:pPr>
            <a:r>
              <a:rPr lang="en-IN" sz="2200" dirty="0"/>
              <a:t>Peak current occurs before the peak voltage.</a:t>
            </a:r>
          </a:p>
          <a:p>
            <a:pPr>
              <a:buFont typeface="Arial" panose="020B0604020202020204" pitchFamily="34" charset="0"/>
              <a:buChar char="•"/>
            </a:pPr>
            <a:endParaRPr lang="en-IN" sz="2200" dirty="0"/>
          </a:p>
          <a:p>
            <a:pPr>
              <a:buNone/>
            </a:pPr>
            <a:r>
              <a:rPr lang="en-IN" sz="2200" b="1" dirty="0"/>
              <a:t>Key Formula:</a:t>
            </a:r>
          </a:p>
          <a:p>
            <a:pPr algn="ctr">
              <a:buNone/>
            </a:pPr>
            <a:r>
              <a:rPr lang="en-IN" sz="2400" i="1" dirty="0"/>
              <a:t>Im = Vm / XC, where XC = 1 / (2</a:t>
            </a:r>
            <a:r>
              <a:rPr lang="el-GR" sz="2400" i="1" dirty="0"/>
              <a:t>π</a:t>
            </a:r>
            <a:r>
              <a:rPr lang="en-IN" sz="2400" i="1" dirty="0" err="1"/>
              <a:t>fC</a:t>
            </a:r>
            <a:r>
              <a:rPr lang="en-IN" sz="2400" i="1" dirty="0"/>
              <a:t>)</a:t>
            </a:r>
          </a:p>
        </p:txBody>
      </p:sp>
    </p:spTree>
    <p:extLst>
      <p:ext uri="{BB962C8B-B14F-4D97-AF65-F5344CB8AC3E}">
        <p14:creationId xmlns:p14="http://schemas.microsoft.com/office/powerpoint/2010/main" val="3860129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28ba1c294dd04e5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5766058" y="5557423"/>
            <a:ext cx="3023365" cy="276999"/>
          </a:xfrm>
          <a:prstGeom prst="rect">
            <a:avLst/>
          </a:prstGeom>
          <a:noFill/>
        </p:spPr>
        <p:txBody>
          <a:bodyPr wrap="square" rtlCol="0">
            <a:spAutoFit/>
          </a:bodyPr>
          <a:lstStyle/>
          <a:p>
            <a:r>
              <a:rPr lang="en-US" sz="1200" dirty="0"/>
              <a:t>Figure 2.2 Phasor Diagram</a:t>
            </a:r>
            <a:endParaRPr lang="en-IN" sz="1200" dirty="0"/>
          </a:p>
        </p:txBody>
      </p:sp>
      <p:pic>
        <p:nvPicPr>
          <p:cNvPr id="5" name="Picture 4">
            <a:extLst>
              <a:ext uri="{FF2B5EF4-FFF2-40B4-BE49-F238E27FC236}">
                <a16:creationId xmlns:a16="http://schemas.microsoft.com/office/drawing/2014/main" id="{51641CCF-9F05-FB9A-8955-61BD07C6622D}"/>
              </a:ext>
            </a:extLst>
          </p:cNvPr>
          <p:cNvPicPr>
            <a:picLocks noChangeAspect="1"/>
          </p:cNvPicPr>
          <p:nvPr/>
        </p:nvPicPr>
        <p:blipFill>
          <a:blip r:embed="R735571ca5a174a74"/>
          <a:stretch>
            <a:fillRect/>
          </a:stretch>
        </p:blipFill>
        <p:spPr>
          <a:xfrm>
            <a:off x="5333626" y="2116833"/>
            <a:ext cx="2444629" cy="3440589"/>
          </a:xfrm>
          <a:prstGeom prst="rect">
            <a:avLst/>
          </a:prstGeom>
        </p:spPr>
      </p:pic>
      <p:sp>
        <p:nvSpPr>
          <p:cNvPr id="6" name="Rectangle 1">
            <a:extLst>
              <a:ext uri="{FF2B5EF4-FFF2-40B4-BE49-F238E27FC236}">
                <a16:creationId xmlns:a16="http://schemas.microsoft.com/office/drawing/2014/main" id="{E3C5083E-DA08-CC8A-039F-68AE6CC710D9}"/>
              </a:ext>
            </a:extLst>
          </p:cNvPr>
          <p:cNvSpPr>
            <a:spLocks noChangeArrowheads="1"/>
          </p:cNvSpPr>
          <p:nvPr/>
        </p:nvSpPr>
        <p:spPr bwMode="auto">
          <a:xfrm>
            <a:off x="451007" y="2218047"/>
            <a:ext cx="451727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a:ln>
                  <a:noFill/>
                </a:ln>
                <a:solidFill>
                  <a:schemeClr val="tx1"/>
                </a:solidFill>
                <a:effectLst/>
              </a:rPr>
              <a:t>In phasor form:</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Current phasor leads voltage phasor by 90°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This lead represents capacitive nature of the load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lags behind current in purely capacitive circuit</a:t>
            </a:r>
          </a:p>
        </p:txBody>
      </p:sp>
    </p:spTree>
    <p:extLst>
      <p:ext uri="{BB962C8B-B14F-4D97-AF65-F5344CB8AC3E}">
        <p14:creationId xmlns:p14="http://schemas.microsoft.com/office/powerpoint/2010/main" val="22239144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1735fb4f2ef84a7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4943073" y="6138852"/>
            <a:ext cx="3023365" cy="276999"/>
          </a:xfrm>
          <a:prstGeom prst="rect">
            <a:avLst/>
          </a:prstGeom>
          <a:noFill/>
        </p:spPr>
        <p:txBody>
          <a:bodyPr wrap="square" rtlCol="0">
            <a:spAutoFit/>
          </a:bodyPr>
          <a:lstStyle/>
          <a:p>
            <a:pPr algn="ctr"/>
            <a:r>
              <a:rPr lang="en-US" sz="1200" dirty="0"/>
              <a:t>Figure 2.2 Waveform Diagram</a:t>
            </a:r>
            <a:endParaRPr lang="en-IN" sz="1200" dirty="0"/>
          </a:p>
        </p:txBody>
      </p:sp>
      <p:sp>
        <p:nvSpPr>
          <p:cNvPr id="6" name="Rectangle 1">
            <a:extLst>
              <a:ext uri="{FF2B5EF4-FFF2-40B4-BE49-F238E27FC236}">
                <a16:creationId xmlns:a16="http://schemas.microsoft.com/office/drawing/2014/main" id="{7115B5C8-2C41-1B08-C58B-D0C3C197D52E}"/>
              </a:ext>
            </a:extLst>
          </p:cNvPr>
          <p:cNvSpPr>
            <a:spLocks noChangeArrowheads="1"/>
          </p:cNvSpPr>
          <p:nvPr/>
        </p:nvSpPr>
        <p:spPr bwMode="auto">
          <a:xfrm>
            <a:off x="539308" y="2307659"/>
            <a:ext cx="326819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waveform is sinusoidal.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Current waveform is sinusoidal and leads the voltage by 90°.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Zero crossing of current occurs before that of voltage.</a:t>
            </a:r>
          </a:p>
        </p:txBody>
      </p:sp>
      <p:pic>
        <p:nvPicPr>
          <p:cNvPr id="8" name="Picture 7">
            <a:extLst>
              <a:ext uri="{FF2B5EF4-FFF2-40B4-BE49-F238E27FC236}">
                <a16:creationId xmlns:a16="http://schemas.microsoft.com/office/drawing/2014/main" id="{CE37CF10-F44D-FCDC-DD95-23ABEE691128}"/>
              </a:ext>
            </a:extLst>
          </p:cNvPr>
          <p:cNvPicPr>
            <a:picLocks noChangeAspect="1"/>
          </p:cNvPicPr>
          <p:nvPr/>
        </p:nvPicPr>
        <p:blipFill>
          <a:blip r:embed="Rb1b2cfbc1ad24029"/>
          <a:stretch>
            <a:fillRect/>
          </a:stretch>
        </p:blipFill>
        <p:spPr>
          <a:xfrm>
            <a:off x="3833811" y="1952834"/>
            <a:ext cx="5109311" cy="4186014"/>
          </a:xfrm>
          <a:prstGeom prst="rect">
            <a:avLst/>
          </a:prstGeom>
        </p:spPr>
      </p:pic>
    </p:spTree>
    <p:extLst>
      <p:ext uri="{BB962C8B-B14F-4D97-AF65-F5344CB8AC3E}">
        <p14:creationId xmlns:p14="http://schemas.microsoft.com/office/powerpoint/2010/main" val="206709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e2320018b7e946b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Pure Capacitive Load</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638A8AA8-D6B9-E533-2F0E-CEDC146A53EF}"/>
              </a:ext>
            </a:extLst>
          </p:cNvPr>
          <p:cNvSpPr txBox="1"/>
          <p:nvPr/>
        </p:nvSpPr>
        <p:spPr>
          <a:xfrm>
            <a:off x="729464" y="2021908"/>
            <a:ext cx="7356297" cy="4278094"/>
          </a:xfrm>
          <a:prstGeom prst="rect">
            <a:avLst/>
          </a:prstGeom>
          <a:noFill/>
        </p:spPr>
        <p:txBody>
          <a:bodyPr wrap="square">
            <a:spAutoFit/>
          </a:bodyPr>
          <a:lstStyle/>
          <a:p>
            <a:pPr>
              <a:buFont typeface="Arial" panose="020B0604020202020204" pitchFamily="34" charset="0"/>
              <a:buChar char="•"/>
            </a:pPr>
            <a:r>
              <a:rPr lang="en-IN" sz="2200" b="1" dirty="0"/>
              <a:t>Instantaneous Power</a:t>
            </a:r>
            <a:r>
              <a:rPr lang="en-IN" sz="2200" dirty="0"/>
              <a:t>:</a:t>
            </a:r>
          </a:p>
          <a:p>
            <a:pPr>
              <a:buFont typeface="Arial" panose="020B0604020202020204" pitchFamily="34" charset="0"/>
              <a:buChar char="•"/>
            </a:pPr>
            <a:endParaRPr lang="en-IN" sz="2200" dirty="0"/>
          </a:p>
          <a:p>
            <a:pPr algn="ctr"/>
            <a:r>
              <a:rPr lang="en-IN" sz="2400" i="1" dirty="0"/>
              <a:t>p(t) = v(t) × </a:t>
            </a:r>
            <a:r>
              <a:rPr lang="en-IN" sz="2400" i="1" dirty="0" err="1"/>
              <a:t>i</a:t>
            </a:r>
            <a:r>
              <a:rPr lang="en-IN" sz="2400" i="1" dirty="0"/>
              <a:t>(t) = Vm × Im × sin(</a:t>
            </a:r>
            <a:r>
              <a:rPr lang="el-GR" sz="2400" i="1" dirty="0"/>
              <a:t>ω</a:t>
            </a:r>
            <a:r>
              <a:rPr lang="en-IN" sz="2400" i="1" dirty="0"/>
              <a:t>t) × sin(</a:t>
            </a:r>
            <a:r>
              <a:rPr lang="el-GR" sz="2400" i="1" dirty="0"/>
              <a:t>ω</a:t>
            </a:r>
            <a:r>
              <a:rPr lang="en-IN" sz="2400" i="1" dirty="0"/>
              <a:t>t + 90°)</a:t>
            </a:r>
            <a:br>
              <a:rPr lang="en-IN" sz="2400" i="1" dirty="0"/>
            </a:br>
            <a:r>
              <a:rPr lang="en-IN" sz="2400" i="1" dirty="0"/>
              <a:t>p(t) = Vm × Im × sin(</a:t>
            </a:r>
            <a:r>
              <a:rPr lang="el-GR" sz="2400" i="1" dirty="0"/>
              <a:t>ω</a:t>
            </a:r>
            <a:r>
              <a:rPr lang="en-IN" sz="2400" i="1" dirty="0"/>
              <a:t>t) × cos(</a:t>
            </a:r>
            <a:r>
              <a:rPr lang="el-GR" sz="2400" i="1" dirty="0"/>
              <a:t>ω</a:t>
            </a:r>
            <a:r>
              <a:rPr lang="en-IN" sz="2400" i="1" dirty="0"/>
              <a:t>t)</a:t>
            </a:r>
            <a:br>
              <a:rPr lang="en-IN" sz="2400" i="1" dirty="0"/>
            </a:br>
            <a:r>
              <a:rPr lang="en-IN" sz="2400" i="1" dirty="0"/>
              <a:t>p(t) = Vm × Im × 0.5 × sin(2</a:t>
            </a:r>
            <a:r>
              <a:rPr lang="el-GR" sz="2400" i="1" dirty="0"/>
              <a:t>ω</a:t>
            </a:r>
            <a:r>
              <a:rPr lang="en-IN" sz="2400" i="1" dirty="0"/>
              <a:t>t)</a:t>
            </a:r>
          </a:p>
          <a:p>
            <a:pPr algn="ctr"/>
            <a:endParaRPr lang="en-IN" sz="2400" i="1" dirty="0"/>
          </a:p>
          <a:p>
            <a:pPr>
              <a:buFont typeface="Arial" panose="020B0604020202020204" pitchFamily="34" charset="0"/>
              <a:buChar char="•"/>
            </a:pPr>
            <a:r>
              <a:rPr lang="en-IN" sz="2200" dirty="0"/>
              <a:t>Power alternates between positive and negative values.</a:t>
            </a:r>
          </a:p>
          <a:p>
            <a:pPr>
              <a:buFont typeface="Arial" panose="020B0604020202020204" pitchFamily="34" charset="0"/>
              <a:buChar char="•"/>
            </a:pPr>
            <a:r>
              <a:rPr lang="en-IN" sz="2200" dirty="0"/>
              <a:t>Average Power (P) = 0 over one full cycle.</a:t>
            </a:r>
          </a:p>
          <a:p>
            <a:pPr>
              <a:buFont typeface="Arial" panose="020B0604020202020204" pitchFamily="34" charset="0"/>
              <a:buChar char="•"/>
            </a:pPr>
            <a:endParaRPr lang="en-IN" sz="2200" dirty="0"/>
          </a:p>
          <a:p>
            <a:pPr>
              <a:buNone/>
            </a:pPr>
            <a:r>
              <a:rPr lang="en-IN" sz="2200" b="1" dirty="0"/>
              <a:t>Key Insight:</a:t>
            </a:r>
            <a:endParaRPr lang="en-IN" sz="2200" dirty="0"/>
          </a:p>
          <a:p>
            <a:pPr>
              <a:buFont typeface="Arial" panose="020B0604020202020204" pitchFamily="34" charset="0"/>
              <a:buChar char="•"/>
            </a:pPr>
            <a:r>
              <a:rPr lang="en-IN" sz="2200" dirty="0"/>
              <a:t>Energy is not dissipated but is stored and returned to the source cyclically.</a:t>
            </a:r>
          </a:p>
        </p:txBody>
      </p:sp>
    </p:spTree>
    <p:extLst>
      <p:ext uri="{BB962C8B-B14F-4D97-AF65-F5344CB8AC3E}">
        <p14:creationId xmlns:p14="http://schemas.microsoft.com/office/powerpoint/2010/main" val="35620777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06f213b5c99d4bbd"/>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DCFB0CED-B67B-059D-6DA9-869D22866D28}"/>
              </a:ext>
            </a:extLst>
          </p:cNvPr>
          <p:cNvSpPr txBox="1"/>
          <p:nvPr/>
        </p:nvSpPr>
        <p:spPr>
          <a:xfrm>
            <a:off x="729464" y="2021908"/>
            <a:ext cx="7356297" cy="4060214"/>
          </a:xfrm>
          <a:prstGeom prst="rect">
            <a:avLst/>
          </a:prstGeom>
          <a:noFill/>
        </p:spPr>
        <p:txBody>
          <a:bodyPr wrap="square">
            <a:spAutoFit/>
          </a:bodyPr>
          <a:lstStyle/>
          <a:p>
            <a:pPr algn="just">
              <a:lnSpc>
                <a:spcPct val="200000"/>
              </a:lnSpc>
              <a:buFont typeface="Arial" panose="020B0604020202020204" pitchFamily="34" charset="0"/>
              <a:buChar char="•"/>
            </a:pPr>
            <a:r>
              <a:rPr lang="en-US" sz="2200" dirty="0"/>
              <a:t>In a purely capacitive circuit, current leads voltage by 90°.</a:t>
            </a:r>
          </a:p>
          <a:p>
            <a:pPr algn="just">
              <a:lnSpc>
                <a:spcPct val="200000"/>
              </a:lnSpc>
              <a:buFont typeface="Arial" panose="020B0604020202020204" pitchFamily="34" charset="0"/>
              <a:buChar char="•"/>
            </a:pPr>
            <a:r>
              <a:rPr lang="en-US" sz="2200" dirty="0"/>
              <a:t>The capacitor stores and returns energy every cycle.</a:t>
            </a:r>
          </a:p>
          <a:p>
            <a:pPr algn="just">
              <a:lnSpc>
                <a:spcPct val="200000"/>
              </a:lnSpc>
              <a:buFont typeface="Arial" panose="020B0604020202020204" pitchFamily="34" charset="0"/>
              <a:buChar char="•"/>
            </a:pPr>
            <a:r>
              <a:rPr lang="en-US" sz="2200" dirty="0"/>
              <a:t>Phasor diagram shows current ahead of voltage.</a:t>
            </a:r>
          </a:p>
          <a:p>
            <a:pPr algn="just">
              <a:lnSpc>
                <a:spcPct val="200000"/>
              </a:lnSpc>
              <a:buFont typeface="Arial" panose="020B0604020202020204" pitchFamily="34" charset="0"/>
              <a:buChar char="•"/>
            </a:pPr>
            <a:r>
              <a:rPr lang="en-US" sz="2200" dirty="0"/>
              <a:t>No real power is consumed; only reactive power is present.</a:t>
            </a:r>
          </a:p>
          <a:p>
            <a:pPr algn="just">
              <a:lnSpc>
                <a:spcPct val="200000"/>
              </a:lnSpc>
              <a:buFont typeface="Arial" panose="020B0604020202020204" pitchFamily="34" charset="0"/>
              <a:buChar char="•"/>
            </a:pPr>
            <a:r>
              <a:rPr lang="en-US" sz="2200" dirty="0"/>
              <a:t>Capacitors offer capacitive reactance (XC) which decreases with frequency.</a:t>
            </a:r>
          </a:p>
        </p:txBody>
      </p:sp>
    </p:spTree>
    <p:extLst>
      <p:ext uri="{BB962C8B-B14F-4D97-AF65-F5344CB8AC3E}">
        <p14:creationId xmlns:p14="http://schemas.microsoft.com/office/powerpoint/2010/main" val="2468331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RL Series Load</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id="{DC17530E-34D4-459E-AB62-65F70A4A9D95}"/>
              </a:ext>
            </a:extLst>
          </p:cNvPr>
          <p:cNvSpPr>
            <a:spLocks noChangeArrowheads="1"/>
          </p:cNvSpPr>
          <p:nvPr/>
        </p:nvSpPr>
        <p:spPr bwMode="auto">
          <a:xfrm>
            <a:off x="487399" y="2372053"/>
            <a:ext cx="603289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Introduction to RL Series Circuit ……………………. 3</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Impedance in RL Circuit ………………………………… 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Voltage and Current Relationship ………………….. 5</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Phasor Representation …………………………………. 6</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Waveforms of Voltage and Current ………………. 7</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in RL Circuit ……………………………………….. 8</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Factor and Phase Angle ……………………… 9</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Key Points / </a:t>
            </a:r>
            <a:r>
              <a:rPr kumimoji="0" lang="en-US" altLang="en-US" sz="2200" b="0" i="0" u="none" strike="noStrike" cap="none" normalizeH="0" baseline="0">
                <a:ln>
                  <a:noFill/>
                </a:ln>
                <a:solidFill>
                  <a:schemeClr val="tx1"/>
                </a:solidFill>
                <a:effectLst/>
              </a:rPr>
              <a:t>Summary …………………………………. </a:t>
            </a:r>
            <a:r>
              <a:rPr kumimoji="0" lang="en-US" altLang="en-US" sz="2200" b="0" i="0" u="none" strike="noStrike" cap="none" normalizeH="0" baseline="0" dirty="0">
                <a:ln>
                  <a:noFill/>
                </a:ln>
                <a:solidFill>
                  <a:schemeClr val="tx1"/>
                </a:solidFill>
                <a:effectLst/>
              </a:rPr>
              <a:t>10</a:t>
            </a:r>
          </a:p>
        </p:txBody>
      </p:sp>
    </p:spTree>
    <p:extLst>
      <p:ext uri="{BB962C8B-B14F-4D97-AF65-F5344CB8AC3E}">
        <p14:creationId xmlns:p14="http://schemas.microsoft.com/office/powerpoint/2010/main" val="22788355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68dbb881d9e8464e"/>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RL Series Circuit</a:t>
            </a:r>
            <a:endParaRPr lang="en-IN" altLang="en-US" sz="3000"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AA05DF45-04BB-4030-C61F-C1072339B8EF}"/>
              </a:ext>
            </a:extLst>
          </p:cNvPr>
          <p:cNvSpPr>
            <a:spLocks noChangeArrowheads="1"/>
          </p:cNvSpPr>
          <p:nvPr/>
        </p:nvSpPr>
        <p:spPr bwMode="auto">
          <a:xfrm>
            <a:off x="729464" y="1850129"/>
            <a:ext cx="384253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An RL series circuit contains a resistor (R) and an inductor (L) connected in series.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When supplied with an AC source, both elements influence the total behavior:</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i="0" u="none" strike="noStrike" cap="none" normalizeH="0" baseline="0" dirty="0">
                <a:ln>
                  <a:noFill/>
                </a:ln>
                <a:solidFill>
                  <a:schemeClr val="tx1"/>
                </a:solidFill>
                <a:effectLst/>
              </a:rPr>
              <a:t>Resistor causes voltage drop in phase with current.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i="0" u="none" strike="noStrike" cap="none" normalizeH="0" baseline="0" dirty="0">
                <a:ln>
                  <a:noFill/>
                </a:ln>
                <a:solidFill>
                  <a:schemeClr val="tx1"/>
                </a:solidFill>
                <a:effectLst/>
              </a:rPr>
              <a:t>Inductor causes voltage drop leading the current by 90°.</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The total current is common through both R and L.</a:t>
            </a:r>
          </a:p>
        </p:txBody>
      </p:sp>
      <p:pic>
        <p:nvPicPr>
          <p:cNvPr id="5" name="Picture 4">
            <a:extLst>
              <a:ext uri="{FF2B5EF4-FFF2-40B4-BE49-F238E27FC236}">
                <a16:creationId xmlns:a16="http://schemas.microsoft.com/office/drawing/2014/main" id="{6AE92C50-0D21-F600-E1E9-F5CFC101C998}"/>
              </a:ext>
            </a:extLst>
          </p:cNvPr>
          <p:cNvPicPr>
            <a:picLocks noChangeAspect="1"/>
          </p:cNvPicPr>
          <p:nvPr/>
        </p:nvPicPr>
        <p:blipFill>
          <a:blip r:embed="R1b76ea21a68c49db"/>
          <a:stretch>
            <a:fillRect/>
          </a:stretch>
        </p:blipFill>
        <p:spPr>
          <a:xfrm>
            <a:off x="4585306" y="2321753"/>
            <a:ext cx="4144024" cy="2984763"/>
          </a:xfrm>
          <a:prstGeom prst="rect">
            <a:avLst/>
          </a:prstGeom>
        </p:spPr>
      </p:pic>
      <p:sp>
        <p:nvSpPr>
          <p:cNvPr id="7" name="TextBox 6">
            <a:extLst>
              <a:ext uri="{FF2B5EF4-FFF2-40B4-BE49-F238E27FC236}">
                <a16:creationId xmlns:a16="http://schemas.microsoft.com/office/drawing/2014/main" id="{D8F69EC9-2011-A164-A0CB-646E7681C686}"/>
              </a:ext>
            </a:extLst>
          </p:cNvPr>
          <p:cNvSpPr txBox="1"/>
          <p:nvPr/>
        </p:nvSpPr>
        <p:spPr>
          <a:xfrm>
            <a:off x="5343151" y="5507059"/>
            <a:ext cx="2628333" cy="276999"/>
          </a:xfrm>
          <a:prstGeom prst="rect">
            <a:avLst/>
          </a:prstGeom>
          <a:noFill/>
        </p:spPr>
        <p:txBody>
          <a:bodyPr wrap="square" rtlCol="0">
            <a:spAutoFit/>
          </a:bodyPr>
          <a:lstStyle/>
          <a:p>
            <a:pPr algn="ctr"/>
            <a:r>
              <a:rPr lang="en-IN" sz="1200" dirty="0"/>
              <a:t>Figure 2.1 RL Series Circuit</a:t>
            </a:r>
          </a:p>
        </p:txBody>
      </p:sp>
    </p:spTree>
    <p:extLst>
      <p:ext uri="{BB962C8B-B14F-4D97-AF65-F5344CB8AC3E}">
        <p14:creationId xmlns:p14="http://schemas.microsoft.com/office/powerpoint/2010/main" val="34659817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d49a16089d1f4cc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Impedance in RL Circuit</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16872D98-07F0-597A-63D0-493B7A457606}"/>
              </a:ext>
            </a:extLst>
          </p:cNvPr>
          <p:cNvSpPr>
            <a:spLocks noChangeArrowheads="1"/>
          </p:cNvSpPr>
          <p:nvPr/>
        </p:nvSpPr>
        <p:spPr bwMode="auto">
          <a:xfrm>
            <a:off x="729464" y="1890377"/>
            <a:ext cx="7356298"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total opposition offered to AC is called impedance (Z).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Impedance in an RL circuit is given by:</a:t>
            </a:r>
          </a:p>
          <a:p>
            <a:pPr marL="0" marR="0" lvl="0" indent="0" algn="ctr" defTabSz="914400" rtl="0" eaLnBrk="0" fontAlgn="base" latinLnBrk="0" hangingPunct="0">
              <a:lnSpc>
                <a:spcPct val="100000"/>
              </a:lnSpc>
              <a:spcBef>
                <a:spcPct val="0"/>
              </a:spcBef>
              <a:spcAft>
                <a:spcPct val="0"/>
              </a:spcAft>
              <a:buClrTx/>
              <a:buSzTx/>
              <a:tabLst/>
            </a:pPr>
            <a:br>
              <a:rPr kumimoji="0" lang="en-US" altLang="en-US" sz="2200" i="0" u="none" strike="noStrike" cap="none" normalizeH="0" baseline="0" dirty="0">
                <a:ln>
                  <a:noFill/>
                </a:ln>
                <a:solidFill>
                  <a:schemeClr val="tx1"/>
                </a:solidFill>
                <a:effectLst/>
              </a:rPr>
            </a:br>
            <a:r>
              <a:rPr kumimoji="0" lang="en-US" altLang="en-US" sz="2400" i="1" u="none" strike="noStrike" cap="none" normalizeH="0" baseline="0" dirty="0">
                <a:ln>
                  <a:noFill/>
                </a:ln>
                <a:solidFill>
                  <a:schemeClr val="tx1"/>
                </a:solidFill>
                <a:effectLst/>
              </a:rPr>
              <a:t>Z = √(R² + XL²)</a:t>
            </a:r>
            <a:endParaRPr lang="en-US" altLang="en-US" sz="2200" dirty="0"/>
          </a:p>
          <a:p>
            <a:pPr marL="0" marR="0" lvl="0" indent="0"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a:ln>
                  <a:noFill/>
                </a:ln>
                <a:solidFill>
                  <a:schemeClr val="tx1"/>
                </a:solidFill>
                <a:effectLst/>
              </a:rPr>
              <a:t>Where, XL = 2π</a:t>
            </a:r>
            <a:r>
              <a:rPr kumimoji="0" lang="en-US" altLang="en-US" sz="2200" i="0" u="none" strike="noStrike" cap="none" normalizeH="0" baseline="0" dirty="0" err="1">
                <a:ln>
                  <a:noFill/>
                </a:ln>
                <a:solidFill>
                  <a:schemeClr val="tx1"/>
                </a:solidFill>
                <a:effectLst/>
              </a:rPr>
              <a:t>fL</a:t>
            </a: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circuit behaves partly resistive and partly inductive.</a:t>
            </a:r>
          </a:p>
          <a:p>
            <a:pPr>
              <a:buNone/>
            </a:pPr>
            <a:endParaRPr lang="en-US" sz="2400" b="1" dirty="0"/>
          </a:p>
          <a:p>
            <a:pPr>
              <a:buNone/>
            </a:pPr>
            <a:r>
              <a:rPr lang="en-US" sz="2200" b="1" dirty="0"/>
              <a:t>Key Formula:</a:t>
            </a:r>
            <a:endParaRPr lang="en-US" sz="2200" dirty="0"/>
          </a:p>
          <a:p>
            <a:pPr algn="ctr"/>
            <a:r>
              <a:rPr lang="en-US" sz="2400" i="1" dirty="0"/>
              <a:t>I = V / Z, </a:t>
            </a:r>
          </a:p>
          <a:p>
            <a:pPr>
              <a:buFont typeface="Arial" panose="020B0604020202020204" pitchFamily="34" charset="0"/>
              <a:buChar char="•"/>
            </a:pPr>
            <a:r>
              <a:rPr lang="en-US" sz="2200" dirty="0"/>
              <a:t>Where,</a:t>
            </a:r>
            <a:br>
              <a:rPr lang="en-US" sz="2200" dirty="0"/>
            </a:br>
            <a:r>
              <a:rPr lang="en-US" sz="2200" dirty="0"/>
              <a:t>V = applied voltage,</a:t>
            </a:r>
            <a:br>
              <a:rPr lang="en-US" sz="2200" dirty="0"/>
            </a:br>
            <a:r>
              <a:rPr lang="en-US" sz="2200" dirty="0"/>
              <a:t>Z = total impedance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710913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defd48e5f2774ab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Voltage and Current Relationship</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92E57025-4E10-50DD-3280-11DD43747365}"/>
              </a:ext>
            </a:extLst>
          </p:cNvPr>
          <p:cNvSpPr txBox="1"/>
          <p:nvPr/>
        </p:nvSpPr>
        <p:spPr>
          <a:xfrm>
            <a:off x="729465" y="2213023"/>
            <a:ext cx="7356297" cy="3539430"/>
          </a:xfrm>
          <a:prstGeom prst="rect">
            <a:avLst/>
          </a:prstGeom>
          <a:noFill/>
        </p:spPr>
        <p:txBody>
          <a:bodyPr wrap="square">
            <a:spAutoFit/>
          </a:bodyPr>
          <a:lstStyle/>
          <a:p>
            <a:pPr algn="just">
              <a:buFont typeface="Arial" panose="020B0604020202020204" pitchFamily="34" charset="0"/>
              <a:buChar char="•"/>
            </a:pPr>
            <a:r>
              <a:rPr lang="en-US" sz="2200" dirty="0"/>
              <a:t>Current in the RL circuit lags the applied voltage by a phase angle φ.</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phase angle is determined by the relative values of R and XL.</a:t>
            </a:r>
          </a:p>
          <a:p>
            <a:pPr algn="just">
              <a:buFont typeface="Arial" panose="020B0604020202020204" pitchFamily="34" charset="0"/>
              <a:buChar char="•"/>
            </a:pPr>
            <a:endParaRPr lang="en-US" sz="2200" dirty="0"/>
          </a:p>
          <a:p>
            <a:pPr algn="ctr"/>
            <a:r>
              <a:rPr lang="en-US" sz="2400" i="1" dirty="0"/>
              <a:t>tan(φ) = XL / R</a:t>
            </a:r>
          </a:p>
          <a:p>
            <a:pPr algn="just">
              <a:buNone/>
            </a:pPr>
            <a:r>
              <a:rPr lang="en-US" sz="2200" dirty="0"/>
              <a:t>Current Equation:</a:t>
            </a:r>
          </a:p>
          <a:p>
            <a:pPr algn="ctr">
              <a:buNone/>
            </a:pPr>
            <a:r>
              <a:rPr lang="en-US" sz="2400" i="1" dirty="0" err="1"/>
              <a:t>i</a:t>
            </a:r>
            <a:r>
              <a:rPr lang="en-US" sz="2400" i="1" dirty="0"/>
              <a:t>(t) = </a:t>
            </a:r>
            <a:r>
              <a:rPr lang="en-US" sz="2400" i="1" dirty="0" err="1"/>
              <a:t>Im</a:t>
            </a:r>
            <a:r>
              <a:rPr lang="en-US" sz="2400" i="1" dirty="0"/>
              <a:t> × sin(</a:t>
            </a:r>
            <a:r>
              <a:rPr lang="en-US" sz="2400" i="1" dirty="0" err="1"/>
              <a:t>ωt</a:t>
            </a:r>
            <a:r>
              <a:rPr lang="en-US" sz="2400" i="1" dirty="0"/>
              <a:t> − φ)</a:t>
            </a:r>
          </a:p>
          <a:p>
            <a:pPr algn="ctr">
              <a:buNone/>
            </a:pPr>
            <a:r>
              <a:rPr lang="en-US" sz="2400" i="1" dirty="0" err="1"/>
              <a:t>Im</a:t>
            </a:r>
            <a:r>
              <a:rPr lang="en-US" sz="2400" i="1" dirty="0"/>
              <a:t> = </a:t>
            </a:r>
            <a:r>
              <a:rPr lang="en-US" sz="2400" i="1" dirty="0" err="1"/>
              <a:t>Vm</a:t>
            </a:r>
            <a:r>
              <a:rPr lang="en-US" sz="2400" i="1" dirty="0"/>
              <a:t> / Z</a:t>
            </a:r>
          </a:p>
        </p:txBody>
      </p:sp>
    </p:spTree>
    <p:extLst>
      <p:ext uri="{BB962C8B-B14F-4D97-AF65-F5344CB8AC3E}">
        <p14:creationId xmlns:p14="http://schemas.microsoft.com/office/powerpoint/2010/main" val="38601299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eda765cedf1242e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3182595" y="4687230"/>
            <a:ext cx="3023365" cy="276999"/>
          </a:xfrm>
          <a:prstGeom prst="rect">
            <a:avLst/>
          </a:prstGeom>
          <a:noFill/>
        </p:spPr>
        <p:txBody>
          <a:bodyPr wrap="square" rtlCol="0">
            <a:spAutoFit/>
          </a:bodyPr>
          <a:lstStyle/>
          <a:p>
            <a:pPr algn="ctr"/>
            <a:r>
              <a:rPr lang="en-US" sz="1200" dirty="0"/>
              <a:t>Figure 2.2 Phasor Diagram</a:t>
            </a:r>
            <a:endParaRPr lang="en-IN" sz="1200" dirty="0"/>
          </a:p>
        </p:txBody>
      </p:sp>
      <p:sp>
        <p:nvSpPr>
          <p:cNvPr id="8" name="Rectangle 2">
            <a:extLst>
              <a:ext uri="{FF2B5EF4-FFF2-40B4-BE49-F238E27FC236}">
                <a16:creationId xmlns:a16="http://schemas.microsoft.com/office/drawing/2014/main" id="{EED4387C-4B75-4451-B072-8448C9E12D06}"/>
              </a:ext>
            </a:extLst>
          </p:cNvPr>
          <p:cNvSpPr>
            <a:spLocks noChangeArrowheads="1"/>
          </p:cNvSpPr>
          <p:nvPr/>
        </p:nvSpPr>
        <p:spPr bwMode="auto">
          <a:xfrm>
            <a:off x="729465" y="5102728"/>
            <a:ext cx="766502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voltage drop across R (VR) is in phase with the current.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voltage drop across L (VL) leads the current by 90°.</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total applied voltage (V) is the phasor sum of VR and VL.</a:t>
            </a:r>
          </a:p>
        </p:txBody>
      </p:sp>
      <p:pic>
        <p:nvPicPr>
          <p:cNvPr id="9" name="Picture 8">
            <a:extLst>
              <a:ext uri="{FF2B5EF4-FFF2-40B4-BE49-F238E27FC236}">
                <a16:creationId xmlns:a16="http://schemas.microsoft.com/office/drawing/2014/main" id="{B67FAE7A-7AE4-6EE7-B5AD-7199FAA9AD2B}"/>
              </a:ext>
            </a:extLst>
          </p:cNvPr>
          <p:cNvPicPr>
            <a:picLocks noChangeAspect="1"/>
          </p:cNvPicPr>
          <p:nvPr/>
        </p:nvPicPr>
        <p:blipFill>
          <a:blip r:embed="R04eca515c7f84c42"/>
          <a:stretch>
            <a:fillRect/>
          </a:stretch>
        </p:blipFill>
        <p:spPr>
          <a:xfrm>
            <a:off x="2334619" y="1893772"/>
            <a:ext cx="4474761" cy="2793458"/>
          </a:xfrm>
          <a:prstGeom prst="rect">
            <a:avLst/>
          </a:prstGeom>
        </p:spPr>
      </p:pic>
    </p:spTree>
    <p:extLst>
      <p:ext uri="{BB962C8B-B14F-4D97-AF65-F5344CB8AC3E}">
        <p14:creationId xmlns:p14="http://schemas.microsoft.com/office/powerpoint/2010/main" val="22239144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9271fbdda2664e5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4943073" y="6138852"/>
            <a:ext cx="3023365" cy="276999"/>
          </a:xfrm>
          <a:prstGeom prst="rect">
            <a:avLst/>
          </a:prstGeom>
          <a:noFill/>
        </p:spPr>
        <p:txBody>
          <a:bodyPr wrap="square" rtlCol="0">
            <a:spAutoFit/>
          </a:bodyPr>
          <a:lstStyle/>
          <a:p>
            <a:pPr algn="ctr"/>
            <a:r>
              <a:rPr lang="en-US" sz="1200" dirty="0"/>
              <a:t>Figure 2.2 Waveform Diagram</a:t>
            </a:r>
            <a:endParaRPr lang="en-IN" sz="1200" dirty="0"/>
          </a:p>
        </p:txBody>
      </p:sp>
      <p:sp>
        <p:nvSpPr>
          <p:cNvPr id="3" name="Rectangle 1">
            <a:extLst>
              <a:ext uri="{FF2B5EF4-FFF2-40B4-BE49-F238E27FC236}">
                <a16:creationId xmlns:a16="http://schemas.microsoft.com/office/drawing/2014/main" id="{F8D3B41B-7A2A-CF6D-A8A3-6BE50A707D28}"/>
              </a:ext>
            </a:extLst>
          </p:cNvPr>
          <p:cNvSpPr>
            <a:spLocks noChangeArrowheads="1"/>
          </p:cNvSpPr>
          <p:nvPr/>
        </p:nvSpPr>
        <p:spPr bwMode="auto">
          <a:xfrm>
            <a:off x="446941" y="2556278"/>
            <a:ext cx="351046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current waveform lags behind the voltage waveform by angle φ.</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Waveforms are sinusoidal but not in phase.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degree of lag depends on the R to L ratio.</a:t>
            </a:r>
          </a:p>
        </p:txBody>
      </p:sp>
      <p:pic>
        <p:nvPicPr>
          <p:cNvPr id="5" name="Picture 4">
            <a:extLst>
              <a:ext uri="{FF2B5EF4-FFF2-40B4-BE49-F238E27FC236}">
                <a16:creationId xmlns:a16="http://schemas.microsoft.com/office/drawing/2014/main" id="{5888AB4A-D84C-055B-FF5F-19CC32C5180F}"/>
              </a:ext>
            </a:extLst>
          </p:cNvPr>
          <p:cNvPicPr>
            <a:picLocks noChangeAspect="1"/>
          </p:cNvPicPr>
          <p:nvPr/>
        </p:nvPicPr>
        <p:blipFill>
          <a:blip r:embed="R7708e9088b834dd1"/>
          <a:stretch>
            <a:fillRect/>
          </a:stretch>
        </p:blipFill>
        <p:spPr>
          <a:xfrm>
            <a:off x="4065537" y="1978622"/>
            <a:ext cx="4631522" cy="4025819"/>
          </a:xfrm>
          <a:prstGeom prst="rect">
            <a:avLst/>
          </a:prstGeom>
        </p:spPr>
      </p:pic>
    </p:spTree>
    <p:extLst>
      <p:ext uri="{BB962C8B-B14F-4D97-AF65-F5344CB8AC3E}">
        <p14:creationId xmlns:p14="http://schemas.microsoft.com/office/powerpoint/2010/main" val="206709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fd011403ec6540e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RL Circuit</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4832CF44-65E7-FE98-C509-2AB472E0F0B2}"/>
              </a:ext>
            </a:extLst>
          </p:cNvPr>
          <p:cNvSpPr txBox="1"/>
          <p:nvPr/>
        </p:nvSpPr>
        <p:spPr>
          <a:xfrm>
            <a:off x="729464" y="2021908"/>
            <a:ext cx="7356296" cy="4278094"/>
          </a:xfrm>
          <a:prstGeom prst="rect">
            <a:avLst/>
          </a:prstGeom>
          <a:noFill/>
        </p:spPr>
        <p:txBody>
          <a:bodyPr wrap="square">
            <a:spAutoFit/>
          </a:bodyPr>
          <a:lstStyle/>
          <a:p>
            <a:pPr>
              <a:buFont typeface="Arial" panose="020B0604020202020204" pitchFamily="34" charset="0"/>
              <a:buChar char="•"/>
            </a:pPr>
            <a:r>
              <a:rPr lang="en-US" sz="2200" b="1" dirty="0"/>
              <a:t>Instantaneous Power:</a:t>
            </a:r>
          </a:p>
          <a:p>
            <a:pPr algn="ctr"/>
            <a:r>
              <a:rPr lang="en-US" sz="2400" i="1" dirty="0"/>
              <a:t>p(t) = v(t) × </a:t>
            </a:r>
            <a:r>
              <a:rPr lang="en-US" sz="2400" i="1" dirty="0" err="1"/>
              <a:t>i</a:t>
            </a:r>
            <a:r>
              <a:rPr lang="en-US" sz="2400" i="1" dirty="0"/>
              <a:t>(t)</a:t>
            </a:r>
          </a:p>
          <a:p>
            <a:pPr>
              <a:buFont typeface="Arial" panose="020B0604020202020204" pitchFamily="34" charset="0"/>
              <a:buChar char="•"/>
            </a:pPr>
            <a:r>
              <a:rPr lang="en-US" sz="2200" b="1" dirty="0"/>
              <a:t>True (Active) Power:</a:t>
            </a:r>
          </a:p>
          <a:p>
            <a:pPr algn="ctr"/>
            <a:r>
              <a:rPr lang="en-US" sz="2400" i="1" dirty="0"/>
              <a:t>P = VI × cos(φ) (Measured in watts)</a:t>
            </a:r>
          </a:p>
          <a:p>
            <a:pPr>
              <a:buFont typeface="Arial" panose="020B0604020202020204" pitchFamily="34" charset="0"/>
              <a:buChar char="•"/>
            </a:pPr>
            <a:r>
              <a:rPr lang="en-US" sz="2200" b="1" dirty="0"/>
              <a:t>Reactive Power (Q):</a:t>
            </a:r>
          </a:p>
          <a:p>
            <a:pPr algn="ctr"/>
            <a:r>
              <a:rPr lang="en-US" sz="2400" i="1" dirty="0"/>
              <a:t>Q = VI × sin(φ) (Measured in VAR)</a:t>
            </a:r>
          </a:p>
          <a:p>
            <a:pPr>
              <a:buFont typeface="Arial" panose="020B0604020202020204" pitchFamily="34" charset="0"/>
              <a:buChar char="•"/>
            </a:pPr>
            <a:r>
              <a:rPr lang="en-US" sz="2200" b="1" dirty="0"/>
              <a:t>Apparent Power (S):</a:t>
            </a:r>
          </a:p>
          <a:p>
            <a:pPr algn="ctr"/>
            <a:r>
              <a:rPr lang="en-US" sz="2400" i="1" dirty="0"/>
              <a:t>S = VI (Measured in VA)</a:t>
            </a:r>
          </a:p>
          <a:p>
            <a:pPr>
              <a:buNone/>
            </a:pPr>
            <a:endParaRPr lang="en-US" sz="2200" b="1" dirty="0"/>
          </a:p>
          <a:p>
            <a:pPr>
              <a:buNone/>
            </a:pPr>
            <a:r>
              <a:rPr lang="en-US" sz="2200" b="1" dirty="0"/>
              <a:t>Note:</a:t>
            </a:r>
            <a:endParaRPr lang="en-US" sz="2200" dirty="0"/>
          </a:p>
          <a:p>
            <a:pPr>
              <a:buFont typeface="Arial" panose="020B0604020202020204" pitchFamily="34" charset="0"/>
              <a:buChar char="•"/>
            </a:pPr>
            <a:r>
              <a:rPr lang="en-US" sz="2200" dirty="0"/>
              <a:t>Only the resistive part consumes real power.</a:t>
            </a:r>
          </a:p>
          <a:p>
            <a:pPr>
              <a:buFont typeface="Arial" panose="020B0604020202020204" pitchFamily="34" charset="0"/>
              <a:buChar char="•"/>
            </a:pPr>
            <a:r>
              <a:rPr lang="en-US" sz="2200" dirty="0"/>
              <a:t>Inductive part causes reactive power flow.</a:t>
            </a:r>
          </a:p>
        </p:txBody>
      </p:sp>
    </p:spTree>
    <p:extLst>
      <p:ext uri="{BB962C8B-B14F-4D97-AF65-F5344CB8AC3E}">
        <p14:creationId xmlns:p14="http://schemas.microsoft.com/office/powerpoint/2010/main" val="35620777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E22A-B543-1824-4D13-F1C8FEA7F4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63BBE2-AD5F-D3C1-3DB2-D5F64AF71D7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B494DE7-39F7-F95E-B3FE-3F35D751767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5996256-5F87-2FA3-EF05-9CBEFC4287A4}"/>
              </a:ext>
            </a:extLst>
          </p:cNvPr>
          <p:cNvSpPr>
            <a:spLocks noChangeArrowheads="1"/>
          </p:cNvSpPr>
          <p:nvPr>
            <p:custDataLst>
              <p:tags r:id="R8ae64f0fa7f143d2"/>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Factor and Phase Angle</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2187FE92-9912-214E-DE94-8C1133777E55}"/>
              </a:ext>
            </a:extLst>
          </p:cNvPr>
          <p:cNvSpPr txBox="1"/>
          <p:nvPr/>
        </p:nvSpPr>
        <p:spPr>
          <a:xfrm>
            <a:off x="729465" y="2339795"/>
            <a:ext cx="7356297" cy="3477875"/>
          </a:xfrm>
          <a:prstGeom prst="rect">
            <a:avLst/>
          </a:prstGeom>
          <a:noFill/>
        </p:spPr>
        <p:txBody>
          <a:bodyPr wrap="square">
            <a:spAutoFit/>
          </a:bodyPr>
          <a:lstStyle/>
          <a:p>
            <a:pPr>
              <a:buFont typeface="Arial" panose="020B0604020202020204" pitchFamily="34" charset="0"/>
              <a:buChar char="•"/>
            </a:pPr>
            <a:r>
              <a:rPr lang="en-US" sz="2200" dirty="0"/>
              <a:t>Power Factor (PF) = cos(φ)</a:t>
            </a:r>
            <a:br>
              <a:rPr lang="en-US" sz="2200" dirty="0"/>
            </a:br>
            <a:r>
              <a:rPr lang="en-US" sz="2200" dirty="0"/>
              <a:t>It indicates the efficiency of power usage.</a:t>
            </a:r>
          </a:p>
          <a:p>
            <a:pPr>
              <a:buFont typeface="Arial" panose="020B0604020202020204" pitchFamily="34" charset="0"/>
              <a:buChar char="•"/>
            </a:pPr>
            <a:endParaRPr lang="en-US" sz="2200" dirty="0"/>
          </a:p>
          <a:p>
            <a:pPr>
              <a:buFont typeface="Arial" panose="020B0604020202020204" pitchFamily="34" charset="0"/>
              <a:buChar char="•"/>
            </a:pPr>
            <a:r>
              <a:rPr lang="en-US" sz="2200" dirty="0"/>
              <a:t>φ is the phase angle between applied voltage and current.</a:t>
            </a:r>
          </a:p>
          <a:p>
            <a:pPr>
              <a:buFont typeface="Arial" panose="020B0604020202020204" pitchFamily="34" charset="0"/>
              <a:buChar char="•"/>
            </a:pPr>
            <a:endParaRPr lang="en-US" sz="2200" dirty="0"/>
          </a:p>
          <a:p>
            <a:pPr>
              <a:buFont typeface="Arial" panose="020B0604020202020204" pitchFamily="34" charset="0"/>
              <a:buChar char="•"/>
            </a:pPr>
            <a:r>
              <a:rPr lang="en-US" sz="2200" dirty="0"/>
              <a:t>If XL increases (i.e., more inductive), PF decreases.</a:t>
            </a:r>
          </a:p>
          <a:p>
            <a:endParaRPr lang="en-US" sz="2200" dirty="0"/>
          </a:p>
          <a:p>
            <a:pPr>
              <a:buNone/>
            </a:pPr>
            <a:r>
              <a:rPr lang="en-US" sz="2200" b="1" dirty="0"/>
              <a:t>Good to Know:</a:t>
            </a:r>
            <a:endParaRPr lang="en-US" sz="2200" dirty="0"/>
          </a:p>
          <a:p>
            <a:pPr>
              <a:buFont typeface="Arial" panose="020B0604020202020204" pitchFamily="34" charset="0"/>
              <a:buChar char="•"/>
            </a:pPr>
            <a:r>
              <a:rPr lang="en-US" sz="2200" dirty="0"/>
              <a:t>A low PF implies high reactive power, causing inefficiency.</a:t>
            </a:r>
          </a:p>
          <a:p>
            <a:pPr>
              <a:buFont typeface="Arial" panose="020B0604020202020204" pitchFamily="34" charset="0"/>
              <a:buChar char="•"/>
            </a:pPr>
            <a:r>
              <a:rPr lang="en-US" sz="2200" dirty="0"/>
              <a:t>Ideal PF = 1 (purely resistive)</a:t>
            </a:r>
          </a:p>
        </p:txBody>
      </p:sp>
    </p:spTree>
    <p:extLst>
      <p:ext uri="{BB962C8B-B14F-4D97-AF65-F5344CB8AC3E}">
        <p14:creationId xmlns:p14="http://schemas.microsoft.com/office/powerpoint/2010/main" val="17698376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f3254665ff1248a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E7094A5F-1874-BF4C-EF14-B40D5789FB18}"/>
              </a:ext>
            </a:extLst>
          </p:cNvPr>
          <p:cNvSpPr txBox="1"/>
          <p:nvPr/>
        </p:nvSpPr>
        <p:spPr>
          <a:xfrm>
            <a:off x="729465" y="2128603"/>
            <a:ext cx="7356297" cy="3594702"/>
          </a:xfrm>
          <a:prstGeom prst="rect">
            <a:avLst/>
          </a:prstGeom>
          <a:noFill/>
        </p:spPr>
        <p:txBody>
          <a:bodyPr wrap="square">
            <a:spAutoFit/>
          </a:bodyPr>
          <a:lstStyle/>
          <a:p>
            <a:pPr algn="just">
              <a:lnSpc>
                <a:spcPct val="150000"/>
              </a:lnSpc>
              <a:buFont typeface="Arial" panose="020B0604020202020204" pitchFamily="34" charset="0"/>
              <a:buChar char="•"/>
            </a:pPr>
            <a:r>
              <a:rPr lang="en-US" sz="2200" dirty="0"/>
              <a:t>RL series circuit contains both resistance and inductance.</a:t>
            </a:r>
          </a:p>
          <a:p>
            <a:pPr algn="just">
              <a:lnSpc>
                <a:spcPct val="150000"/>
              </a:lnSpc>
              <a:buFont typeface="Arial" panose="020B0604020202020204" pitchFamily="34" charset="0"/>
              <a:buChar char="•"/>
            </a:pPr>
            <a:r>
              <a:rPr lang="en-US" sz="2200" dirty="0"/>
              <a:t>Impedance (Z) is the vector sum of R and XL.</a:t>
            </a:r>
          </a:p>
          <a:p>
            <a:pPr algn="just">
              <a:lnSpc>
                <a:spcPct val="150000"/>
              </a:lnSpc>
              <a:buFont typeface="Arial" panose="020B0604020202020204" pitchFamily="34" charset="0"/>
              <a:buChar char="•"/>
            </a:pPr>
            <a:r>
              <a:rPr lang="en-US" sz="2200" dirty="0"/>
              <a:t>Current lags voltage by an angle φ.</a:t>
            </a:r>
          </a:p>
          <a:p>
            <a:pPr algn="just">
              <a:lnSpc>
                <a:spcPct val="150000"/>
              </a:lnSpc>
              <a:buFont typeface="Arial" panose="020B0604020202020204" pitchFamily="34" charset="0"/>
              <a:buChar char="•"/>
            </a:pPr>
            <a:r>
              <a:rPr lang="en-US" sz="2200" dirty="0"/>
              <a:t>Power factor depends on R to XL ratio.</a:t>
            </a:r>
          </a:p>
          <a:p>
            <a:pPr algn="just">
              <a:lnSpc>
                <a:spcPct val="150000"/>
              </a:lnSpc>
              <a:buFont typeface="Arial" panose="020B0604020202020204" pitchFamily="34" charset="0"/>
              <a:buChar char="•"/>
            </a:pPr>
            <a:r>
              <a:rPr lang="en-US" sz="2200" dirty="0"/>
              <a:t>Only resistive element consumes real power.</a:t>
            </a:r>
          </a:p>
          <a:p>
            <a:pPr algn="just">
              <a:lnSpc>
                <a:spcPct val="150000"/>
              </a:lnSpc>
              <a:buFont typeface="Arial" panose="020B0604020202020204" pitchFamily="34" charset="0"/>
              <a:buChar char="•"/>
            </a:pPr>
            <a:r>
              <a:rPr lang="en-US" sz="2200" dirty="0"/>
              <a:t>Phasor diagram and waveforms help in visualizing the phase relationship.</a:t>
            </a:r>
          </a:p>
        </p:txBody>
      </p:sp>
    </p:spTree>
    <p:extLst>
      <p:ext uri="{BB962C8B-B14F-4D97-AF65-F5344CB8AC3E}">
        <p14:creationId xmlns:p14="http://schemas.microsoft.com/office/powerpoint/2010/main" val="24683311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RC</a:t>
            </a:r>
          </a:p>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Series Load</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id="{DC17530E-34D4-459E-AB62-65F70A4A9D95}"/>
              </a:ext>
            </a:extLst>
          </p:cNvPr>
          <p:cNvSpPr>
            <a:spLocks noChangeArrowheads="1"/>
          </p:cNvSpPr>
          <p:nvPr/>
        </p:nvSpPr>
        <p:spPr bwMode="auto">
          <a:xfrm>
            <a:off x="487399" y="2372053"/>
            <a:ext cx="603289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Introduction to RC Series Circuit ……………………. 3</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Impedance in RC Circuit ………………………………… 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Voltage and Current Relationship ………………….. 5</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Phasor Representation …………………………………. 6</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Waveforms of Voltage and Current ………………. 7</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in RC Circuit ……………………………………….. 8</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Factor and Phase Angle ……………………… 9</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Key Points / Summary …………………………………. 10</a:t>
            </a:r>
          </a:p>
        </p:txBody>
      </p:sp>
    </p:spTree>
    <p:extLst>
      <p:ext uri="{BB962C8B-B14F-4D97-AF65-F5344CB8AC3E}">
        <p14:creationId xmlns:p14="http://schemas.microsoft.com/office/powerpoint/2010/main" val="22788355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ad1be998f9264b36"/>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RC Series Circuit</a:t>
            </a:r>
            <a:endParaRPr lang="en-IN" altLang="en-US" sz="3000" dirty="0">
              <a:solidFill>
                <a:schemeClr val="bg1"/>
              </a:solidFill>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D8F69EC9-2011-A164-A0CB-646E7681C686}"/>
              </a:ext>
            </a:extLst>
          </p:cNvPr>
          <p:cNvSpPr txBox="1"/>
          <p:nvPr/>
        </p:nvSpPr>
        <p:spPr>
          <a:xfrm>
            <a:off x="5343151" y="5507059"/>
            <a:ext cx="2628333" cy="276999"/>
          </a:xfrm>
          <a:prstGeom prst="rect">
            <a:avLst/>
          </a:prstGeom>
          <a:noFill/>
        </p:spPr>
        <p:txBody>
          <a:bodyPr wrap="square" rtlCol="0">
            <a:spAutoFit/>
          </a:bodyPr>
          <a:lstStyle/>
          <a:p>
            <a:pPr algn="ctr"/>
            <a:r>
              <a:rPr lang="en-IN" sz="1200" dirty="0"/>
              <a:t>Figure 2.1 RC Series Circuit</a:t>
            </a:r>
          </a:p>
        </p:txBody>
      </p:sp>
      <p:sp>
        <p:nvSpPr>
          <p:cNvPr id="6" name="Rectangle 1">
            <a:extLst>
              <a:ext uri="{FF2B5EF4-FFF2-40B4-BE49-F238E27FC236}">
                <a16:creationId xmlns:a16="http://schemas.microsoft.com/office/drawing/2014/main" id="{EBFBF0A7-51E9-28BF-1223-232B330237AD}"/>
              </a:ext>
            </a:extLst>
          </p:cNvPr>
          <p:cNvSpPr>
            <a:spLocks noChangeArrowheads="1"/>
          </p:cNvSpPr>
          <p:nvPr/>
        </p:nvSpPr>
        <p:spPr bwMode="auto">
          <a:xfrm>
            <a:off x="565919" y="2021908"/>
            <a:ext cx="401938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i="0" u="none" strike="noStrike" cap="none" normalizeH="0" baseline="0" dirty="0">
                <a:ln>
                  <a:noFill/>
                </a:ln>
                <a:solidFill>
                  <a:schemeClr val="tx1"/>
                </a:solidFill>
                <a:effectLst/>
              </a:rPr>
              <a:t>An RC series circuit contains a resistor (R) and a capacitor (C) connected in series.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1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i="0" u="none" strike="noStrike" cap="none" normalizeH="0" baseline="0" dirty="0">
                <a:ln>
                  <a:noFill/>
                </a:ln>
                <a:solidFill>
                  <a:schemeClr val="tx1"/>
                </a:solidFill>
                <a:effectLst/>
              </a:rPr>
              <a:t>When connected to an AC source:</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100" i="0" u="none" strike="noStrike" cap="none" normalizeH="0" baseline="0" dirty="0">
                <a:ln>
                  <a:noFill/>
                </a:ln>
                <a:solidFill>
                  <a:schemeClr val="tx1"/>
                </a:solidFill>
                <a:effectLst/>
              </a:rPr>
              <a:t>Resistor causes voltage drop in phase with current.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100" i="0" u="none" strike="noStrike" cap="none" normalizeH="0" baseline="0" dirty="0">
                <a:ln>
                  <a:noFill/>
                </a:ln>
                <a:solidFill>
                  <a:schemeClr val="tx1"/>
                </a:solidFill>
                <a:effectLst/>
              </a:rPr>
              <a:t>Capacitor causes voltage drop that lags the current by 90°.</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1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i="0" u="none" strike="noStrike" cap="none" normalizeH="0" baseline="0" dirty="0">
                <a:ln>
                  <a:noFill/>
                </a:ln>
                <a:solidFill>
                  <a:schemeClr val="tx1"/>
                </a:solidFill>
                <a:effectLst/>
              </a:rPr>
              <a:t>The total current flows through both R and C.</a:t>
            </a:r>
          </a:p>
        </p:txBody>
      </p:sp>
      <p:pic>
        <p:nvPicPr>
          <p:cNvPr id="8" name="Picture 7">
            <a:extLst>
              <a:ext uri="{FF2B5EF4-FFF2-40B4-BE49-F238E27FC236}">
                <a16:creationId xmlns:a16="http://schemas.microsoft.com/office/drawing/2014/main" id="{21938135-11FA-49FB-10FA-830D79A93AB0}"/>
              </a:ext>
            </a:extLst>
          </p:cNvPr>
          <p:cNvPicPr>
            <a:picLocks noChangeAspect="1"/>
          </p:cNvPicPr>
          <p:nvPr/>
        </p:nvPicPr>
        <p:blipFill>
          <a:blip r:embed="R3a8c452904274c21"/>
          <a:stretch>
            <a:fillRect/>
          </a:stretch>
        </p:blipFill>
        <p:spPr>
          <a:xfrm>
            <a:off x="4830852" y="2245236"/>
            <a:ext cx="4019386" cy="3261823"/>
          </a:xfrm>
          <a:prstGeom prst="rect">
            <a:avLst/>
          </a:prstGeom>
        </p:spPr>
      </p:pic>
    </p:spTree>
    <p:extLst>
      <p:ext uri="{BB962C8B-B14F-4D97-AF65-F5344CB8AC3E}">
        <p14:creationId xmlns:p14="http://schemas.microsoft.com/office/powerpoint/2010/main" val="34659817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1042e418172d4e3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Impedance in RC Circuit</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176850A8-C3E4-FD87-2853-B52C346556CE}"/>
              </a:ext>
            </a:extLst>
          </p:cNvPr>
          <p:cNvSpPr txBox="1"/>
          <p:nvPr/>
        </p:nvSpPr>
        <p:spPr>
          <a:xfrm>
            <a:off x="729465" y="2021908"/>
            <a:ext cx="7356297" cy="3508653"/>
          </a:xfrm>
          <a:prstGeom prst="rect">
            <a:avLst/>
          </a:prstGeom>
          <a:noFill/>
        </p:spPr>
        <p:txBody>
          <a:bodyPr wrap="square">
            <a:spAutoFit/>
          </a:bodyPr>
          <a:lstStyle/>
          <a:p>
            <a:pPr>
              <a:buFont typeface="Arial" panose="020B0604020202020204" pitchFamily="34" charset="0"/>
              <a:buChar char="•"/>
            </a:pPr>
            <a:r>
              <a:rPr lang="en-US" sz="2200" dirty="0"/>
              <a:t>The total opposition in an RC circuit is the impedance (Z).</a:t>
            </a:r>
          </a:p>
          <a:p>
            <a:pPr>
              <a:buFont typeface="Arial" panose="020B0604020202020204" pitchFamily="34" charset="0"/>
              <a:buChar char="•"/>
            </a:pPr>
            <a:endParaRPr lang="en-US" sz="2200" dirty="0"/>
          </a:p>
          <a:p>
            <a:pPr>
              <a:buFont typeface="Arial" panose="020B0604020202020204" pitchFamily="34" charset="0"/>
              <a:buChar char="•"/>
            </a:pPr>
            <a:r>
              <a:rPr lang="en-US" sz="2200" dirty="0"/>
              <a:t>Impedance is calculated using:</a:t>
            </a:r>
          </a:p>
          <a:p>
            <a:pPr algn="ctr"/>
            <a:r>
              <a:rPr lang="en-US" sz="2400" i="1" dirty="0"/>
              <a:t>Z = √(R² + XC²)</a:t>
            </a:r>
          </a:p>
          <a:p>
            <a:r>
              <a:rPr lang="en-US" sz="2200" dirty="0"/>
              <a:t>Where, XC = 1 / (2π</a:t>
            </a:r>
            <a:r>
              <a:rPr lang="en-US" sz="2200" dirty="0" err="1"/>
              <a:t>fC</a:t>
            </a:r>
            <a:r>
              <a:rPr lang="en-US" sz="2200" dirty="0"/>
              <a:t>)</a:t>
            </a:r>
          </a:p>
          <a:p>
            <a:endParaRPr lang="en-US" sz="2200" dirty="0"/>
          </a:p>
          <a:p>
            <a:pPr>
              <a:buFont typeface="Arial" panose="020B0604020202020204" pitchFamily="34" charset="0"/>
              <a:buChar char="•"/>
            </a:pPr>
            <a:r>
              <a:rPr lang="en-US" sz="2200" dirty="0"/>
              <a:t>Capacitive reactance decreases with increasing frequency.</a:t>
            </a:r>
          </a:p>
          <a:p>
            <a:pPr>
              <a:buFont typeface="Arial" panose="020B0604020202020204" pitchFamily="34" charset="0"/>
              <a:buChar char="•"/>
            </a:pPr>
            <a:endParaRPr lang="en-US" sz="2200" dirty="0"/>
          </a:p>
          <a:p>
            <a:pPr>
              <a:buNone/>
            </a:pPr>
            <a:r>
              <a:rPr lang="en-US" sz="2200" b="1" dirty="0"/>
              <a:t>Key Formula:</a:t>
            </a:r>
          </a:p>
          <a:p>
            <a:pPr algn="ctr">
              <a:buNone/>
            </a:pPr>
            <a:r>
              <a:rPr lang="en-US" sz="2400" i="1" dirty="0"/>
              <a:t>I = V / Z</a:t>
            </a:r>
          </a:p>
        </p:txBody>
      </p:sp>
    </p:spTree>
    <p:extLst>
      <p:ext uri="{BB962C8B-B14F-4D97-AF65-F5344CB8AC3E}">
        <p14:creationId xmlns:p14="http://schemas.microsoft.com/office/powerpoint/2010/main" val="10710913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9ca83fbe2e554fa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Voltage and Current Relationship</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8B35F356-8432-D3FE-2BE8-3B1318EE3A11}"/>
              </a:ext>
            </a:extLst>
          </p:cNvPr>
          <p:cNvSpPr txBox="1"/>
          <p:nvPr/>
        </p:nvSpPr>
        <p:spPr>
          <a:xfrm>
            <a:off x="729465" y="2173573"/>
            <a:ext cx="7485145" cy="3231654"/>
          </a:xfrm>
          <a:prstGeom prst="rect">
            <a:avLst/>
          </a:prstGeom>
          <a:noFill/>
        </p:spPr>
        <p:txBody>
          <a:bodyPr wrap="square">
            <a:spAutoFit/>
          </a:bodyPr>
          <a:lstStyle/>
          <a:p>
            <a:pPr algn="just">
              <a:buFont typeface="Arial" panose="020B0604020202020204" pitchFamily="34" charset="0"/>
              <a:buChar char="•"/>
            </a:pPr>
            <a:r>
              <a:rPr lang="en-US" sz="2200" dirty="0"/>
              <a:t>The current leads the applied voltage by a phase angle φ.</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phase angle depends on the relative values of R and XC.</a:t>
            </a:r>
          </a:p>
          <a:p>
            <a:pPr algn="just">
              <a:buFont typeface="Arial" panose="020B0604020202020204" pitchFamily="34" charset="0"/>
              <a:buChar char="•"/>
            </a:pPr>
            <a:endParaRPr lang="en-US" sz="2200" dirty="0"/>
          </a:p>
          <a:p>
            <a:pPr algn="ctr"/>
            <a:r>
              <a:rPr lang="en-US" sz="2400" i="1" dirty="0"/>
              <a:t>tan(φ) = −XC / R</a:t>
            </a:r>
          </a:p>
          <a:p>
            <a:pPr algn="just">
              <a:buNone/>
            </a:pPr>
            <a:r>
              <a:rPr lang="en-US" sz="2200" dirty="0"/>
              <a:t>Current Equation:</a:t>
            </a:r>
          </a:p>
          <a:p>
            <a:pPr algn="just">
              <a:buNone/>
            </a:pPr>
            <a:endParaRPr lang="en-US" sz="2200" dirty="0"/>
          </a:p>
          <a:p>
            <a:pPr algn="ctr"/>
            <a:r>
              <a:rPr lang="en-US" sz="2400" i="1" dirty="0"/>
              <a:t>I(t) = Im × sin(ωt + φ)</a:t>
            </a:r>
          </a:p>
          <a:p>
            <a:pPr algn="ctr"/>
            <a:r>
              <a:rPr lang="en-US" sz="2400" i="1" dirty="0"/>
              <a:t>Im = Vm / Z</a:t>
            </a:r>
          </a:p>
        </p:txBody>
      </p:sp>
    </p:spTree>
    <p:extLst>
      <p:ext uri="{BB962C8B-B14F-4D97-AF65-F5344CB8AC3E}">
        <p14:creationId xmlns:p14="http://schemas.microsoft.com/office/powerpoint/2010/main" val="38601299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e5234fa00f8f4ac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3155702" y="5030547"/>
            <a:ext cx="3023365" cy="276999"/>
          </a:xfrm>
          <a:prstGeom prst="rect">
            <a:avLst/>
          </a:prstGeom>
          <a:noFill/>
        </p:spPr>
        <p:txBody>
          <a:bodyPr wrap="square" rtlCol="0">
            <a:spAutoFit/>
          </a:bodyPr>
          <a:lstStyle/>
          <a:p>
            <a:pPr algn="ctr"/>
            <a:r>
              <a:rPr lang="en-US" sz="1200" dirty="0"/>
              <a:t>Figure 2.2 Phasor Diagram</a:t>
            </a:r>
            <a:endParaRPr lang="en-IN" sz="1200" dirty="0"/>
          </a:p>
        </p:txBody>
      </p:sp>
      <p:sp>
        <p:nvSpPr>
          <p:cNvPr id="3" name="Rectangle 1">
            <a:extLst>
              <a:ext uri="{FF2B5EF4-FFF2-40B4-BE49-F238E27FC236}">
                <a16:creationId xmlns:a16="http://schemas.microsoft.com/office/drawing/2014/main" id="{702B0B11-6430-1E2B-B3A7-19D2EC132D67}"/>
              </a:ext>
            </a:extLst>
          </p:cNvPr>
          <p:cNvSpPr>
            <a:spLocks noChangeArrowheads="1"/>
          </p:cNvSpPr>
          <p:nvPr/>
        </p:nvSpPr>
        <p:spPr bwMode="auto">
          <a:xfrm>
            <a:off x="576218" y="5280426"/>
            <a:ext cx="799156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across resistor (VR) is in phase with current.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across capacitor (VC) lags the current by 90°.</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Total voltage is the phasor sum of VR and VC.</a:t>
            </a:r>
          </a:p>
        </p:txBody>
      </p:sp>
      <p:pic>
        <p:nvPicPr>
          <p:cNvPr id="5" name="Picture 4">
            <a:extLst>
              <a:ext uri="{FF2B5EF4-FFF2-40B4-BE49-F238E27FC236}">
                <a16:creationId xmlns:a16="http://schemas.microsoft.com/office/drawing/2014/main" id="{60059ECB-B490-7314-4975-2BC45F69F96C}"/>
              </a:ext>
            </a:extLst>
          </p:cNvPr>
          <p:cNvPicPr>
            <a:picLocks noChangeAspect="1"/>
          </p:cNvPicPr>
          <p:nvPr/>
        </p:nvPicPr>
        <p:blipFill>
          <a:blip r:embed="Rb3b07fa674a7485b"/>
          <a:stretch>
            <a:fillRect/>
          </a:stretch>
        </p:blipFill>
        <p:spPr>
          <a:xfrm>
            <a:off x="2644778" y="2021908"/>
            <a:ext cx="3854441" cy="3008639"/>
          </a:xfrm>
          <a:prstGeom prst="rect">
            <a:avLst/>
          </a:prstGeom>
        </p:spPr>
      </p:pic>
    </p:spTree>
    <p:extLst>
      <p:ext uri="{BB962C8B-B14F-4D97-AF65-F5344CB8AC3E}">
        <p14:creationId xmlns:p14="http://schemas.microsoft.com/office/powerpoint/2010/main" val="22239144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0f37cee8ab3b499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4913092" y="6000352"/>
            <a:ext cx="3023365" cy="276999"/>
          </a:xfrm>
          <a:prstGeom prst="rect">
            <a:avLst/>
          </a:prstGeom>
          <a:noFill/>
        </p:spPr>
        <p:txBody>
          <a:bodyPr wrap="square" rtlCol="0">
            <a:spAutoFit/>
          </a:bodyPr>
          <a:lstStyle/>
          <a:p>
            <a:pPr algn="ctr"/>
            <a:r>
              <a:rPr lang="en-US" sz="1200" dirty="0"/>
              <a:t>Figure 2.2 Waveform Diagram</a:t>
            </a:r>
            <a:endParaRPr lang="en-IN" sz="1200" dirty="0"/>
          </a:p>
        </p:txBody>
      </p:sp>
      <p:sp>
        <p:nvSpPr>
          <p:cNvPr id="6" name="Rectangle 1">
            <a:extLst>
              <a:ext uri="{FF2B5EF4-FFF2-40B4-BE49-F238E27FC236}">
                <a16:creationId xmlns:a16="http://schemas.microsoft.com/office/drawing/2014/main" id="{3541C6D1-E55F-5408-F7F3-D68F7995326C}"/>
              </a:ext>
            </a:extLst>
          </p:cNvPr>
          <p:cNvSpPr>
            <a:spLocks noChangeArrowheads="1"/>
          </p:cNvSpPr>
          <p:nvPr/>
        </p:nvSpPr>
        <p:spPr bwMode="auto">
          <a:xfrm>
            <a:off x="446941" y="2246824"/>
            <a:ext cx="3618596"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and current are sinusoidal but not in phase.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Current leads voltage by phase angle φ.</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lead depends on the ratio of R and XC.</a:t>
            </a:r>
          </a:p>
        </p:txBody>
      </p:sp>
      <p:pic>
        <p:nvPicPr>
          <p:cNvPr id="8" name="Picture 7">
            <a:extLst>
              <a:ext uri="{FF2B5EF4-FFF2-40B4-BE49-F238E27FC236}">
                <a16:creationId xmlns:a16="http://schemas.microsoft.com/office/drawing/2014/main" id="{C03645B5-066A-21F9-C264-4DBCDEE3B2E1}"/>
              </a:ext>
            </a:extLst>
          </p:cNvPr>
          <p:cNvPicPr>
            <a:picLocks noChangeAspect="1"/>
          </p:cNvPicPr>
          <p:nvPr/>
        </p:nvPicPr>
        <p:blipFill>
          <a:blip r:embed="Rbe836ca105b04d16"/>
          <a:stretch>
            <a:fillRect/>
          </a:stretch>
        </p:blipFill>
        <p:spPr>
          <a:xfrm>
            <a:off x="4407613" y="2231022"/>
            <a:ext cx="4514850" cy="3521019"/>
          </a:xfrm>
          <a:prstGeom prst="rect">
            <a:avLst/>
          </a:prstGeom>
        </p:spPr>
      </p:pic>
    </p:spTree>
    <p:extLst>
      <p:ext uri="{BB962C8B-B14F-4D97-AF65-F5344CB8AC3E}">
        <p14:creationId xmlns:p14="http://schemas.microsoft.com/office/powerpoint/2010/main" val="206709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0b75d921fbdd436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RC Circuit</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4832CF44-65E7-FE98-C509-2AB472E0F0B2}"/>
              </a:ext>
            </a:extLst>
          </p:cNvPr>
          <p:cNvSpPr txBox="1"/>
          <p:nvPr/>
        </p:nvSpPr>
        <p:spPr>
          <a:xfrm>
            <a:off x="729464" y="2021908"/>
            <a:ext cx="7356296" cy="4278094"/>
          </a:xfrm>
          <a:prstGeom prst="rect">
            <a:avLst/>
          </a:prstGeom>
          <a:noFill/>
        </p:spPr>
        <p:txBody>
          <a:bodyPr wrap="square">
            <a:spAutoFit/>
          </a:bodyPr>
          <a:lstStyle/>
          <a:p>
            <a:pPr>
              <a:buFont typeface="Arial" panose="020B0604020202020204" pitchFamily="34" charset="0"/>
              <a:buChar char="•"/>
            </a:pPr>
            <a:r>
              <a:rPr lang="en-US" sz="2200" b="1" dirty="0"/>
              <a:t>Instantaneous Power:</a:t>
            </a:r>
          </a:p>
          <a:p>
            <a:pPr algn="ctr"/>
            <a:r>
              <a:rPr lang="en-US" sz="2400" i="1" dirty="0"/>
              <a:t>p(t) = v(t) × </a:t>
            </a:r>
            <a:r>
              <a:rPr lang="en-US" sz="2400" i="1" dirty="0" err="1"/>
              <a:t>i</a:t>
            </a:r>
            <a:r>
              <a:rPr lang="en-US" sz="2400" i="1" dirty="0"/>
              <a:t>(t)</a:t>
            </a:r>
          </a:p>
          <a:p>
            <a:pPr>
              <a:buFont typeface="Arial" panose="020B0604020202020204" pitchFamily="34" charset="0"/>
              <a:buChar char="•"/>
            </a:pPr>
            <a:r>
              <a:rPr lang="en-US" sz="2200" b="1" dirty="0"/>
              <a:t>True (Active) Power:</a:t>
            </a:r>
          </a:p>
          <a:p>
            <a:pPr algn="ctr"/>
            <a:r>
              <a:rPr lang="en-US" sz="2400" i="1" dirty="0"/>
              <a:t>P = VI × cos(φ) (Measured in watts)</a:t>
            </a:r>
          </a:p>
          <a:p>
            <a:pPr>
              <a:buFont typeface="Arial" panose="020B0604020202020204" pitchFamily="34" charset="0"/>
              <a:buChar char="•"/>
            </a:pPr>
            <a:r>
              <a:rPr lang="en-US" sz="2200" b="1" dirty="0"/>
              <a:t>Reactive Power (Q):</a:t>
            </a:r>
          </a:p>
          <a:p>
            <a:pPr algn="ctr"/>
            <a:r>
              <a:rPr lang="en-US" sz="2400" i="1" dirty="0"/>
              <a:t>Q = VI × sin(φ) (Measured in VAR)</a:t>
            </a:r>
          </a:p>
          <a:p>
            <a:pPr>
              <a:buFont typeface="Arial" panose="020B0604020202020204" pitchFamily="34" charset="0"/>
              <a:buChar char="•"/>
            </a:pPr>
            <a:r>
              <a:rPr lang="en-US" sz="2200" b="1" dirty="0"/>
              <a:t>Apparent Power (S):</a:t>
            </a:r>
          </a:p>
          <a:p>
            <a:pPr algn="ctr"/>
            <a:r>
              <a:rPr lang="en-US" sz="2400" i="1" dirty="0"/>
              <a:t>S = VI (Measured in VA)</a:t>
            </a:r>
          </a:p>
          <a:p>
            <a:pPr>
              <a:buNone/>
            </a:pPr>
            <a:endParaRPr lang="en-US" sz="2200" b="1" dirty="0"/>
          </a:p>
          <a:p>
            <a:pPr>
              <a:buNone/>
            </a:pPr>
            <a:r>
              <a:rPr lang="en-US" sz="2200" b="1" dirty="0"/>
              <a:t>Note:</a:t>
            </a:r>
            <a:endParaRPr lang="en-US" sz="2200" dirty="0"/>
          </a:p>
          <a:p>
            <a:pPr>
              <a:buFont typeface="Arial" panose="020B0604020202020204" pitchFamily="34" charset="0"/>
              <a:buChar char="•"/>
            </a:pPr>
            <a:r>
              <a:rPr lang="en-US" sz="2200" dirty="0"/>
              <a:t>Only the resistive part consumes real power.</a:t>
            </a:r>
          </a:p>
          <a:p>
            <a:pPr>
              <a:buFont typeface="Arial" panose="020B0604020202020204" pitchFamily="34" charset="0"/>
              <a:buChar char="•"/>
            </a:pPr>
            <a:r>
              <a:rPr lang="en-US" sz="2400" dirty="0"/>
              <a:t>Capacitor only causes energy storage and return.</a:t>
            </a:r>
            <a:endParaRPr lang="en-US" sz="2200" dirty="0"/>
          </a:p>
        </p:txBody>
      </p:sp>
    </p:spTree>
    <p:extLst>
      <p:ext uri="{BB962C8B-B14F-4D97-AF65-F5344CB8AC3E}">
        <p14:creationId xmlns:p14="http://schemas.microsoft.com/office/powerpoint/2010/main" val="35620777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E22A-B543-1824-4D13-F1C8FEA7F4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63BBE2-AD5F-D3C1-3DB2-D5F64AF71D7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B494DE7-39F7-F95E-B3FE-3F35D751767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5996256-5F87-2FA3-EF05-9CBEFC4287A4}"/>
              </a:ext>
            </a:extLst>
          </p:cNvPr>
          <p:cNvSpPr>
            <a:spLocks noChangeArrowheads="1"/>
          </p:cNvSpPr>
          <p:nvPr>
            <p:custDataLst>
              <p:tags r:id="Rc2b30d9fe4044b8c"/>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Factor and Phase Angle</a:t>
            </a:r>
            <a:endParaRPr lang="en-IN" altLang="en-US" b="1" dirty="0">
              <a:solidFill>
                <a:schemeClr val="bg1"/>
              </a:solidFill>
              <a:latin typeface="+mn-lt"/>
              <a:cs typeface="Calibri" panose="020F0502020204030204" pitchFamily="34" charset="0"/>
            </a:endParaRPr>
          </a:p>
        </p:txBody>
      </p:sp>
      <p:sp>
        <p:nvSpPr>
          <p:cNvPr id="7" name="Rectangle 3">
            <a:extLst>
              <a:ext uri="{FF2B5EF4-FFF2-40B4-BE49-F238E27FC236}">
                <a16:creationId xmlns:a16="http://schemas.microsoft.com/office/drawing/2014/main" id="{510A333E-1BBA-E411-2D4A-4C9006809F0E}"/>
              </a:ext>
            </a:extLst>
          </p:cNvPr>
          <p:cNvSpPr>
            <a:spLocks noChangeArrowheads="1"/>
          </p:cNvSpPr>
          <p:nvPr/>
        </p:nvSpPr>
        <p:spPr bwMode="auto">
          <a:xfrm>
            <a:off x="729466" y="2121535"/>
            <a:ext cx="7356296"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Factor (PF) = cos(φ)</a:t>
            </a:r>
            <a:br>
              <a:rPr kumimoji="0" lang="en-US" altLang="en-US" sz="2200" i="0" u="none" strike="noStrike" cap="none" normalizeH="0" baseline="0" dirty="0">
                <a:ln>
                  <a:noFill/>
                </a:ln>
                <a:solidFill>
                  <a:schemeClr val="tx1"/>
                </a:solidFill>
                <a:effectLst/>
              </a:rPr>
            </a:br>
            <a:r>
              <a:rPr kumimoji="0" lang="en-US" altLang="en-US" sz="2200" i="0" u="none" strike="noStrike" cap="none" normalizeH="0" baseline="0" dirty="0">
                <a:ln>
                  <a:noFill/>
                </a:ln>
                <a:solidFill>
                  <a:schemeClr val="tx1"/>
                </a:solidFill>
                <a:effectLst/>
              </a:rPr>
              <a:t>Measures the efficiency of power usage.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 an RC circuit, φ is negative, indicating leading current.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High XC → High phase angle → Low PF</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rPr>
              <a:t>Important: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 high-power factor means better energy efficiency.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i="0" u="none" strike="noStrike" cap="none" normalizeH="0" baseline="0" dirty="0">
              <a:ln>
                <a:noFill/>
              </a:ln>
              <a:solidFill>
                <a:schemeClr val="tx1"/>
              </a:solidFill>
              <a:effectLst/>
            </a:endParaRPr>
          </a:p>
        </p:txBody>
      </p:sp>
      <p:sp>
        <p:nvSpPr>
          <p:cNvPr id="8" name="Rectangle 4">
            <a:extLst>
              <a:ext uri="{FF2B5EF4-FFF2-40B4-BE49-F238E27FC236}">
                <a16:creationId xmlns:a16="http://schemas.microsoft.com/office/drawing/2014/main" id="{59A42E54-C783-879B-B940-71B698CD88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7698376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e73efe9895884ad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E6EACBC1-5305-1073-B95B-129797E2F586}"/>
              </a:ext>
            </a:extLst>
          </p:cNvPr>
          <p:cNvSpPr txBox="1"/>
          <p:nvPr/>
        </p:nvSpPr>
        <p:spPr>
          <a:xfrm>
            <a:off x="729465" y="2158584"/>
            <a:ext cx="7356297" cy="3594702"/>
          </a:xfrm>
          <a:prstGeom prst="rect">
            <a:avLst/>
          </a:prstGeom>
          <a:noFill/>
        </p:spPr>
        <p:txBody>
          <a:bodyPr wrap="square">
            <a:spAutoFit/>
          </a:bodyPr>
          <a:lstStyle/>
          <a:p>
            <a:pPr>
              <a:lnSpc>
                <a:spcPct val="150000"/>
              </a:lnSpc>
              <a:buFont typeface="Arial" panose="020B0604020202020204" pitchFamily="34" charset="0"/>
              <a:buChar char="•"/>
            </a:pPr>
            <a:r>
              <a:rPr lang="en-US" sz="2200" dirty="0"/>
              <a:t>RC series circuit consists of a resistor and a capacitor in series.</a:t>
            </a:r>
          </a:p>
          <a:p>
            <a:pPr>
              <a:lnSpc>
                <a:spcPct val="150000"/>
              </a:lnSpc>
              <a:buFont typeface="Arial" panose="020B0604020202020204" pitchFamily="34" charset="0"/>
              <a:buChar char="•"/>
            </a:pPr>
            <a:r>
              <a:rPr lang="en-US" sz="2200" dirty="0"/>
              <a:t>Impedance is calculated using vector addition of R and XC.</a:t>
            </a:r>
          </a:p>
          <a:p>
            <a:pPr>
              <a:lnSpc>
                <a:spcPct val="150000"/>
              </a:lnSpc>
              <a:buFont typeface="Arial" panose="020B0604020202020204" pitchFamily="34" charset="0"/>
              <a:buChar char="•"/>
            </a:pPr>
            <a:r>
              <a:rPr lang="en-US" sz="2200" dirty="0"/>
              <a:t>Current leads voltage by angle φ.</a:t>
            </a:r>
          </a:p>
          <a:p>
            <a:pPr>
              <a:lnSpc>
                <a:spcPct val="150000"/>
              </a:lnSpc>
              <a:buFont typeface="Arial" panose="020B0604020202020204" pitchFamily="34" charset="0"/>
              <a:buChar char="•"/>
            </a:pPr>
            <a:r>
              <a:rPr lang="en-US" sz="2200" dirty="0"/>
              <a:t>Only resistor consumes real power; capacitor causes reactive power.</a:t>
            </a:r>
          </a:p>
          <a:p>
            <a:pPr>
              <a:lnSpc>
                <a:spcPct val="150000"/>
              </a:lnSpc>
              <a:buFont typeface="Arial" panose="020B0604020202020204" pitchFamily="34" charset="0"/>
              <a:buChar char="•"/>
            </a:pPr>
            <a:r>
              <a:rPr lang="en-US" sz="2200" dirty="0"/>
              <a:t>Power factor depends on R and XC.</a:t>
            </a:r>
          </a:p>
          <a:p>
            <a:pPr>
              <a:lnSpc>
                <a:spcPct val="150000"/>
              </a:lnSpc>
              <a:buFont typeface="Arial" panose="020B0604020202020204" pitchFamily="34" charset="0"/>
              <a:buChar char="•"/>
            </a:pPr>
            <a:r>
              <a:rPr lang="en-US" sz="2200" dirty="0"/>
              <a:t>Phasor diagrams and waveforms clarify phase relationships.</a:t>
            </a:r>
          </a:p>
        </p:txBody>
      </p:sp>
    </p:spTree>
    <p:extLst>
      <p:ext uri="{BB962C8B-B14F-4D97-AF65-F5344CB8AC3E}">
        <p14:creationId xmlns:p14="http://schemas.microsoft.com/office/powerpoint/2010/main" val="24683311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RLC</a:t>
            </a:r>
          </a:p>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Series Load</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81347232-D232-CA8C-E441-17AD1D31213F}"/>
              </a:ext>
            </a:extLst>
          </p:cNvPr>
          <p:cNvSpPr>
            <a:spLocks noChangeArrowheads="1"/>
          </p:cNvSpPr>
          <p:nvPr/>
        </p:nvSpPr>
        <p:spPr bwMode="auto">
          <a:xfrm>
            <a:off x="446067" y="2520758"/>
            <a:ext cx="607422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Introduction to RLC Series Circuit ………….3</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Impedance in RLC Circuit …………………….. 4</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Voltage and Current Relationship ………… 5</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Phasor Representation ………………………… 6</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Waveforms of Voltage and Current ……… 7</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in RLC Circuit ……………………………. 8</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Resonance in RLC Circuit …………………….. 9</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Factor and Phase Angle ………….. 10</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Key Points / Summary ……………………….. 11</a:t>
            </a:r>
          </a:p>
        </p:txBody>
      </p:sp>
    </p:spTree>
    <p:extLst>
      <p:ext uri="{BB962C8B-B14F-4D97-AF65-F5344CB8AC3E}">
        <p14:creationId xmlns:p14="http://schemas.microsoft.com/office/powerpoint/2010/main" val="22788355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3dfce6caf64943fb"/>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RLC Series Circuit</a:t>
            </a:r>
            <a:endParaRPr lang="en-IN" altLang="en-US" sz="3000" dirty="0">
              <a:solidFill>
                <a:schemeClr val="bg1"/>
              </a:solidFill>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D8F69EC9-2011-A164-A0CB-646E7681C686}"/>
              </a:ext>
            </a:extLst>
          </p:cNvPr>
          <p:cNvSpPr txBox="1"/>
          <p:nvPr/>
        </p:nvSpPr>
        <p:spPr>
          <a:xfrm>
            <a:off x="5376165" y="5608064"/>
            <a:ext cx="2628333" cy="276999"/>
          </a:xfrm>
          <a:prstGeom prst="rect">
            <a:avLst/>
          </a:prstGeom>
          <a:noFill/>
        </p:spPr>
        <p:txBody>
          <a:bodyPr wrap="square" rtlCol="0">
            <a:spAutoFit/>
          </a:bodyPr>
          <a:lstStyle/>
          <a:p>
            <a:pPr algn="ctr"/>
            <a:r>
              <a:rPr lang="en-IN" sz="1200" dirty="0"/>
              <a:t>Figure 2.1 RLC Series Circuit</a:t>
            </a:r>
          </a:p>
        </p:txBody>
      </p:sp>
      <p:sp>
        <p:nvSpPr>
          <p:cNvPr id="3" name="Rectangle 1">
            <a:extLst>
              <a:ext uri="{FF2B5EF4-FFF2-40B4-BE49-F238E27FC236}">
                <a16:creationId xmlns:a16="http://schemas.microsoft.com/office/drawing/2014/main" id="{1BEB7DEB-F588-1955-D51E-680AC3AA0DC0}"/>
              </a:ext>
            </a:extLst>
          </p:cNvPr>
          <p:cNvSpPr>
            <a:spLocks noChangeArrowheads="1"/>
          </p:cNvSpPr>
          <p:nvPr/>
        </p:nvSpPr>
        <p:spPr bwMode="auto">
          <a:xfrm>
            <a:off x="539308" y="2245236"/>
            <a:ext cx="401938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An RLC series circuit contains a resistor (R), inductor (L), and capacitor (C) connected in series.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It combines the effects of resistance, inductance, and capacitance.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behavior of the circuit depends on the relative values of L and C.</a:t>
            </a:r>
          </a:p>
        </p:txBody>
      </p:sp>
      <p:pic>
        <p:nvPicPr>
          <p:cNvPr id="5" name="Picture 4">
            <a:extLst>
              <a:ext uri="{FF2B5EF4-FFF2-40B4-BE49-F238E27FC236}">
                <a16:creationId xmlns:a16="http://schemas.microsoft.com/office/drawing/2014/main" id="{93CCA21B-B387-0445-19FC-35165B35ABA1}"/>
              </a:ext>
            </a:extLst>
          </p:cNvPr>
          <p:cNvPicPr>
            <a:picLocks noChangeAspect="1"/>
          </p:cNvPicPr>
          <p:nvPr/>
        </p:nvPicPr>
        <p:blipFill>
          <a:blip r:embed="R782ae3efef2f4e61"/>
          <a:stretch>
            <a:fillRect/>
          </a:stretch>
        </p:blipFill>
        <p:spPr>
          <a:xfrm>
            <a:off x="4585307" y="2251647"/>
            <a:ext cx="4210050" cy="3255412"/>
          </a:xfrm>
          <a:prstGeom prst="rect">
            <a:avLst/>
          </a:prstGeom>
        </p:spPr>
      </p:pic>
    </p:spTree>
    <p:extLst>
      <p:ext uri="{BB962C8B-B14F-4D97-AF65-F5344CB8AC3E}">
        <p14:creationId xmlns:p14="http://schemas.microsoft.com/office/powerpoint/2010/main" val="34659817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820ebd953473481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Impedance in RLC Circuit</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91488A2F-EC63-D234-0B03-33893B5AAAB1}"/>
              </a:ext>
            </a:extLst>
          </p:cNvPr>
          <p:cNvSpPr txBox="1"/>
          <p:nvPr/>
        </p:nvSpPr>
        <p:spPr>
          <a:xfrm>
            <a:off x="729465" y="2021907"/>
            <a:ext cx="7356297" cy="4185761"/>
          </a:xfrm>
          <a:prstGeom prst="rect">
            <a:avLst/>
          </a:prstGeom>
          <a:noFill/>
        </p:spPr>
        <p:txBody>
          <a:bodyPr wrap="square">
            <a:spAutoFit/>
          </a:bodyPr>
          <a:lstStyle/>
          <a:p>
            <a:pPr>
              <a:buFont typeface="Arial" panose="020B0604020202020204" pitchFamily="34" charset="0"/>
              <a:buChar char="•"/>
            </a:pPr>
            <a:r>
              <a:rPr lang="en-IN" sz="2200" dirty="0"/>
              <a:t>Total impedance (Z) is given by:</a:t>
            </a:r>
          </a:p>
          <a:p>
            <a:pPr algn="ctr"/>
            <a:r>
              <a:rPr lang="en-IN" sz="2400" i="1" dirty="0"/>
              <a:t>Z = √[R² + (XL − XC)²]</a:t>
            </a:r>
            <a:endParaRPr lang="en-IN" sz="2200" i="1" dirty="0"/>
          </a:p>
          <a:p>
            <a:r>
              <a:rPr lang="en-IN" sz="2200" dirty="0"/>
              <a:t>where:</a:t>
            </a:r>
            <a:br>
              <a:rPr lang="en-IN" sz="2200" dirty="0"/>
            </a:br>
            <a:r>
              <a:rPr lang="en-IN" sz="2200" dirty="0"/>
              <a:t>XL = 2</a:t>
            </a:r>
            <a:r>
              <a:rPr lang="el-GR" sz="2200" dirty="0"/>
              <a:t>π</a:t>
            </a:r>
            <a:r>
              <a:rPr lang="en-IN" sz="2200" dirty="0" err="1"/>
              <a:t>fL</a:t>
            </a:r>
            <a:r>
              <a:rPr lang="en-IN" sz="2200" dirty="0"/>
              <a:t> and XC = 1 / (2</a:t>
            </a:r>
            <a:r>
              <a:rPr lang="el-GR" sz="2200" dirty="0"/>
              <a:t>π</a:t>
            </a:r>
            <a:r>
              <a:rPr lang="en-IN" sz="2200" dirty="0" err="1"/>
              <a:t>fC</a:t>
            </a:r>
            <a:r>
              <a:rPr lang="en-IN" sz="2200" dirty="0"/>
              <a:t>)</a:t>
            </a:r>
          </a:p>
          <a:p>
            <a:endParaRPr lang="en-IN" sz="2200" dirty="0"/>
          </a:p>
          <a:p>
            <a:pPr>
              <a:buFont typeface="Arial" panose="020B0604020202020204" pitchFamily="34" charset="0"/>
              <a:buChar char="•"/>
            </a:pPr>
            <a:r>
              <a:rPr lang="en-IN" sz="2200" dirty="0"/>
              <a:t>Net reactance (X = XL − XC) can be:</a:t>
            </a:r>
          </a:p>
          <a:p>
            <a:pPr marL="742950" lvl="1" indent="-285750">
              <a:buFont typeface="Arial" panose="020B0604020202020204" pitchFamily="34" charset="0"/>
              <a:buChar char="•"/>
            </a:pPr>
            <a:r>
              <a:rPr lang="en-IN" sz="2200" dirty="0"/>
              <a:t>Positive → Inductive circuit</a:t>
            </a:r>
          </a:p>
          <a:p>
            <a:pPr marL="742950" lvl="1" indent="-285750">
              <a:buFont typeface="Arial" panose="020B0604020202020204" pitchFamily="34" charset="0"/>
              <a:buChar char="•"/>
            </a:pPr>
            <a:r>
              <a:rPr lang="en-IN" sz="2200" dirty="0"/>
              <a:t>Negative → Capacitive circuit</a:t>
            </a:r>
          </a:p>
          <a:p>
            <a:pPr marL="742950" lvl="1" indent="-285750">
              <a:buFont typeface="Arial" panose="020B0604020202020204" pitchFamily="34" charset="0"/>
              <a:buChar char="•"/>
            </a:pPr>
            <a:r>
              <a:rPr lang="en-IN" sz="2200" dirty="0"/>
              <a:t>Zero → Resonant circuit</a:t>
            </a:r>
          </a:p>
          <a:p>
            <a:pPr marL="742950" lvl="1" indent="-285750">
              <a:buFont typeface="Arial" panose="020B0604020202020204" pitchFamily="34" charset="0"/>
              <a:buChar char="•"/>
            </a:pPr>
            <a:endParaRPr lang="en-IN" sz="2200" dirty="0"/>
          </a:p>
          <a:p>
            <a:pPr>
              <a:buNone/>
            </a:pPr>
            <a:r>
              <a:rPr lang="en-IN" sz="2200" dirty="0"/>
              <a:t>Current Magnitude:</a:t>
            </a:r>
          </a:p>
          <a:p>
            <a:pPr algn="ctr">
              <a:buNone/>
            </a:pPr>
            <a:r>
              <a:rPr lang="en-IN" sz="2400" i="1" dirty="0"/>
              <a:t>I = V / Z</a:t>
            </a:r>
          </a:p>
        </p:txBody>
      </p:sp>
    </p:spTree>
    <p:extLst>
      <p:ext uri="{BB962C8B-B14F-4D97-AF65-F5344CB8AC3E}">
        <p14:creationId xmlns:p14="http://schemas.microsoft.com/office/powerpoint/2010/main" val="10710913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1b927676fb564dc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Voltage and Current Relationship</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F8963018-1C3D-FF52-01E8-9E72D769E433}"/>
              </a:ext>
            </a:extLst>
          </p:cNvPr>
          <p:cNvSpPr txBox="1"/>
          <p:nvPr/>
        </p:nvSpPr>
        <p:spPr>
          <a:xfrm>
            <a:off x="729465" y="2263514"/>
            <a:ext cx="7356297" cy="3508653"/>
          </a:xfrm>
          <a:prstGeom prst="rect">
            <a:avLst/>
          </a:prstGeom>
          <a:noFill/>
        </p:spPr>
        <p:txBody>
          <a:bodyPr wrap="square">
            <a:spAutoFit/>
          </a:bodyPr>
          <a:lstStyle/>
          <a:p>
            <a:pPr>
              <a:buFont typeface="Arial" panose="020B0604020202020204" pitchFamily="34" charset="0"/>
              <a:buChar char="•"/>
            </a:pPr>
            <a:r>
              <a:rPr lang="en-US" sz="2200" dirty="0"/>
              <a:t>Depending on net reactance, current either lags, leads, or is in phase with voltage.</a:t>
            </a:r>
          </a:p>
          <a:p>
            <a:pPr>
              <a:buFont typeface="Arial" panose="020B0604020202020204" pitchFamily="34" charset="0"/>
              <a:buChar char="•"/>
            </a:pPr>
            <a:endParaRPr lang="en-US" sz="2200" dirty="0"/>
          </a:p>
          <a:p>
            <a:pPr algn="ctr"/>
            <a:r>
              <a:rPr lang="en-US" sz="2400" i="1" dirty="0"/>
              <a:t>tan(φ) = (XL − XC) / R</a:t>
            </a:r>
          </a:p>
          <a:p>
            <a:pPr>
              <a:buNone/>
            </a:pPr>
            <a:endParaRPr lang="en-US" sz="2200" dirty="0"/>
          </a:p>
          <a:p>
            <a:pPr>
              <a:buNone/>
            </a:pPr>
            <a:r>
              <a:rPr lang="en-US" sz="2200" dirty="0"/>
              <a:t>Current Equation:</a:t>
            </a:r>
          </a:p>
          <a:p>
            <a:pPr>
              <a:buFont typeface="Arial" panose="020B0604020202020204" pitchFamily="34" charset="0"/>
              <a:buChar char="•"/>
            </a:pPr>
            <a:endParaRPr lang="en-US" sz="2200" dirty="0"/>
          </a:p>
          <a:p>
            <a:pPr algn="ctr"/>
            <a:r>
              <a:rPr lang="en-US" sz="2400" i="1" dirty="0" err="1"/>
              <a:t>i</a:t>
            </a:r>
            <a:r>
              <a:rPr lang="en-US" sz="2400" i="1" dirty="0"/>
              <a:t>(t) = </a:t>
            </a:r>
            <a:r>
              <a:rPr lang="en-US" sz="2400" i="1" dirty="0" err="1"/>
              <a:t>Im</a:t>
            </a:r>
            <a:r>
              <a:rPr lang="en-US" sz="2400" i="1" dirty="0"/>
              <a:t> × sin(</a:t>
            </a:r>
            <a:r>
              <a:rPr lang="en-US" sz="2400" i="1" dirty="0" err="1"/>
              <a:t>ωt</a:t>
            </a:r>
            <a:r>
              <a:rPr lang="en-US" sz="2400" i="1" dirty="0"/>
              <a:t> ± φ)</a:t>
            </a:r>
          </a:p>
          <a:p>
            <a:pPr>
              <a:buFont typeface="Arial" panose="020B0604020202020204" pitchFamily="34" charset="0"/>
              <a:buChar char="•"/>
            </a:pPr>
            <a:endParaRPr lang="en-US" sz="2200" dirty="0"/>
          </a:p>
          <a:p>
            <a:r>
              <a:rPr lang="en-US" sz="2200" dirty="0"/>
              <a:t>(Sign depends on inductive or capacitive nature)</a:t>
            </a:r>
          </a:p>
        </p:txBody>
      </p:sp>
    </p:spTree>
    <p:extLst>
      <p:ext uri="{BB962C8B-B14F-4D97-AF65-F5344CB8AC3E}">
        <p14:creationId xmlns:p14="http://schemas.microsoft.com/office/powerpoint/2010/main" val="38601299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1104248814aa442b"/>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3060316" y="5141926"/>
            <a:ext cx="3023365" cy="276999"/>
          </a:xfrm>
          <a:prstGeom prst="rect">
            <a:avLst/>
          </a:prstGeom>
          <a:noFill/>
        </p:spPr>
        <p:txBody>
          <a:bodyPr wrap="square" rtlCol="0">
            <a:spAutoFit/>
          </a:bodyPr>
          <a:lstStyle/>
          <a:p>
            <a:pPr algn="ctr"/>
            <a:r>
              <a:rPr lang="en-US" sz="1200" dirty="0"/>
              <a:t>Figure 2.2 Phasor Diagram</a:t>
            </a:r>
            <a:endParaRPr lang="en-IN" sz="1200" dirty="0"/>
          </a:p>
        </p:txBody>
      </p:sp>
      <p:pic>
        <p:nvPicPr>
          <p:cNvPr id="6" name="Picture 5">
            <a:extLst>
              <a:ext uri="{FF2B5EF4-FFF2-40B4-BE49-F238E27FC236}">
                <a16:creationId xmlns:a16="http://schemas.microsoft.com/office/drawing/2014/main" id="{4E28A422-3024-4AB6-07DA-21737BC8E16E}"/>
              </a:ext>
            </a:extLst>
          </p:cNvPr>
          <p:cNvPicPr>
            <a:picLocks noChangeAspect="1"/>
          </p:cNvPicPr>
          <p:nvPr/>
        </p:nvPicPr>
        <p:blipFill>
          <a:blip r:embed="Rfa2cb8406bb14417"/>
          <a:stretch>
            <a:fillRect/>
          </a:stretch>
        </p:blipFill>
        <p:spPr>
          <a:xfrm>
            <a:off x="1885632" y="1857374"/>
            <a:ext cx="5614260" cy="3284551"/>
          </a:xfrm>
          <a:prstGeom prst="rect">
            <a:avLst/>
          </a:prstGeom>
        </p:spPr>
      </p:pic>
      <p:sp>
        <p:nvSpPr>
          <p:cNvPr id="8" name="Rectangle 1">
            <a:extLst>
              <a:ext uri="{FF2B5EF4-FFF2-40B4-BE49-F238E27FC236}">
                <a16:creationId xmlns:a16="http://schemas.microsoft.com/office/drawing/2014/main" id="{D5D73C50-A770-2564-E7FA-C7D4CC6FA7BC}"/>
              </a:ext>
            </a:extLst>
          </p:cNvPr>
          <p:cNvSpPr>
            <a:spLocks noChangeArrowheads="1"/>
          </p:cNvSpPr>
          <p:nvPr/>
        </p:nvSpPr>
        <p:spPr bwMode="auto">
          <a:xfrm>
            <a:off x="729465" y="5560226"/>
            <a:ext cx="353244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VR is in phase with current.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VL leads the current by 90°.</a:t>
            </a:r>
          </a:p>
        </p:txBody>
      </p:sp>
      <p:sp>
        <p:nvSpPr>
          <p:cNvPr id="9" name="Rectangle 2">
            <a:extLst>
              <a:ext uri="{FF2B5EF4-FFF2-40B4-BE49-F238E27FC236}">
                <a16:creationId xmlns:a16="http://schemas.microsoft.com/office/drawing/2014/main" id="{4D13D867-8025-551A-6B18-86DF8622A5D9}"/>
              </a:ext>
            </a:extLst>
          </p:cNvPr>
          <p:cNvSpPr>
            <a:spLocks noChangeArrowheads="1"/>
          </p:cNvSpPr>
          <p:nvPr/>
        </p:nvSpPr>
        <p:spPr bwMode="auto">
          <a:xfrm>
            <a:off x="4378567" y="5560225"/>
            <a:ext cx="381085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VC lags the current by 90°.</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Net reactive voltage = VL − VC</a:t>
            </a:r>
          </a:p>
        </p:txBody>
      </p:sp>
    </p:spTree>
    <p:extLst>
      <p:ext uri="{BB962C8B-B14F-4D97-AF65-F5344CB8AC3E}">
        <p14:creationId xmlns:p14="http://schemas.microsoft.com/office/powerpoint/2010/main" val="22239144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78b993cfd5594dc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2895930" y="5390076"/>
            <a:ext cx="3023365" cy="276999"/>
          </a:xfrm>
          <a:prstGeom prst="rect">
            <a:avLst/>
          </a:prstGeom>
          <a:noFill/>
        </p:spPr>
        <p:txBody>
          <a:bodyPr wrap="square" rtlCol="0">
            <a:spAutoFit/>
          </a:bodyPr>
          <a:lstStyle/>
          <a:p>
            <a:pPr algn="ctr"/>
            <a:r>
              <a:rPr lang="en-US" sz="1200" dirty="0"/>
              <a:t>Figure 2.2 Waveform Diagram</a:t>
            </a:r>
            <a:endParaRPr lang="en-IN" sz="1200" dirty="0"/>
          </a:p>
        </p:txBody>
      </p:sp>
      <p:pic>
        <p:nvPicPr>
          <p:cNvPr id="3" name="Picture 2">
            <a:extLst>
              <a:ext uri="{FF2B5EF4-FFF2-40B4-BE49-F238E27FC236}">
                <a16:creationId xmlns:a16="http://schemas.microsoft.com/office/drawing/2014/main" id="{1ED44820-7AEA-9A9B-57AF-B8AB5C8D6940}"/>
              </a:ext>
            </a:extLst>
          </p:cNvPr>
          <p:cNvPicPr>
            <a:picLocks noChangeAspect="1"/>
          </p:cNvPicPr>
          <p:nvPr/>
        </p:nvPicPr>
        <p:blipFill>
          <a:blip r:embed="Rdb5ee8c062bc420a"/>
          <a:stretch>
            <a:fillRect/>
          </a:stretch>
        </p:blipFill>
        <p:spPr>
          <a:xfrm>
            <a:off x="1379095" y="2021908"/>
            <a:ext cx="6250898" cy="3190471"/>
          </a:xfrm>
          <a:prstGeom prst="rect">
            <a:avLst/>
          </a:prstGeom>
        </p:spPr>
      </p:pic>
      <p:sp>
        <p:nvSpPr>
          <p:cNvPr id="5" name="Rectangle 1">
            <a:extLst>
              <a:ext uri="{FF2B5EF4-FFF2-40B4-BE49-F238E27FC236}">
                <a16:creationId xmlns:a16="http://schemas.microsoft.com/office/drawing/2014/main" id="{05AF847D-E02C-6D5E-73B3-7AB5C146EF90}"/>
              </a:ext>
            </a:extLst>
          </p:cNvPr>
          <p:cNvSpPr>
            <a:spLocks noChangeArrowheads="1"/>
          </p:cNvSpPr>
          <p:nvPr/>
        </p:nvSpPr>
        <p:spPr bwMode="auto">
          <a:xfrm>
            <a:off x="104931" y="5667075"/>
            <a:ext cx="92225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Current waveform varies in phase with applied voltage depending on net reactance.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At resonance, current is in phase with voltage (purely resistive behavior).</a:t>
            </a:r>
          </a:p>
        </p:txBody>
      </p:sp>
    </p:spTree>
    <p:extLst>
      <p:ext uri="{BB962C8B-B14F-4D97-AF65-F5344CB8AC3E}">
        <p14:creationId xmlns:p14="http://schemas.microsoft.com/office/powerpoint/2010/main" val="206709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fa5f70c96d4f41e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RLC Series Circuit</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4832CF44-65E7-FE98-C509-2AB472E0F0B2}"/>
              </a:ext>
            </a:extLst>
          </p:cNvPr>
          <p:cNvSpPr txBox="1"/>
          <p:nvPr/>
        </p:nvSpPr>
        <p:spPr>
          <a:xfrm>
            <a:off x="729466" y="1844211"/>
            <a:ext cx="7356296" cy="4708981"/>
          </a:xfrm>
          <a:prstGeom prst="rect">
            <a:avLst/>
          </a:prstGeom>
          <a:noFill/>
        </p:spPr>
        <p:txBody>
          <a:bodyPr wrap="square">
            <a:spAutoFit/>
          </a:bodyPr>
          <a:lstStyle/>
          <a:p>
            <a:pPr>
              <a:buFont typeface="Arial" panose="020B0604020202020204" pitchFamily="34" charset="0"/>
              <a:buChar char="•"/>
            </a:pPr>
            <a:r>
              <a:rPr lang="en-US" sz="2200" b="1" dirty="0"/>
              <a:t>Instantaneous Power:</a:t>
            </a:r>
          </a:p>
          <a:p>
            <a:pPr algn="ctr"/>
            <a:r>
              <a:rPr lang="en-US" sz="2400" i="1" dirty="0"/>
              <a:t>p(t) = v(t) × </a:t>
            </a:r>
            <a:r>
              <a:rPr lang="en-US" sz="2400" i="1" dirty="0" err="1"/>
              <a:t>i</a:t>
            </a:r>
            <a:r>
              <a:rPr lang="en-US" sz="2400" i="1" dirty="0"/>
              <a:t>(t)</a:t>
            </a:r>
          </a:p>
          <a:p>
            <a:pPr>
              <a:buFont typeface="Arial" panose="020B0604020202020204" pitchFamily="34" charset="0"/>
              <a:buChar char="•"/>
            </a:pPr>
            <a:r>
              <a:rPr lang="en-US" sz="2200" b="1" dirty="0"/>
              <a:t>True (Active) Power:</a:t>
            </a:r>
          </a:p>
          <a:p>
            <a:pPr algn="ctr"/>
            <a:r>
              <a:rPr lang="en-US" sz="2400" i="1" dirty="0"/>
              <a:t>P = VI × cos(φ) (Measured in watts)</a:t>
            </a:r>
          </a:p>
          <a:p>
            <a:pPr>
              <a:buFont typeface="Arial" panose="020B0604020202020204" pitchFamily="34" charset="0"/>
              <a:buChar char="•"/>
            </a:pPr>
            <a:r>
              <a:rPr lang="en-US" sz="2200" b="1" dirty="0"/>
              <a:t>Reactive Power (Q):</a:t>
            </a:r>
          </a:p>
          <a:p>
            <a:pPr algn="ctr"/>
            <a:r>
              <a:rPr lang="en-US" sz="2400" i="1" dirty="0"/>
              <a:t>Q = VI × sin(φ) (Measured in VAR)</a:t>
            </a:r>
          </a:p>
          <a:p>
            <a:pPr>
              <a:buFont typeface="Arial" panose="020B0604020202020204" pitchFamily="34" charset="0"/>
              <a:buChar char="•"/>
            </a:pPr>
            <a:r>
              <a:rPr lang="en-US" sz="2200" b="1" dirty="0"/>
              <a:t>Apparent Power (S):</a:t>
            </a:r>
          </a:p>
          <a:p>
            <a:pPr algn="ctr"/>
            <a:r>
              <a:rPr lang="en-US" sz="2400" i="1" dirty="0"/>
              <a:t>S = VI (Measured in VA)</a:t>
            </a:r>
          </a:p>
          <a:p>
            <a:pPr>
              <a:buNone/>
            </a:pPr>
            <a:endParaRPr lang="en-US" sz="2200" b="1" dirty="0"/>
          </a:p>
          <a:p>
            <a:pPr>
              <a:buNone/>
            </a:pPr>
            <a:r>
              <a:rPr lang="en-US" sz="2200" b="1" dirty="0"/>
              <a:t>Note:</a:t>
            </a:r>
            <a:endParaRPr lang="en-US" sz="2200" dirty="0"/>
          </a:p>
          <a:p>
            <a:pPr>
              <a:buFont typeface="Arial" panose="020B0604020202020204" pitchFamily="34" charset="0"/>
              <a:buChar char="•"/>
            </a:pPr>
            <a:r>
              <a:rPr lang="en-US" sz="2400" dirty="0"/>
              <a:t>Power is dissipated only by the resistor.</a:t>
            </a:r>
          </a:p>
          <a:p>
            <a:pPr>
              <a:buFont typeface="Arial" panose="020B0604020202020204" pitchFamily="34" charset="0"/>
              <a:buChar char="•"/>
            </a:pPr>
            <a:r>
              <a:rPr lang="en-US" sz="2400" dirty="0"/>
              <a:t>Inductor and capacitor store and release energy without dissipation.</a:t>
            </a:r>
          </a:p>
        </p:txBody>
      </p:sp>
    </p:spTree>
    <p:extLst>
      <p:ext uri="{BB962C8B-B14F-4D97-AF65-F5344CB8AC3E}">
        <p14:creationId xmlns:p14="http://schemas.microsoft.com/office/powerpoint/2010/main" val="35620777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E22A-B543-1824-4D13-F1C8FEA7F4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63BBE2-AD5F-D3C1-3DB2-D5F64AF71D7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B494DE7-39F7-F95E-B3FE-3F35D751767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5996256-5F87-2FA3-EF05-9CBEFC4287A4}"/>
              </a:ext>
            </a:extLst>
          </p:cNvPr>
          <p:cNvSpPr>
            <a:spLocks noChangeArrowheads="1"/>
          </p:cNvSpPr>
          <p:nvPr>
            <p:custDataLst>
              <p:tags r:id="Ra045a68a8ace4dbb"/>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Resonance in RLC Circuit</a:t>
            </a:r>
            <a:endParaRPr lang="en-IN" altLang="en-US" b="1" dirty="0">
              <a:solidFill>
                <a:schemeClr val="bg1"/>
              </a:solidFill>
              <a:latin typeface="+mn-lt"/>
              <a:cs typeface="Calibri" panose="020F0502020204030204" pitchFamily="34" charset="0"/>
            </a:endParaRPr>
          </a:p>
        </p:txBody>
      </p:sp>
      <p:sp>
        <p:nvSpPr>
          <p:cNvPr id="8" name="Rectangle 4">
            <a:extLst>
              <a:ext uri="{FF2B5EF4-FFF2-40B4-BE49-F238E27FC236}">
                <a16:creationId xmlns:a16="http://schemas.microsoft.com/office/drawing/2014/main" id="{59A42E54-C783-879B-B940-71B698CD88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0EB2A978-B3F5-F220-9F8F-A9F24AA14386}"/>
              </a:ext>
            </a:extLst>
          </p:cNvPr>
          <p:cNvSpPr txBox="1"/>
          <p:nvPr/>
        </p:nvSpPr>
        <p:spPr>
          <a:xfrm>
            <a:off x="729465" y="2031277"/>
            <a:ext cx="7356297" cy="4493538"/>
          </a:xfrm>
          <a:prstGeom prst="rect">
            <a:avLst/>
          </a:prstGeom>
          <a:noFill/>
        </p:spPr>
        <p:txBody>
          <a:bodyPr wrap="square">
            <a:spAutoFit/>
          </a:bodyPr>
          <a:lstStyle/>
          <a:p>
            <a:pPr>
              <a:buFont typeface="Arial" panose="020B0604020202020204" pitchFamily="34" charset="0"/>
              <a:buChar char="•"/>
            </a:pPr>
            <a:r>
              <a:rPr lang="en-IN" sz="2200" dirty="0"/>
              <a:t>Resonance occurs when XL = XC, making net reactance zero.</a:t>
            </a:r>
          </a:p>
          <a:p>
            <a:pPr>
              <a:buFont typeface="Arial" panose="020B0604020202020204" pitchFamily="34" charset="0"/>
              <a:buChar char="•"/>
            </a:pPr>
            <a:endParaRPr lang="en-IN" sz="2200" dirty="0"/>
          </a:p>
          <a:p>
            <a:pPr>
              <a:buFont typeface="Arial" panose="020B0604020202020204" pitchFamily="34" charset="0"/>
              <a:buChar char="•"/>
            </a:pPr>
            <a:r>
              <a:rPr lang="en-IN" sz="2200" dirty="0"/>
              <a:t>At resonance:</a:t>
            </a:r>
          </a:p>
          <a:p>
            <a:pPr marL="742950" lvl="1" indent="-285750">
              <a:buFont typeface="Arial" panose="020B0604020202020204" pitchFamily="34" charset="0"/>
              <a:buChar char="•"/>
            </a:pPr>
            <a:r>
              <a:rPr lang="en-IN" sz="2200" dirty="0"/>
              <a:t>Z = R (minimum)</a:t>
            </a:r>
          </a:p>
          <a:p>
            <a:pPr marL="742950" lvl="1" indent="-285750">
              <a:buFont typeface="Arial" panose="020B0604020202020204" pitchFamily="34" charset="0"/>
              <a:buChar char="•"/>
            </a:pPr>
            <a:r>
              <a:rPr lang="en-IN" sz="2200" dirty="0"/>
              <a:t>Current is maximum</a:t>
            </a:r>
          </a:p>
          <a:p>
            <a:pPr marL="742950" lvl="1" indent="-285750">
              <a:buFont typeface="Arial" panose="020B0604020202020204" pitchFamily="34" charset="0"/>
              <a:buChar char="•"/>
            </a:pPr>
            <a:r>
              <a:rPr lang="en-IN" sz="2200" dirty="0"/>
              <a:t>Power factor = 1</a:t>
            </a:r>
          </a:p>
          <a:p>
            <a:pPr marL="742950" lvl="1" indent="-285750">
              <a:buFont typeface="Arial" panose="020B0604020202020204" pitchFamily="34" charset="0"/>
              <a:buChar char="•"/>
            </a:pPr>
            <a:endParaRPr lang="en-IN" sz="2200" dirty="0"/>
          </a:p>
          <a:p>
            <a:pPr>
              <a:buFont typeface="Arial" panose="020B0604020202020204" pitchFamily="34" charset="0"/>
              <a:buChar char="•"/>
            </a:pPr>
            <a:r>
              <a:rPr lang="en-IN" sz="2200" dirty="0"/>
              <a:t>Resonant Frequency (</a:t>
            </a:r>
            <a:r>
              <a:rPr lang="en-IN" sz="2200" dirty="0" err="1"/>
              <a:t>fr</a:t>
            </a:r>
            <a:r>
              <a:rPr lang="en-IN" sz="2200" dirty="0"/>
              <a:t>):</a:t>
            </a:r>
          </a:p>
          <a:p>
            <a:pPr algn="ctr"/>
            <a:r>
              <a:rPr lang="en-IN" sz="2400" i="1" dirty="0" err="1"/>
              <a:t>fr</a:t>
            </a:r>
            <a:r>
              <a:rPr lang="en-IN" sz="2400" i="1" dirty="0"/>
              <a:t> = 1 / (2</a:t>
            </a:r>
            <a:r>
              <a:rPr lang="el-GR" sz="2400" i="1" dirty="0"/>
              <a:t>π√(</a:t>
            </a:r>
            <a:r>
              <a:rPr lang="en-IN" sz="2400" i="1" dirty="0"/>
              <a:t>LC))</a:t>
            </a:r>
          </a:p>
          <a:p>
            <a:pPr>
              <a:buFont typeface="Arial" panose="020B0604020202020204" pitchFamily="34" charset="0"/>
              <a:buChar char="•"/>
            </a:pPr>
            <a:endParaRPr lang="en-IN" sz="2200" dirty="0"/>
          </a:p>
          <a:p>
            <a:pPr>
              <a:buNone/>
            </a:pPr>
            <a:r>
              <a:rPr lang="en-IN" sz="2200" b="1" dirty="0"/>
              <a:t>Important:</a:t>
            </a:r>
          </a:p>
          <a:p>
            <a:pPr>
              <a:buFont typeface="Arial" panose="020B0604020202020204" pitchFamily="34" charset="0"/>
              <a:buChar char="•"/>
            </a:pPr>
            <a:r>
              <a:rPr lang="en-IN" sz="2200" dirty="0"/>
              <a:t>Resonance improves circuit efficiency and is useful in tuning applications.</a:t>
            </a:r>
          </a:p>
        </p:txBody>
      </p:sp>
    </p:spTree>
    <p:extLst>
      <p:ext uri="{BB962C8B-B14F-4D97-AF65-F5344CB8AC3E}">
        <p14:creationId xmlns:p14="http://schemas.microsoft.com/office/powerpoint/2010/main" val="17698376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13810340dffa4fb6"/>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Factor and Phase Angle</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888319A8-6230-DC51-97CF-9DEC68D848CD}"/>
              </a:ext>
            </a:extLst>
          </p:cNvPr>
          <p:cNvSpPr txBox="1"/>
          <p:nvPr/>
        </p:nvSpPr>
        <p:spPr>
          <a:xfrm>
            <a:off x="729464" y="2021908"/>
            <a:ext cx="7356297" cy="4154984"/>
          </a:xfrm>
          <a:prstGeom prst="rect">
            <a:avLst/>
          </a:prstGeom>
          <a:noFill/>
        </p:spPr>
        <p:txBody>
          <a:bodyPr wrap="square">
            <a:spAutoFit/>
          </a:bodyPr>
          <a:lstStyle/>
          <a:p>
            <a:pPr>
              <a:buFont typeface="Arial" panose="020B0604020202020204" pitchFamily="34" charset="0"/>
              <a:buChar char="•"/>
            </a:pPr>
            <a:r>
              <a:rPr lang="en-IN" sz="2200" dirty="0"/>
              <a:t>Power Factor (PF) = cos(</a:t>
            </a:r>
            <a:r>
              <a:rPr lang="el-GR" sz="2200" dirty="0"/>
              <a:t>φ)</a:t>
            </a:r>
            <a:endParaRPr lang="en-IN" sz="2200" dirty="0"/>
          </a:p>
          <a:p>
            <a:pPr>
              <a:buFont typeface="Arial" panose="020B0604020202020204" pitchFamily="34" charset="0"/>
              <a:buChar char="•"/>
            </a:pPr>
            <a:endParaRPr lang="el-GR" sz="2200" dirty="0"/>
          </a:p>
          <a:p>
            <a:pPr>
              <a:buFont typeface="Arial" panose="020B0604020202020204" pitchFamily="34" charset="0"/>
              <a:buChar char="•"/>
            </a:pPr>
            <a:r>
              <a:rPr lang="el-GR" sz="2200" dirty="0"/>
              <a:t>φ </a:t>
            </a:r>
            <a:r>
              <a:rPr lang="en-IN" sz="2200" dirty="0"/>
              <a:t>depends on (XL − XC) / R</a:t>
            </a:r>
          </a:p>
          <a:p>
            <a:pPr>
              <a:buFont typeface="Arial" panose="020B0604020202020204" pitchFamily="34" charset="0"/>
              <a:buChar char="•"/>
            </a:pPr>
            <a:endParaRPr lang="en-IN" sz="2200" dirty="0"/>
          </a:p>
          <a:p>
            <a:pPr>
              <a:buFont typeface="Arial" panose="020B0604020202020204" pitchFamily="34" charset="0"/>
              <a:buChar char="•"/>
            </a:pPr>
            <a:r>
              <a:rPr lang="en-IN" sz="2200" dirty="0"/>
              <a:t>PF = 1 at resonance</a:t>
            </a:r>
          </a:p>
          <a:p>
            <a:pPr>
              <a:buFont typeface="Arial" panose="020B0604020202020204" pitchFamily="34" charset="0"/>
              <a:buChar char="•"/>
            </a:pPr>
            <a:endParaRPr lang="en-IN" sz="2200" dirty="0"/>
          </a:p>
          <a:p>
            <a:pPr>
              <a:buFont typeface="Arial" panose="020B0604020202020204" pitchFamily="34" charset="0"/>
              <a:buChar char="•"/>
            </a:pPr>
            <a:r>
              <a:rPr lang="en-IN" sz="2200" dirty="0"/>
              <a:t>Inductive circuit → PF lagging</a:t>
            </a:r>
          </a:p>
          <a:p>
            <a:pPr>
              <a:buFont typeface="Arial" panose="020B0604020202020204" pitchFamily="34" charset="0"/>
              <a:buChar char="•"/>
            </a:pPr>
            <a:r>
              <a:rPr lang="en-IN" sz="2200" dirty="0"/>
              <a:t>Capacitive circuit → PF leading</a:t>
            </a:r>
          </a:p>
          <a:p>
            <a:pPr>
              <a:buNone/>
            </a:pPr>
            <a:endParaRPr lang="en-IN" sz="2200" dirty="0"/>
          </a:p>
          <a:p>
            <a:pPr>
              <a:buNone/>
            </a:pPr>
            <a:r>
              <a:rPr lang="en-IN" sz="2200" b="1" dirty="0"/>
              <a:t>Key Insight:</a:t>
            </a:r>
          </a:p>
          <a:p>
            <a:pPr>
              <a:buFont typeface="Arial" panose="020B0604020202020204" pitchFamily="34" charset="0"/>
              <a:buChar char="•"/>
            </a:pPr>
            <a:r>
              <a:rPr lang="en-IN" sz="2200" dirty="0"/>
              <a:t>Better power factor means better energy utilization and reduced losses.</a:t>
            </a:r>
          </a:p>
        </p:txBody>
      </p:sp>
    </p:spTree>
    <p:extLst>
      <p:ext uri="{BB962C8B-B14F-4D97-AF65-F5344CB8AC3E}">
        <p14:creationId xmlns:p14="http://schemas.microsoft.com/office/powerpoint/2010/main" val="24683311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754E-272D-31E1-ADF4-F977E64683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596AD3-4DF9-9CF0-C436-A70E22EB43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6DD0F52-C27F-3F91-093F-A31921DDDA4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EA1B085-9D42-ADCF-B27E-E9F6284A9C43}"/>
              </a:ext>
            </a:extLst>
          </p:cNvPr>
          <p:cNvSpPr>
            <a:spLocks noChangeArrowheads="1"/>
          </p:cNvSpPr>
          <p:nvPr>
            <p:custDataLst>
              <p:tags r:id="R70770025c1244be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E3408AC8-D9D9-1C7D-B438-C8A10119ECD8}"/>
              </a:ext>
            </a:extLst>
          </p:cNvPr>
          <p:cNvSpPr txBox="1"/>
          <p:nvPr/>
        </p:nvSpPr>
        <p:spPr>
          <a:xfrm>
            <a:off x="729465" y="2021908"/>
            <a:ext cx="7356296" cy="4102533"/>
          </a:xfrm>
          <a:prstGeom prst="rect">
            <a:avLst/>
          </a:prstGeom>
          <a:noFill/>
        </p:spPr>
        <p:txBody>
          <a:bodyPr wrap="square">
            <a:spAutoFit/>
          </a:bodyPr>
          <a:lstStyle/>
          <a:p>
            <a:pPr algn="just">
              <a:lnSpc>
                <a:spcPct val="150000"/>
              </a:lnSpc>
              <a:buFont typeface="Arial" panose="020B0604020202020204" pitchFamily="34" charset="0"/>
              <a:buChar char="•"/>
            </a:pPr>
            <a:r>
              <a:rPr lang="en-US" sz="2200" dirty="0"/>
              <a:t>RLC circuit combines R, L, and C in series.</a:t>
            </a:r>
          </a:p>
          <a:p>
            <a:pPr algn="just">
              <a:lnSpc>
                <a:spcPct val="150000"/>
              </a:lnSpc>
              <a:buFont typeface="Arial" panose="020B0604020202020204" pitchFamily="34" charset="0"/>
              <a:buChar char="•"/>
            </a:pPr>
            <a:r>
              <a:rPr lang="en-US" sz="2200" dirty="0"/>
              <a:t>Total impedance depends on R and net reactance (XL − XC).</a:t>
            </a:r>
          </a:p>
          <a:p>
            <a:pPr algn="just">
              <a:lnSpc>
                <a:spcPct val="150000"/>
              </a:lnSpc>
              <a:buFont typeface="Arial" panose="020B0604020202020204" pitchFamily="34" charset="0"/>
              <a:buChar char="•"/>
            </a:pPr>
            <a:r>
              <a:rPr lang="en-US" sz="2200" dirty="0"/>
              <a:t>Current can lead, lag, or be in phase with voltage.</a:t>
            </a:r>
          </a:p>
          <a:p>
            <a:pPr algn="just">
              <a:lnSpc>
                <a:spcPct val="150000"/>
              </a:lnSpc>
              <a:buFont typeface="Arial" panose="020B0604020202020204" pitchFamily="34" charset="0"/>
              <a:buChar char="•"/>
            </a:pPr>
            <a:r>
              <a:rPr lang="en-US" sz="2200" dirty="0"/>
              <a:t>Resonance occurs when XL = XC, resulting in maximum current and unity power factor.</a:t>
            </a:r>
          </a:p>
          <a:p>
            <a:pPr algn="just">
              <a:lnSpc>
                <a:spcPct val="150000"/>
              </a:lnSpc>
              <a:buFont typeface="Arial" panose="020B0604020202020204" pitchFamily="34" charset="0"/>
              <a:buChar char="•"/>
            </a:pPr>
            <a:r>
              <a:rPr lang="en-US" sz="2200" dirty="0"/>
              <a:t>Real power is consumed only by R; L and C exchange reactive power.</a:t>
            </a:r>
          </a:p>
          <a:p>
            <a:pPr algn="just">
              <a:lnSpc>
                <a:spcPct val="150000"/>
              </a:lnSpc>
              <a:buFont typeface="Arial" panose="020B0604020202020204" pitchFamily="34" charset="0"/>
              <a:buChar char="•"/>
            </a:pPr>
            <a:r>
              <a:rPr lang="en-US" sz="2200" dirty="0"/>
              <a:t>Applications include filters, oscillators, and tuning circuits.</a:t>
            </a:r>
          </a:p>
        </p:txBody>
      </p:sp>
    </p:spTree>
    <p:extLst>
      <p:ext uri="{BB962C8B-B14F-4D97-AF65-F5344CB8AC3E}">
        <p14:creationId xmlns:p14="http://schemas.microsoft.com/office/powerpoint/2010/main" val="16184287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RL</a:t>
            </a:r>
          </a:p>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Parallel Load</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id="{ACE66E8C-51E3-8B47-8740-62D6A03D7A8D}"/>
              </a:ext>
            </a:extLst>
          </p:cNvPr>
          <p:cNvSpPr>
            <a:spLocks noChangeArrowheads="1"/>
          </p:cNvSpPr>
          <p:nvPr/>
        </p:nvSpPr>
        <p:spPr bwMode="auto">
          <a:xfrm>
            <a:off x="446065" y="2891704"/>
            <a:ext cx="6074227"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Introduction to RL Parallel Circuit …………………. 3</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Behavior of RL Branches in Parallel </a:t>
            </a:r>
            <a:r>
              <a:rPr lang="en-US" altLang="en-US" sz="2200" dirty="0"/>
              <a:t>……………….</a:t>
            </a:r>
            <a:r>
              <a:rPr kumimoji="0" lang="en-US" altLang="en-US" sz="2200" b="0" i="0" u="none" strike="noStrike" cap="none" normalizeH="0" baseline="0" dirty="0">
                <a:ln>
                  <a:noFill/>
                </a:ln>
                <a:solidFill>
                  <a:schemeClr val="tx1"/>
                </a:solidFill>
                <a:effectLst/>
              </a:rPr>
              <a:t> 4</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Current Distribution and Impedance ……………. 5</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Phasor Representation ………………………………… 6</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Waveforms of Current and Voltage ……………… 7</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in RL Parallel Circuit ………………………….. 8</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Factor and Phase Angle …………………….. 9</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Key Points / Summary ………………………………… 10</a:t>
            </a:r>
          </a:p>
        </p:txBody>
      </p:sp>
    </p:spTree>
    <p:extLst>
      <p:ext uri="{BB962C8B-B14F-4D97-AF65-F5344CB8AC3E}">
        <p14:creationId xmlns:p14="http://schemas.microsoft.com/office/powerpoint/2010/main" val="22788355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391bc40469b7460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RL Parallel Circuit</a:t>
            </a:r>
            <a:endParaRPr lang="en-IN" altLang="en-US" sz="3000" dirty="0">
              <a:solidFill>
                <a:schemeClr val="bg1"/>
              </a:solidFill>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D8F69EC9-2011-A164-A0CB-646E7681C686}"/>
              </a:ext>
            </a:extLst>
          </p:cNvPr>
          <p:cNvSpPr txBox="1"/>
          <p:nvPr/>
        </p:nvSpPr>
        <p:spPr>
          <a:xfrm>
            <a:off x="5555202" y="5445122"/>
            <a:ext cx="2628333" cy="276999"/>
          </a:xfrm>
          <a:prstGeom prst="rect">
            <a:avLst/>
          </a:prstGeom>
          <a:noFill/>
        </p:spPr>
        <p:txBody>
          <a:bodyPr wrap="square" rtlCol="0">
            <a:spAutoFit/>
          </a:bodyPr>
          <a:lstStyle/>
          <a:p>
            <a:pPr algn="ctr"/>
            <a:r>
              <a:rPr lang="en-IN" sz="1200" dirty="0"/>
              <a:t>Figure 2.1 RL parallel Circuit</a:t>
            </a:r>
          </a:p>
        </p:txBody>
      </p:sp>
      <p:sp>
        <p:nvSpPr>
          <p:cNvPr id="8" name="TextBox 7">
            <a:extLst>
              <a:ext uri="{FF2B5EF4-FFF2-40B4-BE49-F238E27FC236}">
                <a16:creationId xmlns:a16="http://schemas.microsoft.com/office/drawing/2014/main" id="{BE1E4958-D64F-452F-E72A-93C1C68D88D4}"/>
              </a:ext>
            </a:extLst>
          </p:cNvPr>
          <p:cNvSpPr txBox="1"/>
          <p:nvPr/>
        </p:nvSpPr>
        <p:spPr>
          <a:xfrm>
            <a:off x="729465" y="2150642"/>
            <a:ext cx="3829229" cy="3816429"/>
          </a:xfrm>
          <a:prstGeom prst="rect">
            <a:avLst/>
          </a:prstGeom>
          <a:noFill/>
        </p:spPr>
        <p:txBody>
          <a:bodyPr wrap="square">
            <a:spAutoFit/>
          </a:bodyPr>
          <a:lstStyle/>
          <a:p>
            <a:pPr algn="just">
              <a:buFont typeface="Arial" panose="020B0604020202020204" pitchFamily="34" charset="0"/>
              <a:buChar char="•"/>
            </a:pPr>
            <a:r>
              <a:rPr lang="en-US" sz="2200" dirty="0"/>
              <a:t>An RL parallel circuit has a resistor (R) and inductor (L) connected in parallel across an AC voltage source.</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voltage across both branches is the same.</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total current is the phasor sum of current through R and current through L.</a:t>
            </a:r>
          </a:p>
        </p:txBody>
      </p:sp>
      <p:pic>
        <p:nvPicPr>
          <p:cNvPr id="9" name="Picture 8">
            <a:extLst>
              <a:ext uri="{FF2B5EF4-FFF2-40B4-BE49-F238E27FC236}">
                <a16:creationId xmlns:a16="http://schemas.microsoft.com/office/drawing/2014/main" id="{CEA2BC1B-4A67-2A82-A1F9-CC76AFB361BA}"/>
              </a:ext>
            </a:extLst>
          </p:cNvPr>
          <p:cNvPicPr>
            <a:picLocks noChangeAspect="1"/>
          </p:cNvPicPr>
          <p:nvPr/>
        </p:nvPicPr>
        <p:blipFill>
          <a:blip r:embed="R863118d4fa6243eb"/>
          <a:stretch>
            <a:fillRect/>
          </a:stretch>
        </p:blipFill>
        <p:spPr>
          <a:xfrm>
            <a:off x="4954755" y="2339842"/>
            <a:ext cx="3829229" cy="2673948"/>
          </a:xfrm>
          <a:prstGeom prst="rect">
            <a:avLst/>
          </a:prstGeom>
        </p:spPr>
      </p:pic>
    </p:spTree>
    <p:extLst>
      <p:ext uri="{BB962C8B-B14F-4D97-AF65-F5344CB8AC3E}">
        <p14:creationId xmlns:p14="http://schemas.microsoft.com/office/powerpoint/2010/main" val="34659817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f882501613764bbf"/>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Behavior of RL Branches in Parallel</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4FBAFFBD-F64C-9FC7-BA33-D1783E0F7125}"/>
              </a:ext>
            </a:extLst>
          </p:cNvPr>
          <p:cNvSpPr>
            <a:spLocks noChangeArrowheads="1"/>
          </p:cNvSpPr>
          <p:nvPr/>
        </p:nvSpPr>
        <p:spPr bwMode="auto">
          <a:xfrm>
            <a:off x="729465" y="2620309"/>
            <a:ext cx="7356297"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Resistive branch current (IR) is in phase with voltage.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Inductive branch current (IL) lags behind voltage by 90°.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resulting current is neither in phase nor 90° lagging, but has a phase angle φ.</a:t>
            </a:r>
          </a:p>
        </p:txBody>
      </p:sp>
    </p:spTree>
    <p:extLst>
      <p:ext uri="{BB962C8B-B14F-4D97-AF65-F5344CB8AC3E}">
        <p14:creationId xmlns:p14="http://schemas.microsoft.com/office/powerpoint/2010/main" val="10710913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7157089c538143f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Current Distribution and Impedance</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C3124A7D-46F1-5EC2-ED23-F12B90E3D0C1}"/>
              </a:ext>
            </a:extLst>
          </p:cNvPr>
          <p:cNvSpPr txBox="1"/>
          <p:nvPr/>
        </p:nvSpPr>
        <p:spPr>
          <a:xfrm>
            <a:off x="729464" y="2021908"/>
            <a:ext cx="7356297" cy="4247317"/>
          </a:xfrm>
          <a:prstGeom prst="rect">
            <a:avLst/>
          </a:prstGeom>
          <a:noFill/>
        </p:spPr>
        <p:txBody>
          <a:bodyPr wrap="square">
            <a:spAutoFit/>
          </a:bodyPr>
          <a:lstStyle/>
          <a:p>
            <a:pPr>
              <a:buFont typeface="Arial" panose="020B0604020202020204" pitchFamily="34" charset="0"/>
              <a:buChar char="•"/>
            </a:pPr>
            <a:r>
              <a:rPr lang="en-IN" sz="2200" dirty="0"/>
              <a:t>Total current (IT) is calculated using phasor addition:</a:t>
            </a:r>
          </a:p>
          <a:p>
            <a:pPr algn="ctr"/>
            <a:r>
              <a:rPr lang="en-IN" sz="2400" i="1" dirty="0"/>
              <a:t>IT = √(IR² + IL²)</a:t>
            </a:r>
          </a:p>
          <a:p>
            <a:pPr>
              <a:buFont typeface="Arial" panose="020B0604020202020204" pitchFamily="34" charset="0"/>
              <a:buChar char="•"/>
            </a:pPr>
            <a:r>
              <a:rPr lang="en-IN" sz="2200" dirty="0"/>
              <a:t>Branch currents:</a:t>
            </a:r>
          </a:p>
          <a:p>
            <a:pPr algn="ctr"/>
            <a:r>
              <a:rPr lang="en-IN" sz="2400" i="1" dirty="0"/>
              <a:t>IR = V / R</a:t>
            </a:r>
          </a:p>
          <a:p>
            <a:pPr algn="ctr"/>
            <a:r>
              <a:rPr lang="en-IN" sz="2400" i="1" dirty="0"/>
              <a:t>IL = V / XL, where XL = 2</a:t>
            </a:r>
            <a:r>
              <a:rPr lang="el-GR" sz="2400" i="1" dirty="0"/>
              <a:t>π</a:t>
            </a:r>
            <a:r>
              <a:rPr lang="en-IN" sz="2400" i="1" dirty="0" err="1"/>
              <a:t>fL</a:t>
            </a:r>
            <a:endParaRPr lang="en-IN" sz="2400" i="1" dirty="0"/>
          </a:p>
          <a:p>
            <a:pPr>
              <a:buFont typeface="Arial" panose="020B0604020202020204" pitchFamily="34" charset="0"/>
              <a:buChar char="•"/>
            </a:pPr>
            <a:r>
              <a:rPr lang="en-IN" sz="2200" dirty="0"/>
              <a:t>The total impedance (Z) is not just a scalar sum.</a:t>
            </a:r>
          </a:p>
          <a:p>
            <a:pPr>
              <a:buNone/>
            </a:pPr>
            <a:endParaRPr lang="en-IN" sz="2200" dirty="0"/>
          </a:p>
          <a:p>
            <a:pPr>
              <a:buNone/>
            </a:pPr>
            <a:r>
              <a:rPr lang="en-IN" sz="2200" dirty="0"/>
              <a:t>Admittance (Y) is used for easier analysis:</a:t>
            </a:r>
          </a:p>
          <a:p>
            <a:pPr algn="ctr">
              <a:buNone/>
            </a:pPr>
            <a:r>
              <a:rPr lang="en-IN" sz="2400" i="1" dirty="0"/>
              <a:t>Y = √(G² + BL²), </a:t>
            </a:r>
          </a:p>
          <a:p>
            <a:pPr>
              <a:buNone/>
            </a:pPr>
            <a:r>
              <a:rPr lang="en-IN" sz="2200" dirty="0"/>
              <a:t>Where,</a:t>
            </a:r>
            <a:br>
              <a:rPr lang="en-IN" sz="2200" dirty="0"/>
            </a:br>
            <a:r>
              <a:rPr lang="en-IN" sz="2200" dirty="0"/>
              <a:t>G = 1 / R (conductance),</a:t>
            </a:r>
            <a:br>
              <a:rPr lang="en-IN" sz="2200" dirty="0"/>
            </a:br>
            <a:r>
              <a:rPr lang="en-IN" sz="2200" dirty="0"/>
              <a:t>BL = 1 / XL (susceptive part)</a:t>
            </a:r>
          </a:p>
        </p:txBody>
      </p:sp>
    </p:spTree>
    <p:extLst>
      <p:ext uri="{BB962C8B-B14F-4D97-AF65-F5344CB8AC3E}">
        <p14:creationId xmlns:p14="http://schemas.microsoft.com/office/powerpoint/2010/main" val="38601299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ed05979d8cf4401c"/>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5391170" y="5283227"/>
            <a:ext cx="3023365" cy="276999"/>
          </a:xfrm>
          <a:prstGeom prst="rect">
            <a:avLst/>
          </a:prstGeom>
          <a:noFill/>
        </p:spPr>
        <p:txBody>
          <a:bodyPr wrap="square" rtlCol="0">
            <a:spAutoFit/>
          </a:bodyPr>
          <a:lstStyle/>
          <a:p>
            <a:pPr algn="ctr"/>
            <a:r>
              <a:rPr lang="en-US" sz="1200" dirty="0"/>
              <a:t>Figure 2.2 Phasor Diagram</a:t>
            </a:r>
            <a:endParaRPr lang="en-IN" sz="1200" dirty="0"/>
          </a:p>
        </p:txBody>
      </p:sp>
      <p:pic>
        <p:nvPicPr>
          <p:cNvPr id="3" name="Picture 2">
            <a:extLst>
              <a:ext uri="{FF2B5EF4-FFF2-40B4-BE49-F238E27FC236}">
                <a16:creationId xmlns:a16="http://schemas.microsoft.com/office/drawing/2014/main" id="{AE5A234D-AAA3-F369-3F56-758F5E3159D1}"/>
              </a:ext>
            </a:extLst>
          </p:cNvPr>
          <p:cNvPicPr>
            <a:picLocks noChangeAspect="1"/>
          </p:cNvPicPr>
          <p:nvPr/>
        </p:nvPicPr>
        <p:blipFill>
          <a:blip r:embed="R5b9272b0ba3044a7"/>
          <a:stretch>
            <a:fillRect/>
          </a:stretch>
        </p:blipFill>
        <p:spPr>
          <a:xfrm>
            <a:off x="5803729" y="2232461"/>
            <a:ext cx="2198245" cy="2939514"/>
          </a:xfrm>
          <a:prstGeom prst="rect">
            <a:avLst/>
          </a:prstGeom>
        </p:spPr>
      </p:pic>
      <p:sp>
        <p:nvSpPr>
          <p:cNvPr id="5" name="Rectangle 1">
            <a:extLst>
              <a:ext uri="{FF2B5EF4-FFF2-40B4-BE49-F238E27FC236}">
                <a16:creationId xmlns:a16="http://schemas.microsoft.com/office/drawing/2014/main" id="{B79D0153-A408-F72B-08F9-0C5A3C2B7623}"/>
              </a:ext>
            </a:extLst>
          </p:cNvPr>
          <p:cNvSpPr>
            <a:spLocks noChangeArrowheads="1"/>
          </p:cNvSpPr>
          <p:nvPr/>
        </p:nvSpPr>
        <p:spPr bwMode="auto">
          <a:xfrm>
            <a:off x="729465" y="2330010"/>
            <a:ext cx="448711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(V) is taken as reference (horizontal axis).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IR is in phase with V (horizontal phasor).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IL lags behind V by 90° (vertical downward phasor).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IT is the phasor sum of IR and IL.</a:t>
            </a:r>
          </a:p>
        </p:txBody>
      </p:sp>
    </p:spTree>
    <p:extLst>
      <p:ext uri="{BB962C8B-B14F-4D97-AF65-F5344CB8AC3E}">
        <p14:creationId xmlns:p14="http://schemas.microsoft.com/office/powerpoint/2010/main" val="22239144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1f4c30f872934a96"/>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5429267" y="5379727"/>
            <a:ext cx="3023365" cy="276999"/>
          </a:xfrm>
          <a:prstGeom prst="rect">
            <a:avLst/>
          </a:prstGeom>
          <a:noFill/>
        </p:spPr>
        <p:txBody>
          <a:bodyPr wrap="square" rtlCol="0">
            <a:spAutoFit/>
          </a:bodyPr>
          <a:lstStyle/>
          <a:p>
            <a:pPr algn="ctr"/>
            <a:r>
              <a:rPr lang="en-US" sz="1200" dirty="0"/>
              <a:t>Figure 2.2 Waveform Diagram</a:t>
            </a:r>
            <a:endParaRPr lang="en-IN" sz="1200" dirty="0"/>
          </a:p>
        </p:txBody>
      </p:sp>
      <p:pic>
        <p:nvPicPr>
          <p:cNvPr id="6" name="Picture 5">
            <a:extLst>
              <a:ext uri="{FF2B5EF4-FFF2-40B4-BE49-F238E27FC236}">
                <a16:creationId xmlns:a16="http://schemas.microsoft.com/office/drawing/2014/main" id="{85BAAB9F-09EF-546D-FA68-06259595A196}"/>
              </a:ext>
            </a:extLst>
          </p:cNvPr>
          <p:cNvPicPr>
            <a:picLocks noChangeAspect="1"/>
          </p:cNvPicPr>
          <p:nvPr/>
        </p:nvPicPr>
        <p:blipFill>
          <a:blip r:embed="R2122387bb1d14149"/>
          <a:stretch>
            <a:fillRect/>
          </a:stretch>
        </p:blipFill>
        <p:spPr>
          <a:xfrm>
            <a:off x="4794422" y="2198713"/>
            <a:ext cx="3801006" cy="3046102"/>
          </a:xfrm>
          <a:prstGeom prst="rect">
            <a:avLst/>
          </a:prstGeom>
        </p:spPr>
      </p:pic>
      <p:sp>
        <p:nvSpPr>
          <p:cNvPr id="8" name="Rectangle 1">
            <a:extLst>
              <a:ext uri="{FF2B5EF4-FFF2-40B4-BE49-F238E27FC236}">
                <a16:creationId xmlns:a16="http://schemas.microsoft.com/office/drawing/2014/main" id="{CC2387FE-254E-9355-45E3-7AE640301B31}"/>
              </a:ext>
            </a:extLst>
          </p:cNvPr>
          <p:cNvSpPr>
            <a:spLocks noChangeArrowheads="1"/>
          </p:cNvSpPr>
          <p:nvPr/>
        </p:nvSpPr>
        <p:spPr bwMode="auto">
          <a:xfrm>
            <a:off x="770994" y="2321380"/>
            <a:ext cx="3801006"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remains common and sinusoidal across both branches.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IR follows voltage waveform.</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IL lags voltage waveform by 90°.</a:t>
            </a:r>
          </a:p>
        </p:txBody>
      </p:sp>
    </p:spTree>
    <p:extLst>
      <p:ext uri="{BB962C8B-B14F-4D97-AF65-F5344CB8AC3E}">
        <p14:creationId xmlns:p14="http://schemas.microsoft.com/office/powerpoint/2010/main" val="206709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13d82c14c9d84ea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RL Parallel Circuit</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2AD5F0B1-80E4-8490-3939-939C0A737C7E}"/>
              </a:ext>
            </a:extLst>
          </p:cNvPr>
          <p:cNvSpPr>
            <a:spLocks noChangeArrowheads="1"/>
          </p:cNvSpPr>
          <p:nvPr/>
        </p:nvSpPr>
        <p:spPr bwMode="auto">
          <a:xfrm>
            <a:off x="729465" y="1912231"/>
            <a:ext cx="7356297"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Instantaneous Power:</a:t>
            </a:r>
            <a:r>
              <a:rPr kumimoji="0" lang="en-US" altLang="en-US" sz="2200" b="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b="0" i="1" u="none" strike="noStrike" cap="none" normalizeH="0" baseline="0" dirty="0">
                <a:ln>
                  <a:noFill/>
                </a:ln>
                <a:solidFill>
                  <a:schemeClr val="tx1"/>
                </a:solidFill>
                <a:effectLst/>
              </a:rPr>
              <a:t>p(t) = v(t) × </a:t>
            </a:r>
            <a:r>
              <a:rPr kumimoji="0" lang="en-US" altLang="en-US" sz="2400" b="0" i="1" u="none" strike="noStrike" cap="none" normalizeH="0" baseline="0" dirty="0" err="1">
                <a:ln>
                  <a:noFill/>
                </a:ln>
                <a:solidFill>
                  <a:schemeClr val="tx1"/>
                </a:solidFill>
                <a:effectLst/>
              </a:rPr>
              <a:t>i</a:t>
            </a:r>
            <a:r>
              <a:rPr kumimoji="0" lang="en-US" altLang="en-US" sz="2400" b="0" i="1" u="none" strike="noStrike" cap="none" normalizeH="0" baseline="0" dirty="0">
                <a:ln>
                  <a:noFill/>
                </a:ln>
                <a:solidFill>
                  <a:schemeClr val="tx1"/>
                </a:solidFill>
                <a:effectLst/>
              </a:rPr>
              <a:t>(t)</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b="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Real Power (P)</a:t>
            </a:r>
            <a:r>
              <a:rPr kumimoji="0" lang="en-US" altLang="en-US" sz="2200" b="0" i="0" u="none" strike="noStrike" cap="none" normalizeH="0" baseline="0" dirty="0">
                <a:ln>
                  <a:noFill/>
                </a:ln>
                <a:solidFill>
                  <a:schemeClr val="tx1"/>
                </a:solidFill>
                <a:effectLst/>
              </a:rPr>
              <a:t> is consumed only in resistive branch:</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P = V × IR = V² / R</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Reactive Power (Q)</a:t>
            </a:r>
            <a:r>
              <a:rPr kumimoji="0" lang="en-US" altLang="en-US" sz="2200" b="0" i="0" u="none" strike="noStrike" cap="none" normalizeH="0" baseline="0" dirty="0">
                <a:ln>
                  <a:noFill/>
                </a:ln>
                <a:solidFill>
                  <a:schemeClr val="tx1"/>
                </a:solidFill>
                <a:effectLst/>
              </a:rPr>
              <a:t> is associated with the inductor:</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Q = V × IL = V² / XL</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Apparent Power (S):</a:t>
            </a:r>
            <a:endParaRPr lang="en-US" altLang="en-US" sz="2200" dirty="0"/>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S = V × IT</a:t>
            </a:r>
          </a:p>
        </p:txBody>
      </p:sp>
    </p:spTree>
    <p:extLst>
      <p:ext uri="{BB962C8B-B14F-4D97-AF65-F5344CB8AC3E}">
        <p14:creationId xmlns:p14="http://schemas.microsoft.com/office/powerpoint/2010/main" val="35620777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7f7dc3f828c74e7d"/>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Factor and Phase Angle</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5325DD34-ED1F-2E93-7DF9-484E1FEFA486}"/>
              </a:ext>
            </a:extLst>
          </p:cNvPr>
          <p:cNvSpPr>
            <a:spLocks noChangeArrowheads="1"/>
          </p:cNvSpPr>
          <p:nvPr/>
        </p:nvSpPr>
        <p:spPr bwMode="auto">
          <a:xfrm>
            <a:off x="729465" y="2211259"/>
            <a:ext cx="7356298"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Factor (PF) = cos(φ), where φ is the angle between total current and voltage.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φ is positive (lagging) due to inductive effect.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Higher XL → higher phase lag → lower PF</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Improving PF can reduce losses and increase efficiency.</a:t>
            </a:r>
          </a:p>
        </p:txBody>
      </p:sp>
    </p:spTree>
    <p:extLst>
      <p:ext uri="{BB962C8B-B14F-4D97-AF65-F5344CB8AC3E}">
        <p14:creationId xmlns:p14="http://schemas.microsoft.com/office/powerpoint/2010/main" val="24683311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754E-272D-31E1-ADF4-F977E64683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596AD3-4DF9-9CF0-C436-A70E22EB43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6DD0F52-C27F-3F91-093F-A31921DDDA4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EA1B085-9D42-ADCF-B27E-E9F6284A9C43}"/>
              </a:ext>
            </a:extLst>
          </p:cNvPr>
          <p:cNvSpPr>
            <a:spLocks noChangeArrowheads="1"/>
          </p:cNvSpPr>
          <p:nvPr>
            <p:custDataLst>
              <p:tags r:id="Rd10a0f0aeb78433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908B6C76-A64D-0A18-C1BF-888C742655B1}"/>
              </a:ext>
            </a:extLst>
          </p:cNvPr>
          <p:cNvSpPr>
            <a:spLocks noChangeArrowheads="1"/>
          </p:cNvSpPr>
          <p:nvPr/>
        </p:nvSpPr>
        <p:spPr bwMode="auto">
          <a:xfrm>
            <a:off x="729464" y="2021908"/>
            <a:ext cx="7356298" cy="410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RL parallel circuit shares common voltage, but branch currents differ in phase.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IR is in phase with V; IL lags behind by 90°.</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Total current is phasor sum of IR and IL.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Only resistor consumes real power.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factor is lagging due to inductance.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Useful in analyzing filter circuits, tuning applications, and AC analysis.</a:t>
            </a:r>
          </a:p>
        </p:txBody>
      </p:sp>
    </p:spTree>
    <p:extLst>
      <p:ext uri="{BB962C8B-B14F-4D97-AF65-F5344CB8AC3E}">
        <p14:creationId xmlns:p14="http://schemas.microsoft.com/office/powerpoint/2010/main" val="16184287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RC</a:t>
            </a:r>
          </a:p>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Parallel Load</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id="{ACE66E8C-51E3-8B47-8740-62D6A03D7A8D}"/>
              </a:ext>
            </a:extLst>
          </p:cNvPr>
          <p:cNvSpPr>
            <a:spLocks noChangeArrowheads="1"/>
          </p:cNvSpPr>
          <p:nvPr/>
        </p:nvSpPr>
        <p:spPr bwMode="auto">
          <a:xfrm>
            <a:off x="446065" y="2891704"/>
            <a:ext cx="6074227"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Introduction to R</a:t>
            </a:r>
            <a:r>
              <a:rPr lang="en-US" altLang="en-US" sz="2200" dirty="0"/>
              <a:t>C</a:t>
            </a:r>
            <a:r>
              <a:rPr kumimoji="0" lang="en-US" altLang="en-US" sz="2200" b="0" i="0" u="none" strike="noStrike" cap="none" normalizeH="0" baseline="0" dirty="0">
                <a:ln>
                  <a:noFill/>
                </a:ln>
                <a:solidFill>
                  <a:schemeClr val="tx1"/>
                </a:solidFill>
                <a:effectLst/>
              </a:rPr>
              <a:t> Parallel Circuit ………………. 3</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Behavior of RC Branches in Parallel </a:t>
            </a:r>
            <a:r>
              <a:rPr lang="en-US" altLang="en-US" sz="2200" dirty="0"/>
              <a:t>……………….</a:t>
            </a:r>
            <a:r>
              <a:rPr kumimoji="0" lang="en-US" altLang="en-US" sz="2200" b="0" i="0" u="none" strike="noStrike" cap="none" normalizeH="0" baseline="0" dirty="0">
                <a:ln>
                  <a:noFill/>
                </a:ln>
                <a:solidFill>
                  <a:schemeClr val="tx1"/>
                </a:solidFill>
                <a:effectLst/>
              </a:rPr>
              <a:t> 4</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Current Distribution and Impedance ……………. 5</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Phasor Representation ………………………………… 6</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Waveforms of Current and Voltage ……………… 7</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in RC Parallel Circuit ………………………….. 8</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Factor and Phase Angle …………………….. 9</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Key Points / Summary ………………………………… 10</a:t>
            </a:r>
          </a:p>
        </p:txBody>
      </p:sp>
    </p:spTree>
    <p:extLst>
      <p:ext uri="{BB962C8B-B14F-4D97-AF65-F5344CB8AC3E}">
        <p14:creationId xmlns:p14="http://schemas.microsoft.com/office/powerpoint/2010/main" val="22788355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d32ef05c94ed4d1e"/>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RC Parallel Circuit</a:t>
            </a:r>
            <a:endParaRPr lang="en-IN" altLang="en-US" sz="3000" dirty="0">
              <a:solidFill>
                <a:schemeClr val="bg1"/>
              </a:solidFill>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D8F69EC9-2011-A164-A0CB-646E7681C686}"/>
              </a:ext>
            </a:extLst>
          </p:cNvPr>
          <p:cNvSpPr txBox="1"/>
          <p:nvPr/>
        </p:nvSpPr>
        <p:spPr>
          <a:xfrm>
            <a:off x="5555202" y="5445122"/>
            <a:ext cx="2628333" cy="276999"/>
          </a:xfrm>
          <a:prstGeom prst="rect">
            <a:avLst/>
          </a:prstGeom>
          <a:noFill/>
        </p:spPr>
        <p:txBody>
          <a:bodyPr wrap="square" rtlCol="0">
            <a:spAutoFit/>
          </a:bodyPr>
          <a:lstStyle/>
          <a:p>
            <a:pPr algn="ctr"/>
            <a:r>
              <a:rPr lang="en-IN" sz="1200" dirty="0"/>
              <a:t>Figure 2.1 RC parallel Circuit</a:t>
            </a:r>
          </a:p>
        </p:txBody>
      </p:sp>
      <p:sp>
        <p:nvSpPr>
          <p:cNvPr id="3" name="Rectangle 1">
            <a:extLst>
              <a:ext uri="{FF2B5EF4-FFF2-40B4-BE49-F238E27FC236}">
                <a16:creationId xmlns:a16="http://schemas.microsoft.com/office/drawing/2014/main" id="{BC343641-643E-8808-4012-541CFA16D05C}"/>
              </a:ext>
            </a:extLst>
          </p:cNvPr>
          <p:cNvSpPr>
            <a:spLocks noChangeArrowheads="1"/>
          </p:cNvSpPr>
          <p:nvPr/>
        </p:nvSpPr>
        <p:spPr bwMode="auto">
          <a:xfrm>
            <a:off x="729465" y="2218306"/>
            <a:ext cx="3842535"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An RC parallel circuit has a resistor (R) and capacitor (C) connected in parallel across an AC supply.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voltage is common to both branches.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total current is the phasor sum of currents in R and C branches.</a:t>
            </a:r>
          </a:p>
        </p:txBody>
      </p:sp>
      <p:pic>
        <p:nvPicPr>
          <p:cNvPr id="5" name="Picture 4">
            <a:extLst>
              <a:ext uri="{FF2B5EF4-FFF2-40B4-BE49-F238E27FC236}">
                <a16:creationId xmlns:a16="http://schemas.microsoft.com/office/drawing/2014/main" id="{D72FBBA4-39A6-6D5E-F73F-9C2DA3C0CE32}"/>
              </a:ext>
            </a:extLst>
          </p:cNvPr>
          <p:cNvPicPr>
            <a:picLocks noChangeAspect="1"/>
          </p:cNvPicPr>
          <p:nvPr/>
        </p:nvPicPr>
        <p:blipFill>
          <a:blip r:embed="R4e617c423eab46be"/>
          <a:stretch>
            <a:fillRect/>
          </a:stretch>
        </p:blipFill>
        <p:spPr>
          <a:xfrm>
            <a:off x="4948100" y="2485634"/>
            <a:ext cx="3842535" cy="2318065"/>
          </a:xfrm>
          <a:prstGeom prst="rect">
            <a:avLst/>
          </a:prstGeom>
        </p:spPr>
      </p:pic>
    </p:spTree>
    <p:extLst>
      <p:ext uri="{BB962C8B-B14F-4D97-AF65-F5344CB8AC3E}">
        <p14:creationId xmlns:p14="http://schemas.microsoft.com/office/powerpoint/2010/main" val="346598175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117d3c00c7ab447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Behavior of RC Branches in Parallel</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86016ED5-AF7E-15E3-9959-C2230A99D12A}"/>
              </a:ext>
            </a:extLst>
          </p:cNvPr>
          <p:cNvSpPr txBox="1"/>
          <p:nvPr/>
        </p:nvSpPr>
        <p:spPr>
          <a:xfrm>
            <a:off x="729465" y="2533338"/>
            <a:ext cx="7356297" cy="2123658"/>
          </a:xfrm>
          <a:prstGeom prst="rect">
            <a:avLst/>
          </a:prstGeom>
          <a:noFill/>
        </p:spPr>
        <p:txBody>
          <a:bodyPr wrap="square">
            <a:spAutoFit/>
          </a:bodyPr>
          <a:lstStyle/>
          <a:p>
            <a:pPr algn="just">
              <a:buFont typeface="Arial" panose="020B0604020202020204" pitchFamily="34" charset="0"/>
              <a:buChar char="•"/>
            </a:pPr>
            <a:r>
              <a:rPr lang="en-US" sz="2200" dirty="0"/>
              <a:t>IR (Resistor current) is in phase with the voltage.</a:t>
            </a:r>
          </a:p>
          <a:p>
            <a:pPr algn="just"/>
            <a:endParaRPr lang="en-US" sz="2200" dirty="0"/>
          </a:p>
          <a:p>
            <a:pPr algn="just">
              <a:buFont typeface="Arial" panose="020B0604020202020204" pitchFamily="34" charset="0"/>
              <a:buChar char="•"/>
            </a:pPr>
            <a:r>
              <a:rPr lang="en-US" sz="2200" dirty="0"/>
              <a:t>IC (Capacitor current) leads the voltage by 90°.</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The resultant current leads the voltage by an angle φ depending on relative magnitudes of IR and IC.</a:t>
            </a:r>
          </a:p>
        </p:txBody>
      </p:sp>
    </p:spTree>
    <p:extLst>
      <p:ext uri="{BB962C8B-B14F-4D97-AF65-F5344CB8AC3E}">
        <p14:creationId xmlns:p14="http://schemas.microsoft.com/office/powerpoint/2010/main" val="107109131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d5a76da189c34d1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Current Distribution and Impedance</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13C9D4FF-C40A-5C7B-6188-29CAA3A81B93}"/>
              </a:ext>
            </a:extLst>
          </p:cNvPr>
          <p:cNvSpPr txBox="1"/>
          <p:nvPr/>
        </p:nvSpPr>
        <p:spPr>
          <a:xfrm>
            <a:off x="729465" y="1844211"/>
            <a:ext cx="7356297" cy="4708981"/>
          </a:xfrm>
          <a:prstGeom prst="rect">
            <a:avLst/>
          </a:prstGeom>
          <a:noFill/>
        </p:spPr>
        <p:txBody>
          <a:bodyPr wrap="square">
            <a:spAutoFit/>
          </a:bodyPr>
          <a:lstStyle/>
          <a:p>
            <a:pPr>
              <a:buFont typeface="Arial" panose="020B0604020202020204" pitchFamily="34" charset="0"/>
              <a:buChar char="•"/>
            </a:pPr>
            <a:r>
              <a:rPr lang="en-IN" sz="2200" dirty="0"/>
              <a:t>Branch currents:</a:t>
            </a:r>
          </a:p>
          <a:p>
            <a:pPr algn="ctr"/>
            <a:r>
              <a:rPr lang="en-IN" sz="2400" i="1" dirty="0"/>
              <a:t>IR = V / R</a:t>
            </a:r>
          </a:p>
          <a:p>
            <a:pPr algn="ctr"/>
            <a:r>
              <a:rPr lang="en-IN" sz="2400" i="1" dirty="0"/>
              <a:t>IC = V / XC, where XC = 1 / (2</a:t>
            </a:r>
            <a:r>
              <a:rPr lang="el-GR" sz="2400" i="1" dirty="0"/>
              <a:t>π</a:t>
            </a:r>
            <a:r>
              <a:rPr lang="en-IN" sz="2400" i="1" dirty="0" err="1"/>
              <a:t>fC</a:t>
            </a:r>
            <a:r>
              <a:rPr lang="en-IN" sz="2400" i="1" dirty="0"/>
              <a:t>)</a:t>
            </a:r>
          </a:p>
          <a:p>
            <a:pPr algn="ctr"/>
            <a:endParaRPr lang="en-IN" sz="2400" i="1" dirty="0"/>
          </a:p>
          <a:p>
            <a:pPr>
              <a:buFont typeface="Arial" panose="020B0604020202020204" pitchFamily="34" charset="0"/>
              <a:buChar char="•"/>
            </a:pPr>
            <a:r>
              <a:rPr lang="en-IN" sz="2200" dirty="0"/>
              <a:t>Total current (IT) is the phasor sum:</a:t>
            </a:r>
          </a:p>
          <a:p>
            <a:pPr algn="ctr"/>
            <a:r>
              <a:rPr lang="en-IN" sz="2400" i="1" dirty="0"/>
              <a:t>IT = √(IR² + IC²)</a:t>
            </a:r>
          </a:p>
          <a:p>
            <a:pPr algn="ctr"/>
            <a:endParaRPr lang="en-IN" sz="2400" i="1" dirty="0"/>
          </a:p>
          <a:p>
            <a:pPr>
              <a:buNone/>
            </a:pPr>
            <a:r>
              <a:rPr lang="en-IN" sz="2200" dirty="0"/>
              <a:t>Admittance (Y):</a:t>
            </a:r>
          </a:p>
          <a:p>
            <a:pPr>
              <a:buNone/>
            </a:pPr>
            <a:r>
              <a:rPr lang="en-IN" sz="2400" i="1" dirty="0"/>
              <a:t>Y = √(G² + BC²)</a:t>
            </a:r>
            <a:br>
              <a:rPr lang="en-IN" sz="2400" i="1" dirty="0"/>
            </a:br>
            <a:endParaRPr lang="en-IN" sz="2400" i="1" dirty="0"/>
          </a:p>
          <a:p>
            <a:pPr>
              <a:buNone/>
            </a:pPr>
            <a:r>
              <a:rPr lang="en-IN" sz="2200" dirty="0"/>
              <a:t>where:</a:t>
            </a:r>
            <a:br>
              <a:rPr lang="en-IN" sz="2200" dirty="0"/>
            </a:br>
            <a:r>
              <a:rPr lang="en-IN" sz="2200" dirty="0"/>
              <a:t>G = 1 / R (conductance),</a:t>
            </a:r>
            <a:br>
              <a:rPr lang="en-IN" sz="2200" dirty="0"/>
            </a:br>
            <a:r>
              <a:rPr lang="en-IN" sz="2200" dirty="0"/>
              <a:t>BC = 2</a:t>
            </a:r>
            <a:r>
              <a:rPr lang="el-GR" sz="2200" dirty="0"/>
              <a:t>π</a:t>
            </a:r>
            <a:r>
              <a:rPr lang="en-IN" sz="2200" dirty="0" err="1"/>
              <a:t>fC</a:t>
            </a:r>
            <a:r>
              <a:rPr lang="en-IN" sz="2200" dirty="0"/>
              <a:t> (capacitive susceptance)</a:t>
            </a:r>
          </a:p>
        </p:txBody>
      </p:sp>
    </p:spTree>
    <p:extLst>
      <p:ext uri="{BB962C8B-B14F-4D97-AF65-F5344CB8AC3E}">
        <p14:creationId xmlns:p14="http://schemas.microsoft.com/office/powerpoint/2010/main" val="38601299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dd229d96a96f4a7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5391170" y="5283227"/>
            <a:ext cx="3023365" cy="276999"/>
          </a:xfrm>
          <a:prstGeom prst="rect">
            <a:avLst/>
          </a:prstGeom>
          <a:noFill/>
        </p:spPr>
        <p:txBody>
          <a:bodyPr wrap="square" rtlCol="0">
            <a:spAutoFit/>
          </a:bodyPr>
          <a:lstStyle/>
          <a:p>
            <a:pPr algn="ctr"/>
            <a:r>
              <a:rPr lang="en-US" sz="1200" dirty="0"/>
              <a:t>Figure 2.2 Phasor Diagram</a:t>
            </a:r>
            <a:endParaRPr lang="en-IN" sz="1200" dirty="0"/>
          </a:p>
        </p:txBody>
      </p:sp>
      <p:pic>
        <p:nvPicPr>
          <p:cNvPr id="6" name="Picture 5">
            <a:extLst>
              <a:ext uri="{FF2B5EF4-FFF2-40B4-BE49-F238E27FC236}">
                <a16:creationId xmlns:a16="http://schemas.microsoft.com/office/drawing/2014/main" id="{B0FCE776-EAF8-7596-DCF1-095F658E82CA}"/>
              </a:ext>
            </a:extLst>
          </p:cNvPr>
          <p:cNvPicPr>
            <a:picLocks noChangeAspect="1"/>
          </p:cNvPicPr>
          <p:nvPr/>
        </p:nvPicPr>
        <p:blipFill>
          <a:blip r:embed="R2aa6e7e091a1413d"/>
          <a:stretch>
            <a:fillRect/>
          </a:stretch>
        </p:blipFill>
        <p:spPr>
          <a:xfrm>
            <a:off x="5787685" y="2021908"/>
            <a:ext cx="2230333" cy="3283926"/>
          </a:xfrm>
          <a:prstGeom prst="rect">
            <a:avLst/>
          </a:prstGeom>
        </p:spPr>
      </p:pic>
      <p:sp>
        <p:nvSpPr>
          <p:cNvPr id="8" name="Rectangle 1">
            <a:extLst>
              <a:ext uri="{FF2B5EF4-FFF2-40B4-BE49-F238E27FC236}">
                <a16:creationId xmlns:a16="http://schemas.microsoft.com/office/drawing/2014/main" id="{40D33E62-EA60-B1FF-C6FA-049BD63232C5}"/>
              </a:ext>
            </a:extLst>
          </p:cNvPr>
          <p:cNvSpPr>
            <a:spLocks noChangeArrowheads="1"/>
          </p:cNvSpPr>
          <p:nvPr/>
        </p:nvSpPr>
        <p:spPr bwMode="auto">
          <a:xfrm>
            <a:off x="802497" y="2420905"/>
            <a:ext cx="428165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is the reference phasor (horizontal).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IR is in phase with V (horizontal).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IC leads V by 90° (vertical upward).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IT is the phasor resultant of IR and IC.</a:t>
            </a:r>
          </a:p>
        </p:txBody>
      </p:sp>
    </p:spTree>
    <p:extLst>
      <p:ext uri="{BB962C8B-B14F-4D97-AF65-F5344CB8AC3E}">
        <p14:creationId xmlns:p14="http://schemas.microsoft.com/office/powerpoint/2010/main" val="222391447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32f33980b88748e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Waveforms of Voltage and Current</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F86ABFE0-93DC-C391-70AC-BAED5CDB0B04}"/>
              </a:ext>
            </a:extLst>
          </p:cNvPr>
          <p:cNvSpPr txBox="1"/>
          <p:nvPr/>
        </p:nvSpPr>
        <p:spPr>
          <a:xfrm>
            <a:off x="5429267" y="5379727"/>
            <a:ext cx="3023365" cy="276999"/>
          </a:xfrm>
          <a:prstGeom prst="rect">
            <a:avLst/>
          </a:prstGeom>
          <a:noFill/>
        </p:spPr>
        <p:txBody>
          <a:bodyPr wrap="square" rtlCol="0">
            <a:spAutoFit/>
          </a:bodyPr>
          <a:lstStyle/>
          <a:p>
            <a:pPr algn="ctr"/>
            <a:r>
              <a:rPr lang="en-US" sz="1200" dirty="0"/>
              <a:t>Figure 2.2 Waveform Diagram</a:t>
            </a:r>
            <a:endParaRPr lang="en-IN" sz="1200" dirty="0"/>
          </a:p>
        </p:txBody>
      </p:sp>
      <p:sp>
        <p:nvSpPr>
          <p:cNvPr id="3" name="Rectangle 1">
            <a:extLst>
              <a:ext uri="{FF2B5EF4-FFF2-40B4-BE49-F238E27FC236}">
                <a16:creationId xmlns:a16="http://schemas.microsoft.com/office/drawing/2014/main" id="{DF4E3A4D-FC71-B7FC-3324-643633FDCB5A}"/>
              </a:ext>
            </a:extLst>
          </p:cNvPr>
          <p:cNvSpPr>
            <a:spLocks noChangeArrowheads="1"/>
          </p:cNvSpPr>
          <p:nvPr/>
        </p:nvSpPr>
        <p:spPr bwMode="auto">
          <a:xfrm>
            <a:off x="729465" y="2490657"/>
            <a:ext cx="384253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across both branches remains sinusoidal and common.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IR is in phase with voltage.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IC leads voltage by 90°.</a:t>
            </a:r>
          </a:p>
        </p:txBody>
      </p:sp>
      <p:pic>
        <p:nvPicPr>
          <p:cNvPr id="5" name="Picture 4">
            <a:extLst>
              <a:ext uri="{FF2B5EF4-FFF2-40B4-BE49-F238E27FC236}">
                <a16:creationId xmlns:a16="http://schemas.microsoft.com/office/drawing/2014/main" id="{567642CA-4ECC-A76F-6345-26A0B4E79906}"/>
              </a:ext>
            </a:extLst>
          </p:cNvPr>
          <p:cNvPicPr>
            <a:picLocks noChangeAspect="1"/>
          </p:cNvPicPr>
          <p:nvPr/>
        </p:nvPicPr>
        <p:blipFill>
          <a:blip r:embed="Rb618f64d20814fd9"/>
          <a:stretch>
            <a:fillRect/>
          </a:stretch>
        </p:blipFill>
        <p:spPr>
          <a:xfrm>
            <a:off x="4806791" y="2145515"/>
            <a:ext cx="3842534" cy="3188485"/>
          </a:xfrm>
          <a:prstGeom prst="rect">
            <a:avLst/>
          </a:prstGeom>
        </p:spPr>
      </p:pic>
    </p:spTree>
    <p:extLst>
      <p:ext uri="{BB962C8B-B14F-4D97-AF65-F5344CB8AC3E}">
        <p14:creationId xmlns:p14="http://schemas.microsoft.com/office/powerpoint/2010/main" val="2067092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94d5e1d6f7fa460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in RL Parallel Circuit</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2AD5F0B1-80E4-8490-3939-939C0A737C7E}"/>
              </a:ext>
            </a:extLst>
          </p:cNvPr>
          <p:cNvSpPr>
            <a:spLocks noChangeArrowheads="1"/>
          </p:cNvSpPr>
          <p:nvPr/>
        </p:nvSpPr>
        <p:spPr bwMode="auto">
          <a:xfrm>
            <a:off x="729465" y="1912231"/>
            <a:ext cx="7356297"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Instantaneous Power:</a:t>
            </a:r>
            <a:r>
              <a:rPr kumimoji="0" lang="en-US" altLang="en-US" sz="2200" b="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b="0" i="1" u="none" strike="noStrike" cap="none" normalizeH="0" baseline="0" dirty="0">
                <a:ln>
                  <a:noFill/>
                </a:ln>
                <a:solidFill>
                  <a:schemeClr val="tx1"/>
                </a:solidFill>
                <a:effectLst/>
              </a:rPr>
              <a:t>p(t) = v(t) × </a:t>
            </a:r>
            <a:r>
              <a:rPr kumimoji="0" lang="en-US" altLang="en-US" sz="2400" b="0" i="1" u="none" strike="noStrike" cap="none" normalizeH="0" baseline="0" dirty="0" err="1">
                <a:ln>
                  <a:noFill/>
                </a:ln>
                <a:solidFill>
                  <a:schemeClr val="tx1"/>
                </a:solidFill>
                <a:effectLst/>
              </a:rPr>
              <a:t>i</a:t>
            </a:r>
            <a:r>
              <a:rPr kumimoji="0" lang="en-US" altLang="en-US" sz="2400" b="0" i="1" u="none" strike="noStrike" cap="none" normalizeH="0" baseline="0" dirty="0">
                <a:ln>
                  <a:noFill/>
                </a:ln>
                <a:solidFill>
                  <a:schemeClr val="tx1"/>
                </a:solidFill>
                <a:effectLst/>
              </a:rPr>
              <a:t>(t)</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b="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Real Power (P)</a:t>
            </a:r>
            <a:r>
              <a:rPr kumimoji="0" lang="en-US" altLang="en-US" sz="2200" b="0" i="0" u="none" strike="noStrike" cap="none" normalizeH="0" baseline="0" dirty="0">
                <a:ln>
                  <a:noFill/>
                </a:ln>
                <a:solidFill>
                  <a:schemeClr val="tx1"/>
                </a:solidFill>
                <a:effectLst/>
              </a:rPr>
              <a:t> is consumed only in resistive branch:</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P = V × IR = V² / R</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Reactive Power (Q)</a:t>
            </a:r>
            <a:r>
              <a:rPr kumimoji="0" lang="en-US" altLang="en-US" sz="2200" b="0" i="0" u="none" strike="noStrike" cap="none" normalizeH="0" baseline="0" dirty="0">
                <a:ln>
                  <a:noFill/>
                </a:ln>
                <a:solidFill>
                  <a:schemeClr val="tx1"/>
                </a:solidFill>
                <a:effectLst/>
              </a:rPr>
              <a:t> is associated with the inductor:</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Q = V × IC = V² / XC</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Apparent Power (S):</a:t>
            </a:r>
            <a:endParaRPr lang="en-US" altLang="en-US" sz="2200" dirty="0"/>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S = V × IT</a:t>
            </a:r>
          </a:p>
        </p:txBody>
      </p:sp>
    </p:spTree>
    <p:extLst>
      <p:ext uri="{BB962C8B-B14F-4D97-AF65-F5344CB8AC3E}">
        <p14:creationId xmlns:p14="http://schemas.microsoft.com/office/powerpoint/2010/main" val="35620777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7acc2bfda428486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Factor and Phase Angle</a:t>
            </a:r>
            <a:endParaRPr lang="en-IN" altLang="en-US" b="1" dirty="0">
              <a:solidFill>
                <a:schemeClr val="bg1"/>
              </a:solidFill>
              <a:latin typeface="+mn-lt"/>
              <a:cs typeface="Calibri" panose="020F0502020204030204" pitchFamily="34" charset="0"/>
            </a:endParaRPr>
          </a:p>
        </p:txBody>
      </p:sp>
      <p:sp>
        <p:nvSpPr>
          <p:cNvPr id="5" name="Rectangle 1">
            <a:extLst>
              <a:ext uri="{FF2B5EF4-FFF2-40B4-BE49-F238E27FC236}">
                <a16:creationId xmlns:a16="http://schemas.microsoft.com/office/drawing/2014/main" id="{CB67D80F-260D-EA5C-A847-30B02D485980}"/>
              </a:ext>
            </a:extLst>
          </p:cNvPr>
          <p:cNvSpPr>
            <a:spLocks noChangeArrowheads="1"/>
          </p:cNvSpPr>
          <p:nvPr/>
        </p:nvSpPr>
        <p:spPr bwMode="auto">
          <a:xfrm>
            <a:off x="729464" y="2213023"/>
            <a:ext cx="7356297"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Factor (PF) = cos(φ)</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φ is the phase angle between total current and voltage.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PF is leading due to capacitive current.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High capacitance or frequency → higher IC → greater lead → lower PF</a:t>
            </a:r>
          </a:p>
        </p:txBody>
      </p:sp>
    </p:spTree>
    <p:extLst>
      <p:ext uri="{BB962C8B-B14F-4D97-AF65-F5344CB8AC3E}">
        <p14:creationId xmlns:p14="http://schemas.microsoft.com/office/powerpoint/2010/main" val="246833118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754E-272D-31E1-ADF4-F977E64683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596AD3-4DF9-9CF0-C436-A70E22EB43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6DD0F52-C27F-3F91-093F-A31921DDDA4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EA1B085-9D42-ADCF-B27E-E9F6284A9C43}"/>
              </a:ext>
            </a:extLst>
          </p:cNvPr>
          <p:cNvSpPr>
            <a:spLocks noChangeArrowheads="1"/>
          </p:cNvSpPr>
          <p:nvPr>
            <p:custDataLst>
              <p:tags r:id="Rc1050350ca3b424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6" name="TextBox 5">
            <a:extLst>
              <a:ext uri="{FF2B5EF4-FFF2-40B4-BE49-F238E27FC236}">
                <a16:creationId xmlns:a16="http://schemas.microsoft.com/office/drawing/2014/main" id="{6B80C150-9108-C7F9-4EE8-0F713DE1F652}"/>
              </a:ext>
            </a:extLst>
          </p:cNvPr>
          <p:cNvSpPr txBox="1"/>
          <p:nvPr/>
        </p:nvSpPr>
        <p:spPr>
          <a:xfrm>
            <a:off x="729464" y="2021908"/>
            <a:ext cx="7356297" cy="3594702"/>
          </a:xfrm>
          <a:prstGeom prst="rect">
            <a:avLst/>
          </a:prstGeom>
          <a:noFill/>
        </p:spPr>
        <p:txBody>
          <a:bodyPr wrap="square">
            <a:spAutoFit/>
          </a:bodyPr>
          <a:lstStyle/>
          <a:p>
            <a:pPr>
              <a:lnSpc>
                <a:spcPct val="150000"/>
              </a:lnSpc>
              <a:buFont typeface="Arial" panose="020B0604020202020204" pitchFamily="34" charset="0"/>
              <a:buChar char="•"/>
            </a:pPr>
            <a:r>
              <a:rPr lang="en-US" sz="2200" dirty="0"/>
              <a:t>RC parallel circuit consists of R and C in parallel across an AC source.</a:t>
            </a:r>
          </a:p>
          <a:p>
            <a:pPr>
              <a:lnSpc>
                <a:spcPct val="150000"/>
              </a:lnSpc>
              <a:buFont typeface="Arial" panose="020B0604020202020204" pitchFamily="34" charset="0"/>
              <a:buChar char="•"/>
            </a:pPr>
            <a:r>
              <a:rPr lang="en-US" sz="2200" dirty="0"/>
              <a:t>Voltage remains common, but currents differ in phase.</a:t>
            </a:r>
          </a:p>
          <a:p>
            <a:pPr>
              <a:lnSpc>
                <a:spcPct val="150000"/>
              </a:lnSpc>
              <a:buFont typeface="Arial" panose="020B0604020202020204" pitchFamily="34" charset="0"/>
              <a:buChar char="•"/>
            </a:pPr>
            <a:r>
              <a:rPr lang="en-US" sz="2200" dirty="0"/>
              <a:t>IR is in phase; IC leads by 90°.</a:t>
            </a:r>
          </a:p>
          <a:p>
            <a:pPr>
              <a:lnSpc>
                <a:spcPct val="150000"/>
              </a:lnSpc>
              <a:buFont typeface="Arial" panose="020B0604020202020204" pitchFamily="34" charset="0"/>
              <a:buChar char="•"/>
            </a:pPr>
            <a:r>
              <a:rPr lang="en-US" sz="2200" dirty="0"/>
              <a:t>Total current leads voltage → leading power factor.</a:t>
            </a:r>
          </a:p>
          <a:p>
            <a:pPr>
              <a:lnSpc>
                <a:spcPct val="150000"/>
              </a:lnSpc>
              <a:buFont typeface="Arial" panose="020B0604020202020204" pitchFamily="34" charset="0"/>
              <a:buChar char="•"/>
            </a:pPr>
            <a:r>
              <a:rPr lang="en-US" sz="2200" dirty="0"/>
              <a:t>Power is dissipated only in resistor, not in capacitor.</a:t>
            </a:r>
          </a:p>
          <a:p>
            <a:pPr>
              <a:lnSpc>
                <a:spcPct val="150000"/>
              </a:lnSpc>
              <a:buFont typeface="Arial" panose="020B0604020202020204" pitchFamily="34" charset="0"/>
              <a:buChar char="•"/>
            </a:pPr>
            <a:r>
              <a:rPr lang="en-US" sz="2200" dirty="0"/>
              <a:t>Widely used in filtering, signal shaping, and tuning.</a:t>
            </a:r>
          </a:p>
        </p:txBody>
      </p:sp>
    </p:spTree>
    <p:extLst>
      <p:ext uri="{BB962C8B-B14F-4D97-AF65-F5344CB8AC3E}">
        <p14:creationId xmlns:p14="http://schemas.microsoft.com/office/powerpoint/2010/main" val="16184287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Analysis with phasor diagram of RLC</a:t>
            </a:r>
          </a:p>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Parallel Load</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8003CE17-22E6-DD78-4335-3B6970441241}"/>
              </a:ext>
            </a:extLst>
          </p:cNvPr>
          <p:cNvSpPr>
            <a:spLocks noChangeArrowheads="1"/>
          </p:cNvSpPr>
          <p:nvPr/>
        </p:nvSpPr>
        <p:spPr bwMode="auto">
          <a:xfrm>
            <a:off x="284646" y="2409625"/>
            <a:ext cx="646972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Introduction to RLC Parallel Circuit </a:t>
            </a:r>
            <a:r>
              <a:rPr lang="en-US" altLang="en-US" sz="2200" dirty="0"/>
              <a:t>…………………...</a:t>
            </a:r>
            <a:r>
              <a:rPr kumimoji="0" lang="en-US" altLang="en-US" sz="2200" b="0" i="0" u="none" strike="noStrike" cap="none" normalizeH="0" baseline="0" dirty="0">
                <a:ln>
                  <a:noFill/>
                </a:ln>
                <a:solidFill>
                  <a:schemeClr val="tx1"/>
                </a:solidFill>
                <a:effectLst/>
              </a:rPr>
              <a:t> 3</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Nature of Components and Current Flow …………. 4</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Branch Currents and Admittance ……………………… 5</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Phasor Representation …………………………………….. 6</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Resonance in RLC Parallel Circuit ……………………… 7</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Voltage and Current Waveforms ………………………. 8</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Power and Power Factor ………………………………….. 9</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Key Points / Summary …………………………………….. 10</a:t>
            </a:r>
          </a:p>
        </p:txBody>
      </p:sp>
    </p:spTree>
    <p:extLst>
      <p:ext uri="{BB962C8B-B14F-4D97-AF65-F5344CB8AC3E}">
        <p14:creationId xmlns:p14="http://schemas.microsoft.com/office/powerpoint/2010/main" val="22788355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d4885870ca21486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RLC Parallel Circuit</a:t>
            </a:r>
            <a:endParaRPr lang="en-IN" altLang="en-US" sz="3000" dirty="0">
              <a:solidFill>
                <a:schemeClr val="bg1"/>
              </a:solidFill>
              <a:latin typeface="+mn-lt"/>
              <a:cs typeface="Times New Roman" panose="02020603050405020304" pitchFamily="18" charset="0"/>
            </a:endParaRPr>
          </a:p>
        </p:txBody>
      </p:sp>
      <p:sp>
        <p:nvSpPr>
          <p:cNvPr id="7" name="TextBox 6">
            <a:extLst>
              <a:ext uri="{FF2B5EF4-FFF2-40B4-BE49-F238E27FC236}">
                <a16:creationId xmlns:a16="http://schemas.microsoft.com/office/drawing/2014/main" id="{D8F69EC9-2011-A164-A0CB-646E7681C686}"/>
              </a:ext>
            </a:extLst>
          </p:cNvPr>
          <p:cNvSpPr txBox="1"/>
          <p:nvPr/>
        </p:nvSpPr>
        <p:spPr>
          <a:xfrm>
            <a:off x="5555202" y="5445122"/>
            <a:ext cx="2628333" cy="276999"/>
          </a:xfrm>
          <a:prstGeom prst="rect">
            <a:avLst/>
          </a:prstGeom>
          <a:noFill/>
        </p:spPr>
        <p:txBody>
          <a:bodyPr wrap="square" rtlCol="0">
            <a:spAutoFit/>
          </a:bodyPr>
          <a:lstStyle/>
          <a:p>
            <a:pPr algn="ctr"/>
            <a:r>
              <a:rPr lang="en-IN" sz="1200" dirty="0"/>
              <a:t>Figure 2.1 RLC parallel Circuit</a:t>
            </a:r>
          </a:p>
        </p:txBody>
      </p:sp>
      <p:pic>
        <p:nvPicPr>
          <p:cNvPr id="6" name="Picture 5">
            <a:extLst>
              <a:ext uri="{FF2B5EF4-FFF2-40B4-BE49-F238E27FC236}">
                <a16:creationId xmlns:a16="http://schemas.microsoft.com/office/drawing/2014/main" id="{6B862979-3251-0BA2-D1D6-590785A9435F}"/>
              </a:ext>
            </a:extLst>
          </p:cNvPr>
          <p:cNvPicPr>
            <a:picLocks noChangeAspect="1"/>
          </p:cNvPicPr>
          <p:nvPr/>
        </p:nvPicPr>
        <p:blipFill>
          <a:blip r:embed="R5b35daf03dfc4669"/>
          <a:stretch>
            <a:fillRect/>
          </a:stretch>
        </p:blipFill>
        <p:spPr>
          <a:xfrm>
            <a:off x="4888168" y="2546815"/>
            <a:ext cx="3962400" cy="2466975"/>
          </a:xfrm>
          <a:prstGeom prst="rect">
            <a:avLst/>
          </a:prstGeom>
        </p:spPr>
      </p:pic>
      <p:sp>
        <p:nvSpPr>
          <p:cNvPr id="8" name="Rectangle 1">
            <a:extLst>
              <a:ext uri="{FF2B5EF4-FFF2-40B4-BE49-F238E27FC236}">
                <a16:creationId xmlns:a16="http://schemas.microsoft.com/office/drawing/2014/main" id="{10006B89-E301-B9F2-81B0-24540608E232}"/>
              </a:ext>
            </a:extLst>
          </p:cNvPr>
          <p:cNvSpPr>
            <a:spLocks noChangeArrowheads="1"/>
          </p:cNvSpPr>
          <p:nvPr/>
        </p:nvSpPr>
        <p:spPr bwMode="auto">
          <a:xfrm>
            <a:off x="729465" y="2311750"/>
            <a:ext cx="415870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An RLC parallel circuit has a resistor (R), inductor (L), and capacitor (C) connected in parallel across an AC voltage source.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All components share the same voltage.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 total current is the phasor sum of IR, IL, and IC.</a:t>
            </a:r>
          </a:p>
        </p:txBody>
      </p:sp>
    </p:spTree>
    <p:extLst>
      <p:ext uri="{BB962C8B-B14F-4D97-AF65-F5344CB8AC3E}">
        <p14:creationId xmlns:p14="http://schemas.microsoft.com/office/powerpoint/2010/main" val="34659817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6c551995dfe54e1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Nature of Components and Current Flow</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D6247B49-F306-9CD2-959F-8B947BAE0750}"/>
              </a:ext>
            </a:extLst>
          </p:cNvPr>
          <p:cNvSpPr>
            <a:spLocks noChangeArrowheads="1"/>
          </p:cNvSpPr>
          <p:nvPr/>
        </p:nvSpPr>
        <p:spPr bwMode="auto">
          <a:xfrm>
            <a:off x="729465" y="2638647"/>
            <a:ext cx="7356297" cy="2579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IR is in phase with voltage.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IL lags voltage by 90°.</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IC leads voltage by 90°.</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Net reactive current: IX = IC - IL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Total current IT = IR + IX (phasor sum)</a:t>
            </a:r>
          </a:p>
        </p:txBody>
      </p:sp>
    </p:spTree>
    <p:extLst>
      <p:ext uri="{BB962C8B-B14F-4D97-AF65-F5344CB8AC3E}">
        <p14:creationId xmlns:p14="http://schemas.microsoft.com/office/powerpoint/2010/main" val="107109131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C2E4-8073-7B32-E508-9DE015495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21C170-CCEE-07D8-21E3-BBFD267B379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13808E-C84C-0D9A-0A5E-8C19204669A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84B227-15CF-9AB1-BF1B-DA02C901848A}"/>
              </a:ext>
            </a:extLst>
          </p:cNvPr>
          <p:cNvSpPr>
            <a:spLocks noChangeArrowheads="1"/>
          </p:cNvSpPr>
          <p:nvPr>
            <p:custDataLst>
              <p:tags r:id="R72638a530075442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Branch Currents and Admittance</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CA7A4E0E-F1B6-85B8-E0F4-37D42BFE2D97}"/>
              </a:ext>
            </a:extLst>
          </p:cNvPr>
          <p:cNvSpPr txBox="1"/>
          <p:nvPr/>
        </p:nvSpPr>
        <p:spPr>
          <a:xfrm>
            <a:off x="729465" y="2021907"/>
            <a:ext cx="7356297" cy="3970318"/>
          </a:xfrm>
          <a:prstGeom prst="rect">
            <a:avLst/>
          </a:prstGeom>
          <a:noFill/>
        </p:spPr>
        <p:txBody>
          <a:bodyPr wrap="square">
            <a:spAutoFit/>
          </a:bodyPr>
          <a:lstStyle/>
          <a:p>
            <a:pPr>
              <a:buFont typeface="Arial" panose="020B0604020202020204" pitchFamily="34" charset="0"/>
              <a:buChar char="•"/>
            </a:pPr>
            <a:r>
              <a:rPr lang="en-IN" sz="2200" dirty="0"/>
              <a:t>Individual branch currents:</a:t>
            </a:r>
          </a:p>
          <a:p>
            <a:pPr algn="ctr"/>
            <a:r>
              <a:rPr lang="en-IN" sz="2400" i="1" dirty="0"/>
              <a:t>IR = V / R</a:t>
            </a:r>
            <a:br>
              <a:rPr lang="en-IN" sz="2400" i="1" dirty="0"/>
            </a:br>
            <a:r>
              <a:rPr lang="en-IN" sz="2400" i="1" dirty="0"/>
              <a:t>IL = V / XL, where XL = 2</a:t>
            </a:r>
            <a:r>
              <a:rPr lang="el-GR" sz="2400" i="1" dirty="0"/>
              <a:t>π</a:t>
            </a:r>
            <a:r>
              <a:rPr lang="en-IN" sz="2400" i="1" dirty="0" err="1"/>
              <a:t>fL</a:t>
            </a:r>
            <a:br>
              <a:rPr lang="en-IN" sz="2400" i="1" dirty="0"/>
            </a:br>
            <a:r>
              <a:rPr lang="en-IN" sz="2400" i="1" dirty="0"/>
              <a:t>IC = V / XC, where XC = 1 / (2</a:t>
            </a:r>
            <a:r>
              <a:rPr lang="el-GR" sz="2400" i="1" dirty="0"/>
              <a:t>π</a:t>
            </a:r>
            <a:r>
              <a:rPr lang="en-IN" sz="2400" i="1" dirty="0" err="1"/>
              <a:t>fC</a:t>
            </a:r>
            <a:r>
              <a:rPr lang="en-IN" sz="2400" i="1" dirty="0"/>
              <a:t>)</a:t>
            </a:r>
          </a:p>
          <a:p>
            <a:pPr algn="ctr"/>
            <a:endParaRPr lang="en-IN" sz="2400" i="1" dirty="0"/>
          </a:p>
          <a:p>
            <a:pPr>
              <a:buFont typeface="Arial" panose="020B0604020202020204" pitchFamily="34" charset="0"/>
              <a:buChar char="•"/>
            </a:pPr>
            <a:r>
              <a:rPr lang="en-IN" sz="2200" dirty="0"/>
              <a:t>Use Admittance (Y) for calculation:</a:t>
            </a:r>
          </a:p>
          <a:p>
            <a:pPr algn="ctr"/>
            <a:r>
              <a:rPr lang="en-IN" sz="2400" i="1" dirty="0"/>
              <a:t>Y = √(G² + (BC - BL)²)</a:t>
            </a:r>
          </a:p>
          <a:p>
            <a:r>
              <a:rPr lang="en-IN" sz="2200" dirty="0"/>
              <a:t>where:</a:t>
            </a:r>
            <a:br>
              <a:rPr lang="en-IN" sz="2200" dirty="0"/>
            </a:br>
            <a:r>
              <a:rPr lang="en-IN" sz="2200" dirty="0"/>
              <a:t>G = 1 / R</a:t>
            </a:r>
            <a:br>
              <a:rPr lang="en-IN" sz="2200" dirty="0"/>
            </a:br>
            <a:r>
              <a:rPr lang="en-IN" sz="2200" dirty="0"/>
              <a:t>BC = 2</a:t>
            </a:r>
            <a:r>
              <a:rPr lang="el-GR" sz="2200" dirty="0"/>
              <a:t>π</a:t>
            </a:r>
            <a:r>
              <a:rPr lang="en-IN" sz="2200" dirty="0" err="1"/>
              <a:t>fC</a:t>
            </a:r>
            <a:r>
              <a:rPr lang="en-IN" sz="2200" dirty="0"/>
              <a:t>,</a:t>
            </a:r>
            <a:br>
              <a:rPr lang="en-IN" sz="2200" dirty="0"/>
            </a:br>
            <a:r>
              <a:rPr lang="en-IN" sz="2200" dirty="0"/>
              <a:t>BL = 1 / (2</a:t>
            </a:r>
            <a:r>
              <a:rPr lang="el-GR" sz="2200" dirty="0"/>
              <a:t>π</a:t>
            </a:r>
            <a:r>
              <a:rPr lang="en-IN" sz="2200" dirty="0" err="1"/>
              <a:t>fL</a:t>
            </a:r>
            <a:r>
              <a:rPr lang="en-IN" sz="2200" dirty="0"/>
              <a:t>)</a:t>
            </a:r>
          </a:p>
        </p:txBody>
      </p:sp>
    </p:spTree>
    <p:extLst>
      <p:ext uri="{BB962C8B-B14F-4D97-AF65-F5344CB8AC3E}">
        <p14:creationId xmlns:p14="http://schemas.microsoft.com/office/powerpoint/2010/main" val="386012998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40FF-BEFE-4876-FA55-EBD2D8A87E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B15F7F-2A24-1796-9146-86E6E70EB0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539EB3-EF3F-4766-683F-BD264FC9444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71DA4F-7D62-E684-1116-1BBBA8C20EF4}"/>
              </a:ext>
            </a:extLst>
          </p:cNvPr>
          <p:cNvSpPr>
            <a:spLocks noChangeArrowheads="1"/>
          </p:cNvSpPr>
          <p:nvPr>
            <p:custDataLst>
              <p:tags r:id="Ra8939ae5ae5943dc"/>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Phasor Representation</a:t>
            </a:r>
            <a:endParaRPr lang="en-IN" altLang="en-US" b="1" dirty="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CEAC4C04-67E5-46C4-E8BB-B4EA6FA655C6}"/>
              </a:ext>
            </a:extLst>
          </p:cNvPr>
          <p:cNvSpPr txBox="1"/>
          <p:nvPr/>
        </p:nvSpPr>
        <p:spPr>
          <a:xfrm>
            <a:off x="3060317" y="5013788"/>
            <a:ext cx="3023365" cy="276999"/>
          </a:xfrm>
          <a:prstGeom prst="rect">
            <a:avLst/>
          </a:prstGeom>
          <a:noFill/>
        </p:spPr>
        <p:txBody>
          <a:bodyPr wrap="square" rtlCol="0">
            <a:spAutoFit/>
          </a:bodyPr>
          <a:lstStyle/>
          <a:p>
            <a:pPr algn="ctr"/>
            <a:r>
              <a:rPr lang="en-US" sz="1200" dirty="0"/>
              <a:t>Figure 2.2 Phasor Diagram</a:t>
            </a:r>
            <a:endParaRPr lang="en-IN" sz="1200" dirty="0"/>
          </a:p>
        </p:txBody>
      </p:sp>
      <p:pic>
        <p:nvPicPr>
          <p:cNvPr id="3" name="Picture 2">
            <a:extLst>
              <a:ext uri="{FF2B5EF4-FFF2-40B4-BE49-F238E27FC236}">
                <a16:creationId xmlns:a16="http://schemas.microsoft.com/office/drawing/2014/main" id="{DE94AB26-CD1C-3721-2FF3-3186B936A8E7}"/>
              </a:ext>
            </a:extLst>
          </p:cNvPr>
          <p:cNvPicPr>
            <a:picLocks noChangeAspect="1"/>
          </p:cNvPicPr>
          <p:nvPr/>
        </p:nvPicPr>
        <p:blipFill>
          <a:blip r:embed="R1ae37cca613641d6"/>
          <a:stretch>
            <a:fillRect/>
          </a:stretch>
        </p:blipFill>
        <p:spPr>
          <a:xfrm>
            <a:off x="1257152" y="1862137"/>
            <a:ext cx="6300921" cy="3133725"/>
          </a:xfrm>
          <a:prstGeom prst="rect">
            <a:avLst/>
          </a:prstGeom>
        </p:spPr>
      </p:pic>
      <p:sp>
        <p:nvSpPr>
          <p:cNvPr id="5" name="Rectangle 1">
            <a:extLst>
              <a:ext uri="{FF2B5EF4-FFF2-40B4-BE49-F238E27FC236}">
                <a16:creationId xmlns:a16="http://schemas.microsoft.com/office/drawing/2014/main" id="{3D152AF4-F600-3034-2829-B9DE71B2B66D}"/>
              </a:ext>
            </a:extLst>
          </p:cNvPr>
          <p:cNvSpPr>
            <a:spLocks noChangeArrowheads="1"/>
          </p:cNvSpPr>
          <p:nvPr/>
        </p:nvSpPr>
        <p:spPr bwMode="auto">
          <a:xfrm>
            <a:off x="729465" y="5466846"/>
            <a:ext cx="407839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V is taken as reference phasor.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IR is in phase with V (horizontal).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IL lags V by 90° (downward).</a:t>
            </a:r>
          </a:p>
        </p:txBody>
      </p:sp>
      <p:sp>
        <p:nvSpPr>
          <p:cNvPr id="9" name="Rectangle 2">
            <a:extLst>
              <a:ext uri="{FF2B5EF4-FFF2-40B4-BE49-F238E27FC236}">
                <a16:creationId xmlns:a16="http://schemas.microsoft.com/office/drawing/2014/main" id="{028E11D9-695D-DEF1-A137-C285AF2C9913}"/>
              </a:ext>
            </a:extLst>
          </p:cNvPr>
          <p:cNvSpPr>
            <a:spLocks noChangeArrowheads="1"/>
          </p:cNvSpPr>
          <p:nvPr/>
        </p:nvSpPr>
        <p:spPr bwMode="auto">
          <a:xfrm>
            <a:off x="4574541" y="5467160"/>
            <a:ext cx="38830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IC leads V by 90° (upward).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Net reactive current = IC - IL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IT is resultant phasor of IR and IX.</a:t>
            </a:r>
          </a:p>
        </p:txBody>
      </p:sp>
    </p:spTree>
    <p:extLst>
      <p:ext uri="{BB962C8B-B14F-4D97-AF65-F5344CB8AC3E}">
        <p14:creationId xmlns:p14="http://schemas.microsoft.com/office/powerpoint/2010/main" val="222391447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769E-14B9-152D-B902-093B11241C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EB6C7-3FE5-AD9B-C9CD-290785159F5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9980002-5D1E-7AB3-CDE4-1B6DD686896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89EB66A-AD36-5912-ABA6-0572797133C1}"/>
              </a:ext>
            </a:extLst>
          </p:cNvPr>
          <p:cNvSpPr>
            <a:spLocks noChangeArrowheads="1"/>
          </p:cNvSpPr>
          <p:nvPr>
            <p:custDataLst>
              <p:tags r:id="Rdd322c51a6064c0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Resonance in RLC Parallel Circuit</a:t>
            </a:r>
            <a:endParaRPr lang="en-IN" altLang="en-US" b="1" dirty="0">
              <a:solidFill>
                <a:schemeClr val="bg1"/>
              </a:solidFill>
              <a:latin typeface="+mn-lt"/>
              <a:cs typeface="Calibri" panose="020F0502020204030204" pitchFamily="34" charset="0"/>
            </a:endParaRPr>
          </a:p>
        </p:txBody>
      </p:sp>
      <p:sp>
        <p:nvSpPr>
          <p:cNvPr id="6" name="Rectangle 1">
            <a:extLst>
              <a:ext uri="{FF2B5EF4-FFF2-40B4-BE49-F238E27FC236}">
                <a16:creationId xmlns:a16="http://schemas.microsoft.com/office/drawing/2014/main" id="{D8C52074-5770-112C-A04A-D32315F3755A}"/>
              </a:ext>
            </a:extLst>
          </p:cNvPr>
          <p:cNvSpPr>
            <a:spLocks noChangeArrowheads="1"/>
          </p:cNvSpPr>
          <p:nvPr/>
        </p:nvSpPr>
        <p:spPr bwMode="auto">
          <a:xfrm>
            <a:off x="729464" y="2022798"/>
            <a:ext cx="735629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Resonance occurs when inductive reactance = capacitive reactance</a:t>
            </a:r>
            <a:br>
              <a:rPr kumimoji="0" lang="en-US" altLang="en-US" sz="2200" i="0" u="none" strike="noStrike" cap="none" normalizeH="0" baseline="0" dirty="0">
                <a:ln>
                  <a:noFill/>
                </a:ln>
                <a:solidFill>
                  <a:schemeClr val="tx1"/>
                </a:solidFill>
                <a:effectLst/>
              </a:rPr>
            </a:br>
            <a:r>
              <a:rPr kumimoji="0" lang="en-US" altLang="en-US" sz="2200" i="0" u="none" strike="noStrike" cap="none" normalizeH="0" baseline="0" dirty="0">
                <a:ln>
                  <a:noFill/>
                </a:ln>
                <a:solidFill>
                  <a:schemeClr val="tx1"/>
                </a:solidFill>
                <a:effectLst/>
              </a:rPr>
              <a:t>i.e., XL = XC</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At resonance:</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IC = IL → IX = 0, so IT = IR</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factor becomes unity (purely resistive).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Minimum line current at resonance.</a:t>
            </a:r>
          </a:p>
        </p:txBody>
      </p:sp>
    </p:spTree>
    <p:extLst>
      <p:ext uri="{BB962C8B-B14F-4D97-AF65-F5344CB8AC3E}">
        <p14:creationId xmlns:p14="http://schemas.microsoft.com/office/powerpoint/2010/main" val="206709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5A04-35FC-E10A-2F23-DDCC579C40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E54C0B-2E82-8B8E-9C22-C13B195A004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070DDFC-87C1-576E-2BA1-541566EB45A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9A9CA20-1BE9-07AD-7510-9715C0E7726B}"/>
              </a:ext>
            </a:extLst>
          </p:cNvPr>
          <p:cNvSpPr>
            <a:spLocks noChangeArrowheads="1"/>
          </p:cNvSpPr>
          <p:nvPr>
            <p:custDataLst>
              <p:tags r:id="R5ad7a37e02f846f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Voltage and Current Waveforms</a:t>
            </a:r>
            <a:endParaRPr lang="en-IN" altLang="en-US" b="1" dirty="0">
              <a:solidFill>
                <a:schemeClr val="bg1"/>
              </a:solidFill>
              <a:latin typeface="+mn-lt"/>
              <a:cs typeface="Calibri" panose="020F0502020204030204" pitchFamily="34" charset="0"/>
            </a:endParaRPr>
          </a:p>
        </p:txBody>
      </p:sp>
      <p:sp>
        <p:nvSpPr>
          <p:cNvPr id="5" name="Rectangle 1">
            <a:extLst>
              <a:ext uri="{FF2B5EF4-FFF2-40B4-BE49-F238E27FC236}">
                <a16:creationId xmlns:a16="http://schemas.microsoft.com/office/drawing/2014/main" id="{590053ED-ED09-3DFC-4159-8050BCEF211D}"/>
              </a:ext>
            </a:extLst>
          </p:cNvPr>
          <p:cNvSpPr>
            <a:spLocks noChangeArrowheads="1"/>
          </p:cNvSpPr>
          <p:nvPr/>
        </p:nvSpPr>
        <p:spPr bwMode="auto">
          <a:xfrm>
            <a:off x="676634" y="5449703"/>
            <a:ext cx="779072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Voltage remains sinusoidal and same across all elements.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IR follows V(t),</a:t>
            </a:r>
            <a:r>
              <a:rPr lang="en-US" altLang="en-US" sz="2200" dirty="0"/>
              <a:t> </a:t>
            </a:r>
            <a:r>
              <a:rPr kumimoji="0" lang="en-US" altLang="en-US" sz="2200" i="0" u="none" strike="noStrike" cap="none" normalizeH="0" baseline="0" dirty="0">
                <a:ln>
                  <a:noFill/>
                </a:ln>
                <a:solidFill>
                  <a:schemeClr val="tx1"/>
                </a:solidFill>
                <a:effectLst/>
              </a:rPr>
              <a:t>IL lags V(t) by 90°,</a:t>
            </a:r>
            <a:r>
              <a:rPr lang="en-US" altLang="en-US" sz="2200" dirty="0"/>
              <a:t> </a:t>
            </a:r>
            <a:r>
              <a:rPr kumimoji="0" lang="en-US" altLang="en-US" sz="2200" i="0" u="none" strike="noStrike" cap="none" normalizeH="0" baseline="0" dirty="0">
                <a:ln>
                  <a:noFill/>
                </a:ln>
                <a:solidFill>
                  <a:schemeClr val="tx1"/>
                </a:solidFill>
                <a:effectLst/>
              </a:rPr>
              <a:t>IC leads V(t) by 90°.</a:t>
            </a:r>
          </a:p>
        </p:txBody>
      </p:sp>
      <p:pic>
        <p:nvPicPr>
          <p:cNvPr id="6" name="Picture 5" descr="parallel rlc circuit phasor diagram">
            <a:extLst>
              <a:ext uri="{FF2B5EF4-FFF2-40B4-BE49-F238E27FC236}">
                <a16:creationId xmlns:a16="http://schemas.microsoft.com/office/drawing/2014/main" id="{4D9B8E7A-A64B-067D-828A-699B8B42E3EB}"/>
              </a:ext>
            </a:extLst>
          </p:cNvPr>
          <p:cNvPicPr>
            <a:picLocks noChangeAspect="1" noChangeArrowheads="1"/>
          </p:cNvPicPr>
          <p:nvPr/>
        </p:nvPicPr>
        <p:blipFill>
          <a:blip r:embed="Rf9365bfb70b4482e">
            <a:extLst>
              <a:ext uri="{28A0092B-C50C-407E-A947-70E740481C1C}">
                <a14:useLocalDpi xmlns:a14="http://schemas.microsoft.com/office/drawing/2010/main" val="0"/>
              </a:ext>
            </a:extLst>
          </a:blip>
          <a:srcRect/>
          <a:stretch>
            <a:fillRect/>
          </a:stretch>
        </p:blipFill>
        <p:spPr bwMode="auto">
          <a:xfrm>
            <a:off x="1938883" y="1985169"/>
            <a:ext cx="5266232" cy="281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08E8F062-F228-95AE-ED5A-CB8A2EDBC1C2}"/>
              </a:ext>
            </a:extLst>
          </p:cNvPr>
          <p:cNvSpPr txBox="1"/>
          <p:nvPr/>
        </p:nvSpPr>
        <p:spPr>
          <a:xfrm>
            <a:off x="2991042" y="4796853"/>
            <a:ext cx="2833141" cy="276999"/>
          </a:xfrm>
          <a:prstGeom prst="rect">
            <a:avLst/>
          </a:prstGeom>
          <a:noFill/>
        </p:spPr>
        <p:txBody>
          <a:bodyPr wrap="square" rtlCol="0">
            <a:spAutoFit/>
          </a:bodyPr>
          <a:lstStyle/>
          <a:p>
            <a:pPr algn="ctr"/>
            <a:r>
              <a:rPr lang="en-IN" sz="1200" dirty="0"/>
              <a:t>Figure 2.3 Waveform Diagram</a:t>
            </a:r>
          </a:p>
        </p:txBody>
      </p:sp>
    </p:spTree>
    <p:extLst>
      <p:ext uri="{BB962C8B-B14F-4D97-AF65-F5344CB8AC3E}">
        <p14:creationId xmlns:p14="http://schemas.microsoft.com/office/powerpoint/2010/main" val="35620777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91E6-0785-D2AB-39CE-A091A5FA7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EDE996-1268-AA66-A0CD-E7E9F7CA6C5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579FD92-031D-003F-1CCA-3954DB1BBEF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A48B483-A03A-11CF-63DF-0A69B2DF720F}"/>
              </a:ext>
            </a:extLst>
          </p:cNvPr>
          <p:cNvSpPr>
            <a:spLocks noChangeArrowheads="1"/>
          </p:cNvSpPr>
          <p:nvPr>
            <p:custDataLst>
              <p:tags r:id="Ra175cb60354b4fc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Power and Power Factor</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87AA1B4F-7DF3-C16F-4CEA-68DE7D280F8D}"/>
              </a:ext>
            </a:extLst>
          </p:cNvPr>
          <p:cNvSpPr>
            <a:spLocks noChangeArrowheads="1"/>
          </p:cNvSpPr>
          <p:nvPr/>
        </p:nvSpPr>
        <p:spPr bwMode="auto">
          <a:xfrm>
            <a:off x="729465" y="1878595"/>
            <a:ext cx="6000553"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Real Power (P):</a:t>
            </a:r>
            <a:r>
              <a:rPr kumimoji="0" lang="en-US" altLang="en-US" sz="2200" b="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b="0" i="1" u="none" strike="noStrike" cap="none" normalizeH="0" baseline="0" dirty="0">
                <a:ln>
                  <a:noFill/>
                </a:ln>
                <a:solidFill>
                  <a:schemeClr val="tx1"/>
                </a:solidFill>
                <a:effectLst/>
              </a:rPr>
              <a:t>P = V² / 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Reactive Power (Q):</a:t>
            </a:r>
            <a:r>
              <a:rPr kumimoji="0" lang="en-US" altLang="en-US" sz="2200" b="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b="0" i="1" u="none" strike="noStrike" cap="none" normalizeH="0" baseline="0" dirty="0">
                <a:ln>
                  <a:noFill/>
                </a:ln>
                <a:solidFill>
                  <a:schemeClr val="tx1"/>
                </a:solidFill>
                <a:effectLst/>
              </a:rPr>
              <a:t>Q = V² × (1 / XL - 1 / XC)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Apparent Power (S):</a:t>
            </a:r>
            <a:r>
              <a:rPr kumimoji="0" lang="en-US" altLang="en-US" sz="2200" b="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b="0" i="1" u="none" strike="noStrike" cap="none" normalizeH="0" baseline="0" dirty="0">
                <a:ln>
                  <a:noFill/>
                </a:ln>
                <a:solidFill>
                  <a:schemeClr val="tx1"/>
                </a:solidFill>
                <a:effectLst/>
              </a:rPr>
              <a:t>S = V × 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rPr>
              <a:t>Power Factor (PF):</a:t>
            </a:r>
            <a:r>
              <a:rPr kumimoji="0" lang="en-US" altLang="en-US" sz="2200" b="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b="0" i="1" u="none" strike="noStrike" cap="none" normalizeH="0" baseline="0" dirty="0">
                <a:ln>
                  <a:noFill/>
                </a:ln>
                <a:solidFill>
                  <a:schemeClr val="tx1"/>
                </a:solidFill>
                <a:effectLst/>
              </a:rPr>
              <a:t>PF = cos(φ)</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Leading, lagging, or unity based on net reactance.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683311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754E-272D-31E1-ADF4-F977E64683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596AD3-4DF9-9CF0-C436-A70E22EB43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6DD0F52-C27F-3F91-093F-A31921DDDA4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EA1B085-9D42-ADCF-B27E-E9F6284A9C43}"/>
              </a:ext>
            </a:extLst>
          </p:cNvPr>
          <p:cNvSpPr>
            <a:spLocks noChangeArrowheads="1"/>
          </p:cNvSpPr>
          <p:nvPr>
            <p:custDataLst>
              <p:tags r:id="R59401d8878ff493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F869930D-DFF9-8EF3-EFCA-6499D9702120}"/>
              </a:ext>
            </a:extLst>
          </p:cNvPr>
          <p:cNvSpPr txBox="1"/>
          <p:nvPr/>
        </p:nvSpPr>
        <p:spPr>
          <a:xfrm>
            <a:off x="729465" y="1887417"/>
            <a:ext cx="7356297" cy="4610365"/>
          </a:xfrm>
          <a:prstGeom prst="rect">
            <a:avLst/>
          </a:prstGeom>
          <a:noFill/>
        </p:spPr>
        <p:txBody>
          <a:bodyPr wrap="square">
            <a:spAutoFit/>
          </a:bodyPr>
          <a:lstStyle/>
          <a:p>
            <a:pPr algn="just">
              <a:lnSpc>
                <a:spcPct val="150000"/>
              </a:lnSpc>
              <a:buFont typeface="Arial" panose="020B0604020202020204" pitchFamily="34" charset="0"/>
              <a:buChar char="•"/>
            </a:pPr>
            <a:r>
              <a:rPr lang="en-US" sz="2200" dirty="0"/>
              <a:t>RLC parallel circuit has R, L, and C in parallel with AC source.</a:t>
            </a:r>
          </a:p>
          <a:p>
            <a:pPr algn="just">
              <a:lnSpc>
                <a:spcPct val="150000"/>
              </a:lnSpc>
              <a:buFont typeface="Arial" panose="020B0604020202020204" pitchFamily="34" charset="0"/>
              <a:buChar char="•"/>
            </a:pPr>
            <a:r>
              <a:rPr lang="en-US" sz="2200" dirty="0"/>
              <a:t>All components share common voltage, but branch currents differ in phase.</a:t>
            </a:r>
          </a:p>
          <a:p>
            <a:pPr algn="just">
              <a:lnSpc>
                <a:spcPct val="150000"/>
              </a:lnSpc>
              <a:buFont typeface="Arial" panose="020B0604020202020204" pitchFamily="34" charset="0"/>
              <a:buChar char="•"/>
            </a:pPr>
            <a:r>
              <a:rPr lang="en-US" sz="2200" dirty="0"/>
              <a:t>Total current is phasor sum of IR, IL, and IC.</a:t>
            </a:r>
          </a:p>
          <a:p>
            <a:pPr algn="just">
              <a:lnSpc>
                <a:spcPct val="150000"/>
              </a:lnSpc>
              <a:buFont typeface="Arial" panose="020B0604020202020204" pitchFamily="34" charset="0"/>
              <a:buChar char="•"/>
            </a:pPr>
            <a:r>
              <a:rPr lang="en-US" sz="2200" dirty="0"/>
              <a:t>Resonance occurs when XL = XC, and current is minimized.</a:t>
            </a:r>
          </a:p>
          <a:p>
            <a:pPr algn="just">
              <a:lnSpc>
                <a:spcPct val="150000"/>
              </a:lnSpc>
              <a:buFont typeface="Arial" panose="020B0604020202020204" pitchFamily="34" charset="0"/>
              <a:buChar char="•"/>
            </a:pPr>
            <a:r>
              <a:rPr lang="en-US" sz="2200" dirty="0"/>
              <a:t>Power factor depends on whether circuit is capacitive, inductive, or resistive.</a:t>
            </a:r>
          </a:p>
          <a:p>
            <a:pPr algn="just">
              <a:lnSpc>
                <a:spcPct val="150000"/>
              </a:lnSpc>
              <a:buFont typeface="Arial" panose="020B0604020202020204" pitchFamily="34" charset="0"/>
              <a:buChar char="•"/>
            </a:pPr>
            <a:r>
              <a:rPr lang="en-US" sz="2200" dirty="0"/>
              <a:t>Useful in parallel resonance applications, filters, and tuned circuits.</a:t>
            </a:r>
          </a:p>
        </p:txBody>
      </p:sp>
    </p:spTree>
    <p:extLst>
      <p:ext uri="{BB962C8B-B14F-4D97-AF65-F5344CB8AC3E}">
        <p14:creationId xmlns:p14="http://schemas.microsoft.com/office/powerpoint/2010/main" val="161842870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Concept of Impedance, Admittance, Conductance, and Susceptance</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C88D562A-87BD-7979-2587-39D22411604D}"/>
              </a:ext>
            </a:extLst>
          </p:cNvPr>
          <p:cNvSpPr txBox="1"/>
          <p:nvPr/>
        </p:nvSpPr>
        <p:spPr>
          <a:xfrm>
            <a:off x="446066" y="2409625"/>
            <a:ext cx="6074227" cy="2800767"/>
          </a:xfrm>
          <a:prstGeom prst="rect">
            <a:avLst/>
          </a:prstGeom>
          <a:noFill/>
        </p:spPr>
        <p:txBody>
          <a:bodyPr wrap="square">
            <a:spAutoFit/>
          </a:bodyPr>
          <a:lstStyle/>
          <a:p>
            <a:pPr>
              <a:buFont typeface="+mj-lt"/>
              <a:buAutoNum type="arabicPeriod"/>
            </a:pPr>
            <a:r>
              <a:rPr lang="en-US" sz="2200" dirty="0"/>
              <a:t>Introduction ……………………………………………………. 3</a:t>
            </a:r>
          </a:p>
          <a:p>
            <a:pPr>
              <a:buFont typeface="+mj-lt"/>
              <a:buAutoNum type="arabicPeriod"/>
            </a:pPr>
            <a:r>
              <a:rPr lang="en-US" sz="2200" dirty="0"/>
              <a:t>Impedance (Z) …………………………………………………. 4</a:t>
            </a:r>
          </a:p>
          <a:p>
            <a:pPr>
              <a:buFont typeface="+mj-lt"/>
              <a:buAutoNum type="arabicPeriod"/>
            </a:pPr>
            <a:r>
              <a:rPr lang="en-US" sz="2200" dirty="0"/>
              <a:t>Admittance (Y) ………………………………………………… 5</a:t>
            </a:r>
          </a:p>
          <a:p>
            <a:pPr>
              <a:buFont typeface="+mj-lt"/>
              <a:buAutoNum type="arabicPeriod"/>
            </a:pPr>
            <a:r>
              <a:rPr lang="en-US" sz="2200" dirty="0"/>
              <a:t>Conductance (G) ……………………………………………… 6</a:t>
            </a:r>
          </a:p>
          <a:p>
            <a:pPr>
              <a:buFont typeface="+mj-lt"/>
              <a:buAutoNum type="arabicPeriod"/>
            </a:pPr>
            <a:r>
              <a:rPr lang="en-US" sz="2200" dirty="0"/>
              <a:t>Susceptance (B) ………………………………………………. 7</a:t>
            </a:r>
          </a:p>
          <a:p>
            <a:pPr>
              <a:buFont typeface="+mj-lt"/>
              <a:buAutoNum type="arabicPeriod"/>
            </a:pPr>
            <a:r>
              <a:rPr lang="en-US" sz="2200" dirty="0"/>
              <a:t>Mathematical Relationships ……………………………. 8</a:t>
            </a:r>
          </a:p>
          <a:p>
            <a:pPr>
              <a:buFont typeface="+mj-lt"/>
              <a:buAutoNum type="arabicPeriod"/>
            </a:pPr>
            <a:r>
              <a:rPr lang="en-US" sz="2200" dirty="0"/>
              <a:t>Phasor Domain View ………………………………………. 9</a:t>
            </a:r>
          </a:p>
          <a:p>
            <a:pPr>
              <a:buFont typeface="+mj-lt"/>
              <a:buAutoNum type="arabicPeriod"/>
            </a:pPr>
            <a:r>
              <a:rPr lang="en-US" sz="2200" dirty="0"/>
              <a:t>Key Points / Summary …………………………………… 10</a:t>
            </a:r>
          </a:p>
        </p:txBody>
      </p:sp>
    </p:spTree>
    <p:extLst>
      <p:ext uri="{BB962C8B-B14F-4D97-AF65-F5344CB8AC3E}">
        <p14:creationId xmlns:p14="http://schemas.microsoft.com/office/powerpoint/2010/main" val="227883556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56ca5002f8514c2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a:t>
            </a:r>
            <a:endParaRPr lang="en-IN" altLang="en-US" sz="3000" dirty="0">
              <a:solidFill>
                <a:schemeClr val="bg1"/>
              </a:solidFill>
              <a:latin typeface="+mn-lt"/>
              <a:cs typeface="Times New Roman" panose="02020603050405020304" pitchFamily="18" charset="0"/>
            </a:endParaRPr>
          </a:p>
        </p:txBody>
      </p:sp>
      <p:sp>
        <p:nvSpPr>
          <p:cNvPr id="9" name="TextBox 8">
            <a:extLst>
              <a:ext uri="{FF2B5EF4-FFF2-40B4-BE49-F238E27FC236}">
                <a16:creationId xmlns:a16="http://schemas.microsoft.com/office/drawing/2014/main" id="{0CCE8F7A-F83A-D86E-FDF1-4AB628CE1D5E}"/>
              </a:ext>
            </a:extLst>
          </p:cNvPr>
          <p:cNvSpPr txBox="1"/>
          <p:nvPr/>
        </p:nvSpPr>
        <p:spPr>
          <a:xfrm>
            <a:off x="729465" y="2401773"/>
            <a:ext cx="7356297" cy="2800767"/>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These four terms are essential for analyzing AC circuits, especially involving complex quantities.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Impedance (Z) and Admittance (Y) are vector quantities, while Conductance (G) and Susceptance (B) are scalar.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They represent opposition or ease to current flow in AC systems.</a:t>
            </a:r>
          </a:p>
        </p:txBody>
      </p:sp>
    </p:spTree>
    <p:extLst>
      <p:ext uri="{BB962C8B-B14F-4D97-AF65-F5344CB8AC3E}">
        <p14:creationId xmlns:p14="http://schemas.microsoft.com/office/powerpoint/2010/main" val="346598175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D6FAA-121F-3CFB-A730-B8DACE7FA7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9FCFD8-74D1-C2F6-B1BA-CDAEA271694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15721F7-1CE0-85B6-0277-EC152C980F3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753A9B8C-9EB5-4896-DC67-CD513B21D08B}"/>
              </a:ext>
            </a:extLst>
          </p:cNvPr>
          <p:cNvSpPr>
            <a:spLocks noChangeArrowheads="1"/>
          </p:cNvSpPr>
          <p:nvPr>
            <p:custDataLst>
              <p:tags r:id="Rc6b629d673274a9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Impedance (Z)</a:t>
            </a:r>
            <a:endParaRPr lang="en-IN" altLang="en-US" sz="3000"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496FB067-491D-499C-E779-A5BC9C443ADC}"/>
              </a:ext>
            </a:extLst>
          </p:cNvPr>
          <p:cNvSpPr>
            <a:spLocks noChangeArrowheads="1"/>
          </p:cNvSpPr>
          <p:nvPr/>
        </p:nvSpPr>
        <p:spPr bwMode="auto">
          <a:xfrm>
            <a:off x="802619" y="2021908"/>
            <a:ext cx="7209987"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Impedance is the total opposition to current in an AC circuit.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It includes both resistance (R) and reactance (X):</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Z = R + </a:t>
            </a:r>
            <a:r>
              <a:rPr kumimoji="0" lang="en-US" altLang="en-US" sz="2400" i="1" u="none" strike="noStrike" cap="none" normalizeH="0" baseline="0" dirty="0" err="1">
                <a:ln>
                  <a:noFill/>
                </a:ln>
                <a:solidFill>
                  <a:schemeClr val="tx1"/>
                </a:solidFill>
                <a:effectLst/>
              </a:rPr>
              <a:t>jX</a:t>
            </a:r>
            <a:endParaRPr kumimoji="0" lang="en-US" altLang="en-US" sz="2400" i="1"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 Resistive component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X: Reactance (can be inductive or capacitive)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j: Imaginary unit (√–1)</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a:ln>
                  <a:noFill/>
                </a:ln>
                <a:solidFill>
                  <a:schemeClr val="tx1"/>
                </a:solidFill>
                <a:effectLst/>
              </a:rPr>
              <a:t>Magnitude:</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|Z| = √(R² + X²)</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Unit: Ohm (Ω)</a:t>
            </a:r>
          </a:p>
        </p:txBody>
      </p:sp>
    </p:spTree>
    <p:extLst>
      <p:ext uri="{BB962C8B-B14F-4D97-AF65-F5344CB8AC3E}">
        <p14:creationId xmlns:p14="http://schemas.microsoft.com/office/powerpoint/2010/main" val="397225835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1DB8-CF0B-1D65-2232-3A4030DBD5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171D89-2EC3-F2E4-CB0A-089C1C1A512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C766C4F-8DEB-FB9C-69C6-907A3C59625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9744746-9406-8DF7-79EB-668DB1AFF902}"/>
              </a:ext>
            </a:extLst>
          </p:cNvPr>
          <p:cNvSpPr>
            <a:spLocks noChangeArrowheads="1"/>
          </p:cNvSpPr>
          <p:nvPr>
            <p:custDataLst>
              <p:tags r:id="Raedc7b350297411b"/>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Admittance (Y)</a:t>
            </a:r>
            <a:endParaRPr lang="en-IN" altLang="en-US" sz="3000" dirty="0">
              <a:solidFill>
                <a:schemeClr val="bg1"/>
              </a:solidFill>
              <a:latin typeface="+mn-lt"/>
              <a:cs typeface="Times New Roman" panose="02020603050405020304" pitchFamily="18" charset="0"/>
            </a:endParaRPr>
          </a:p>
        </p:txBody>
      </p:sp>
      <p:sp>
        <p:nvSpPr>
          <p:cNvPr id="5" name="Rectangle 1">
            <a:extLst>
              <a:ext uri="{FF2B5EF4-FFF2-40B4-BE49-F238E27FC236}">
                <a16:creationId xmlns:a16="http://schemas.microsoft.com/office/drawing/2014/main" id="{30C179B4-8FAE-7B3F-E5F7-616B03A437EC}"/>
              </a:ext>
            </a:extLst>
          </p:cNvPr>
          <p:cNvSpPr>
            <a:spLocks noChangeArrowheads="1"/>
          </p:cNvSpPr>
          <p:nvPr/>
        </p:nvSpPr>
        <p:spPr bwMode="auto">
          <a:xfrm>
            <a:off x="729464" y="1747124"/>
            <a:ext cx="7356297"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Admittance is the reciprocal of impedance:</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Y = 1 / Z</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It indicates how easily current can flow.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Expressed as:</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Y = G + </a:t>
            </a:r>
            <a:r>
              <a:rPr kumimoji="0" lang="en-US" altLang="en-US" sz="2400" i="1" u="none" strike="noStrike" cap="none" normalizeH="0" baseline="0" dirty="0" err="1">
                <a:ln>
                  <a:noFill/>
                </a:ln>
                <a:solidFill>
                  <a:schemeClr val="tx1"/>
                </a:solidFill>
                <a:effectLst/>
              </a:rPr>
              <a:t>jB</a:t>
            </a:r>
            <a:endParaRPr kumimoji="0" lang="en-US" altLang="en-US" sz="240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G: Conductance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B: Susceptance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a:ln>
                  <a:noFill/>
                </a:ln>
                <a:solidFill>
                  <a:schemeClr val="tx1"/>
                </a:solidFill>
                <a:effectLst/>
              </a:rPr>
              <a:t>Magnitude:</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|Y| = √(G² + B²)</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Unit: Siemens (S)</a:t>
            </a:r>
          </a:p>
        </p:txBody>
      </p:sp>
    </p:spTree>
    <p:extLst>
      <p:ext uri="{BB962C8B-B14F-4D97-AF65-F5344CB8AC3E}">
        <p14:creationId xmlns:p14="http://schemas.microsoft.com/office/powerpoint/2010/main" val="126102866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4A45F-C2E1-A5CF-E070-C87DD44C8D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20DB59-FAB1-0375-E60E-52E606A9D91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F43F9C7-A935-4BA3-5244-B4F963ED149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2CF8B90C-1D8F-8C85-B75C-3B50861CCA53}"/>
              </a:ext>
            </a:extLst>
          </p:cNvPr>
          <p:cNvSpPr>
            <a:spLocks noChangeArrowheads="1"/>
          </p:cNvSpPr>
          <p:nvPr>
            <p:custDataLst>
              <p:tags r:id="R531d00a661a74b42"/>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Conductance (G)</a:t>
            </a:r>
            <a:endParaRPr lang="en-IN" altLang="en-US" sz="3000" dirty="0">
              <a:solidFill>
                <a:schemeClr val="bg1"/>
              </a:solidFill>
              <a:latin typeface="+mn-lt"/>
              <a:cs typeface="Times New Roman" panose="02020603050405020304" pitchFamily="18" charset="0"/>
            </a:endParaRPr>
          </a:p>
        </p:txBody>
      </p:sp>
      <p:sp>
        <p:nvSpPr>
          <p:cNvPr id="6" name="TextBox 5">
            <a:extLst>
              <a:ext uri="{FF2B5EF4-FFF2-40B4-BE49-F238E27FC236}">
                <a16:creationId xmlns:a16="http://schemas.microsoft.com/office/drawing/2014/main" id="{0E4235C3-C095-A853-F4D8-55DC08247EE2}"/>
              </a:ext>
            </a:extLst>
          </p:cNvPr>
          <p:cNvSpPr txBox="1"/>
          <p:nvPr/>
        </p:nvSpPr>
        <p:spPr>
          <a:xfrm>
            <a:off x="729465" y="2308484"/>
            <a:ext cx="7356297" cy="3508653"/>
          </a:xfrm>
          <a:prstGeom prst="rect">
            <a:avLst/>
          </a:prstGeom>
          <a:noFill/>
        </p:spPr>
        <p:txBody>
          <a:bodyPr wrap="square">
            <a:spAutoFit/>
          </a:bodyPr>
          <a:lstStyle/>
          <a:p>
            <a:pPr>
              <a:buFont typeface="Arial" panose="020B0604020202020204" pitchFamily="34" charset="0"/>
              <a:buChar char="•"/>
            </a:pPr>
            <a:r>
              <a:rPr lang="en-US" sz="2200" dirty="0"/>
              <a:t>Conductance is the real part of admittance.</a:t>
            </a:r>
          </a:p>
          <a:p>
            <a:pPr>
              <a:buFont typeface="Arial" panose="020B0604020202020204" pitchFamily="34" charset="0"/>
              <a:buChar char="•"/>
            </a:pPr>
            <a:endParaRPr lang="en-US" sz="2200" dirty="0"/>
          </a:p>
          <a:p>
            <a:pPr>
              <a:buFont typeface="Arial" panose="020B0604020202020204" pitchFamily="34" charset="0"/>
              <a:buChar char="•"/>
            </a:pPr>
            <a:r>
              <a:rPr lang="en-US" sz="2200" dirty="0"/>
              <a:t>Represents the part of current that is in phase with voltage.</a:t>
            </a:r>
          </a:p>
          <a:p>
            <a:pPr>
              <a:buFont typeface="Arial" panose="020B0604020202020204" pitchFamily="34" charset="0"/>
              <a:buChar char="•"/>
            </a:pPr>
            <a:endParaRPr lang="en-US" sz="2200" dirty="0"/>
          </a:p>
          <a:p>
            <a:pPr algn="ctr"/>
            <a:r>
              <a:rPr lang="en-US" sz="2400" i="1" dirty="0"/>
              <a:t>G = R / (R² + X²)</a:t>
            </a:r>
          </a:p>
          <a:p>
            <a:pPr>
              <a:buFont typeface="Arial" panose="020B0604020202020204" pitchFamily="34" charset="0"/>
              <a:buChar char="•"/>
            </a:pPr>
            <a:endParaRPr lang="en-US" sz="2200" dirty="0"/>
          </a:p>
          <a:p>
            <a:pPr>
              <a:buFont typeface="Arial" panose="020B0604020202020204" pitchFamily="34" charset="0"/>
              <a:buChar char="•"/>
            </a:pPr>
            <a:r>
              <a:rPr lang="en-US" sz="2200" dirty="0"/>
              <a:t>Unit: Siemens (S)</a:t>
            </a:r>
          </a:p>
          <a:p>
            <a:pPr>
              <a:buFont typeface="Arial" panose="020B0604020202020204" pitchFamily="34" charset="0"/>
              <a:buChar char="•"/>
            </a:pPr>
            <a:endParaRPr lang="en-US" sz="2200" dirty="0"/>
          </a:p>
          <a:p>
            <a:pPr>
              <a:buFont typeface="Arial" panose="020B0604020202020204" pitchFamily="34" charset="0"/>
              <a:buChar char="•"/>
            </a:pPr>
            <a:r>
              <a:rPr lang="en-US" sz="2200" dirty="0"/>
              <a:t>In a purely resistive circuit:</a:t>
            </a:r>
          </a:p>
          <a:p>
            <a:pPr algn="ctr"/>
            <a:r>
              <a:rPr lang="en-US" sz="2400" i="1" dirty="0"/>
              <a:t>G = 1 / R</a:t>
            </a:r>
          </a:p>
        </p:txBody>
      </p:sp>
    </p:spTree>
    <p:extLst>
      <p:ext uri="{BB962C8B-B14F-4D97-AF65-F5344CB8AC3E}">
        <p14:creationId xmlns:p14="http://schemas.microsoft.com/office/powerpoint/2010/main" val="79374259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19425-802B-D743-E2C7-C3168BE5FF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ACAC26-A910-100E-CF65-7FC380B1535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0D50E77-364B-864A-AFB0-5627D57FD83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2226C45-BF4C-5509-8602-FA5016250203}"/>
              </a:ext>
            </a:extLst>
          </p:cNvPr>
          <p:cNvSpPr>
            <a:spLocks noChangeArrowheads="1"/>
          </p:cNvSpPr>
          <p:nvPr>
            <p:custDataLst>
              <p:tags r:id="R53739dfc05ba40db"/>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Susceptance (B)</a:t>
            </a:r>
            <a:endParaRPr lang="en-IN" altLang="en-US" sz="3000"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ECD7D635-5694-4E66-BDAC-F1ECBCFCF011}"/>
              </a:ext>
            </a:extLst>
          </p:cNvPr>
          <p:cNvSpPr>
            <a:spLocks noChangeArrowheads="1"/>
          </p:cNvSpPr>
          <p:nvPr/>
        </p:nvSpPr>
        <p:spPr bwMode="auto">
          <a:xfrm>
            <a:off x="686696" y="2020633"/>
            <a:ext cx="7399065"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Susceptance is the imaginary part of admittance.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Represents the reactive component of current:</a:t>
            </a: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i="1" u="none" strike="noStrike" cap="none" normalizeH="0" baseline="0" dirty="0">
                <a:ln>
                  <a:noFill/>
                </a:ln>
                <a:solidFill>
                  <a:schemeClr val="tx1"/>
                </a:solidFill>
                <a:effectLst/>
              </a:rPr>
              <a:t>B = –X / (R² + X²)</a:t>
            </a: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400" i="1"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Positive B → Capacitive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Negative B → Inductive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i="0" u="none" strike="noStrike" cap="none" normalizeH="0" baseline="0" dirty="0">
                <a:ln>
                  <a:noFill/>
                </a:ln>
                <a:solidFill>
                  <a:schemeClr val="tx1"/>
                </a:solidFill>
                <a:effectLst/>
              </a:rPr>
              <a:t>In purely reactive circuits: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For inductors: B = –1 / XL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For capacitors: B = +1 / XC</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24829038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1CE1C-5638-8938-0372-8873FEB134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C71012-8CA3-B773-BDEB-F1CAB67B50C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9C2C6F2-9B1E-3419-8045-D8A418021D8A}"/>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605D005-46AE-6613-524B-A392C2E951C9}"/>
              </a:ext>
            </a:extLst>
          </p:cNvPr>
          <p:cNvSpPr>
            <a:spLocks noChangeArrowheads="1"/>
          </p:cNvSpPr>
          <p:nvPr>
            <p:custDataLst>
              <p:tags r:id="R3a8f65af141c4d7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Mathematical Relationships</a:t>
            </a:r>
            <a:endParaRPr lang="en-IN" altLang="en-US" sz="3000" dirty="0">
              <a:solidFill>
                <a:schemeClr val="bg1"/>
              </a:solidFill>
              <a:latin typeface="+mn-lt"/>
              <a:cs typeface="Times New Roman" panose="02020603050405020304" pitchFamily="18" charset="0"/>
            </a:endParaRPr>
          </a:p>
        </p:txBody>
      </p:sp>
      <p:sp>
        <p:nvSpPr>
          <p:cNvPr id="6" name="TextBox 5">
            <a:extLst>
              <a:ext uri="{FF2B5EF4-FFF2-40B4-BE49-F238E27FC236}">
                <a16:creationId xmlns:a16="http://schemas.microsoft.com/office/drawing/2014/main" id="{079BC952-D37A-4445-C2D7-ED7CE650635B}"/>
              </a:ext>
            </a:extLst>
          </p:cNvPr>
          <p:cNvSpPr txBox="1"/>
          <p:nvPr/>
        </p:nvSpPr>
        <p:spPr>
          <a:xfrm>
            <a:off x="729465" y="2128603"/>
            <a:ext cx="7356297" cy="4154984"/>
          </a:xfrm>
          <a:prstGeom prst="rect">
            <a:avLst/>
          </a:prstGeom>
          <a:noFill/>
        </p:spPr>
        <p:txBody>
          <a:bodyPr wrap="square">
            <a:spAutoFit/>
          </a:bodyPr>
          <a:lstStyle/>
          <a:p>
            <a:pPr algn="ctr"/>
            <a:r>
              <a:rPr lang="en-IN" sz="2400" i="1" dirty="0"/>
              <a:t>Z = R + </a:t>
            </a:r>
            <a:r>
              <a:rPr lang="en-IN" sz="2400" i="1" dirty="0" err="1"/>
              <a:t>jX</a:t>
            </a:r>
            <a:endParaRPr lang="en-IN" sz="2400" i="1" dirty="0"/>
          </a:p>
          <a:p>
            <a:pPr algn="ctr"/>
            <a:endParaRPr lang="en-IN" sz="2400" i="1" dirty="0"/>
          </a:p>
          <a:p>
            <a:pPr algn="ctr"/>
            <a:r>
              <a:rPr lang="en-IN" sz="2400" i="1" dirty="0"/>
              <a:t>Y = 1 / Z = G + </a:t>
            </a:r>
            <a:r>
              <a:rPr lang="en-IN" sz="2400" i="1" dirty="0" err="1"/>
              <a:t>jB</a:t>
            </a:r>
            <a:endParaRPr lang="en-IN" sz="2400" i="1" dirty="0"/>
          </a:p>
          <a:p>
            <a:pPr algn="ctr"/>
            <a:endParaRPr lang="en-IN" sz="2400" i="1" dirty="0"/>
          </a:p>
          <a:p>
            <a:pPr algn="ctr"/>
            <a:r>
              <a:rPr lang="en-IN" sz="2400" i="1" dirty="0"/>
              <a:t>G = Re(Y), B = </a:t>
            </a:r>
            <a:r>
              <a:rPr lang="en-IN" sz="2400" i="1" dirty="0" err="1"/>
              <a:t>Im</a:t>
            </a:r>
            <a:r>
              <a:rPr lang="en-IN" sz="2400" i="1" dirty="0"/>
              <a:t>(Y)</a:t>
            </a:r>
          </a:p>
          <a:p>
            <a:pPr algn="ctr"/>
            <a:endParaRPr lang="en-IN" sz="2400" i="1" dirty="0"/>
          </a:p>
          <a:p>
            <a:pPr algn="ctr"/>
            <a:r>
              <a:rPr lang="en-IN" sz="2400" i="1" dirty="0"/>
              <a:t>|Z| = 1 / |Y|</a:t>
            </a:r>
          </a:p>
          <a:p>
            <a:pPr algn="ctr"/>
            <a:endParaRPr lang="en-IN" sz="2400" i="1" dirty="0"/>
          </a:p>
          <a:p>
            <a:pPr marL="342900" indent="-342900">
              <a:buFont typeface="Arial" panose="020B0604020202020204" pitchFamily="34" charset="0"/>
              <a:buChar char="•"/>
            </a:pPr>
            <a:r>
              <a:rPr lang="en-IN" sz="2000" dirty="0"/>
              <a:t>Ohm’s Law in AC form:</a:t>
            </a:r>
          </a:p>
          <a:p>
            <a:pPr algn="ctr"/>
            <a:r>
              <a:rPr lang="en-IN" sz="2400" i="1" dirty="0"/>
              <a:t>V = IZ</a:t>
            </a:r>
          </a:p>
          <a:p>
            <a:pPr algn="ctr"/>
            <a:r>
              <a:rPr lang="en-IN" sz="2400" i="1" dirty="0"/>
              <a:t>I = VY</a:t>
            </a:r>
          </a:p>
        </p:txBody>
      </p:sp>
    </p:spTree>
    <p:extLst>
      <p:ext uri="{BB962C8B-B14F-4D97-AF65-F5344CB8AC3E}">
        <p14:creationId xmlns:p14="http://schemas.microsoft.com/office/powerpoint/2010/main" val="288030177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89DA-B97F-9AEB-3D4C-0641E34EB37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0AE9C8-227B-C03E-3DE8-0BF07DC4E16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0C5F530-2915-FD76-0DDE-C6ED7C4F358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DCD2AC57-4274-FB30-523A-0188CDF99990}"/>
              </a:ext>
            </a:extLst>
          </p:cNvPr>
          <p:cNvSpPr>
            <a:spLocks noChangeArrowheads="1"/>
          </p:cNvSpPr>
          <p:nvPr>
            <p:custDataLst>
              <p:tags r:id="R222a443c43d34c7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Phasor Domain View</a:t>
            </a:r>
            <a:endParaRPr lang="en-IN" altLang="en-US" sz="3000" dirty="0">
              <a:solidFill>
                <a:schemeClr val="bg1"/>
              </a:solidFill>
              <a:latin typeface="+mn-lt"/>
              <a:cs typeface="Times New Roman" panose="02020603050405020304" pitchFamily="18" charset="0"/>
            </a:endParaRPr>
          </a:p>
        </p:txBody>
      </p:sp>
      <p:pic>
        <p:nvPicPr>
          <p:cNvPr id="3" name="Picture 2">
            <a:extLst>
              <a:ext uri="{FF2B5EF4-FFF2-40B4-BE49-F238E27FC236}">
                <a16:creationId xmlns:a16="http://schemas.microsoft.com/office/drawing/2014/main" id="{0FEB33A7-0878-D34D-2EB7-61EB79E72E05}"/>
              </a:ext>
            </a:extLst>
          </p:cNvPr>
          <p:cNvPicPr>
            <a:picLocks noChangeAspect="1"/>
          </p:cNvPicPr>
          <p:nvPr/>
        </p:nvPicPr>
        <p:blipFill>
          <a:blip r:embed="Re1ce706cfa434210"/>
          <a:stretch>
            <a:fillRect/>
          </a:stretch>
        </p:blipFill>
        <p:spPr>
          <a:xfrm>
            <a:off x="729463" y="2520820"/>
            <a:ext cx="3783236" cy="2251451"/>
          </a:xfrm>
          <a:prstGeom prst="rect">
            <a:avLst/>
          </a:prstGeom>
        </p:spPr>
      </p:pic>
      <p:pic>
        <p:nvPicPr>
          <p:cNvPr id="5" name="Picture 4">
            <a:extLst>
              <a:ext uri="{FF2B5EF4-FFF2-40B4-BE49-F238E27FC236}">
                <a16:creationId xmlns:a16="http://schemas.microsoft.com/office/drawing/2014/main" id="{B29F4285-1936-3778-3DD7-E5907217087B}"/>
              </a:ext>
            </a:extLst>
          </p:cNvPr>
          <p:cNvPicPr>
            <a:picLocks noChangeAspect="1"/>
          </p:cNvPicPr>
          <p:nvPr/>
        </p:nvPicPr>
        <p:blipFill>
          <a:blip r:embed="R59191206e32f4528"/>
          <a:stretch>
            <a:fillRect/>
          </a:stretch>
        </p:blipFill>
        <p:spPr>
          <a:xfrm>
            <a:off x="4843523" y="2761544"/>
            <a:ext cx="2801462" cy="2010727"/>
          </a:xfrm>
          <a:prstGeom prst="rect">
            <a:avLst/>
          </a:prstGeom>
        </p:spPr>
      </p:pic>
      <p:sp>
        <p:nvSpPr>
          <p:cNvPr id="7" name="TextBox 6">
            <a:extLst>
              <a:ext uri="{FF2B5EF4-FFF2-40B4-BE49-F238E27FC236}">
                <a16:creationId xmlns:a16="http://schemas.microsoft.com/office/drawing/2014/main" id="{587B37BC-76AE-41C8-615A-E3AA7D3A9046}"/>
              </a:ext>
            </a:extLst>
          </p:cNvPr>
          <p:cNvSpPr txBox="1"/>
          <p:nvPr/>
        </p:nvSpPr>
        <p:spPr>
          <a:xfrm>
            <a:off x="729463" y="5191487"/>
            <a:ext cx="3248025" cy="276999"/>
          </a:xfrm>
          <a:prstGeom prst="rect">
            <a:avLst/>
          </a:prstGeom>
          <a:noFill/>
        </p:spPr>
        <p:txBody>
          <a:bodyPr wrap="square" rtlCol="0">
            <a:spAutoFit/>
          </a:bodyPr>
          <a:lstStyle/>
          <a:p>
            <a:pPr algn="ctr"/>
            <a:r>
              <a:rPr lang="en-IN" sz="1200" dirty="0"/>
              <a:t>Figure 2.1 Impedance Triangle</a:t>
            </a:r>
          </a:p>
        </p:txBody>
      </p:sp>
      <p:sp>
        <p:nvSpPr>
          <p:cNvPr id="8" name="TextBox 7">
            <a:extLst>
              <a:ext uri="{FF2B5EF4-FFF2-40B4-BE49-F238E27FC236}">
                <a16:creationId xmlns:a16="http://schemas.microsoft.com/office/drawing/2014/main" id="{7790EFAF-7C3E-B95B-D811-75C2BB1D13B1}"/>
              </a:ext>
            </a:extLst>
          </p:cNvPr>
          <p:cNvSpPr txBox="1"/>
          <p:nvPr/>
        </p:nvSpPr>
        <p:spPr>
          <a:xfrm>
            <a:off x="4723600" y="5199965"/>
            <a:ext cx="3248025" cy="276999"/>
          </a:xfrm>
          <a:prstGeom prst="rect">
            <a:avLst/>
          </a:prstGeom>
          <a:noFill/>
        </p:spPr>
        <p:txBody>
          <a:bodyPr wrap="square" rtlCol="0">
            <a:spAutoFit/>
          </a:bodyPr>
          <a:lstStyle/>
          <a:p>
            <a:pPr algn="ctr"/>
            <a:r>
              <a:rPr lang="en-IN" sz="1200" dirty="0"/>
              <a:t>Figure 2.2 Admittance Triangle</a:t>
            </a:r>
          </a:p>
        </p:txBody>
      </p:sp>
    </p:spTree>
    <p:extLst>
      <p:ext uri="{BB962C8B-B14F-4D97-AF65-F5344CB8AC3E}">
        <p14:creationId xmlns:p14="http://schemas.microsoft.com/office/powerpoint/2010/main" val="235343899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754E-272D-31E1-ADF4-F977E64683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596AD3-4DF9-9CF0-C436-A70E22EB43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6DD0F52-C27F-3F91-093F-A31921DDDA4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EA1B085-9D42-ADCF-B27E-E9F6284A9C43}"/>
              </a:ext>
            </a:extLst>
          </p:cNvPr>
          <p:cNvSpPr>
            <a:spLocks noChangeArrowheads="1"/>
          </p:cNvSpPr>
          <p:nvPr>
            <p:custDataLst>
              <p:tags r:id="Rbbffe15ed08344c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3" name="Rectangle 1">
            <a:extLst>
              <a:ext uri="{FF2B5EF4-FFF2-40B4-BE49-F238E27FC236}">
                <a16:creationId xmlns:a16="http://schemas.microsoft.com/office/drawing/2014/main" id="{68F351D2-BB28-7D9D-EF6D-301456634D6E}"/>
              </a:ext>
            </a:extLst>
          </p:cNvPr>
          <p:cNvSpPr>
            <a:spLocks noChangeArrowheads="1"/>
          </p:cNvSpPr>
          <p:nvPr/>
        </p:nvSpPr>
        <p:spPr bwMode="auto">
          <a:xfrm>
            <a:off x="729465" y="1834655"/>
            <a:ext cx="7356297" cy="4610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Impedance (Z): Opposition to AC, includes resistance and reactance.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Admittance (Y): Ease of AC flow, reciprocal of Z.</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Conductance (G): Real part of admittance, represents resistive behavior.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Susceptance (B): Imaginary part of admittance, represents reactive behavior.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These terms are essential for solving and analyzing AC networks, especially in parallel circuits and phasor analysis.</a:t>
            </a:r>
          </a:p>
        </p:txBody>
      </p:sp>
    </p:spTree>
    <p:extLst>
      <p:ext uri="{BB962C8B-B14F-4D97-AF65-F5344CB8AC3E}">
        <p14:creationId xmlns:p14="http://schemas.microsoft.com/office/powerpoint/2010/main" val="16184287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938992"/>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Concept of Active Power, Reactive Power, Apparent Power and Power Factor</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DB55CA11-DA13-918B-3390-C53791158CF6}"/>
              </a:ext>
            </a:extLst>
          </p:cNvPr>
          <p:cNvSpPr txBox="1"/>
          <p:nvPr/>
        </p:nvSpPr>
        <p:spPr>
          <a:xfrm>
            <a:off x="446066" y="2274837"/>
            <a:ext cx="6074227" cy="2800767"/>
          </a:xfrm>
          <a:prstGeom prst="rect">
            <a:avLst/>
          </a:prstGeom>
          <a:noFill/>
        </p:spPr>
        <p:txBody>
          <a:bodyPr wrap="square">
            <a:spAutoFit/>
          </a:bodyPr>
          <a:lstStyle/>
          <a:p>
            <a:pPr algn="just">
              <a:buFont typeface="+mj-lt"/>
              <a:buAutoNum type="arabicPeriod"/>
            </a:pPr>
            <a:r>
              <a:rPr lang="en-US" sz="2200" dirty="0"/>
              <a:t>Introduction ……………………………………………………. 3</a:t>
            </a:r>
          </a:p>
          <a:p>
            <a:pPr algn="just">
              <a:buFont typeface="+mj-lt"/>
              <a:buAutoNum type="arabicPeriod"/>
            </a:pPr>
            <a:r>
              <a:rPr lang="en-US" sz="2200" dirty="0"/>
              <a:t>Active Power (P) ……………………………………………… 4</a:t>
            </a:r>
          </a:p>
          <a:p>
            <a:pPr algn="just">
              <a:buFont typeface="+mj-lt"/>
              <a:buAutoNum type="arabicPeriod"/>
            </a:pPr>
            <a:r>
              <a:rPr lang="en-US" sz="2200" dirty="0"/>
              <a:t>Reactive Power (Q) …………………………………………. 5</a:t>
            </a:r>
          </a:p>
          <a:p>
            <a:pPr algn="just">
              <a:buFont typeface="+mj-lt"/>
              <a:buAutoNum type="arabicPeriod"/>
            </a:pPr>
            <a:r>
              <a:rPr lang="en-US" sz="2200" dirty="0"/>
              <a:t>Apparent Power (S) ………………………………………… 6</a:t>
            </a:r>
          </a:p>
          <a:p>
            <a:pPr algn="just">
              <a:buFont typeface="+mj-lt"/>
              <a:buAutoNum type="arabicPeriod"/>
            </a:pPr>
            <a:r>
              <a:rPr lang="en-US" sz="2200" dirty="0"/>
              <a:t>Power Triangle ……………………………………………….. 7</a:t>
            </a:r>
          </a:p>
          <a:p>
            <a:pPr algn="just">
              <a:buFont typeface="+mj-lt"/>
              <a:buAutoNum type="arabicPeriod"/>
            </a:pPr>
            <a:r>
              <a:rPr lang="en-US" sz="2200" dirty="0"/>
              <a:t>Power Factor (PF) …………………………………………… 8</a:t>
            </a:r>
          </a:p>
          <a:p>
            <a:pPr algn="just">
              <a:buFont typeface="+mj-lt"/>
              <a:buAutoNum type="arabicPeriod"/>
            </a:pPr>
            <a:r>
              <a:rPr lang="en-US" sz="2200" dirty="0"/>
              <a:t>Significance of Power Factor …………………………… 9</a:t>
            </a:r>
          </a:p>
          <a:p>
            <a:pPr algn="just">
              <a:buFont typeface="+mj-lt"/>
              <a:buAutoNum type="arabicPeriod"/>
            </a:pPr>
            <a:r>
              <a:rPr lang="en-US" sz="2200" dirty="0"/>
              <a:t>Key Points / Summary ……………………………………. 10</a:t>
            </a:r>
          </a:p>
        </p:txBody>
      </p:sp>
    </p:spTree>
    <p:extLst>
      <p:ext uri="{BB962C8B-B14F-4D97-AF65-F5344CB8AC3E}">
        <p14:creationId xmlns:p14="http://schemas.microsoft.com/office/powerpoint/2010/main" val="227883556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4dac7be4cbbc42c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a:t>
            </a:r>
            <a:endParaRPr lang="en-IN" altLang="en-US" sz="3000"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2694C8CF-66F0-62CE-A70C-F9F0D3D4C9A6}"/>
              </a:ext>
            </a:extLst>
          </p:cNvPr>
          <p:cNvSpPr>
            <a:spLocks noChangeArrowheads="1"/>
          </p:cNvSpPr>
          <p:nvPr/>
        </p:nvSpPr>
        <p:spPr bwMode="auto">
          <a:xfrm>
            <a:off x="729465" y="2008604"/>
            <a:ext cx="7356297"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 AC circuits, power is not just a product of voltage and current.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Due to phase difference, different types of power are defined:</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Active Power (P)</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Reactive Power (Q)</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Apparent Power (S)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These quantities help understand how efficiently power is utilized.</a:t>
            </a:r>
          </a:p>
        </p:txBody>
      </p:sp>
    </p:spTree>
    <p:extLst>
      <p:ext uri="{BB962C8B-B14F-4D97-AF65-F5344CB8AC3E}">
        <p14:creationId xmlns:p14="http://schemas.microsoft.com/office/powerpoint/2010/main" val="346598175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D6FAA-121F-3CFB-A730-B8DACE7FA7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9FCFD8-74D1-C2F6-B1BA-CDAEA271694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15721F7-1CE0-85B6-0277-EC152C980F3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753A9B8C-9EB5-4896-DC67-CD513B21D08B}"/>
              </a:ext>
            </a:extLst>
          </p:cNvPr>
          <p:cNvSpPr>
            <a:spLocks noChangeArrowheads="1"/>
          </p:cNvSpPr>
          <p:nvPr>
            <p:custDataLst>
              <p:tags r:id="Ra0300cde275b4b1c"/>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Active Power (P)</a:t>
            </a:r>
            <a:endParaRPr lang="en-IN" altLang="en-US" sz="3000" dirty="0">
              <a:solidFill>
                <a:schemeClr val="bg1"/>
              </a:solidFill>
              <a:latin typeface="+mn-lt"/>
              <a:cs typeface="Times New Roman" panose="02020603050405020304" pitchFamily="18" charset="0"/>
            </a:endParaRPr>
          </a:p>
        </p:txBody>
      </p:sp>
      <p:sp>
        <p:nvSpPr>
          <p:cNvPr id="6" name="TextBox 5">
            <a:extLst>
              <a:ext uri="{FF2B5EF4-FFF2-40B4-BE49-F238E27FC236}">
                <a16:creationId xmlns:a16="http://schemas.microsoft.com/office/drawing/2014/main" id="{7B4E26BD-06B2-DEF9-C415-1EDEE2DFC56D}"/>
              </a:ext>
            </a:extLst>
          </p:cNvPr>
          <p:cNvSpPr txBox="1"/>
          <p:nvPr/>
        </p:nvSpPr>
        <p:spPr>
          <a:xfrm>
            <a:off x="729465" y="2020144"/>
            <a:ext cx="7356297" cy="4524315"/>
          </a:xfrm>
          <a:prstGeom prst="rect">
            <a:avLst/>
          </a:prstGeom>
          <a:noFill/>
        </p:spPr>
        <p:txBody>
          <a:bodyPr wrap="square">
            <a:spAutoFit/>
          </a:bodyPr>
          <a:lstStyle/>
          <a:p>
            <a:pPr>
              <a:buFont typeface="Arial" panose="020B0604020202020204" pitchFamily="34" charset="0"/>
              <a:buChar char="•"/>
            </a:pPr>
            <a:r>
              <a:rPr lang="en-US" sz="2200" dirty="0"/>
              <a:t>Also known as real or true power.</a:t>
            </a:r>
          </a:p>
          <a:p>
            <a:pPr>
              <a:buFont typeface="Arial" panose="020B0604020202020204" pitchFamily="34" charset="0"/>
              <a:buChar char="•"/>
            </a:pPr>
            <a:endParaRPr lang="en-US" sz="2200" dirty="0"/>
          </a:p>
          <a:p>
            <a:pPr>
              <a:buFont typeface="Arial" panose="020B0604020202020204" pitchFamily="34" charset="0"/>
              <a:buChar char="•"/>
            </a:pPr>
            <a:r>
              <a:rPr lang="en-US" sz="2200" dirty="0"/>
              <a:t>Represents the actual power consumed by resistive components.</a:t>
            </a:r>
          </a:p>
          <a:p>
            <a:pPr>
              <a:buFont typeface="Arial" panose="020B0604020202020204" pitchFamily="34" charset="0"/>
              <a:buChar char="•"/>
            </a:pPr>
            <a:endParaRPr lang="en-US" sz="2200" dirty="0"/>
          </a:p>
          <a:p>
            <a:pPr>
              <a:buNone/>
            </a:pPr>
            <a:r>
              <a:rPr lang="en-US" sz="2200" b="1" dirty="0"/>
              <a:t>Formula:</a:t>
            </a:r>
          </a:p>
          <a:p>
            <a:pPr algn="ctr">
              <a:buNone/>
            </a:pPr>
            <a:r>
              <a:rPr lang="en-US" sz="2400" i="1" dirty="0"/>
              <a:t>P = V × I × cos(φ)</a:t>
            </a:r>
          </a:p>
          <a:p>
            <a:pPr>
              <a:buFont typeface="Arial" panose="020B0604020202020204" pitchFamily="34" charset="0"/>
              <a:buChar char="•"/>
            </a:pPr>
            <a:r>
              <a:rPr lang="en-US" sz="2200" dirty="0"/>
              <a:t>V: RMS Voltage</a:t>
            </a:r>
          </a:p>
          <a:p>
            <a:pPr>
              <a:buFont typeface="Arial" panose="020B0604020202020204" pitchFamily="34" charset="0"/>
              <a:buChar char="•"/>
            </a:pPr>
            <a:r>
              <a:rPr lang="en-US" sz="2200" dirty="0"/>
              <a:t>I: RMS Current</a:t>
            </a:r>
          </a:p>
          <a:p>
            <a:pPr>
              <a:buFont typeface="Arial" panose="020B0604020202020204" pitchFamily="34" charset="0"/>
              <a:buChar char="•"/>
            </a:pPr>
            <a:r>
              <a:rPr lang="en-US" sz="2200" dirty="0"/>
              <a:t>φ: Phase angle between V and I</a:t>
            </a:r>
          </a:p>
          <a:p>
            <a:pPr>
              <a:buFont typeface="Arial" panose="020B0604020202020204" pitchFamily="34" charset="0"/>
              <a:buChar char="•"/>
            </a:pPr>
            <a:r>
              <a:rPr lang="en-US" sz="2200" dirty="0"/>
              <a:t>Unit: Watt (W)</a:t>
            </a:r>
          </a:p>
          <a:p>
            <a:pPr>
              <a:buFont typeface="Arial" panose="020B0604020202020204" pitchFamily="34" charset="0"/>
              <a:buChar char="•"/>
            </a:pPr>
            <a:endParaRPr lang="en-US" sz="2200" dirty="0"/>
          </a:p>
          <a:p>
            <a:pPr>
              <a:buFont typeface="Arial" panose="020B0604020202020204" pitchFamily="34" charset="0"/>
              <a:buChar char="•"/>
            </a:pPr>
            <a:r>
              <a:rPr lang="en-US" sz="2200" dirty="0"/>
              <a:t>It performs useful work: lighting, heating, rotating machines.</a:t>
            </a:r>
          </a:p>
        </p:txBody>
      </p:sp>
    </p:spTree>
    <p:extLst>
      <p:ext uri="{BB962C8B-B14F-4D97-AF65-F5344CB8AC3E}">
        <p14:creationId xmlns:p14="http://schemas.microsoft.com/office/powerpoint/2010/main" val="397225835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1DB8-CF0B-1D65-2232-3A4030DBD5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171D89-2EC3-F2E4-CB0A-089C1C1A512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C766C4F-8DEB-FB9C-69C6-907A3C59625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9744746-9406-8DF7-79EB-668DB1AFF902}"/>
              </a:ext>
            </a:extLst>
          </p:cNvPr>
          <p:cNvSpPr>
            <a:spLocks noChangeArrowheads="1"/>
          </p:cNvSpPr>
          <p:nvPr>
            <p:custDataLst>
              <p:tags r:id="Rd32656ec47ea419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Reactive Power (Q)</a:t>
            </a:r>
            <a:endParaRPr lang="en-IN" altLang="en-US" sz="3000" dirty="0">
              <a:solidFill>
                <a:schemeClr val="bg1"/>
              </a:solidFill>
              <a:latin typeface="+mn-lt"/>
              <a:cs typeface="Times New Roman" panose="02020603050405020304" pitchFamily="18" charset="0"/>
            </a:endParaRPr>
          </a:p>
        </p:txBody>
      </p:sp>
      <p:sp>
        <p:nvSpPr>
          <p:cNvPr id="6" name="TextBox 5">
            <a:extLst>
              <a:ext uri="{FF2B5EF4-FFF2-40B4-BE49-F238E27FC236}">
                <a16:creationId xmlns:a16="http://schemas.microsoft.com/office/drawing/2014/main" id="{3C2452A7-D061-4949-B760-6A677024FEDB}"/>
              </a:ext>
            </a:extLst>
          </p:cNvPr>
          <p:cNvSpPr txBox="1"/>
          <p:nvPr/>
        </p:nvSpPr>
        <p:spPr>
          <a:xfrm>
            <a:off x="729465" y="2021908"/>
            <a:ext cx="7470155" cy="4216539"/>
          </a:xfrm>
          <a:prstGeom prst="rect">
            <a:avLst/>
          </a:prstGeom>
          <a:noFill/>
        </p:spPr>
        <p:txBody>
          <a:bodyPr wrap="square">
            <a:spAutoFit/>
          </a:bodyPr>
          <a:lstStyle/>
          <a:p>
            <a:pPr algn="just">
              <a:buFont typeface="Arial" panose="020B0604020202020204" pitchFamily="34" charset="0"/>
              <a:buChar char="•"/>
            </a:pPr>
            <a:r>
              <a:rPr lang="en-US" sz="2200" dirty="0"/>
              <a:t>Power that oscillates between source and reactive components (L and C).</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Does not perform any net work.</a:t>
            </a:r>
          </a:p>
          <a:p>
            <a:pPr algn="just">
              <a:buFont typeface="Arial" panose="020B0604020202020204" pitchFamily="34" charset="0"/>
              <a:buChar char="•"/>
            </a:pPr>
            <a:endParaRPr lang="en-US" sz="2200" b="1" dirty="0"/>
          </a:p>
          <a:p>
            <a:pPr algn="just"/>
            <a:r>
              <a:rPr lang="en-US" sz="2200" b="1" dirty="0"/>
              <a:t>Formula:</a:t>
            </a:r>
          </a:p>
          <a:p>
            <a:pPr algn="ctr">
              <a:buNone/>
            </a:pPr>
            <a:r>
              <a:rPr lang="en-US" sz="2400" i="1" dirty="0"/>
              <a:t>Q = V × I × sin(φ)</a:t>
            </a:r>
          </a:p>
          <a:p>
            <a:pPr algn="ctr">
              <a:buNone/>
            </a:pPr>
            <a:endParaRPr lang="en-US" sz="2400" i="1" dirty="0"/>
          </a:p>
          <a:p>
            <a:pPr algn="just">
              <a:buFont typeface="Arial" panose="020B0604020202020204" pitchFamily="34" charset="0"/>
              <a:buChar char="•"/>
            </a:pPr>
            <a:r>
              <a:rPr lang="en-US" sz="2200" dirty="0"/>
              <a:t>Unit: VAR (Volt-Ampere Reactive)</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a:t>It supports the magnetic and electric fields in inductors and capacitors.</a:t>
            </a:r>
          </a:p>
        </p:txBody>
      </p:sp>
    </p:spTree>
    <p:extLst>
      <p:ext uri="{BB962C8B-B14F-4D97-AF65-F5344CB8AC3E}">
        <p14:creationId xmlns:p14="http://schemas.microsoft.com/office/powerpoint/2010/main" val="126102866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4A45F-C2E1-A5CF-E070-C87DD44C8D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20DB59-FAB1-0375-E60E-52E606A9D91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F43F9C7-A935-4BA3-5244-B4F963ED149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2CF8B90C-1D8F-8C85-B75C-3B50861CCA53}"/>
              </a:ext>
            </a:extLst>
          </p:cNvPr>
          <p:cNvSpPr>
            <a:spLocks noChangeArrowheads="1"/>
          </p:cNvSpPr>
          <p:nvPr>
            <p:custDataLst>
              <p:tags r:id="R4421f7ed8551441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Apparent Power (S)</a:t>
            </a:r>
            <a:endParaRPr lang="en-IN" altLang="en-US" sz="3000"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71348C1B-6F3D-11F9-52F1-8BF53F909C8A}"/>
              </a:ext>
            </a:extLst>
          </p:cNvPr>
          <p:cNvSpPr txBox="1"/>
          <p:nvPr/>
        </p:nvSpPr>
        <p:spPr>
          <a:xfrm>
            <a:off x="729465" y="2278504"/>
            <a:ext cx="7356297" cy="4216539"/>
          </a:xfrm>
          <a:prstGeom prst="rect">
            <a:avLst/>
          </a:prstGeom>
          <a:noFill/>
        </p:spPr>
        <p:txBody>
          <a:bodyPr wrap="square">
            <a:spAutoFit/>
          </a:bodyPr>
          <a:lstStyle/>
          <a:p>
            <a:pPr>
              <a:buFont typeface="Arial" panose="020B0604020202020204" pitchFamily="34" charset="0"/>
              <a:buChar char="•"/>
            </a:pPr>
            <a:r>
              <a:rPr lang="en-US" sz="2200" dirty="0"/>
              <a:t>The product of RMS voltage and current, regardless of phase angle.</a:t>
            </a:r>
          </a:p>
          <a:p>
            <a:pPr>
              <a:buFont typeface="Arial" panose="020B0604020202020204" pitchFamily="34" charset="0"/>
              <a:buChar char="•"/>
            </a:pPr>
            <a:endParaRPr lang="en-US" sz="2200" dirty="0"/>
          </a:p>
          <a:p>
            <a:pPr>
              <a:buNone/>
            </a:pPr>
            <a:r>
              <a:rPr lang="en-US" sz="2200" b="1" dirty="0"/>
              <a:t>Formula:</a:t>
            </a:r>
          </a:p>
          <a:p>
            <a:pPr algn="ctr">
              <a:buNone/>
            </a:pPr>
            <a:r>
              <a:rPr lang="en-US" sz="2400" i="1" dirty="0"/>
              <a:t>S = V × I</a:t>
            </a:r>
          </a:p>
          <a:p>
            <a:pPr algn="ctr">
              <a:buNone/>
            </a:pPr>
            <a:endParaRPr lang="en-US" sz="2400" i="1" dirty="0"/>
          </a:p>
          <a:p>
            <a:pPr>
              <a:buFont typeface="Arial" panose="020B0604020202020204" pitchFamily="34" charset="0"/>
              <a:buChar char="•"/>
            </a:pPr>
            <a:r>
              <a:rPr lang="en-US" sz="2200" dirty="0"/>
              <a:t>Unit: VA (Volt-Ampere)</a:t>
            </a:r>
          </a:p>
          <a:p>
            <a:pPr>
              <a:buFont typeface="Arial" panose="020B0604020202020204" pitchFamily="34" charset="0"/>
              <a:buChar char="•"/>
            </a:pPr>
            <a:endParaRPr lang="en-US" sz="2200" dirty="0"/>
          </a:p>
          <a:p>
            <a:pPr>
              <a:buFont typeface="Arial" panose="020B0604020202020204" pitchFamily="34" charset="0"/>
              <a:buChar char="•"/>
            </a:pPr>
            <a:r>
              <a:rPr lang="en-US" sz="2200" dirty="0"/>
              <a:t>Represents the total power delivered to the circuit.</a:t>
            </a:r>
          </a:p>
          <a:p>
            <a:pPr>
              <a:buFont typeface="Arial" panose="020B0604020202020204" pitchFamily="34" charset="0"/>
              <a:buChar char="•"/>
            </a:pPr>
            <a:endParaRPr lang="en-US" sz="2200" dirty="0"/>
          </a:p>
          <a:p>
            <a:r>
              <a:rPr lang="en-US" sz="2200" b="1" dirty="0"/>
              <a:t>Relationship:</a:t>
            </a:r>
          </a:p>
          <a:p>
            <a:pPr algn="ctr"/>
            <a:r>
              <a:rPr lang="en-US" sz="2400" i="1" dirty="0"/>
              <a:t>S² = P² + Q²</a:t>
            </a:r>
          </a:p>
        </p:txBody>
      </p:sp>
    </p:spTree>
    <p:extLst>
      <p:ext uri="{BB962C8B-B14F-4D97-AF65-F5344CB8AC3E}">
        <p14:creationId xmlns:p14="http://schemas.microsoft.com/office/powerpoint/2010/main" val="79374259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19425-802B-D743-E2C7-C3168BE5FF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ACAC26-A910-100E-CF65-7FC380B1535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0D50E77-364B-864A-AFB0-5627D57FD83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2226C45-BF4C-5509-8602-FA5016250203}"/>
              </a:ext>
            </a:extLst>
          </p:cNvPr>
          <p:cNvSpPr>
            <a:spLocks noChangeArrowheads="1"/>
          </p:cNvSpPr>
          <p:nvPr>
            <p:custDataLst>
              <p:tags r:id="R68c58d84b29c437e"/>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Power Triangle</a:t>
            </a:r>
            <a:endParaRPr lang="en-IN" altLang="en-US" sz="3000" dirty="0">
              <a:solidFill>
                <a:schemeClr val="bg1"/>
              </a:solidFill>
              <a:latin typeface="+mn-lt"/>
              <a:cs typeface="Times New Roman" panose="02020603050405020304" pitchFamily="18" charset="0"/>
            </a:endParaRPr>
          </a:p>
        </p:txBody>
      </p:sp>
      <p:sp>
        <p:nvSpPr>
          <p:cNvPr id="6" name="TextBox 5">
            <a:extLst>
              <a:ext uri="{FF2B5EF4-FFF2-40B4-BE49-F238E27FC236}">
                <a16:creationId xmlns:a16="http://schemas.microsoft.com/office/drawing/2014/main" id="{C76200B9-44F8-D9AD-1BC5-F6058B64E28E}"/>
              </a:ext>
            </a:extLst>
          </p:cNvPr>
          <p:cNvSpPr txBox="1"/>
          <p:nvPr/>
        </p:nvSpPr>
        <p:spPr>
          <a:xfrm>
            <a:off x="588564" y="2517405"/>
            <a:ext cx="3512751" cy="3139321"/>
          </a:xfrm>
          <a:prstGeom prst="rect">
            <a:avLst/>
          </a:prstGeom>
          <a:noFill/>
        </p:spPr>
        <p:txBody>
          <a:bodyPr wrap="square">
            <a:spAutoFit/>
          </a:bodyPr>
          <a:lstStyle/>
          <a:p>
            <a:pPr>
              <a:buNone/>
            </a:pPr>
            <a:r>
              <a:rPr lang="en-US" sz="2200" dirty="0"/>
              <a:t>A right-angled triangle representing:</a:t>
            </a:r>
          </a:p>
          <a:p>
            <a:pPr>
              <a:buNone/>
            </a:pPr>
            <a:endParaRPr lang="en-US" sz="2200" dirty="0"/>
          </a:p>
          <a:p>
            <a:pPr>
              <a:buFont typeface="Arial" panose="020B0604020202020204" pitchFamily="34" charset="0"/>
              <a:buChar char="•"/>
            </a:pPr>
            <a:r>
              <a:rPr lang="en-US" sz="2200" dirty="0"/>
              <a:t>Active power (P) – Base</a:t>
            </a:r>
          </a:p>
          <a:p>
            <a:pPr>
              <a:buFont typeface="Arial" panose="020B0604020202020204" pitchFamily="34" charset="0"/>
              <a:buChar char="•"/>
            </a:pPr>
            <a:endParaRPr lang="en-US" sz="2200" dirty="0"/>
          </a:p>
          <a:p>
            <a:pPr>
              <a:buFont typeface="Arial" panose="020B0604020202020204" pitchFamily="34" charset="0"/>
              <a:buChar char="•"/>
            </a:pPr>
            <a:r>
              <a:rPr lang="en-US" sz="2200" dirty="0"/>
              <a:t>Reactive power (Q) – Height</a:t>
            </a:r>
          </a:p>
          <a:p>
            <a:pPr>
              <a:buFont typeface="Arial" panose="020B0604020202020204" pitchFamily="34" charset="0"/>
              <a:buChar char="•"/>
            </a:pPr>
            <a:endParaRPr lang="en-US" sz="2200" dirty="0"/>
          </a:p>
          <a:p>
            <a:pPr>
              <a:buFont typeface="Arial" panose="020B0604020202020204" pitchFamily="34" charset="0"/>
              <a:buChar char="•"/>
            </a:pPr>
            <a:r>
              <a:rPr lang="en-US" sz="2200" dirty="0"/>
              <a:t>Apparent power (S) – Hypotenuse</a:t>
            </a:r>
          </a:p>
        </p:txBody>
      </p:sp>
      <p:pic>
        <p:nvPicPr>
          <p:cNvPr id="7" name="Picture 6">
            <a:extLst>
              <a:ext uri="{FF2B5EF4-FFF2-40B4-BE49-F238E27FC236}">
                <a16:creationId xmlns:a16="http://schemas.microsoft.com/office/drawing/2014/main" id="{4F64BD8B-03FB-80E3-DF83-7E2B3038F5AE}"/>
              </a:ext>
            </a:extLst>
          </p:cNvPr>
          <p:cNvPicPr>
            <a:picLocks noChangeAspect="1"/>
          </p:cNvPicPr>
          <p:nvPr/>
        </p:nvPicPr>
        <p:blipFill>
          <a:blip r:embed="Ra6b3fd22c0d34e04"/>
          <a:stretch>
            <a:fillRect/>
          </a:stretch>
        </p:blipFill>
        <p:spPr>
          <a:xfrm>
            <a:off x="4227226" y="2582863"/>
            <a:ext cx="4631961" cy="2678686"/>
          </a:xfrm>
          <a:prstGeom prst="rect">
            <a:avLst/>
          </a:prstGeom>
        </p:spPr>
      </p:pic>
      <p:sp>
        <p:nvSpPr>
          <p:cNvPr id="8" name="TextBox 7">
            <a:extLst>
              <a:ext uri="{FF2B5EF4-FFF2-40B4-BE49-F238E27FC236}">
                <a16:creationId xmlns:a16="http://schemas.microsoft.com/office/drawing/2014/main" id="{AB6F6554-22FC-FBEF-14B0-F7479CCD4182}"/>
              </a:ext>
            </a:extLst>
          </p:cNvPr>
          <p:cNvSpPr txBox="1"/>
          <p:nvPr/>
        </p:nvSpPr>
        <p:spPr>
          <a:xfrm>
            <a:off x="4572000" y="5518226"/>
            <a:ext cx="3387777" cy="276999"/>
          </a:xfrm>
          <a:prstGeom prst="rect">
            <a:avLst/>
          </a:prstGeom>
          <a:noFill/>
        </p:spPr>
        <p:txBody>
          <a:bodyPr wrap="square" rtlCol="0">
            <a:spAutoFit/>
          </a:bodyPr>
          <a:lstStyle/>
          <a:p>
            <a:pPr algn="ctr"/>
            <a:r>
              <a:rPr lang="en-IN" sz="1200" dirty="0"/>
              <a:t>Figure 2.1 Power Triangle</a:t>
            </a:r>
          </a:p>
        </p:txBody>
      </p:sp>
    </p:spTree>
    <p:extLst>
      <p:ext uri="{BB962C8B-B14F-4D97-AF65-F5344CB8AC3E}">
        <p14:creationId xmlns:p14="http://schemas.microsoft.com/office/powerpoint/2010/main" val="424829038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1CE1C-5638-8938-0372-8873FEB134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C71012-8CA3-B773-BDEB-F1CAB67B50C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9C2C6F2-9B1E-3419-8045-D8A418021D8A}"/>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605D005-46AE-6613-524B-A392C2E951C9}"/>
              </a:ext>
            </a:extLst>
          </p:cNvPr>
          <p:cNvSpPr>
            <a:spLocks noChangeArrowheads="1"/>
          </p:cNvSpPr>
          <p:nvPr>
            <p:custDataLst>
              <p:tags r:id="R91287ba2d7c2475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Power Factor (PF)</a:t>
            </a:r>
            <a:endParaRPr lang="en-IN" altLang="en-US" sz="3000"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1D06721B-F7FD-1770-35DB-EE7B3533C6DC}"/>
              </a:ext>
            </a:extLst>
          </p:cNvPr>
          <p:cNvSpPr txBox="1"/>
          <p:nvPr/>
        </p:nvSpPr>
        <p:spPr>
          <a:xfrm>
            <a:off x="729465" y="2021908"/>
            <a:ext cx="7356297" cy="3877985"/>
          </a:xfrm>
          <a:prstGeom prst="rect">
            <a:avLst/>
          </a:prstGeom>
          <a:noFill/>
        </p:spPr>
        <p:txBody>
          <a:bodyPr wrap="square">
            <a:spAutoFit/>
          </a:bodyPr>
          <a:lstStyle/>
          <a:p>
            <a:pPr>
              <a:buFont typeface="Arial" panose="020B0604020202020204" pitchFamily="34" charset="0"/>
              <a:buChar char="•"/>
            </a:pPr>
            <a:r>
              <a:rPr lang="en-US" sz="2200" dirty="0"/>
              <a:t>Indicates how effectively electrical power is converted into useful work.</a:t>
            </a:r>
          </a:p>
          <a:p>
            <a:pPr>
              <a:buFont typeface="Arial" panose="020B0604020202020204" pitchFamily="34" charset="0"/>
              <a:buChar char="•"/>
            </a:pPr>
            <a:endParaRPr lang="en-US" sz="2200" dirty="0"/>
          </a:p>
          <a:p>
            <a:pPr>
              <a:buNone/>
            </a:pPr>
            <a:r>
              <a:rPr lang="en-US" sz="2200" b="1" dirty="0"/>
              <a:t>Formula:</a:t>
            </a:r>
          </a:p>
          <a:p>
            <a:pPr algn="ctr">
              <a:buNone/>
            </a:pPr>
            <a:r>
              <a:rPr lang="en-US" sz="2400" i="1" dirty="0"/>
              <a:t>Power Factor (PF) = cos(φ) = P / S</a:t>
            </a:r>
          </a:p>
          <a:p>
            <a:pPr algn="ctr">
              <a:buNone/>
            </a:pPr>
            <a:endParaRPr lang="en-US" sz="2400" i="1" dirty="0"/>
          </a:p>
          <a:p>
            <a:pPr>
              <a:buFont typeface="Arial" panose="020B0604020202020204" pitchFamily="34" charset="0"/>
              <a:buChar char="•"/>
            </a:pPr>
            <a:r>
              <a:rPr lang="en-US" sz="2200" dirty="0"/>
              <a:t>PF ranges from 0 to 1</a:t>
            </a:r>
          </a:p>
          <a:p>
            <a:pPr marL="742950" lvl="1" indent="-285750">
              <a:buFont typeface="Arial" panose="020B0604020202020204" pitchFamily="34" charset="0"/>
              <a:buChar char="•"/>
            </a:pPr>
            <a:r>
              <a:rPr lang="en-US" sz="2200" dirty="0"/>
              <a:t>PF = 1 → purely resistive (ideal)</a:t>
            </a:r>
          </a:p>
          <a:p>
            <a:pPr marL="742950" lvl="1" indent="-285750">
              <a:buFont typeface="Arial" panose="020B0604020202020204" pitchFamily="34" charset="0"/>
              <a:buChar char="•"/>
            </a:pPr>
            <a:r>
              <a:rPr lang="en-US" sz="2200" dirty="0"/>
              <a:t>PF &lt; 1 → reactive power is present</a:t>
            </a:r>
          </a:p>
          <a:p>
            <a:pPr marL="742950" lvl="1" indent="-285750">
              <a:buFont typeface="Arial" panose="020B0604020202020204" pitchFamily="34" charset="0"/>
              <a:buChar char="•"/>
            </a:pPr>
            <a:endParaRPr lang="en-US" sz="2200" dirty="0"/>
          </a:p>
          <a:p>
            <a:pPr>
              <a:buFont typeface="Arial" panose="020B0604020202020204" pitchFamily="34" charset="0"/>
              <a:buChar char="•"/>
            </a:pPr>
            <a:r>
              <a:rPr lang="en-US" sz="2200" dirty="0"/>
              <a:t>Can be leading (capacitive) or lagging (inductive)</a:t>
            </a:r>
          </a:p>
        </p:txBody>
      </p:sp>
    </p:spTree>
    <p:extLst>
      <p:ext uri="{BB962C8B-B14F-4D97-AF65-F5344CB8AC3E}">
        <p14:creationId xmlns:p14="http://schemas.microsoft.com/office/powerpoint/2010/main" val="288030177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89DA-B97F-9AEB-3D4C-0641E34EB37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0AE9C8-227B-C03E-3DE8-0BF07DC4E16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0C5F530-2915-FD76-0DDE-C6ED7C4F358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DCD2AC57-4274-FB30-523A-0188CDF99990}"/>
              </a:ext>
            </a:extLst>
          </p:cNvPr>
          <p:cNvSpPr>
            <a:spLocks noChangeArrowheads="1"/>
          </p:cNvSpPr>
          <p:nvPr>
            <p:custDataLst>
              <p:tags r:id="Rff21b8abb5d442ff"/>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Significance of Power Factor</a:t>
            </a:r>
            <a:endParaRPr lang="en-IN" altLang="en-US" sz="3000" dirty="0">
              <a:solidFill>
                <a:schemeClr val="bg1"/>
              </a:solidFill>
              <a:latin typeface="+mn-lt"/>
              <a:cs typeface="Times New Roman" panose="02020603050405020304" pitchFamily="18" charset="0"/>
            </a:endParaRPr>
          </a:p>
        </p:txBody>
      </p:sp>
      <p:sp>
        <p:nvSpPr>
          <p:cNvPr id="6" name="Rectangle 1">
            <a:extLst>
              <a:ext uri="{FF2B5EF4-FFF2-40B4-BE49-F238E27FC236}">
                <a16:creationId xmlns:a16="http://schemas.microsoft.com/office/drawing/2014/main" id="{3375561D-CEB9-09BD-E556-D9CA199226B2}"/>
              </a:ext>
            </a:extLst>
          </p:cNvPr>
          <p:cNvSpPr>
            <a:spLocks noChangeArrowheads="1"/>
          </p:cNvSpPr>
          <p:nvPr/>
        </p:nvSpPr>
        <p:spPr bwMode="auto">
          <a:xfrm>
            <a:off x="729465" y="1825728"/>
            <a:ext cx="715536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Higher PF means better efficiency and reduced power losses.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Low PF results in: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Increased current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Larger conductor sizes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Higher losses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Voltage drops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Industries are penalized for low PF – hence power factor correction is common using capacitor banks or synchronous condensers.</a:t>
            </a:r>
          </a:p>
        </p:txBody>
      </p:sp>
    </p:spTree>
    <p:extLst>
      <p:ext uri="{BB962C8B-B14F-4D97-AF65-F5344CB8AC3E}">
        <p14:creationId xmlns:p14="http://schemas.microsoft.com/office/powerpoint/2010/main" val="235343899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754E-272D-31E1-ADF4-F977E64683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596AD3-4DF9-9CF0-C436-A70E22EB43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6DD0F52-C27F-3F91-093F-A31921DDDA4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EA1B085-9D42-ADCF-B27E-E9F6284A9C43}"/>
              </a:ext>
            </a:extLst>
          </p:cNvPr>
          <p:cNvSpPr>
            <a:spLocks noChangeArrowheads="1"/>
          </p:cNvSpPr>
          <p:nvPr>
            <p:custDataLst>
              <p:tags r:id="Rc3d3eed19a9b49b5"/>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6" name="Rectangle 2">
            <a:extLst>
              <a:ext uri="{FF2B5EF4-FFF2-40B4-BE49-F238E27FC236}">
                <a16:creationId xmlns:a16="http://schemas.microsoft.com/office/drawing/2014/main" id="{06B1B3AA-CA67-285E-372F-9E7A61147CF7}"/>
              </a:ext>
            </a:extLst>
          </p:cNvPr>
          <p:cNvSpPr>
            <a:spLocks noChangeArrowheads="1"/>
          </p:cNvSpPr>
          <p:nvPr/>
        </p:nvSpPr>
        <p:spPr bwMode="auto">
          <a:xfrm>
            <a:off x="639217" y="2049776"/>
            <a:ext cx="7356298" cy="410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Active Power (P): Useful power consumed (W).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Reactive Power (Q): Oscillating power (VAR).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Apparent Power (S): Total supplied power (VA).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Factor (PF): Efficiency ratio (cos(φ)).</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Power Triangle helps visualize the relationship among P, Q, and 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Efficient systems aim for high power factor to reduce losses and improve performance.</a:t>
            </a:r>
          </a:p>
        </p:txBody>
      </p:sp>
    </p:spTree>
    <p:extLst>
      <p:ext uri="{BB962C8B-B14F-4D97-AF65-F5344CB8AC3E}">
        <p14:creationId xmlns:p14="http://schemas.microsoft.com/office/powerpoint/2010/main" val="161842870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28211" y="1981567"/>
            <a:ext cx="7887578" cy="1323439"/>
          </a:xfrm>
          <a:prstGeom prst="rect">
            <a:avLst/>
          </a:prstGeom>
        </p:spPr>
        <p:txBody>
          <a:bodyPr wrap="square">
            <a:spAutoFit/>
          </a:bodyPr>
          <a:lstStyle/>
          <a:p>
            <a:pPr algn="ct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Concept of three phase supply and phase sequence</a:t>
            </a: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Meet Soni</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46067" y="1763294"/>
            <a:ext cx="6074228" cy="646331"/>
          </a:xfrm>
          <a:prstGeom prst="rect">
            <a:avLst/>
          </a:prstGeom>
          <a:noFill/>
        </p:spPr>
        <p:txBody>
          <a:bodyPr wrap="square">
            <a:spAutoFit/>
          </a:bodyPr>
          <a:lstStyle/>
          <a:p>
            <a:r>
              <a:rPr lang="en-US" b="1" dirty="0">
                <a:solidFill>
                  <a:schemeClr val="bg1"/>
                </a:solidFill>
              </a:rPr>
              <a:t>Content </a:t>
            </a:r>
          </a:p>
          <a:p>
            <a:endParaRPr lang="en-US" dirty="0"/>
          </a:p>
        </p:txBody>
      </p:sp>
      <p:sp>
        <p:nvSpPr>
          <p:cNvPr id="4" name="Rectangle 3">
            <a:extLst>
              <a:ext uri="{FF2B5EF4-FFF2-40B4-BE49-F238E27FC236}">
                <a16:creationId xmlns:a16="http://schemas.microsoft.com/office/drawing/2014/main" id="{CB077DD7-7B57-6F87-2A15-BA612E588A40}"/>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5AB637A6-62EE-B3B2-7BAC-34FB4DBA9092}"/>
              </a:ext>
            </a:extLst>
          </p:cNvPr>
          <p:cNvSpPr>
            <a:spLocks noChangeArrowheads="1"/>
          </p:cNvSpPr>
          <p:nvPr/>
        </p:nvSpPr>
        <p:spPr bwMode="auto">
          <a:xfrm>
            <a:off x="429300" y="2409625"/>
            <a:ext cx="6107762"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Introduction to Three-Phase System …………… 3</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Advantages of Three-Phase Supply …………….. 4</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Construction and Generation ……………………… 5</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Phase Sequence …………………………………………. 6</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Types of Connections …………………………………. 7</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Significance of Phase Sequence ………………….. 8</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Applications ……………………………………………….. 9</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rPr>
              <a:t>Key Points / Summary ……………………………….. 10</a:t>
            </a:r>
          </a:p>
        </p:txBody>
      </p:sp>
    </p:spTree>
    <p:extLst>
      <p:ext uri="{BB962C8B-B14F-4D97-AF65-F5344CB8AC3E}">
        <p14:creationId xmlns:p14="http://schemas.microsoft.com/office/powerpoint/2010/main" val="227883556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9d157d064bda480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Introduction to Three-Phase System</a:t>
            </a:r>
            <a:endParaRPr lang="en-IN" altLang="en-US" sz="3000" dirty="0">
              <a:solidFill>
                <a:schemeClr val="bg1"/>
              </a:solidFill>
              <a:latin typeface="+mn-lt"/>
              <a:cs typeface="Times New Roman" panose="02020603050405020304" pitchFamily="18" charset="0"/>
            </a:endParaRPr>
          </a:p>
        </p:txBody>
      </p:sp>
      <p:sp>
        <p:nvSpPr>
          <p:cNvPr id="5" name="Rectangle 1">
            <a:extLst>
              <a:ext uri="{FF2B5EF4-FFF2-40B4-BE49-F238E27FC236}">
                <a16:creationId xmlns:a16="http://schemas.microsoft.com/office/drawing/2014/main" id="{DAAAE6C1-AADA-EC31-1C5B-C0B1FFCB60A9}"/>
              </a:ext>
            </a:extLst>
          </p:cNvPr>
          <p:cNvSpPr>
            <a:spLocks noChangeArrowheads="1"/>
          </p:cNvSpPr>
          <p:nvPr/>
        </p:nvSpPr>
        <p:spPr bwMode="auto">
          <a:xfrm>
            <a:off x="539308" y="4565125"/>
            <a:ext cx="779148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A three-phase system consists of three alternating voltages of the same frequency, 120° phase difference apart.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Generated using a three-phase alternator with three windings 120° apart.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Commonly used in industrial and power systems for efficient energy transfer.</a:t>
            </a:r>
          </a:p>
        </p:txBody>
      </p:sp>
      <p:pic>
        <p:nvPicPr>
          <p:cNvPr id="6" name="Picture 5">
            <a:extLst>
              <a:ext uri="{FF2B5EF4-FFF2-40B4-BE49-F238E27FC236}">
                <a16:creationId xmlns:a16="http://schemas.microsoft.com/office/drawing/2014/main" id="{DB45BE23-A6ED-2277-6C3A-4F6C14974EA2}"/>
              </a:ext>
            </a:extLst>
          </p:cNvPr>
          <p:cNvPicPr>
            <a:picLocks noChangeAspect="1"/>
          </p:cNvPicPr>
          <p:nvPr/>
        </p:nvPicPr>
        <p:blipFill>
          <a:blip r:embed="R3c08004000984806">
            <a:extLst>
              <a:ext uri="{28A0092B-C50C-407E-A947-70E740481C1C}">
                <a14:useLocalDpi xmlns:a14="http://schemas.microsoft.com/office/drawing/2010/main" val="0"/>
              </a:ext>
            </a:extLst>
          </a:blip>
          <a:srcRect/>
          <a:stretch>
            <a:fillRect/>
          </a:stretch>
        </p:blipFill>
        <p:spPr bwMode="auto">
          <a:xfrm>
            <a:off x="1304144" y="1844211"/>
            <a:ext cx="6535712" cy="2562897"/>
          </a:xfrm>
          <a:prstGeom prst="rect">
            <a:avLst/>
          </a:prstGeom>
          <a:noFill/>
          <a:ln>
            <a:noFill/>
          </a:ln>
        </p:spPr>
      </p:pic>
      <p:sp>
        <p:nvSpPr>
          <p:cNvPr id="8" name="TextBox 7">
            <a:extLst>
              <a:ext uri="{FF2B5EF4-FFF2-40B4-BE49-F238E27FC236}">
                <a16:creationId xmlns:a16="http://schemas.microsoft.com/office/drawing/2014/main" id="{40F30FBE-49E2-782A-3DDC-959B2711D376}"/>
              </a:ext>
            </a:extLst>
          </p:cNvPr>
          <p:cNvSpPr txBox="1"/>
          <p:nvPr/>
        </p:nvSpPr>
        <p:spPr>
          <a:xfrm>
            <a:off x="2117866" y="4303181"/>
            <a:ext cx="4579494" cy="339773"/>
          </a:xfrm>
          <a:prstGeom prst="rect">
            <a:avLst/>
          </a:prstGeom>
          <a:noFill/>
        </p:spPr>
        <p:txBody>
          <a:bodyPr wrap="square">
            <a:spAutoFit/>
          </a:bodyPr>
          <a:lstStyle/>
          <a:p>
            <a:pPr algn="ctr">
              <a:lnSpc>
                <a:spcPct val="150000"/>
              </a:lnSpc>
            </a:pPr>
            <a:r>
              <a:rPr lang="en-IN" sz="1200" dirty="0">
                <a:effectLst/>
                <a:latin typeface="Calibri" panose="020F0502020204030204" pitchFamily="34" charset="0"/>
                <a:ea typeface="Times New Roman" panose="02020603050405020304" pitchFamily="18" charset="0"/>
              </a:rPr>
              <a:t>Figure 2.1 Three Phase AC supply waveform</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6598175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D6FAA-121F-3CFB-A730-B8DACE7FA7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9FCFD8-74D1-C2F6-B1BA-CDAEA271694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15721F7-1CE0-85B6-0277-EC152C980F3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753A9B8C-9EB5-4896-DC67-CD513B21D08B}"/>
              </a:ext>
            </a:extLst>
          </p:cNvPr>
          <p:cNvSpPr>
            <a:spLocks noChangeArrowheads="1"/>
          </p:cNvSpPr>
          <p:nvPr>
            <p:custDataLst>
              <p:tags r:id="R127d2add99384fc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Advantages of Three-Phase Supply</a:t>
            </a:r>
            <a:endParaRPr lang="en-IN" altLang="en-US" sz="3000"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C3F52490-2D8E-C62B-F7D8-528DAFEC652B}"/>
              </a:ext>
            </a:extLst>
          </p:cNvPr>
          <p:cNvSpPr>
            <a:spLocks noChangeArrowheads="1"/>
          </p:cNvSpPr>
          <p:nvPr/>
        </p:nvSpPr>
        <p:spPr bwMode="auto">
          <a:xfrm>
            <a:off x="695240" y="2437099"/>
            <a:ext cx="742474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More power delivered for the same current than single-phase.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Constant power output – unlike pulsating power in single-phase.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Requires less conductor material for transmission.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Motors run more smoothly and efficiently.</a:t>
            </a:r>
          </a:p>
        </p:txBody>
      </p:sp>
    </p:spTree>
    <p:extLst>
      <p:ext uri="{BB962C8B-B14F-4D97-AF65-F5344CB8AC3E}">
        <p14:creationId xmlns:p14="http://schemas.microsoft.com/office/powerpoint/2010/main" val="397225835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1DB8-CF0B-1D65-2232-3A4030DBD5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171D89-2EC3-F2E4-CB0A-089C1C1A512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C766C4F-8DEB-FB9C-69C6-907A3C59625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9744746-9406-8DF7-79EB-668DB1AFF902}"/>
              </a:ext>
            </a:extLst>
          </p:cNvPr>
          <p:cNvSpPr>
            <a:spLocks noChangeArrowheads="1"/>
          </p:cNvSpPr>
          <p:nvPr>
            <p:custDataLst>
              <p:tags r:id="R933ceaf3e07441b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Construction and Generation</a:t>
            </a:r>
            <a:endParaRPr lang="en-IN" altLang="en-US" sz="3000"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4DE24E5E-AE07-2AB1-6CDD-E8B6583BA8F5}"/>
              </a:ext>
            </a:extLst>
          </p:cNvPr>
          <p:cNvSpPr txBox="1"/>
          <p:nvPr/>
        </p:nvSpPr>
        <p:spPr>
          <a:xfrm>
            <a:off x="729465" y="1997838"/>
            <a:ext cx="7356297" cy="4247317"/>
          </a:xfrm>
          <a:prstGeom prst="rect">
            <a:avLst/>
          </a:prstGeom>
          <a:noFill/>
        </p:spPr>
        <p:txBody>
          <a:bodyPr wrap="square">
            <a:spAutoFit/>
          </a:bodyPr>
          <a:lstStyle/>
          <a:p>
            <a:pPr>
              <a:buFont typeface="Arial" panose="020B0604020202020204" pitchFamily="34" charset="0"/>
              <a:buChar char="•"/>
            </a:pPr>
            <a:r>
              <a:rPr lang="en-IN" sz="2200" dirty="0"/>
              <a:t>Generated by rotating a magnetic field inside a stator with three windings placed 120° apart.</a:t>
            </a:r>
          </a:p>
          <a:p>
            <a:pPr>
              <a:buFont typeface="Arial" panose="020B0604020202020204" pitchFamily="34" charset="0"/>
              <a:buChar char="•"/>
            </a:pPr>
            <a:endParaRPr lang="en-IN" sz="2200" dirty="0"/>
          </a:p>
          <a:p>
            <a:pPr>
              <a:buFont typeface="Arial" panose="020B0604020202020204" pitchFamily="34" charset="0"/>
              <a:buChar char="•"/>
            </a:pPr>
            <a:r>
              <a:rPr lang="en-IN" sz="2200" dirty="0"/>
              <a:t>The output voltages are:</a:t>
            </a:r>
          </a:p>
          <a:p>
            <a:pPr marL="742950" lvl="1" indent="-285750">
              <a:buFont typeface="Arial" panose="020B0604020202020204" pitchFamily="34" charset="0"/>
              <a:buChar char="•"/>
            </a:pPr>
            <a:r>
              <a:rPr lang="en-IN" sz="2200" dirty="0"/>
              <a:t>Balanced: Equal magnitude, 120° apart.</a:t>
            </a:r>
          </a:p>
          <a:p>
            <a:pPr marL="742950" lvl="1" indent="-285750">
              <a:buFont typeface="Arial" panose="020B0604020202020204" pitchFamily="34" charset="0"/>
              <a:buChar char="•"/>
            </a:pPr>
            <a:r>
              <a:rPr lang="en-IN" sz="2200" dirty="0"/>
              <a:t>Unbalanced: Unequal magnitudes or angle deviations (not preferred).</a:t>
            </a:r>
          </a:p>
          <a:p>
            <a:pPr marL="742950" lvl="1" indent="-285750">
              <a:buFont typeface="Arial" panose="020B0604020202020204" pitchFamily="34" charset="0"/>
              <a:buChar char="•"/>
            </a:pPr>
            <a:endParaRPr lang="en-IN" sz="2200" dirty="0"/>
          </a:p>
          <a:p>
            <a:pPr marL="342900" indent="-342900">
              <a:buFont typeface="Arial" panose="020B0604020202020204" pitchFamily="34" charset="0"/>
              <a:buChar char="•"/>
            </a:pPr>
            <a:r>
              <a:rPr lang="en-IN" sz="2200" dirty="0"/>
              <a:t>Voltage Equations (Balanced):</a:t>
            </a:r>
          </a:p>
          <a:p>
            <a:pPr algn="ctr"/>
            <a:r>
              <a:rPr lang="en-IN" sz="2400" i="1" dirty="0"/>
              <a:t>V</a:t>
            </a:r>
            <a:r>
              <a:rPr lang="en-IN" sz="1600" i="1" dirty="0"/>
              <a:t>R</a:t>
            </a:r>
            <a:r>
              <a:rPr lang="en-IN" sz="2400" i="1" dirty="0"/>
              <a:t>(t) = </a:t>
            </a:r>
            <a:r>
              <a:rPr lang="en-IN" sz="2400" i="1" dirty="0" err="1"/>
              <a:t>Vm</a:t>
            </a:r>
            <a:r>
              <a:rPr lang="en-IN" sz="2400" i="1" dirty="0"/>
              <a:t> × sin(</a:t>
            </a:r>
            <a:r>
              <a:rPr lang="el-GR" sz="2400" i="1" dirty="0"/>
              <a:t>ω</a:t>
            </a:r>
            <a:r>
              <a:rPr lang="en-IN" sz="2400" i="1" dirty="0"/>
              <a:t>t)</a:t>
            </a:r>
          </a:p>
          <a:p>
            <a:pPr algn="ctr"/>
            <a:r>
              <a:rPr lang="en-IN" sz="2400" i="1" dirty="0"/>
              <a:t>V</a:t>
            </a:r>
            <a:r>
              <a:rPr lang="en-IN" sz="1600" i="1" dirty="0"/>
              <a:t>Y</a:t>
            </a:r>
            <a:r>
              <a:rPr lang="en-IN" sz="2400" i="1" dirty="0"/>
              <a:t>(t) = </a:t>
            </a:r>
            <a:r>
              <a:rPr lang="en-IN" sz="2400" i="1" dirty="0" err="1"/>
              <a:t>Vm</a:t>
            </a:r>
            <a:r>
              <a:rPr lang="en-IN" sz="2400" i="1" dirty="0"/>
              <a:t> × sin(</a:t>
            </a:r>
            <a:r>
              <a:rPr lang="el-GR" sz="2400" i="1" dirty="0"/>
              <a:t>ω</a:t>
            </a:r>
            <a:r>
              <a:rPr lang="en-IN" sz="2400" i="1" dirty="0"/>
              <a:t>t − 120°)</a:t>
            </a:r>
          </a:p>
          <a:p>
            <a:pPr algn="ctr"/>
            <a:r>
              <a:rPr lang="en-IN" sz="2400" i="1" dirty="0"/>
              <a:t>V</a:t>
            </a:r>
            <a:r>
              <a:rPr lang="en-IN" sz="1600" i="1" dirty="0"/>
              <a:t>B</a:t>
            </a:r>
            <a:r>
              <a:rPr lang="en-IN" sz="2400" i="1" dirty="0"/>
              <a:t>(t) = </a:t>
            </a:r>
            <a:r>
              <a:rPr lang="en-IN" sz="2400" i="1" dirty="0" err="1"/>
              <a:t>Vm</a:t>
            </a:r>
            <a:r>
              <a:rPr lang="en-IN" sz="2400" i="1" dirty="0"/>
              <a:t> × sin(</a:t>
            </a:r>
            <a:r>
              <a:rPr lang="el-GR" sz="2400" i="1" dirty="0"/>
              <a:t>ω</a:t>
            </a:r>
            <a:r>
              <a:rPr lang="en-IN" sz="2400" i="1" dirty="0"/>
              <a:t>t − 240°)</a:t>
            </a:r>
          </a:p>
        </p:txBody>
      </p:sp>
    </p:spTree>
    <p:extLst>
      <p:ext uri="{BB962C8B-B14F-4D97-AF65-F5344CB8AC3E}">
        <p14:creationId xmlns:p14="http://schemas.microsoft.com/office/powerpoint/2010/main" val="126102866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4A45F-C2E1-A5CF-E070-C87DD44C8D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20DB59-FAB1-0375-E60E-52E606A9D91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F43F9C7-A935-4BA3-5244-B4F963ED149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2CF8B90C-1D8F-8C85-B75C-3B50861CCA53}"/>
              </a:ext>
            </a:extLst>
          </p:cNvPr>
          <p:cNvSpPr>
            <a:spLocks noChangeArrowheads="1"/>
          </p:cNvSpPr>
          <p:nvPr>
            <p:custDataLst>
              <p:tags r:id="Rb7684bcaeafa46cf"/>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Phase Sequence</a:t>
            </a:r>
            <a:endParaRPr lang="en-IN" altLang="en-US" sz="3000"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A694A8C6-CCAD-52C7-EA25-7B269B160F2E}"/>
              </a:ext>
            </a:extLst>
          </p:cNvPr>
          <p:cNvSpPr>
            <a:spLocks noChangeArrowheads="1"/>
          </p:cNvSpPr>
          <p:nvPr/>
        </p:nvSpPr>
        <p:spPr bwMode="auto">
          <a:xfrm>
            <a:off x="729465" y="2551753"/>
            <a:ext cx="735629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Phase sequence refers to the order in which the voltages attain their maximum positive values.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In a standard system, it is either:</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R → Y → B (Clockwise)</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rPr>
              <a:t>R → B → Y (Counterclockwise)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Phase sequence is crucial in rotating machinery (e.g., motors) as it determines rotation direction.</a:t>
            </a:r>
          </a:p>
        </p:txBody>
      </p:sp>
    </p:spTree>
    <p:extLst>
      <p:ext uri="{BB962C8B-B14F-4D97-AF65-F5344CB8AC3E}">
        <p14:creationId xmlns:p14="http://schemas.microsoft.com/office/powerpoint/2010/main" val="79374259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19425-802B-D743-E2C7-C3168BE5FF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ACAC26-A910-100E-CF65-7FC380B1535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0D50E77-364B-864A-AFB0-5627D57FD83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2226C45-BF4C-5509-8602-FA5016250203}"/>
              </a:ext>
            </a:extLst>
          </p:cNvPr>
          <p:cNvSpPr>
            <a:spLocks noChangeArrowheads="1"/>
          </p:cNvSpPr>
          <p:nvPr>
            <p:custDataLst>
              <p:tags r:id="R4df95ddaffdd4a0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Types of Connections</a:t>
            </a:r>
            <a:endParaRPr lang="en-IN" altLang="en-US" sz="3000"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0DB0FA9A-D253-8F50-A7A6-9CEE69622D58}"/>
              </a:ext>
            </a:extLst>
          </p:cNvPr>
          <p:cNvSpPr txBox="1"/>
          <p:nvPr/>
        </p:nvSpPr>
        <p:spPr>
          <a:xfrm>
            <a:off x="835702" y="5372759"/>
            <a:ext cx="3931170" cy="1015663"/>
          </a:xfrm>
          <a:prstGeom prst="rect">
            <a:avLst/>
          </a:prstGeom>
          <a:noFill/>
        </p:spPr>
        <p:txBody>
          <a:bodyPr wrap="square">
            <a:spAutoFit/>
          </a:bodyPr>
          <a:lstStyle/>
          <a:p>
            <a:pPr algn="ctr">
              <a:buNone/>
            </a:pPr>
            <a:r>
              <a:rPr lang="en-US" sz="2000" b="1" dirty="0"/>
              <a:t>Star (Y) Connection</a:t>
            </a:r>
            <a:r>
              <a:rPr lang="en-US" sz="2000" dirty="0"/>
              <a:t>:</a:t>
            </a:r>
          </a:p>
          <a:p>
            <a:pPr algn="ctr">
              <a:buFont typeface="Arial" panose="020B0604020202020204" pitchFamily="34" charset="0"/>
              <a:buChar char="•"/>
            </a:pPr>
            <a:r>
              <a:rPr lang="en-US" sz="2000" dirty="0"/>
              <a:t>3 phase wires + 1 neutral</a:t>
            </a:r>
          </a:p>
          <a:p>
            <a:pPr algn="ctr">
              <a:buFont typeface="Arial" panose="020B0604020202020204" pitchFamily="34" charset="0"/>
              <a:buChar char="•"/>
            </a:pPr>
            <a:r>
              <a:rPr lang="en-US" sz="2000" dirty="0"/>
              <a:t>Line voltage = √3 × Phase voltage</a:t>
            </a:r>
          </a:p>
        </p:txBody>
      </p:sp>
      <p:sp>
        <p:nvSpPr>
          <p:cNvPr id="10" name="TextBox 9">
            <a:extLst>
              <a:ext uri="{FF2B5EF4-FFF2-40B4-BE49-F238E27FC236}">
                <a16:creationId xmlns:a16="http://schemas.microsoft.com/office/drawing/2014/main" id="{F3C6A39E-62A1-4FE0-5287-E385C502082C}"/>
              </a:ext>
            </a:extLst>
          </p:cNvPr>
          <p:cNvSpPr txBox="1"/>
          <p:nvPr/>
        </p:nvSpPr>
        <p:spPr>
          <a:xfrm>
            <a:off x="4564506" y="5372758"/>
            <a:ext cx="4579494" cy="1015663"/>
          </a:xfrm>
          <a:prstGeom prst="rect">
            <a:avLst/>
          </a:prstGeom>
          <a:noFill/>
        </p:spPr>
        <p:txBody>
          <a:bodyPr wrap="square">
            <a:spAutoFit/>
          </a:bodyPr>
          <a:lstStyle/>
          <a:p>
            <a:pPr algn="ctr">
              <a:buNone/>
            </a:pPr>
            <a:r>
              <a:rPr lang="en-US" sz="2000" b="1" dirty="0"/>
              <a:t>Delta (Δ) Connection</a:t>
            </a:r>
            <a:r>
              <a:rPr lang="en-US" sz="2000" dirty="0"/>
              <a:t>:</a:t>
            </a:r>
          </a:p>
          <a:p>
            <a:pPr algn="ctr">
              <a:buFont typeface="Arial" panose="020B0604020202020204" pitchFamily="34" charset="0"/>
              <a:buChar char="•"/>
            </a:pPr>
            <a:r>
              <a:rPr lang="en-US" sz="2000" dirty="0"/>
              <a:t>3 phase wires only</a:t>
            </a:r>
          </a:p>
          <a:p>
            <a:pPr algn="ctr">
              <a:buFont typeface="Arial" panose="020B0604020202020204" pitchFamily="34" charset="0"/>
              <a:buChar char="•"/>
            </a:pPr>
            <a:r>
              <a:rPr lang="en-US" sz="2000" dirty="0"/>
              <a:t>Line voltage = Phase voltage</a:t>
            </a:r>
          </a:p>
        </p:txBody>
      </p:sp>
      <p:pic>
        <p:nvPicPr>
          <p:cNvPr id="11" name="Picture 10">
            <a:extLst>
              <a:ext uri="{FF2B5EF4-FFF2-40B4-BE49-F238E27FC236}">
                <a16:creationId xmlns:a16="http://schemas.microsoft.com/office/drawing/2014/main" id="{AACC4778-59C3-C14B-F818-0BB97AD098EE}"/>
              </a:ext>
            </a:extLst>
          </p:cNvPr>
          <p:cNvPicPr>
            <a:picLocks noChangeAspect="1"/>
          </p:cNvPicPr>
          <p:nvPr/>
        </p:nvPicPr>
        <p:blipFill>
          <a:blip r:embed="Rff0cbb9f0afd42ce"/>
          <a:stretch>
            <a:fillRect/>
          </a:stretch>
        </p:blipFill>
        <p:spPr>
          <a:xfrm>
            <a:off x="975490" y="2186084"/>
            <a:ext cx="3162300" cy="2844800"/>
          </a:xfrm>
          <a:prstGeom prst="rect">
            <a:avLst/>
          </a:prstGeom>
        </p:spPr>
      </p:pic>
      <p:pic>
        <p:nvPicPr>
          <p:cNvPr id="12" name="Picture 11">
            <a:extLst>
              <a:ext uri="{FF2B5EF4-FFF2-40B4-BE49-F238E27FC236}">
                <a16:creationId xmlns:a16="http://schemas.microsoft.com/office/drawing/2014/main" id="{F05728AE-88D3-EB6A-E842-12877605B884}"/>
              </a:ext>
            </a:extLst>
          </p:cNvPr>
          <p:cNvPicPr>
            <a:picLocks noChangeAspect="1"/>
          </p:cNvPicPr>
          <p:nvPr/>
        </p:nvPicPr>
        <p:blipFill>
          <a:blip r:embed="R56d56456e655425b"/>
          <a:stretch>
            <a:fillRect/>
          </a:stretch>
        </p:blipFill>
        <p:spPr>
          <a:xfrm>
            <a:off x="4766872" y="2287684"/>
            <a:ext cx="3924300" cy="2743200"/>
          </a:xfrm>
          <a:prstGeom prst="rect">
            <a:avLst/>
          </a:prstGeom>
        </p:spPr>
      </p:pic>
    </p:spTree>
    <p:extLst>
      <p:ext uri="{BB962C8B-B14F-4D97-AF65-F5344CB8AC3E}">
        <p14:creationId xmlns:p14="http://schemas.microsoft.com/office/powerpoint/2010/main" val="42482903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1CE1C-5638-8938-0372-8873FEB134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C71012-8CA3-B773-BDEB-F1CAB67B50C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9C2C6F2-9B1E-3419-8045-D8A418021D8A}"/>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605D005-46AE-6613-524B-A392C2E951C9}"/>
              </a:ext>
            </a:extLst>
          </p:cNvPr>
          <p:cNvSpPr>
            <a:spLocks noChangeArrowheads="1"/>
          </p:cNvSpPr>
          <p:nvPr>
            <p:custDataLst>
              <p:tags r:id="R1717b838ef8c404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Significance of Phase Sequence</a:t>
            </a:r>
            <a:endParaRPr lang="en-IN" altLang="en-US" sz="3000" dirty="0">
              <a:solidFill>
                <a:schemeClr val="bg1"/>
              </a:solidFill>
              <a:latin typeface="+mn-lt"/>
              <a:cs typeface="Times New Roman" panose="02020603050405020304" pitchFamily="18" charset="0"/>
            </a:endParaRPr>
          </a:p>
        </p:txBody>
      </p:sp>
      <p:sp>
        <p:nvSpPr>
          <p:cNvPr id="3" name="Rectangle 1">
            <a:extLst>
              <a:ext uri="{FF2B5EF4-FFF2-40B4-BE49-F238E27FC236}">
                <a16:creationId xmlns:a16="http://schemas.microsoft.com/office/drawing/2014/main" id="{ED814939-4ECF-63A6-2F32-C6EB30DDA052}"/>
              </a:ext>
            </a:extLst>
          </p:cNvPr>
          <p:cNvSpPr>
            <a:spLocks noChangeArrowheads="1"/>
          </p:cNvSpPr>
          <p:nvPr/>
        </p:nvSpPr>
        <p:spPr bwMode="auto">
          <a:xfrm>
            <a:off x="998278" y="2372796"/>
            <a:ext cx="708748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chemeClr val="tx1"/>
                </a:solidFill>
                <a:effectLst/>
              </a:rPr>
              <a:t>Incorrect phase sequence can: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Reverse motor direction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Damage sensitive equipment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chemeClr val="tx1"/>
                </a:solidFill>
                <a:effectLst/>
              </a:rPr>
              <a:t>Critical 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Synchronizing alternators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Phase-sensitive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rPr>
              <a:t>Control circuits and automation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88030177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89DA-B97F-9AEB-3D4C-0641E34EB37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0AE9C8-227B-C03E-3DE8-0BF07DC4E16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0C5F530-2915-FD76-0DDE-C6ED7C4F358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DCD2AC57-4274-FB30-523A-0188CDF99990}"/>
              </a:ext>
            </a:extLst>
          </p:cNvPr>
          <p:cNvSpPr>
            <a:spLocks noChangeArrowheads="1"/>
          </p:cNvSpPr>
          <p:nvPr>
            <p:custDataLst>
              <p:tags r:id="Rd2b377cee2b94ef9"/>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US" altLang="en-US" sz="3000" b="1" dirty="0">
                <a:solidFill>
                  <a:schemeClr val="bg1"/>
                </a:solidFill>
                <a:latin typeface="+mn-lt"/>
                <a:cs typeface="Calibri" panose="020F0502020204030204" pitchFamily="34" charset="0"/>
              </a:rPr>
              <a:t>Applications</a:t>
            </a:r>
            <a:endParaRPr lang="en-IN" altLang="en-US" sz="3000" dirty="0">
              <a:solidFill>
                <a:schemeClr val="bg1"/>
              </a:solidFill>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6ACA6D8B-F839-9EDE-20B4-430BCD68CC9E}"/>
              </a:ext>
            </a:extLst>
          </p:cNvPr>
          <p:cNvSpPr txBox="1"/>
          <p:nvPr/>
        </p:nvSpPr>
        <p:spPr>
          <a:xfrm>
            <a:off x="729465" y="2128602"/>
            <a:ext cx="7356297" cy="2579039"/>
          </a:xfrm>
          <a:prstGeom prst="rect">
            <a:avLst/>
          </a:prstGeom>
          <a:noFill/>
        </p:spPr>
        <p:txBody>
          <a:bodyPr wrap="square">
            <a:spAutoFit/>
          </a:bodyPr>
          <a:lstStyle/>
          <a:p>
            <a:pPr algn="just">
              <a:lnSpc>
                <a:spcPct val="150000"/>
              </a:lnSpc>
              <a:buFont typeface="Arial" panose="020B0604020202020204" pitchFamily="34" charset="0"/>
              <a:buChar char="•"/>
            </a:pPr>
            <a:r>
              <a:rPr lang="en-US" sz="2200" dirty="0"/>
              <a:t>Power distribution systems</a:t>
            </a:r>
          </a:p>
          <a:p>
            <a:pPr algn="just">
              <a:lnSpc>
                <a:spcPct val="150000"/>
              </a:lnSpc>
              <a:buFont typeface="Arial" panose="020B0604020202020204" pitchFamily="34" charset="0"/>
              <a:buChar char="•"/>
            </a:pPr>
            <a:r>
              <a:rPr lang="en-US" sz="2200" dirty="0"/>
              <a:t>Three-phase motors and generators</a:t>
            </a:r>
          </a:p>
          <a:p>
            <a:pPr algn="just">
              <a:lnSpc>
                <a:spcPct val="150000"/>
              </a:lnSpc>
              <a:buFont typeface="Arial" panose="020B0604020202020204" pitchFamily="34" charset="0"/>
              <a:buChar char="•"/>
            </a:pPr>
            <a:r>
              <a:rPr lang="en-US" sz="2200" dirty="0"/>
              <a:t>Heavy industrial loads</a:t>
            </a:r>
          </a:p>
          <a:p>
            <a:pPr algn="just">
              <a:lnSpc>
                <a:spcPct val="150000"/>
              </a:lnSpc>
              <a:buFont typeface="Arial" panose="020B0604020202020204" pitchFamily="34" charset="0"/>
              <a:buChar char="•"/>
            </a:pPr>
            <a:r>
              <a:rPr lang="en-US" sz="2200" dirty="0"/>
              <a:t>HVAC systems</a:t>
            </a:r>
          </a:p>
          <a:p>
            <a:pPr algn="just">
              <a:lnSpc>
                <a:spcPct val="150000"/>
              </a:lnSpc>
              <a:buFont typeface="Arial" panose="020B0604020202020204" pitchFamily="34" charset="0"/>
              <a:buChar char="•"/>
            </a:pPr>
            <a:r>
              <a:rPr lang="en-US" sz="2200" dirty="0"/>
              <a:t>Electric trains and escalators</a:t>
            </a:r>
          </a:p>
        </p:txBody>
      </p:sp>
    </p:spTree>
    <p:extLst>
      <p:ext uri="{BB962C8B-B14F-4D97-AF65-F5344CB8AC3E}">
        <p14:creationId xmlns:p14="http://schemas.microsoft.com/office/powerpoint/2010/main" val="235343899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754E-272D-31E1-ADF4-F977E64683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596AD3-4DF9-9CF0-C436-A70E22EB43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6DD0F52-C27F-3F91-093F-A31921DDDA4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EA1B085-9D42-ADCF-B27E-E9F6284A9C43}"/>
              </a:ext>
            </a:extLst>
          </p:cNvPr>
          <p:cNvSpPr>
            <a:spLocks noChangeArrowheads="1"/>
          </p:cNvSpPr>
          <p:nvPr>
            <p:custDataLst>
              <p:tags r:id="R48d80e22bfe5412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b="1" dirty="0">
                <a:solidFill>
                  <a:schemeClr val="bg1"/>
                </a:solidFill>
                <a:latin typeface="+mn-lt"/>
                <a:cs typeface="Calibri" panose="020F0502020204030204" pitchFamily="34" charset="0"/>
              </a:rPr>
              <a:t>Summary</a:t>
            </a:r>
            <a:endParaRPr lang="en-IN" altLang="en-US" b="1" dirty="0">
              <a:solidFill>
                <a:schemeClr val="bg1"/>
              </a:solidFill>
              <a:latin typeface="+mn-lt"/>
              <a:cs typeface="Calibri" panose="020F0502020204030204" pitchFamily="34" charset="0"/>
            </a:endParaRPr>
          </a:p>
        </p:txBody>
      </p:sp>
      <p:sp>
        <p:nvSpPr>
          <p:cNvPr id="5" name="TextBox 4">
            <a:extLst>
              <a:ext uri="{FF2B5EF4-FFF2-40B4-BE49-F238E27FC236}">
                <a16:creationId xmlns:a16="http://schemas.microsoft.com/office/drawing/2014/main" id="{EABA05B3-85ED-696C-05DD-E6D7BE1A5790}"/>
              </a:ext>
            </a:extLst>
          </p:cNvPr>
          <p:cNvSpPr txBox="1"/>
          <p:nvPr/>
        </p:nvSpPr>
        <p:spPr>
          <a:xfrm>
            <a:off x="729465" y="2024072"/>
            <a:ext cx="7530115" cy="3086871"/>
          </a:xfrm>
          <a:prstGeom prst="rect">
            <a:avLst/>
          </a:prstGeom>
          <a:noFill/>
        </p:spPr>
        <p:txBody>
          <a:bodyPr wrap="square">
            <a:spAutoFit/>
          </a:bodyPr>
          <a:lstStyle/>
          <a:p>
            <a:pPr algn="just">
              <a:lnSpc>
                <a:spcPct val="150000"/>
              </a:lnSpc>
              <a:buFont typeface="Arial" panose="020B0604020202020204" pitchFamily="34" charset="0"/>
              <a:buChar char="•"/>
            </a:pPr>
            <a:r>
              <a:rPr lang="en-US" sz="2200" dirty="0"/>
              <a:t>Three-phase supply uses 3 sinusoidal voltages 120° apart.</a:t>
            </a:r>
          </a:p>
          <a:p>
            <a:pPr algn="just">
              <a:lnSpc>
                <a:spcPct val="150000"/>
              </a:lnSpc>
              <a:buFont typeface="Arial" panose="020B0604020202020204" pitchFamily="34" charset="0"/>
              <a:buChar char="•"/>
            </a:pPr>
            <a:r>
              <a:rPr lang="en-US" sz="2200" dirty="0"/>
              <a:t>Delivers more power efficiently and continuously.</a:t>
            </a:r>
          </a:p>
          <a:p>
            <a:pPr algn="just">
              <a:lnSpc>
                <a:spcPct val="150000"/>
              </a:lnSpc>
              <a:buFont typeface="Arial" panose="020B0604020202020204" pitchFamily="34" charset="0"/>
              <a:buChar char="•"/>
            </a:pPr>
            <a:r>
              <a:rPr lang="en-US" sz="2200" dirty="0"/>
              <a:t>Phase sequence determines the direction of rotation in motors.</a:t>
            </a:r>
          </a:p>
          <a:p>
            <a:pPr algn="just">
              <a:lnSpc>
                <a:spcPct val="150000"/>
              </a:lnSpc>
              <a:buFont typeface="Arial" panose="020B0604020202020204" pitchFamily="34" charset="0"/>
              <a:buChar char="•"/>
            </a:pPr>
            <a:r>
              <a:rPr lang="en-US" sz="2200" dirty="0"/>
              <a:t>Star and Delta are two main connection types.</a:t>
            </a:r>
          </a:p>
          <a:p>
            <a:pPr algn="just">
              <a:lnSpc>
                <a:spcPct val="150000"/>
              </a:lnSpc>
              <a:buFont typeface="Arial" panose="020B0604020202020204" pitchFamily="34" charset="0"/>
              <a:buChar char="•"/>
            </a:pPr>
            <a:r>
              <a:rPr lang="en-US" sz="2200" dirty="0"/>
              <a:t>Understanding sequence is vital for system protection and synchronization.</a:t>
            </a:r>
          </a:p>
        </p:txBody>
      </p:sp>
    </p:spTree>
    <p:extLst>
      <p:ext uri="{BB962C8B-B14F-4D97-AF65-F5344CB8AC3E}">
        <p14:creationId xmlns:p14="http://schemas.microsoft.com/office/powerpoint/2010/main" val="161842870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tags/tag1.xml><?xml version="1.0" encoding="utf-8"?>
<p:tagLst xmlns:a="http://schemas.openxmlformats.org/drawingml/2006/main" xmlns:r="http://schemas.openxmlformats.org/officeDocument/2006/relationships" xmlns:p="http://schemas.openxmlformats.org/presentationml/2006/main">
  <p:tag name="AS_UNIQUEID" val="76"/>
</p:tagLst>
</file>

<file path=ppt/slides/tags/tag2.xml><?xml version="1.0" encoding="utf-8"?>
<p:tagLst xmlns:a="http://schemas.openxmlformats.org/drawingml/2006/main" xmlns:r="http://schemas.openxmlformats.org/officeDocument/2006/relationships" xmlns:p="http://schemas.openxmlformats.org/presentationml/2006/main">
  <p:tag name="AS_UNIQUEID" val="76"/>
</p:tagLst>
</file>

<file path=ppt/slides/tags/tag3.xml><?xml version="1.0" encoding="utf-8"?>
<p:tagLst xmlns:a="http://schemas.openxmlformats.org/drawingml/2006/main" xmlns:r="http://schemas.openxmlformats.org/officeDocument/2006/relationships" xmlns:p="http://schemas.openxmlformats.org/presentationml/2006/main">
  <p:tag name="AS_UNIQUEID" val="76"/>
</p:tagLst>
</file>

<file path=ppt/slides/tags/tag4.xml><?xml version="1.0" encoding="utf-8"?>
<p:tagLst xmlns:a="http://schemas.openxmlformats.org/drawingml/2006/main" xmlns:r="http://schemas.openxmlformats.org/officeDocument/2006/relationships" xmlns:p="http://schemas.openxmlformats.org/presentationml/2006/main">
  <p:tag name="AS_UNIQUEID" val="76"/>
</p:tagLst>
</file>

<file path=ppt/slides/tags/tag5.xml><?xml version="1.0" encoding="utf-8"?>
<p:tagLst xmlns:a="http://schemas.openxmlformats.org/drawingml/2006/main" xmlns:r="http://schemas.openxmlformats.org/officeDocument/2006/relationships" xmlns:p="http://schemas.openxmlformats.org/presentationml/2006/main">
  <p:tag name="AS_UNIQUEID" val="76"/>
</p:tagLst>
</file>

<file path=ppt/slides/tags/tag6.xml><?xml version="1.0" encoding="utf-8"?>
<p:tagLst xmlns:a="http://schemas.openxmlformats.org/drawingml/2006/main" xmlns:r="http://schemas.openxmlformats.org/officeDocument/2006/relationships" xmlns:p="http://schemas.openxmlformats.org/presentationml/2006/main">
  <p:tag name="AS_UNIQUEID" val="76"/>
</p:tagLst>
</file>

<file path=ppt/slides/tags/tag7.xml><?xml version="1.0" encoding="utf-8"?>
<p:tagLst xmlns:a="http://schemas.openxmlformats.org/drawingml/2006/main" xmlns:r="http://schemas.openxmlformats.org/officeDocument/2006/relationships" xmlns:p="http://schemas.openxmlformats.org/presentationml/2006/main">
  <p:tag name="AS_UNIQUEID" val="76"/>
</p:tagLst>
</file>

<file path=ppt/slides/tags/tag8.xml><?xml version="1.0" encoding="utf-8"?>
<p:tagLst xmlns:a="http://schemas.openxmlformats.org/drawingml/2006/main" xmlns:r="http://schemas.openxmlformats.org/officeDocument/2006/relationships" xmlns:p="http://schemas.openxmlformats.org/presentationml/2006/main">
  <p:tag name="AS_UNIQUEID" val="76"/>
</p:tagLst>
</file>

<file path=ppt/slides/tags/tag9.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xml><?xml version="1.0" encoding="utf-8"?>
<p:tagLst xmlns:a="http://schemas.openxmlformats.org/drawingml/2006/main" xmlns:r="http://schemas.openxmlformats.org/officeDocument/2006/relationships" xmlns:p="http://schemas.openxmlformats.org/presentationml/2006/main">
  <p:tag name="AS_UNIQUEID" val="76"/>
</p:tagLst>
</file>

<file path=ppt/slides/tags/tag12.xml><?xml version="1.0" encoding="utf-8"?>
<p:tagLst xmlns:a="http://schemas.openxmlformats.org/drawingml/2006/main" xmlns:r="http://schemas.openxmlformats.org/officeDocument/2006/relationships" xmlns:p="http://schemas.openxmlformats.org/presentationml/2006/main">
  <p:tag name="AS_UNIQUEID" val="76"/>
</p:tagLst>
</file>

<file path=ppt/slides/tags/tag13.xml><?xml version="1.0" encoding="utf-8"?>
<p:tagLst xmlns:a="http://schemas.openxmlformats.org/drawingml/2006/main" xmlns:r="http://schemas.openxmlformats.org/officeDocument/2006/relationships" xmlns:p="http://schemas.openxmlformats.org/presentationml/2006/main">
  <p:tag name="AS_UNIQUEID" val="76"/>
</p:tagLst>
</file>

<file path=ppt/slides/tags/tag14.xml><?xml version="1.0" encoding="utf-8"?>
<p:tagLst xmlns:a="http://schemas.openxmlformats.org/drawingml/2006/main" xmlns:r="http://schemas.openxmlformats.org/officeDocument/2006/relationships" xmlns:p="http://schemas.openxmlformats.org/presentationml/2006/main">
  <p:tag name="AS_UNIQUEID" val="76"/>
</p:tagLst>
</file>

<file path=ppt/slides/tags/tag15.xml><?xml version="1.0" encoding="utf-8"?>
<p:tagLst xmlns:a="http://schemas.openxmlformats.org/drawingml/2006/main" xmlns:r="http://schemas.openxmlformats.org/officeDocument/2006/relationships" xmlns:p="http://schemas.openxmlformats.org/presentationml/2006/main">
  <p:tag name="AS_UNIQUEID" val="76"/>
</p:tagLst>
</file>

<file path=ppt/slides/tags/tag16.xml><?xml version="1.0" encoding="utf-8"?>
<p:tagLst xmlns:a="http://schemas.openxmlformats.org/drawingml/2006/main" xmlns:r="http://schemas.openxmlformats.org/officeDocument/2006/relationships" xmlns:p="http://schemas.openxmlformats.org/presentationml/2006/main">
  <p:tag name="AS_UNIQUEID" val="76"/>
</p:tagLst>
</file>

<file path=ppt/slides/tags/tag17.xml><?xml version="1.0" encoding="utf-8"?>
<p:tagLst xmlns:a="http://schemas.openxmlformats.org/drawingml/2006/main" xmlns:r="http://schemas.openxmlformats.org/officeDocument/2006/relationships" xmlns:p="http://schemas.openxmlformats.org/presentationml/2006/main">
  <p:tag name="AS_UNIQUEID" val="76"/>
</p:tagLst>
</file>

<file path=ppt/slides/tags/tag18.xml><?xml version="1.0" encoding="utf-8"?>
<p:tagLst xmlns:a="http://schemas.openxmlformats.org/drawingml/2006/main" xmlns:r="http://schemas.openxmlformats.org/officeDocument/2006/relationships" xmlns:p="http://schemas.openxmlformats.org/presentationml/2006/main">
  <p:tag name="AS_UNIQUEID" val="76"/>
</p:tagLst>
</file>

<file path=ppt/slides/tags/tag19.xml><?xml version="1.0" encoding="utf-8"?>
<p:tagLst xmlns:a="http://schemas.openxmlformats.org/drawingml/2006/main" xmlns:r="http://schemas.openxmlformats.org/officeDocument/2006/relationships" xmlns:p="http://schemas.openxmlformats.org/presentationml/2006/main">
  <p:tag name="AS_UNIQUEID" val="76"/>
</p:tagLst>
</file>

<file path=ppt/slides/tags/tag20.xml><?xml version="1.0" encoding="utf-8"?>
<p:tagLst xmlns:a="http://schemas.openxmlformats.org/drawingml/2006/main" xmlns:r="http://schemas.openxmlformats.org/officeDocument/2006/relationships" xmlns:p="http://schemas.openxmlformats.org/presentationml/2006/main">
  <p:tag name="AS_UNIQUEID" val="76"/>
</p:tagLst>
</file>

<file path=ppt/slides/tags/tag21.xml><?xml version="1.0" encoding="utf-8"?>
<p:tagLst xmlns:a="http://schemas.openxmlformats.org/drawingml/2006/main" xmlns:r="http://schemas.openxmlformats.org/officeDocument/2006/relationships" xmlns:p="http://schemas.openxmlformats.org/presentationml/2006/main">
  <p:tag name="AS_UNIQUEID" val="76"/>
</p:tagLst>
</file>

<file path=ppt/slides/tags/tag22.xml><?xml version="1.0" encoding="utf-8"?>
<p:tagLst xmlns:a="http://schemas.openxmlformats.org/drawingml/2006/main" xmlns:r="http://schemas.openxmlformats.org/officeDocument/2006/relationships" xmlns:p="http://schemas.openxmlformats.org/presentationml/2006/main">
  <p:tag name="AS_UNIQUEID" val="76"/>
</p:tagLst>
</file>

<file path=ppt/slides/tags/tag23.xml><?xml version="1.0" encoding="utf-8"?>
<p:tagLst xmlns:a="http://schemas.openxmlformats.org/drawingml/2006/main" xmlns:r="http://schemas.openxmlformats.org/officeDocument/2006/relationships" xmlns:p="http://schemas.openxmlformats.org/presentationml/2006/main">
  <p:tag name="AS_UNIQUEID" val="76"/>
</p:tagLst>
</file>

<file path=ppt/slides/tags/tag24.xml><?xml version="1.0" encoding="utf-8"?>
<p:tagLst xmlns:a="http://schemas.openxmlformats.org/drawingml/2006/main" xmlns:r="http://schemas.openxmlformats.org/officeDocument/2006/relationships" xmlns:p="http://schemas.openxmlformats.org/presentationml/2006/main">
  <p:tag name="AS_UNIQUEID" val="76"/>
</p:tagLst>
</file>

<file path=ppt/slides/tags/tag25.xml><?xml version="1.0" encoding="utf-8"?>
<p:tagLst xmlns:a="http://schemas.openxmlformats.org/drawingml/2006/main" xmlns:r="http://schemas.openxmlformats.org/officeDocument/2006/relationships" xmlns:p="http://schemas.openxmlformats.org/presentationml/2006/main">
  <p:tag name="AS_UNIQUEID" val="76"/>
</p:tagLst>
</file>

<file path=ppt/slides/tags/tag26.xml><?xml version="1.0" encoding="utf-8"?>
<p:tagLst xmlns:a="http://schemas.openxmlformats.org/drawingml/2006/main" xmlns:r="http://schemas.openxmlformats.org/officeDocument/2006/relationships" xmlns:p="http://schemas.openxmlformats.org/presentationml/2006/main">
  <p:tag name="AS_UNIQUEID" val="76"/>
</p:tagLst>
</file>

<file path=ppt/slides/tags/tag27.xml><?xml version="1.0" encoding="utf-8"?>
<p:tagLst xmlns:a="http://schemas.openxmlformats.org/drawingml/2006/main" xmlns:r="http://schemas.openxmlformats.org/officeDocument/2006/relationships" xmlns:p="http://schemas.openxmlformats.org/presentationml/2006/main">
  <p:tag name="AS_UNIQUEID" val="76"/>
</p:tagLst>
</file>

<file path=ppt/slides/tags/tag28.xml><?xml version="1.0" encoding="utf-8"?>
<p:tagLst xmlns:a="http://schemas.openxmlformats.org/drawingml/2006/main" xmlns:r="http://schemas.openxmlformats.org/officeDocument/2006/relationships" xmlns:p="http://schemas.openxmlformats.org/presentationml/2006/main">
  <p:tag name="AS_UNIQUEID" val="76"/>
</p:tagLst>
</file>

<file path=ppt/slides/tags/tag29.xml><?xml version="1.0" encoding="utf-8"?>
<p:tagLst xmlns:a="http://schemas.openxmlformats.org/drawingml/2006/main" xmlns:r="http://schemas.openxmlformats.org/officeDocument/2006/relationships" xmlns:p="http://schemas.openxmlformats.org/presentationml/2006/main">
  <p:tag name="AS_UNIQUEID" val="76"/>
</p:tagLst>
</file>

<file path=ppt/slides/tags/tag30.xml><?xml version="1.0" encoding="utf-8"?>
<p:tagLst xmlns:a="http://schemas.openxmlformats.org/drawingml/2006/main" xmlns:r="http://schemas.openxmlformats.org/officeDocument/2006/relationships" xmlns:p="http://schemas.openxmlformats.org/presentationml/2006/main">
  <p:tag name="AS_UNIQUEID" val="76"/>
</p:tagLst>
</file>

<file path=ppt/slides/tags/tag31.xml><?xml version="1.0" encoding="utf-8"?>
<p:tagLst xmlns:a="http://schemas.openxmlformats.org/drawingml/2006/main" xmlns:r="http://schemas.openxmlformats.org/officeDocument/2006/relationships" xmlns:p="http://schemas.openxmlformats.org/presentationml/2006/main">
  <p:tag name="AS_UNIQUEID" val="76"/>
</p:tagLst>
</file>

<file path=ppt/slides/tags/tag32.xml><?xml version="1.0" encoding="utf-8"?>
<p:tagLst xmlns:a="http://schemas.openxmlformats.org/drawingml/2006/main" xmlns:r="http://schemas.openxmlformats.org/officeDocument/2006/relationships" xmlns:p="http://schemas.openxmlformats.org/presentationml/2006/main">
  <p:tag name="AS_UNIQUEID" val="76"/>
</p:tagLst>
</file>

<file path=ppt/slides/tags/tag33.xml><?xml version="1.0" encoding="utf-8"?>
<p:tagLst xmlns:a="http://schemas.openxmlformats.org/drawingml/2006/main" xmlns:r="http://schemas.openxmlformats.org/officeDocument/2006/relationships" xmlns:p="http://schemas.openxmlformats.org/presentationml/2006/main">
  <p:tag name="AS_UNIQUEID" val="76"/>
</p:tagLst>
</file>

<file path=ppt/slides/tags/tag34.xml><?xml version="1.0" encoding="utf-8"?>
<p:tagLst xmlns:a="http://schemas.openxmlformats.org/drawingml/2006/main" xmlns:r="http://schemas.openxmlformats.org/officeDocument/2006/relationships" xmlns:p="http://schemas.openxmlformats.org/presentationml/2006/main">
  <p:tag name="AS_UNIQUEID" val="76"/>
</p:tagLst>
</file>

<file path=ppt/slides/tags/tag35.xml><?xml version="1.0" encoding="utf-8"?>
<p:tagLst xmlns:a="http://schemas.openxmlformats.org/drawingml/2006/main" xmlns:r="http://schemas.openxmlformats.org/officeDocument/2006/relationships" xmlns:p="http://schemas.openxmlformats.org/presentationml/2006/main">
  <p:tag name="AS_UNIQUEID" val="76"/>
</p:tagLst>
</file>

<file path=ppt/slides/tags/tag36.xml><?xml version="1.0" encoding="utf-8"?>
<p:tagLst xmlns:a="http://schemas.openxmlformats.org/drawingml/2006/main" xmlns:r="http://schemas.openxmlformats.org/officeDocument/2006/relationships" xmlns:p="http://schemas.openxmlformats.org/presentationml/2006/main">
  <p:tag name="AS_UNIQUEID" val="76"/>
</p:tagLst>
</file>

<file path=ppt/slides/tags/tag37.xml><?xml version="1.0" encoding="utf-8"?>
<p:tagLst xmlns:a="http://schemas.openxmlformats.org/drawingml/2006/main" xmlns:r="http://schemas.openxmlformats.org/officeDocument/2006/relationships" xmlns:p="http://schemas.openxmlformats.org/presentationml/2006/main">
  <p:tag name="AS_UNIQUEID" val="76"/>
</p:tagLst>
</file>

<file path=ppt/slides/tags/tag38.xml><?xml version="1.0" encoding="utf-8"?>
<p:tagLst xmlns:a="http://schemas.openxmlformats.org/drawingml/2006/main" xmlns:r="http://schemas.openxmlformats.org/officeDocument/2006/relationships" xmlns:p="http://schemas.openxmlformats.org/presentationml/2006/main">
  <p:tag name="AS_UNIQUEID" val="76"/>
</p:tagLst>
</file>

<file path=ppt/slides/tags/tag39.xml><?xml version="1.0" encoding="utf-8"?>
<p:tagLst xmlns:a="http://schemas.openxmlformats.org/drawingml/2006/main" xmlns:r="http://schemas.openxmlformats.org/officeDocument/2006/relationships" xmlns:p="http://schemas.openxmlformats.org/presentationml/2006/main">
  <p:tag name="AS_UNIQUEID" val="76"/>
</p:tagLst>
</file>

<file path=ppt/slides/tags/tag40.xml><?xml version="1.0" encoding="utf-8"?>
<p:tagLst xmlns:a="http://schemas.openxmlformats.org/drawingml/2006/main" xmlns:r="http://schemas.openxmlformats.org/officeDocument/2006/relationships" xmlns:p="http://schemas.openxmlformats.org/presentationml/2006/main">
  <p:tag name="AS_UNIQUEID" val="76"/>
</p:tagLst>
</file>

<file path=ppt/slides/tags/tag41.xml><?xml version="1.0" encoding="utf-8"?>
<p:tagLst xmlns:a="http://schemas.openxmlformats.org/drawingml/2006/main" xmlns:r="http://schemas.openxmlformats.org/officeDocument/2006/relationships" xmlns:p="http://schemas.openxmlformats.org/presentationml/2006/main">
  <p:tag name="AS_UNIQUEID" val="76"/>
</p:tagLst>
</file>

<file path=ppt/slides/tags/tag42.xml><?xml version="1.0" encoding="utf-8"?>
<p:tagLst xmlns:a="http://schemas.openxmlformats.org/drawingml/2006/main" xmlns:r="http://schemas.openxmlformats.org/officeDocument/2006/relationships" xmlns:p="http://schemas.openxmlformats.org/presentationml/2006/main">
  <p:tag name="AS_UNIQUEID" val="76"/>
</p:tagLst>
</file>

<file path=ppt/slides/tags/tag43.xml><?xml version="1.0" encoding="utf-8"?>
<p:tagLst xmlns:a="http://schemas.openxmlformats.org/drawingml/2006/main" xmlns:r="http://schemas.openxmlformats.org/officeDocument/2006/relationships" xmlns:p="http://schemas.openxmlformats.org/presentationml/2006/main">
  <p:tag name="AS_UNIQUEID" val="76"/>
</p:tagLst>
</file>

<file path=ppt/slides/tags/tag44.xml><?xml version="1.0" encoding="utf-8"?>
<p:tagLst xmlns:a="http://schemas.openxmlformats.org/drawingml/2006/main" xmlns:r="http://schemas.openxmlformats.org/officeDocument/2006/relationships" xmlns:p="http://schemas.openxmlformats.org/presentationml/2006/main">
  <p:tag name="AS_UNIQUEID" val="76"/>
</p:tagLst>
</file>

<file path=ppt/slides/tags/tag45.xml><?xml version="1.0" encoding="utf-8"?>
<p:tagLst xmlns:a="http://schemas.openxmlformats.org/drawingml/2006/main" xmlns:r="http://schemas.openxmlformats.org/officeDocument/2006/relationships" xmlns:p="http://schemas.openxmlformats.org/presentationml/2006/main">
  <p:tag name="AS_UNIQUEID" val="76"/>
</p:tagLst>
</file>

<file path=ppt/slides/tags/tag46.xml><?xml version="1.0" encoding="utf-8"?>
<p:tagLst xmlns:a="http://schemas.openxmlformats.org/drawingml/2006/main" xmlns:r="http://schemas.openxmlformats.org/officeDocument/2006/relationships" xmlns:p="http://schemas.openxmlformats.org/presentationml/2006/main">
  <p:tag name="AS_UNIQUEID" val="76"/>
</p:tagLst>
</file>

<file path=ppt/slides/tags/tag47.xml><?xml version="1.0" encoding="utf-8"?>
<p:tagLst xmlns:a="http://schemas.openxmlformats.org/drawingml/2006/main" xmlns:r="http://schemas.openxmlformats.org/officeDocument/2006/relationships" xmlns:p="http://schemas.openxmlformats.org/presentationml/2006/main">
  <p:tag name="AS_UNIQUEID" val="76"/>
</p:tagLst>
</file>

<file path=ppt/slides/tags/tag48.xml><?xml version="1.0" encoding="utf-8"?>
<p:tagLst xmlns:a="http://schemas.openxmlformats.org/drawingml/2006/main" xmlns:r="http://schemas.openxmlformats.org/officeDocument/2006/relationships" xmlns:p="http://schemas.openxmlformats.org/presentationml/2006/main">
  <p:tag name="AS_UNIQUEID" val="76"/>
</p:tagLst>
</file>

<file path=ppt/slides/tags/tag49.xml><?xml version="1.0" encoding="utf-8"?>
<p:tagLst xmlns:a="http://schemas.openxmlformats.org/drawingml/2006/main" xmlns:r="http://schemas.openxmlformats.org/officeDocument/2006/relationships" xmlns:p="http://schemas.openxmlformats.org/presentationml/2006/main">
  <p:tag name="AS_UNIQUEID" val="76"/>
</p:tagLst>
</file>

<file path=ppt/slides/tags/tag50.xml><?xml version="1.0" encoding="utf-8"?>
<p:tagLst xmlns:a="http://schemas.openxmlformats.org/drawingml/2006/main" xmlns:r="http://schemas.openxmlformats.org/officeDocument/2006/relationships" xmlns:p="http://schemas.openxmlformats.org/presentationml/2006/main">
  <p:tag name="AS_UNIQUEID" val="76"/>
</p:tagLst>
</file>

<file path=ppt/slides/tags/tag51.xml><?xml version="1.0" encoding="utf-8"?>
<p:tagLst xmlns:a="http://schemas.openxmlformats.org/drawingml/2006/main" xmlns:r="http://schemas.openxmlformats.org/officeDocument/2006/relationships" xmlns:p="http://schemas.openxmlformats.org/presentationml/2006/main">
  <p:tag name="AS_UNIQUEID" val="76"/>
</p:tagLst>
</file>

<file path=ppt/slides/tags/tag52.xml><?xml version="1.0" encoding="utf-8"?>
<p:tagLst xmlns:a="http://schemas.openxmlformats.org/drawingml/2006/main" xmlns:r="http://schemas.openxmlformats.org/officeDocument/2006/relationships" xmlns:p="http://schemas.openxmlformats.org/presentationml/2006/main">
  <p:tag name="AS_UNIQUEID" val="76"/>
</p:tagLst>
</file>

<file path=ppt/slides/tags/tag53.xml><?xml version="1.0" encoding="utf-8"?>
<p:tagLst xmlns:a="http://schemas.openxmlformats.org/drawingml/2006/main" xmlns:r="http://schemas.openxmlformats.org/officeDocument/2006/relationships" xmlns:p="http://schemas.openxmlformats.org/presentationml/2006/main">
  <p:tag name="AS_UNIQUEID" val="76"/>
</p:tagLst>
</file>

<file path=ppt/slides/tags/tag54.xml><?xml version="1.0" encoding="utf-8"?>
<p:tagLst xmlns:a="http://schemas.openxmlformats.org/drawingml/2006/main" xmlns:r="http://schemas.openxmlformats.org/officeDocument/2006/relationships" xmlns:p="http://schemas.openxmlformats.org/presentationml/2006/main">
  <p:tag name="AS_UNIQUEID" val="76"/>
</p:tagLst>
</file>

<file path=ppt/slides/tags/tag55.xml><?xml version="1.0" encoding="utf-8"?>
<p:tagLst xmlns:a="http://schemas.openxmlformats.org/drawingml/2006/main" xmlns:r="http://schemas.openxmlformats.org/officeDocument/2006/relationships" xmlns:p="http://schemas.openxmlformats.org/presentationml/2006/main">
  <p:tag name="AS_UNIQUEID" val="76"/>
</p:tagLst>
</file>

<file path=ppt/slides/tags/tag56.xml><?xml version="1.0" encoding="utf-8"?>
<p:tagLst xmlns:a="http://schemas.openxmlformats.org/drawingml/2006/main" xmlns:r="http://schemas.openxmlformats.org/officeDocument/2006/relationships" xmlns:p="http://schemas.openxmlformats.org/presentationml/2006/main">
  <p:tag name="AS_UNIQUEID" val="76"/>
</p:tagLst>
</file>

<file path=ppt/slides/tags/tag57.xml><?xml version="1.0" encoding="utf-8"?>
<p:tagLst xmlns:a="http://schemas.openxmlformats.org/drawingml/2006/main" xmlns:r="http://schemas.openxmlformats.org/officeDocument/2006/relationships" xmlns:p="http://schemas.openxmlformats.org/presentationml/2006/main">
  <p:tag name="AS_UNIQUEID" val="76"/>
</p:tagLst>
</file>

<file path=ppt/slides/tags/tag58.xml><?xml version="1.0" encoding="utf-8"?>
<p:tagLst xmlns:a="http://schemas.openxmlformats.org/drawingml/2006/main" xmlns:r="http://schemas.openxmlformats.org/officeDocument/2006/relationships" xmlns:p="http://schemas.openxmlformats.org/presentationml/2006/main">
  <p:tag name="AS_UNIQUEID" val="76"/>
</p:tagLst>
</file>

<file path=ppt/slides/tags/tag59.xml><?xml version="1.0" encoding="utf-8"?>
<p:tagLst xmlns:a="http://schemas.openxmlformats.org/drawingml/2006/main" xmlns:r="http://schemas.openxmlformats.org/officeDocument/2006/relationships" xmlns:p="http://schemas.openxmlformats.org/presentationml/2006/main">
  <p:tag name="AS_UNIQUEID" val="76"/>
</p:tagLst>
</file>

<file path=ppt/slides/tags/tag60.xml><?xml version="1.0" encoding="utf-8"?>
<p:tagLst xmlns:a="http://schemas.openxmlformats.org/drawingml/2006/main" xmlns:r="http://schemas.openxmlformats.org/officeDocument/2006/relationships" xmlns:p="http://schemas.openxmlformats.org/presentationml/2006/main">
  <p:tag name="AS_UNIQUEID" val="76"/>
</p:tagLst>
</file>

<file path=ppt/slides/tags/tag61.xml><?xml version="1.0" encoding="utf-8"?>
<p:tagLst xmlns:a="http://schemas.openxmlformats.org/drawingml/2006/main" xmlns:r="http://schemas.openxmlformats.org/officeDocument/2006/relationships" xmlns:p="http://schemas.openxmlformats.org/presentationml/2006/main">
  <p:tag name="AS_UNIQUEID" val="76"/>
</p:tagLst>
</file>

<file path=ppt/slides/tags/tag62.xml><?xml version="1.0" encoding="utf-8"?>
<p:tagLst xmlns:a="http://schemas.openxmlformats.org/drawingml/2006/main" xmlns:r="http://schemas.openxmlformats.org/officeDocument/2006/relationships" xmlns:p="http://schemas.openxmlformats.org/presentationml/2006/main">
  <p:tag name="AS_UNIQUEID" val="76"/>
</p:tagLst>
</file>

<file path=ppt/slides/tags/tag63.xml><?xml version="1.0" encoding="utf-8"?>
<p:tagLst xmlns:a="http://schemas.openxmlformats.org/drawingml/2006/main" xmlns:r="http://schemas.openxmlformats.org/officeDocument/2006/relationships" xmlns:p="http://schemas.openxmlformats.org/presentationml/2006/main">
  <p:tag name="AS_UNIQUEID" val="76"/>
</p:tagLst>
</file>

<file path=ppt/slides/tags/tag64.xml><?xml version="1.0" encoding="utf-8"?>
<p:tagLst xmlns:a="http://schemas.openxmlformats.org/drawingml/2006/main" xmlns:r="http://schemas.openxmlformats.org/officeDocument/2006/relationships" xmlns:p="http://schemas.openxmlformats.org/presentationml/2006/main">
  <p:tag name="AS_UNIQUEID" val="76"/>
</p:tagLst>
</file>

<file path=ppt/slides/tags/tag65.xml><?xml version="1.0" encoding="utf-8"?>
<p:tagLst xmlns:a="http://schemas.openxmlformats.org/drawingml/2006/main" xmlns:r="http://schemas.openxmlformats.org/officeDocument/2006/relationships" xmlns:p="http://schemas.openxmlformats.org/presentationml/2006/main">
  <p:tag name="AS_UNIQUEID" val="76"/>
</p:tagLst>
</file>

<file path=ppt/slides/tags/tag66.xml><?xml version="1.0" encoding="utf-8"?>
<p:tagLst xmlns:a="http://schemas.openxmlformats.org/drawingml/2006/main" xmlns:r="http://schemas.openxmlformats.org/officeDocument/2006/relationships" xmlns:p="http://schemas.openxmlformats.org/presentationml/2006/main">
  <p:tag name="AS_UNIQUEID" val="76"/>
</p:tagLst>
</file>

<file path=ppt/slides/tags/tag67.xml><?xml version="1.0" encoding="utf-8"?>
<p:tagLst xmlns:a="http://schemas.openxmlformats.org/drawingml/2006/main" xmlns:r="http://schemas.openxmlformats.org/officeDocument/2006/relationships" xmlns:p="http://schemas.openxmlformats.org/presentationml/2006/main">
  <p:tag name="AS_UNIQUEID" val="76"/>
</p:tagLst>
</file>

<file path=ppt/slides/tags/tag68.xml><?xml version="1.0" encoding="utf-8"?>
<p:tagLst xmlns:a="http://schemas.openxmlformats.org/drawingml/2006/main" xmlns:r="http://schemas.openxmlformats.org/officeDocument/2006/relationships" xmlns:p="http://schemas.openxmlformats.org/presentationml/2006/main">
  <p:tag name="AS_UNIQUEID" val="76"/>
</p:tagLst>
</file>

<file path=ppt/slides/tags/tag69.xml><?xml version="1.0" encoding="utf-8"?>
<p:tagLst xmlns:a="http://schemas.openxmlformats.org/drawingml/2006/main" xmlns:r="http://schemas.openxmlformats.org/officeDocument/2006/relationships" xmlns:p="http://schemas.openxmlformats.org/presentationml/2006/main">
  <p:tag name="AS_UNIQUEID" val="76"/>
</p:tagLst>
</file>

<file path=ppt/slides/tags/tag70.xml><?xml version="1.0" encoding="utf-8"?>
<p:tagLst xmlns:a="http://schemas.openxmlformats.org/drawingml/2006/main" xmlns:r="http://schemas.openxmlformats.org/officeDocument/2006/relationships" xmlns:p="http://schemas.openxmlformats.org/presentationml/2006/main">
  <p:tag name="AS_UNIQUEID" val="76"/>
</p:tagLst>
</file>

<file path=ppt/slides/tags/tag71.xml><?xml version="1.0" encoding="utf-8"?>
<p:tagLst xmlns:a="http://schemas.openxmlformats.org/drawingml/2006/main" xmlns:r="http://schemas.openxmlformats.org/officeDocument/2006/relationships" xmlns:p="http://schemas.openxmlformats.org/presentationml/2006/main">
  <p:tag name="AS_UNIQUEID" val="76"/>
</p:tagLst>
</file>

<file path=ppt/slides/tags/tag72.xml><?xml version="1.0" encoding="utf-8"?>
<p:tagLst xmlns:a="http://schemas.openxmlformats.org/drawingml/2006/main" xmlns:r="http://schemas.openxmlformats.org/officeDocument/2006/relationships" xmlns:p="http://schemas.openxmlformats.org/presentationml/2006/main">
  <p:tag name="AS_UNIQUEID" val="76"/>
</p:tagLst>
</file>

<file path=ppt/slides/tags/tag73.xml><?xml version="1.0" encoding="utf-8"?>
<p:tagLst xmlns:a="http://schemas.openxmlformats.org/drawingml/2006/main" xmlns:r="http://schemas.openxmlformats.org/officeDocument/2006/relationships" xmlns:p="http://schemas.openxmlformats.org/presentationml/2006/main">
  <p:tag name="AS_UNIQUEID" val="76"/>
</p:tagLst>
</file>

<file path=ppt/slides/tags/tag74.xml><?xml version="1.0" encoding="utf-8"?>
<p:tagLst xmlns:a="http://schemas.openxmlformats.org/drawingml/2006/main" xmlns:r="http://schemas.openxmlformats.org/officeDocument/2006/relationships" xmlns:p="http://schemas.openxmlformats.org/presentationml/2006/main">
  <p:tag name="AS_UNIQUEID" val="76"/>
</p:tagLst>
</file>

<file path=ppt/slides/tags/tag75.xml><?xml version="1.0" encoding="utf-8"?>
<p:tagLst xmlns:a="http://schemas.openxmlformats.org/drawingml/2006/main" xmlns:r="http://schemas.openxmlformats.org/officeDocument/2006/relationships" xmlns:p="http://schemas.openxmlformats.org/presentationml/2006/main">
  <p:tag name="AS_UNIQUEID" val="76"/>
</p:tagLst>
</file>

<file path=ppt/slides/tags/tag76.xml><?xml version="1.0" encoding="utf-8"?>
<p:tagLst xmlns:a="http://schemas.openxmlformats.org/drawingml/2006/main" xmlns:r="http://schemas.openxmlformats.org/officeDocument/2006/relationships" xmlns:p="http://schemas.openxmlformats.org/presentationml/2006/main">
  <p:tag name="AS_UNIQUEID" val="76"/>
</p:tagLst>
</file>

<file path=ppt/slides/tags/tag77.xml><?xml version="1.0" encoding="utf-8"?>
<p:tagLst xmlns:a="http://schemas.openxmlformats.org/drawingml/2006/main" xmlns:r="http://schemas.openxmlformats.org/officeDocument/2006/relationships" xmlns:p="http://schemas.openxmlformats.org/presentationml/2006/main">
  <p:tag name="AS_UNIQUEID" val="76"/>
</p:tagLst>
</file>

<file path=ppt/slides/tags/tag78.xml><?xml version="1.0" encoding="utf-8"?>
<p:tagLst xmlns:a="http://schemas.openxmlformats.org/drawingml/2006/main" xmlns:r="http://schemas.openxmlformats.org/officeDocument/2006/relationships" xmlns:p="http://schemas.openxmlformats.org/presentationml/2006/main">
  <p:tag name="AS_UNIQUEID" val="76"/>
</p:tagLst>
</file>

<file path=ppt/slides/tags/tag79.xml><?xml version="1.0" encoding="utf-8"?>
<p:tagLst xmlns:a="http://schemas.openxmlformats.org/drawingml/2006/main" xmlns:r="http://schemas.openxmlformats.org/officeDocument/2006/relationships" xmlns:p="http://schemas.openxmlformats.org/presentationml/2006/main">
  <p:tag name="AS_UNIQUEID" val="76"/>
</p:tagLst>
</file>

<file path=ppt/slides/tags/tag80.xml><?xml version="1.0" encoding="utf-8"?>
<p:tagLst xmlns:a="http://schemas.openxmlformats.org/drawingml/2006/main" xmlns:r="http://schemas.openxmlformats.org/officeDocument/2006/relationships" xmlns:p="http://schemas.openxmlformats.org/presentationml/2006/main">
  <p:tag name="AS_UNIQUEID" val="76"/>
</p:tagLst>
</file>

<file path=ppt/slides/tags/tag81.xml><?xml version="1.0" encoding="utf-8"?>
<p:tagLst xmlns:a="http://schemas.openxmlformats.org/drawingml/2006/main" xmlns:r="http://schemas.openxmlformats.org/officeDocument/2006/relationships" xmlns:p="http://schemas.openxmlformats.org/presentationml/2006/main">
  <p:tag name="AS_UNIQUEID" val="76"/>
</p:tagLst>
</file>

<file path=ppt/slides/tags/tag82.xml><?xml version="1.0" encoding="utf-8"?>
<p:tagLst xmlns:a="http://schemas.openxmlformats.org/drawingml/2006/main" xmlns:r="http://schemas.openxmlformats.org/officeDocument/2006/relationships" xmlns:p="http://schemas.openxmlformats.org/presentationml/2006/main">
  <p:tag name="AS_UNIQUEID" val="76"/>
</p:tagLst>
</file>

<file path=ppt/slides/tags/tag83.xml><?xml version="1.0" encoding="utf-8"?>
<p:tagLst xmlns:a="http://schemas.openxmlformats.org/drawingml/2006/main" xmlns:r="http://schemas.openxmlformats.org/officeDocument/2006/relationships" xmlns:p="http://schemas.openxmlformats.org/presentationml/2006/main">
  <p:tag name="AS_UNIQUEID" val="76"/>
</p:tagLst>
</file>

<file path=ppt/slides/tags/tag84.xml><?xml version="1.0" encoding="utf-8"?>
<p:tagLst xmlns:a="http://schemas.openxmlformats.org/drawingml/2006/main" xmlns:r="http://schemas.openxmlformats.org/officeDocument/2006/relationships" xmlns:p="http://schemas.openxmlformats.org/presentationml/2006/main">
  <p:tag name="AS_UNIQUEID" val="76"/>
</p:tagLst>
</file>

<file path=ppt/slides/tags/tag85.xml><?xml version="1.0" encoding="utf-8"?>
<p:tagLst xmlns:a="http://schemas.openxmlformats.org/drawingml/2006/main" xmlns:r="http://schemas.openxmlformats.org/officeDocument/2006/relationships" xmlns:p="http://schemas.openxmlformats.org/presentationml/2006/main">
  <p:tag name="AS_UNIQUEID" val="76"/>
</p:tagLst>
</file>

<file path=ppt/slides/tags/tag86.xml><?xml version="1.0" encoding="utf-8"?>
<p:tagLst xmlns:a="http://schemas.openxmlformats.org/drawingml/2006/main" xmlns:r="http://schemas.openxmlformats.org/officeDocument/2006/relationships" xmlns:p="http://schemas.openxmlformats.org/presentationml/2006/main">
  <p:tag name="AS_UNIQUEID" val="76"/>
</p:tagLst>
</file>

<file path=ppt/slides/tags/tag87.xml><?xml version="1.0" encoding="utf-8"?>
<p:tagLst xmlns:a="http://schemas.openxmlformats.org/drawingml/2006/main" xmlns:r="http://schemas.openxmlformats.org/officeDocument/2006/relationships" xmlns:p="http://schemas.openxmlformats.org/presentationml/2006/main">
  <p:tag name="AS_UNIQUEID" val="76"/>
</p:tagLst>
</file>

<file path=ppt/slides/tags/tag88.xml><?xml version="1.0" encoding="utf-8"?>
<p:tagLst xmlns:a="http://schemas.openxmlformats.org/drawingml/2006/main" xmlns:r="http://schemas.openxmlformats.org/officeDocument/2006/relationships" xmlns:p="http://schemas.openxmlformats.org/presentationml/2006/main">
  <p:tag name="AS_UNIQUEID" val="76"/>
</p:tagLst>
</file>

<file path=ppt/slides/tags/tag89.xml><?xml version="1.0" encoding="utf-8"?>
<p:tagLst xmlns:a="http://schemas.openxmlformats.org/drawingml/2006/main" xmlns:r="http://schemas.openxmlformats.org/officeDocument/2006/relationships" xmlns:p="http://schemas.openxmlformats.org/presentationml/2006/main">
  <p:tag name="AS_UNIQUEID" val="76"/>
</p:tagLst>
</file>

<file path=ppt/slides/tags/tag90.xml><?xml version="1.0" encoding="utf-8"?>
<p:tagLst xmlns:a="http://schemas.openxmlformats.org/drawingml/2006/main" xmlns:r="http://schemas.openxmlformats.org/officeDocument/2006/relationships" xmlns:p="http://schemas.openxmlformats.org/presentationml/2006/main">
  <p:tag name="AS_UNIQUEID" val="76"/>
</p:tagLst>
</file>

<file path=ppt/slides/tags/tag91.xml><?xml version="1.0" encoding="utf-8"?>
<p:tagLst xmlns:a="http://schemas.openxmlformats.org/drawingml/2006/main" xmlns:r="http://schemas.openxmlformats.org/officeDocument/2006/relationships" xmlns:p="http://schemas.openxmlformats.org/presentationml/2006/main">
  <p:tag name="AS_UNIQUEID" val="76"/>
</p:tagLst>
</file>

<file path=ppt/slides/tags/tag92.xml><?xml version="1.0" encoding="utf-8"?>
<p:tagLst xmlns:a="http://schemas.openxmlformats.org/drawingml/2006/main" xmlns:r="http://schemas.openxmlformats.org/officeDocument/2006/relationships" xmlns:p="http://schemas.openxmlformats.org/presentationml/2006/main">
  <p:tag name="AS_UNIQUEID" val="76"/>
</p:tagLst>
</file>

<file path=ppt/slides/tags/tag93.xml><?xml version="1.0" encoding="utf-8"?>
<p:tagLst xmlns:a="http://schemas.openxmlformats.org/drawingml/2006/main" xmlns:r="http://schemas.openxmlformats.org/officeDocument/2006/relationships" xmlns:p="http://schemas.openxmlformats.org/presentationml/2006/main">
  <p:tag name="AS_UNIQUEID" val="76"/>
</p:tagLst>
</file>

<file path=ppt/slides/tags/tag94.xml><?xml version="1.0" encoding="utf-8"?>
<p:tagLst xmlns:a="http://schemas.openxmlformats.org/drawingml/2006/main" xmlns:r="http://schemas.openxmlformats.org/officeDocument/2006/relationships" xmlns:p="http://schemas.openxmlformats.org/presentationml/2006/main">
  <p:tag name="AS_UNIQUEID" val="76"/>
</p:tagLst>
</file>

<file path=ppt/slides/tags/tag95.xml><?xml version="1.0" encoding="utf-8"?>
<p:tagLst xmlns:a="http://schemas.openxmlformats.org/drawingml/2006/main" xmlns:r="http://schemas.openxmlformats.org/officeDocument/2006/relationships" xmlns:p="http://schemas.openxmlformats.org/presentationml/2006/main">
  <p:tag name="AS_UNIQUEID" val="76"/>
</p:tagLst>
</file>

<file path=ppt/slides/tags/tag96.xml><?xml version="1.0" encoding="utf-8"?>
<p:tagLst xmlns:a="http://schemas.openxmlformats.org/drawingml/2006/main" xmlns:r="http://schemas.openxmlformats.org/officeDocument/2006/relationships" xmlns:p="http://schemas.openxmlformats.org/presentationml/2006/main">
  <p:tag name="AS_UNIQUEID" val="76"/>
</p:tagLst>
</file>

<file path=ppt/slides/tags/tag97.xml><?xml version="1.0" encoding="utf-8"?>
<p:tagLst xmlns:a="http://schemas.openxmlformats.org/drawingml/2006/main" xmlns:r="http://schemas.openxmlformats.org/officeDocument/2006/relationships" xmlns:p="http://schemas.openxmlformats.org/presentationml/2006/main">
  <p:tag name="AS_UNIQUEID" val="76"/>
</p:tagLst>
</file>

<file path=ppt/slides/tags/tag98.xml><?xml version="1.0" encoding="utf-8"?>
<p:tagLst xmlns:a="http://schemas.openxmlformats.org/drawingml/2006/main" xmlns:r="http://schemas.openxmlformats.org/officeDocument/2006/relationships" xmlns:p="http://schemas.openxmlformats.org/presentationml/2006/main">
  <p:tag name="AS_UNIQUEID" val="76"/>
</p:tagLst>
</file>

<file path=ppt/slides/tags/tag99.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0.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1.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2.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3.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4.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5.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6.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7.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8.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9.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0.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1.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2.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3.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4.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5.xml><?xml version="1.0" encoding="utf-8"?>
<p:tagLst xmlns:a="http://schemas.openxmlformats.org/drawingml/2006/main" xmlns:r="http://schemas.openxmlformats.org/officeDocument/2006/relationships" xmlns:p="http://schemas.openxmlformats.org/presentationml/2006/main">
  <p:tag name="AS_UNIQUEID" val="76"/>
</p:tagLst>
</file>

<file path=docProps/app.xml><?xml version="1.0" encoding="utf-8"?>
<Properties xmlns="http://schemas.openxmlformats.org/officeDocument/2006/extended-properties" xmlns:vt="http://schemas.openxmlformats.org/officeDocument/2006/docPropsVTypes">
  <Template/>
  <TotalTime>311</TotalTime>
  <Words>407</Words>
  <Application>Microsoft Office PowerPoint</Application>
  <PresentationFormat>On-screen Show (4:3)</PresentationFormat>
  <Paragraphs>57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PowerPoint Presentation</dc:title>
  <dc:creator>Administrator</dc:creator>
  <lastModifiedBy>Meet Soni</lastModifiedBy>
  <revision>22</revision>
  <dcterms:created xsi:type="dcterms:W3CDTF">2024-12-13T07:18:04.0000000Z</dcterms:created>
  <dcterms:modified xsi:type="dcterms:W3CDTF">2025-09-15T08:33:20.6020000Z</dcterms:modified>
</coreProperties>
</file>