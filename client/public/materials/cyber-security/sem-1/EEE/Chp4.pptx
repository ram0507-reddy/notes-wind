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jpg" ContentType="image/jpeg"/>
  <Default Extension="wdp" ContentType="image/vnd.ms-photo"/>
  <Default Extension="rels" ContentType="application/vnd.openxmlformats-package.relationships+xml"/>
  <Override PartName="/ppt/handoutMasters/handoutMaster1.xml" ContentType="application/vnd.openxmlformats-officedocument.presentationml.handoutMaster+xml"/>
  <Override PartName="/ppt/handoutMasters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tags/tag1.xml" ContentType="application/vnd.openxmlformats-officedocument.presentationml.tags+xml"/>
  <Override PartName="/ppt/slides/slide4.xml" ContentType="application/vnd.openxmlformats-officedocument.presentationml.slide+xml"/>
  <Override PartName="/ppt/slides/tags/tag2.xml" ContentType="application/vnd.openxmlformats-officedocument.presentationml.tags+xml"/>
  <Override PartName="/ppt/slides/slide5.xml" ContentType="application/vnd.openxmlformats-officedocument.presentationml.slide+xml"/>
  <Override PartName="/ppt/slides/tags/tag3.xml" ContentType="application/vnd.openxmlformats-officedocument.presentationml.tags+xml"/>
  <Override PartName="/ppt/slides/slide6.xml" ContentType="application/vnd.openxmlformats-officedocument.presentationml.slide+xml"/>
  <Override PartName="/ppt/slides/tags/tag4.xml" ContentType="application/vnd.openxmlformats-officedocument.presentationml.tags+xml"/>
  <Override PartName="/ppt/slides/slide7.xml" ContentType="application/vnd.openxmlformats-officedocument.presentationml.slide+xml"/>
  <Override PartName="/ppt/slides/tags/tag5.xml" ContentType="application/vnd.openxmlformats-officedocument.presentationml.tags+xml"/>
  <Override PartName="/ppt/slides/slide8.xml" ContentType="application/vnd.openxmlformats-officedocument.presentationml.slide+xml"/>
  <Override PartName="/ppt/slides/tags/tag6.xml" ContentType="application/vnd.openxmlformats-officedocument.presentationml.tags+xml"/>
  <Override PartName="/ppt/slides/slide9.xml" ContentType="application/vnd.openxmlformats-officedocument.presentationml.slide+xml"/>
  <Override PartName="/ppt/slides/tags/tag7.xml" ContentType="application/vnd.openxmlformats-officedocument.presentationml.tags+xml"/>
  <Override PartName="/ppt/slides/slide10.xml" ContentType="application/vnd.openxmlformats-officedocument.presentationml.slide+xml"/>
  <Override PartName="/ppt/slides/tags/tag8.xml" ContentType="application/vnd.openxmlformats-officedocument.presentationml.tags+xml"/>
  <Override PartName="/ppt/slides/slide11.xml" ContentType="application/vnd.openxmlformats-officedocument.presentationml.slide+xml"/>
  <Override PartName="/ppt/slides/tags/tag9.xml" ContentType="application/vnd.openxmlformats-officedocument.presentationml.tags+xml"/>
  <Override PartName="/ppt/slides/slide12.xml" ContentType="application/vnd.openxmlformats-officedocument.presentationml.slide+xml"/>
  <Override PartName="/ppt/slides/tags/tag10.xml" ContentType="application/vnd.openxmlformats-officedocument.presentationml.tags+xml"/>
  <Override PartName="/ppt/tableStyles.xml" ContentType="application/vnd.openxmlformats-officedocument.presentationml.tableStyles+xml"/>
  <Override PartName="/ppt/slides/slide13.xml" ContentType="application/vnd.openxmlformats-officedocument.presentationml.slide+xml"/>
  <Override PartName="/ppt/slides/tags/tag11.xml" ContentType="application/vnd.openxmlformats-officedocument.presentationml.tags+xml"/>
  <Override PartName="/ppt/slides/slide14.xml" ContentType="application/vnd.openxmlformats-officedocument.presentationml.slide+xml"/>
  <Override PartName="/ppt/slides/tags/tag12.xml" ContentType="application/vnd.openxmlformats-officedocument.presentationml.tags+xml"/>
  <Override PartName="/ppt/slides/slide15.xml" ContentType="application/vnd.openxmlformats-officedocument.presentationml.slide+xml"/>
  <Override PartName="/ppt/slides/tags/tag13.xml" ContentType="application/vnd.openxmlformats-officedocument.presentationml.tags+xml"/>
  <Override PartName="/ppt/slides/slide16.xml" ContentType="application/vnd.openxmlformats-officedocument.presentationml.slide+xml"/>
  <Override PartName="/ppt/slides/tags/tag14.xml" ContentType="application/vnd.openxmlformats-officedocument.presentationml.tags+xml"/>
  <Override PartName="/ppt/slides/slide17.xml" ContentType="application/vnd.openxmlformats-officedocument.presentationml.slide+xml"/>
  <Override PartName="/ppt/slides/tags/tag15.xml" ContentType="application/vnd.openxmlformats-officedocument.presentationml.tags+xml"/>
  <Override PartName="/ppt/slides/slide18.xml" ContentType="application/vnd.openxmlformats-officedocument.presentationml.slide+xml"/>
  <Override PartName="/ppt/slides/tags/tag16.xml" ContentType="application/vnd.openxmlformats-officedocument.presentationml.tags+xml"/>
  <Override PartName="/ppt/slides/slide19.xml" ContentType="application/vnd.openxmlformats-officedocument.presentationml.slide+xml"/>
  <Override PartName="/ppt/slides/tags/tag17.xml" ContentType="application/vnd.openxmlformats-officedocument.presentationml.tags+xml"/>
  <Override PartName="/ppt/slides/slide20.xml" ContentType="application/vnd.openxmlformats-officedocument.presentationml.slide+xml"/>
  <Override PartName="/ppt/slides/tags/tag18.xml" ContentType="application/vnd.openxmlformats-officedocument.presentationml.tags+xml"/>
  <Override PartName="/ppt/slides/slide21.xml" ContentType="application/vnd.openxmlformats-officedocument.presentationml.slide+xml"/>
  <Override PartName="/ppt/slides/tags/tag19.xml" ContentType="application/vnd.openxmlformats-officedocument.presentationml.tags+xml"/>
  <Override PartName="/ppt/slides/slide22.xml" ContentType="application/vnd.openxmlformats-officedocument.presentationml.slide+xml"/>
  <Override PartName="/ppt/slides/tags/tag20.xml" ContentType="application/vnd.openxmlformats-officedocument.presentationml.tags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tags/tag21.xml" ContentType="application/vnd.openxmlformats-officedocument.presentationml.tags+xml"/>
  <Override PartName="/ppt/slides/slide27.xml" ContentType="application/vnd.openxmlformats-officedocument.presentationml.slide+xml"/>
  <Override PartName="/ppt/slides/tags/tag22.xml" ContentType="application/vnd.openxmlformats-officedocument.presentationml.tags+xml"/>
  <Override PartName="/ppt/slides/slide28.xml" ContentType="application/vnd.openxmlformats-officedocument.presentationml.slide+xml"/>
  <Override PartName="/ppt/slides/tags/tag23.xml" ContentType="application/vnd.openxmlformats-officedocument.presentationml.tags+xml"/>
  <Override PartName="/ppt/slides/slide29.xml" ContentType="application/vnd.openxmlformats-officedocument.presentationml.slide+xml"/>
  <Override PartName="/ppt/slides/tags/tag24.xml" ContentType="application/vnd.openxmlformats-officedocument.presentationml.tags+xml"/>
  <Override PartName="/ppt/slides/slide30.xml" ContentType="application/vnd.openxmlformats-officedocument.presentationml.slide+xml"/>
  <Override PartName="/ppt/slides/tags/tag25.xml" ContentType="application/vnd.openxmlformats-officedocument.presentationml.tags+xml"/>
  <Override PartName="/ppt/slides/slide31.xml" ContentType="application/vnd.openxmlformats-officedocument.presentationml.slide+xml"/>
  <Override PartName="/ppt/slides/tags/tag26.xml" ContentType="application/vnd.openxmlformats-officedocument.presentationml.tags+xml"/>
  <Override PartName="/ppt/slides/slide32.xml" ContentType="application/vnd.openxmlformats-officedocument.presentationml.slide+xml"/>
  <Override PartName="/ppt/slides/tags/tag27.xml" ContentType="application/vnd.openxmlformats-officedocument.presentationml.tags+xml"/>
  <Override PartName="/ppt/slides/slide33.xml" ContentType="application/vnd.openxmlformats-officedocument.presentationml.slide+xml"/>
  <Override PartName="/ppt/slides/tags/tag28.xml" ContentType="application/vnd.openxmlformats-officedocument.presentationml.tags+xml"/>
  <Override PartName="/ppt/slides/slide34.xml" ContentType="application/vnd.openxmlformats-officedocument.presentationml.slide+xml"/>
  <Override PartName="/ppt/slides/tags/tag29.xml" ContentType="application/vnd.openxmlformats-officedocument.presentationml.tags+xml"/>
  <Override PartName="/ppt/slides/slide35.xml" ContentType="application/vnd.openxmlformats-officedocument.presentationml.slide+xml"/>
  <Override PartName="/ppt/slides/tags/tag30.xml" ContentType="application/vnd.openxmlformats-officedocument.presentationml.tags+xml"/>
  <Override PartName="/ppt/slides/slide36.xml" ContentType="application/vnd.openxmlformats-officedocument.presentationml.slide+xml"/>
  <Override PartName="/ppt/slides/tags/tag31.xml" ContentType="application/vnd.openxmlformats-officedocument.presentationml.tags+xml"/>
  <Override PartName="/ppt/slides/slide37.xml" ContentType="application/vnd.openxmlformats-officedocument.presentationml.slide+xml"/>
  <Override PartName="/ppt/slides/tags/tag32.xml" ContentType="application/vnd.openxmlformats-officedocument.presentationml.tags+xml"/>
  <Override PartName="/ppt/slides/slide38.xml" ContentType="application/vnd.openxmlformats-officedocument.presentationml.slide+xml"/>
  <Override PartName="/ppt/slides/tags/tag33.xml" ContentType="application/vnd.openxmlformats-officedocument.presentationml.tags+xml"/>
  <Override PartName="/ppt/slides/slide39.xml" ContentType="application/vnd.openxmlformats-officedocument.presentationml.slide+xml"/>
  <Override PartName="/ppt/slides/tags/tag34.xml" ContentType="application/vnd.openxmlformats-officedocument.presentationml.tags+xml"/>
  <Override PartName="/ppt/slides/slide40.xml" ContentType="application/vnd.openxmlformats-officedocument.presentationml.slide+xml"/>
  <Override PartName="/ppt/slides/tags/tag35.xml" ContentType="application/vnd.openxmlformats-officedocument.presentationml.tags+xml"/>
  <Override PartName="/ppt/slides/slide41.xml" ContentType="application/vnd.openxmlformats-officedocument.presentationml.slide+xml"/>
  <Override PartName="/ppt/slides/tags/tag36.xml" ContentType="application/vnd.openxmlformats-officedocument.presentationml.tags+xml"/>
  <Override PartName="/ppt/slides/slide42.xml" ContentType="application/vnd.openxmlformats-officedocument.presentationml.slide+xml"/>
  <Override PartName="/ppt/slides/tags/tag37.xml" ContentType="application/vnd.openxmlformats-officedocument.presentationml.tags+xml"/>
  <Override PartName="/ppt/slides/slide43.xml" ContentType="application/vnd.openxmlformats-officedocument.presentationml.slide+xml"/>
  <Override PartName="/ppt/slides/tags/tag38.xml" ContentType="application/vnd.openxmlformats-officedocument.presentationml.tags+xml"/>
  <Override PartName="/ppt/slides/slide44.xml" ContentType="application/vnd.openxmlformats-officedocument.presentationml.slide+xml"/>
  <Override PartName="/ppt/slides/tags/tag39.xml" ContentType="application/vnd.openxmlformats-officedocument.presentationml.tags+xml"/>
  <Override PartName="/ppt/slides/slide45.xml" ContentType="application/vnd.openxmlformats-officedocument.presentationml.slide+xml"/>
  <Override PartName="/ppt/slides/tags/tag40.xml" ContentType="application/vnd.openxmlformats-officedocument.presentationml.tags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tags/tag41.xml" ContentType="application/vnd.openxmlformats-officedocument.presentationml.tags+xml"/>
  <Override PartName="/ppt/slides/slide50.xml" ContentType="application/vnd.openxmlformats-officedocument.presentationml.slide+xml"/>
  <Override PartName="/ppt/slides/tags/tag42.xml" ContentType="application/vnd.openxmlformats-officedocument.presentationml.tags+xml"/>
  <Override PartName="/ppt/slides/slide51.xml" ContentType="application/vnd.openxmlformats-officedocument.presentationml.slide+xml"/>
  <Override PartName="/ppt/slides/tags/tag43.xml" ContentType="application/vnd.openxmlformats-officedocument.presentationml.tags+xml"/>
  <Override PartName="/ppt/slides/slide52.xml" ContentType="application/vnd.openxmlformats-officedocument.presentationml.slide+xml"/>
  <Override PartName="/ppt/slides/tags/tag44.xml" ContentType="application/vnd.openxmlformats-officedocument.presentationml.tags+xml"/>
  <Override PartName="/ppt/slides/slide53.xml" ContentType="application/vnd.openxmlformats-officedocument.presentationml.slide+xml"/>
  <Override PartName="/ppt/slides/tags/tag45.xml" ContentType="application/vnd.openxmlformats-officedocument.presentationml.tags+xml"/>
  <Override PartName="/ppt/slides/slide54.xml" ContentType="application/vnd.openxmlformats-officedocument.presentationml.slide+xml"/>
  <Override PartName="/ppt/slides/tags/tag46.xml" ContentType="application/vnd.openxmlformats-officedocument.presentationml.tags+xml"/>
  <Override PartName="/ppt/slides/slide55.xml" ContentType="application/vnd.openxmlformats-officedocument.presentationml.slide+xml"/>
  <Override PartName="/ppt/slides/tags/tag47.xml" ContentType="application/vnd.openxmlformats-officedocument.presentationml.tags+xml"/>
  <Override PartName="/ppt/slides/slide56.xml" ContentType="application/vnd.openxmlformats-officedocument.presentationml.slide+xml"/>
  <Override PartName="/ppt/slides/tags/tag48.xml" ContentType="application/vnd.openxmlformats-officedocument.presentationml.tags+xml"/>
  <Override PartName="/ppt/slides/slide57.xml" ContentType="application/vnd.openxmlformats-officedocument.presentationml.slide+xml"/>
  <Override PartName="/ppt/slides/tags/tag49.xml" ContentType="application/vnd.openxmlformats-officedocument.presentationml.tags+xml"/>
  <Override PartName="/ppt/slides/slide58.xml" ContentType="application/vnd.openxmlformats-officedocument.presentationml.slide+xml"/>
  <Override PartName="/ppt/slides/tags/tag50.xml" ContentType="application/vnd.openxmlformats-officedocument.presentationml.tags+xml"/>
  <Override PartName="/ppt/slides/slide59.xml" ContentType="application/vnd.openxmlformats-officedocument.presentationml.slide+xml"/>
  <Override PartName="/ppt/slides/tags/tag51.xml" ContentType="application/vnd.openxmlformats-officedocument.presentationml.tags+xml"/>
  <Override PartName="/ppt/slides/slide60.xml" ContentType="application/vnd.openxmlformats-officedocument.presentationml.slide+xml"/>
  <Override PartName="/ppt/slides/tags/tag52.xml" ContentType="application/vnd.openxmlformats-officedocument.presentationml.tags+xml"/>
  <Override PartName="/ppt/slides/slide61.xml" ContentType="application/vnd.openxmlformats-officedocument.presentationml.slide+xml"/>
  <Override PartName="/ppt/slides/tags/tag53.xml" ContentType="application/vnd.openxmlformats-officedocument.presentationml.tags+xml"/>
  <Override PartName="/ppt/slides/slide62.xml" ContentType="application/vnd.openxmlformats-officedocument.presentationml.slide+xml"/>
  <Override PartName="/ppt/slides/tags/tag54.xml" ContentType="application/vnd.openxmlformats-officedocument.presentationml.tags+xml"/>
  <Override PartName="/ppt/slides/slide63.xml" ContentType="application/vnd.openxmlformats-officedocument.presentationml.slide+xml"/>
  <Override PartName="/ppt/slides/tags/tag55.xml" ContentType="application/vnd.openxmlformats-officedocument.presentationml.tags+xml"/>
  <Override PartName="/ppt/slides/slide64.xml" ContentType="application/vnd.openxmlformats-officedocument.presentationml.slide+xml"/>
  <Override PartName="/ppt/slides/tags/tag56.xml" ContentType="application/vnd.openxmlformats-officedocument.presentationml.tags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tags/tag57.xml" ContentType="application/vnd.openxmlformats-officedocument.presentationml.tags+xml"/>
  <Override PartName="/ppt/slides/slide69.xml" ContentType="application/vnd.openxmlformats-officedocument.presentationml.slide+xml"/>
  <Override PartName="/ppt/slides/tags/tag58.xml" ContentType="application/vnd.openxmlformats-officedocument.presentationml.tags+xml"/>
  <Override PartName="/ppt/slides/slide70.xml" ContentType="application/vnd.openxmlformats-officedocument.presentationml.slide+xml"/>
  <Override PartName="/ppt/slides/tags/tag59.xml" ContentType="application/vnd.openxmlformats-officedocument.presentationml.tags+xml"/>
  <Override PartName="/ppt/slides/slide71.xml" ContentType="application/vnd.openxmlformats-officedocument.presentationml.slide+xml"/>
  <Override PartName="/ppt/slides/tags/tag60.xml" ContentType="application/vnd.openxmlformats-officedocument.presentationml.tags+xml"/>
  <Override PartName="/ppt/slides/slide72.xml" ContentType="application/vnd.openxmlformats-officedocument.presentationml.slide+xml"/>
  <Override PartName="/ppt/slides/tags/tag61.xml" ContentType="application/vnd.openxmlformats-officedocument.presentationml.tags+xml"/>
  <Override PartName="/ppt/slides/slide73.xml" ContentType="application/vnd.openxmlformats-officedocument.presentationml.slide+xml"/>
  <Override PartName="/ppt/slides/tags/tag62.xml" ContentType="application/vnd.openxmlformats-officedocument.presentationml.tags+xml"/>
  <Override PartName="/ppt/slides/slide74.xml" ContentType="application/vnd.openxmlformats-officedocument.presentationml.slide+xml"/>
  <Override PartName="/ppt/slides/tags/tag63.xml" ContentType="application/vnd.openxmlformats-officedocument.presentationml.tags+xml"/>
  <Override PartName="/ppt/slides/slide75.xml" ContentType="application/vnd.openxmlformats-officedocument.presentationml.slide+xml"/>
  <Override PartName="/ppt/slides/tags/tag64.xml" ContentType="application/vnd.openxmlformats-officedocument.presentationml.tags+xml"/>
  <Override PartName="/ppt/slides/slide76.xml" ContentType="application/vnd.openxmlformats-officedocument.presentationml.slide+xml"/>
  <Override PartName="/ppt/slides/tags/tag65.xml" ContentType="application/vnd.openxmlformats-officedocument.presentationml.tags+xml"/>
  <Override PartName="/ppt/slides/slide77.xml" ContentType="application/vnd.openxmlformats-officedocument.presentationml.slide+xml"/>
  <Override PartName="/ppt/slides/tags/tag66.xml" ContentType="application/vnd.openxmlformats-officedocument.presentationml.tags+xml"/>
  <Override PartName="/ppt/slides/slide78.xml" ContentType="application/vnd.openxmlformats-officedocument.presentationml.slide+xml"/>
  <Override PartName="/ppt/slides/tags/tag67.xml" ContentType="application/vnd.openxmlformats-officedocument.presentationml.tags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tags/tag68.xml" ContentType="application/vnd.openxmlformats-officedocument.presentationml.tags+xml"/>
  <Override PartName="/ppt/slides/slide83.xml" ContentType="application/vnd.openxmlformats-officedocument.presentationml.slide+xml"/>
  <Override PartName="/ppt/slides/tags/tag69.xml" ContentType="application/vnd.openxmlformats-officedocument.presentationml.tags+xml"/>
  <Override PartName="/ppt/slides/slide84.xml" ContentType="application/vnd.openxmlformats-officedocument.presentationml.slide+xml"/>
  <Override PartName="/ppt/slides/tags/tag70.xml" ContentType="application/vnd.openxmlformats-officedocument.presentationml.tags+xml"/>
  <Override PartName="/ppt/slides/slide85.xml" ContentType="application/vnd.openxmlformats-officedocument.presentationml.slide+xml"/>
  <Override PartName="/ppt/slides/tags/tag71.xml" ContentType="application/vnd.openxmlformats-officedocument.presentationml.tags+xml"/>
  <Override PartName="/ppt/slides/slide86.xml" ContentType="application/vnd.openxmlformats-officedocument.presentationml.slide+xml"/>
  <Override PartName="/ppt/slides/tags/tag72.xml" ContentType="application/vnd.openxmlformats-officedocument.presentationml.tags+xml"/>
  <Override PartName="/ppt/slides/slide87.xml" ContentType="application/vnd.openxmlformats-officedocument.presentationml.slide+xml"/>
  <Override PartName="/ppt/slides/tags/tag73.xml" ContentType="application/vnd.openxmlformats-officedocument.presentationml.tags+xml"/>
  <Override PartName="/ppt/slides/slide88.xml" ContentType="application/vnd.openxmlformats-officedocument.presentationml.slide+xml"/>
  <Override PartName="/ppt/slides/tags/tag74.xml" ContentType="application/vnd.openxmlformats-officedocument.presentationml.tags+xml"/>
  <Override PartName="/ppt/slides/slide89.xml" ContentType="application/vnd.openxmlformats-officedocument.presentationml.slide+xml"/>
  <Override PartName="/ppt/slides/tags/tag75.xml" ContentType="application/vnd.openxmlformats-officedocument.presentationml.tags+xml"/>
  <Override PartName="/ppt/slides/slide90.xml" ContentType="application/vnd.openxmlformats-officedocument.presentationml.slide+xml"/>
  <Override PartName="/ppt/slides/tags/tag76.xml" ContentType="application/vnd.openxmlformats-officedocument.presentationml.tags+xml"/>
  <Override PartName="/ppt/slides/slide91.xml" ContentType="application/vnd.openxmlformats-officedocument.presentationml.slide+xml"/>
  <Override PartName="/ppt/slides/tags/tag77.xml" ContentType="application/vnd.openxmlformats-officedocument.presentationml.tags+xml"/>
  <Override PartName="/ppt/slides/slide92.xml" ContentType="application/vnd.openxmlformats-officedocument.presentationml.slide+xml"/>
  <Override PartName="/ppt/slides/tags/tag78.xml" ContentType="application/vnd.openxmlformats-officedocument.presentationml.tags+xml"/>
  <Override PartName="/ppt/slides/slide93.xml" ContentType="application/vnd.openxmlformats-officedocument.presentationml.slide+xml"/>
  <Override PartName="/ppt/slides/tags/tag79.xml" ContentType="application/vnd.openxmlformats-officedocument.presentationml.tags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tags/tag80.xml" ContentType="application/vnd.openxmlformats-officedocument.presentationml.tags+xml"/>
  <Override PartName="/ppt/slides/slide98.xml" ContentType="application/vnd.openxmlformats-officedocument.presentationml.slide+xml"/>
  <Override PartName="/ppt/slides/tags/tag81.xml" ContentType="application/vnd.openxmlformats-officedocument.presentationml.tags+xml"/>
  <Override PartName="/ppt/slides/slide99.xml" ContentType="application/vnd.openxmlformats-officedocument.presentationml.slide+xml"/>
  <Override PartName="/ppt/slides/tags/tag82.xml" ContentType="application/vnd.openxmlformats-officedocument.presentationml.tags+xml"/>
  <Override PartName="/ppt/slides/slide100.xml" ContentType="application/vnd.openxmlformats-officedocument.presentationml.slide+xml"/>
  <Override PartName="/ppt/slides/tags/tag83.xml" ContentType="application/vnd.openxmlformats-officedocument.presentationml.tags+xml"/>
  <Override PartName="/ppt/slides/slide101.xml" ContentType="application/vnd.openxmlformats-officedocument.presentationml.slide+xml"/>
  <Override PartName="/ppt/slides/tags/tag84.xml" ContentType="application/vnd.openxmlformats-officedocument.presentationml.tags+xml"/>
  <Override PartName="/ppt/slides/slide102.xml" ContentType="application/vnd.openxmlformats-officedocument.presentationml.slide+xml"/>
  <Override PartName="/ppt/slides/tags/tag85.xml" ContentType="application/vnd.openxmlformats-officedocument.presentationml.tags+xml"/>
  <Override PartName="/ppt/slides/slide103.xml" ContentType="application/vnd.openxmlformats-officedocument.presentationml.slide+xml"/>
  <Override PartName="/ppt/slides/tags/tag86.xml" ContentType="application/vnd.openxmlformats-officedocument.presentationml.tags+xml"/>
  <Override PartName="/ppt/slides/slide104.xml" ContentType="application/vnd.openxmlformats-officedocument.presentationml.slide+xml"/>
  <Override PartName="/ppt/slides/tags/tag87.xml" ContentType="application/vnd.openxmlformats-officedocument.presentationml.tags+xml"/>
  <Override PartName="/ppt/slides/slide105.xml" ContentType="application/vnd.openxmlformats-officedocument.presentationml.slide+xml"/>
  <Override PartName="/ppt/slides/tags/tag88.xml" ContentType="application/vnd.openxmlformats-officedocument.presentationml.tags+xml"/>
  <Override PartName="/ppt/slides/slide106.xml" ContentType="application/vnd.openxmlformats-officedocument.presentationml.slide+xml"/>
  <Override PartName="/ppt/slides/tags/tag89.xml" ContentType="application/vnd.openxmlformats-officedocument.presentationml.tags+xml"/>
  <Override PartName="/ppt/slides/slide107.xml" ContentType="application/vnd.openxmlformats-officedocument.presentationml.slide+xml"/>
  <Override PartName="/ppt/slides/tags/tag90.xml" ContentType="application/vnd.openxmlformats-officedocument.presentationml.tags+xml"/>
  <Override PartName="/ppt/slides/slide108.xml" ContentType="application/vnd.openxmlformats-officedocument.presentationml.slide+xml"/>
  <Override PartName="/ppt/slides/tags/tag91.xml" ContentType="application/vnd.openxmlformats-officedocument.presentationml.tags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tags/tag92.xml" ContentType="application/vnd.openxmlformats-officedocument.presentationml.tags+xml"/>
  <Override PartName="/ppt/slides/slide113.xml" ContentType="application/vnd.openxmlformats-officedocument.presentationml.slide+xml"/>
  <Override PartName="/ppt/slides/tags/tag93.xml" ContentType="application/vnd.openxmlformats-officedocument.presentationml.tags+xml"/>
  <Override PartName="/ppt/slides/slide114.xml" ContentType="application/vnd.openxmlformats-officedocument.presentationml.slide+xml"/>
  <Override PartName="/ppt/slides/tags/tag94.xml" ContentType="application/vnd.openxmlformats-officedocument.presentationml.tags+xml"/>
  <Override PartName="/ppt/slides/slide115.xml" ContentType="application/vnd.openxmlformats-officedocument.presentationml.slide+xml"/>
  <Override PartName="/ppt/slides/tags/tag95.xml" ContentType="application/vnd.openxmlformats-officedocument.presentationml.tags+xml"/>
  <Override PartName="/ppt/slides/slide116.xml" ContentType="application/vnd.openxmlformats-officedocument.presentationml.slide+xml"/>
  <Override PartName="/ppt/slides/tags/tag96.xml" ContentType="application/vnd.openxmlformats-officedocument.presentationml.tags+xml"/>
  <Override PartName="/ppt/slides/slide117.xml" ContentType="application/vnd.openxmlformats-officedocument.presentationml.slide+xml"/>
  <Override PartName="/ppt/slides/tags/tag97.xml" ContentType="application/vnd.openxmlformats-officedocument.presentationml.tags+xml"/>
  <Override PartName="/ppt/slides/slide118.xml" ContentType="application/vnd.openxmlformats-officedocument.presentationml.slide+xml"/>
  <Override PartName="/ppt/slides/tags/tag98.xml" ContentType="application/vnd.openxmlformats-officedocument.presentationml.tags+xml"/>
  <Override PartName="/ppt/slides/slide119.xml" ContentType="application/vnd.openxmlformats-officedocument.presentationml.slide+xml"/>
  <Override PartName="/ppt/slides/tags/tag99.xml" ContentType="application/vnd.openxmlformats-officedocument.presentationml.tags+xml"/>
  <Override PartName="/ppt/slides/slide120.xml" ContentType="application/vnd.openxmlformats-officedocument.presentationml.slide+xml"/>
  <Override PartName="/ppt/slides/tags/tag100.xml" ContentType="application/vnd.openxmlformats-officedocument.presentationml.tags+xml"/>
  <Override PartName="/ppt/slides/slide121.xml" ContentType="application/vnd.openxmlformats-officedocument.presentationml.slide+xml"/>
  <Override PartName="/ppt/slides/tags/tag101.xml" ContentType="application/vnd.openxmlformats-officedocument.presentationml.tags+xml"/>
  <Override PartName="/ppt/slides/slide122.xml" ContentType="application/vnd.openxmlformats-officedocument.presentationml.slide+xml"/>
  <Override PartName="/ppt/slides/tags/tag102.xml" ContentType="application/vnd.openxmlformats-officedocument.presentationml.tags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tags/tag103.xml" ContentType="application/vnd.openxmlformats-officedocument.presentationml.tags+xml"/>
  <Override PartName="/ppt/slides/slide127.xml" ContentType="application/vnd.openxmlformats-officedocument.presentationml.slide+xml"/>
  <Override PartName="/ppt/slides/tags/tag104.xml" ContentType="application/vnd.openxmlformats-officedocument.presentationml.tags+xml"/>
  <Override PartName="/ppt/slides/slide128.xml" ContentType="application/vnd.openxmlformats-officedocument.presentationml.slide+xml"/>
  <Override PartName="/ppt/slides/tags/tag105.xml" ContentType="application/vnd.openxmlformats-officedocument.presentationml.tags+xml"/>
  <Override PartName="/ppt/slides/slide129.xml" ContentType="application/vnd.openxmlformats-officedocument.presentationml.slide+xml"/>
  <Override PartName="/ppt/slides/tags/tag106.xml" ContentType="application/vnd.openxmlformats-officedocument.presentationml.tags+xml"/>
  <Override PartName="/ppt/slides/slide130.xml" ContentType="application/vnd.openxmlformats-officedocument.presentationml.slide+xml"/>
  <Override PartName="/ppt/slides/tags/tag107.xml" ContentType="application/vnd.openxmlformats-officedocument.presentationml.tags+xml"/>
  <Override PartName="/ppt/slides/slide131.xml" ContentType="application/vnd.openxmlformats-officedocument.presentationml.slide+xml"/>
  <Override PartName="/ppt/slides/tags/tag108.xml" ContentType="application/vnd.openxmlformats-officedocument.presentationml.tags+xml"/>
  <Override PartName="/ppt/slides/slide132.xml" ContentType="application/vnd.openxmlformats-officedocument.presentationml.slide+xml"/>
  <Override PartName="/ppt/slides/tags/tag109.xml" ContentType="application/vnd.openxmlformats-officedocument.presentationml.tags+xml"/>
  <Override PartName="/ppt/slides/slide133.xml" ContentType="application/vnd.openxmlformats-officedocument.presentationml.slide+xml"/>
  <Override PartName="/ppt/slides/tags/tag110.xml" ContentType="application/vnd.openxmlformats-officedocument.presentationml.tags+xml"/>
  <Override PartName="/ppt/slides/slide134.xml" ContentType="application/vnd.openxmlformats-officedocument.presentationml.slide+xml"/>
  <Override PartName="/ppt/slides/tags/tag111.xml" ContentType="application/vnd.openxmlformats-officedocument.presentationml.tags+xml"/>
  <Override PartName="/ppt/slides/slide135.xml" ContentType="application/vnd.openxmlformats-officedocument.presentationml.slide+xml"/>
  <Override PartName="/ppt/slides/tags/tag112.xml" ContentType="application/vnd.openxmlformats-officedocument.presentationml.tags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tags/tag113.xml" ContentType="application/vnd.openxmlformats-officedocument.presentationml.tags+xml"/>
  <Override PartName="/ppt/slides/slide140.xml" ContentType="application/vnd.openxmlformats-officedocument.presentationml.slide+xml"/>
  <Override PartName="/ppt/slides/tags/tag114.xml" ContentType="application/vnd.openxmlformats-officedocument.presentationml.tags+xml"/>
  <Override PartName="/ppt/slides/slide141.xml" ContentType="application/vnd.openxmlformats-officedocument.presentationml.slide+xml"/>
  <Override PartName="/ppt/slides/tags/tag115.xml" ContentType="application/vnd.openxmlformats-officedocument.presentationml.tags+xml"/>
  <Override PartName="/ppt/slides/slide142.xml" ContentType="application/vnd.openxmlformats-officedocument.presentationml.slide+xml"/>
  <Override PartName="/ppt/slides/tags/tag116.xml" ContentType="application/vnd.openxmlformats-officedocument.presentationml.tags+xml"/>
  <Override PartName="/ppt/slides/slide143.xml" ContentType="application/vnd.openxmlformats-officedocument.presentationml.slide+xml"/>
  <Override PartName="/ppt/slides/tags/tag117.xml" ContentType="application/vnd.openxmlformats-officedocument.presentationml.tags+xml"/>
  <Override PartName="/ppt/slides/slide144.xml" ContentType="application/vnd.openxmlformats-officedocument.presentationml.slide+xml"/>
  <Override PartName="/ppt/slides/tags/tag118.xml" ContentType="application/vnd.openxmlformats-officedocument.presentationml.tags+xml"/>
  <Override PartName="/ppt/slides/slide145.xml" ContentType="application/vnd.openxmlformats-officedocument.presentationml.slide+xml"/>
  <Override PartName="/ppt/slides/tags/tag119.xml" ContentType="application/vnd.openxmlformats-officedocument.presentationml.tags+xml"/>
  <Override PartName="/ppt/slides/slide146.xml" ContentType="application/vnd.openxmlformats-officedocument.presentationml.slide+xml"/>
  <Override PartName="/ppt/slides/tags/tag120.xml" ContentType="application/vnd.openxmlformats-officedocument.presentationml.tags+xml"/>
  <Override PartName="/ppt/slides/slide147.xml" ContentType="application/vnd.openxmlformats-officedocument.presentationml.slide+xml"/>
  <Override PartName="/ppt/slides/tags/tag121.xml" ContentType="application/vnd.openxmlformats-officedocument.presentationml.tags+xml"/>
  <Override PartName="/ppt/slides/slide148.xml" ContentType="application/vnd.openxmlformats-officedocument.presentationml.slide+xml"/>
  <Override PartName="/ppt/slides/tags/tag122.xml" ContentType="application/vnd.openxmlformats-officedocument.presentationml.tags+xml"/>
  <Override PartName="/ppt/slides/slide149.xml" ContentType="application/vnd.openxmlformats-officedocument.presentationml.slide+xml"/>
  <Override PartName="/ppt/slides/tags/tag123.xml" ContentType="application/vnd.openxmlformats-officedocument.presentationml.tags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tags/tag124.xml" ContentType="application/vnd.openxmlformats-officedocument.presentationml.tags+xml"/>
  <Override PartName="/ppt/slides/slide154.xml" ContentType="application/vnd.openxmlformats-officedocument.presentationml.slide+xml"/>
  <Override PartName="/ppt/slides/tags/tag125.xml" ContentType="application/vnd.openxmlformats-officedocument.presentationml.tags+xml"/>
  <Override PartName="/ppt/slides/slide155.xml" ContentType="application/vnd.openxmlformats-officedocument.presentationml.slide+xml"/>
  <Override PartName="/ppt/slides/tags/tag126.xml" ContentType="application/vnd.openxmlformats-officedocument.presentationml.tags+xml"/>
  <Override PartName="/ppt/slides/slide156.xml" ContentType="application/vnd.openxmlformats-officedocument.presentationml.slide+xml"/>
  <Override PartName="/ppt/slides/tags/tag127.xml" ContentType="application/vnd.openxmlformats-officedocument.presentationml.tags+xml"/>
  <Override PartName="/ppt/slides/slide157.xml" ContentType="application/vnd.openxmlformats-officedocument.presentationml.slide+xml"/>
  <Override PartName="/ppt/slides/tags/tag128.xml" ContentType="application/vnd.openxmlformats-officedocument.presentationml.tags+xml"/>
  <Override PartName="/ppt/slides/slide158.xml" ContentType="application/vnd.openxmlformats-officedocument.presentationml.slide+xml"/>
  <Override PartName="/ppt/slides/tags/tag129.xml" ContentType="application/vnd.openxmlformats-officedocument.presentationml.tags+xml"/>
  <Override PartName="/ppt/slides/slide159.xml" ContentType="application/vnd.openxmlformats-officedocument.presentationml.slide+xml"/>
  <Override PartName="/ppt/slides/tags/tag130.xml" ContentType="application/vnd.openxmlformats-officedocument.presentationml.tags+xml"/>
  <Override PartName="/ppt/slides/slide160.xml" ContentType="application/vnd.openxmlformats-officedocument.presentationml.slide+xml"/>
  <Override PartName="/ppt/slides/tags/tag131.xml" ContentType="application/vnd.openxmlformats-officedocument.presentationml.tags+xml"/>
  <Override PartName="/ppt/slides/slide161.xml" ContentType="application/vnd.openxmlformats-officedocument.presentationml.slide+xml"/>
  <Override PartName="/ppt/slides/tags/tag132.xml" ContentType="application/vnd.openxmlformats-officedocument.presentationml.tags+xml"/>
  <Override PartName="/ppt/slides/slide162.xml" ContentType="application/vnd.openxmlformats-officedocument.presentationml.slide+xml"/>
  <Override PartName="/ppt/slides/tags/tag133.xml" ContentType="application/vnd.openxmlformats-officedocument.presentationml.tags+xml"/>
  <Override PartName="/ppt/slides/slide163.xml" ContentType="application/vnd.openxmlformats-officedocument.presentationml.slide+xml"/>
  <Override PartName="/ppt/slides/tags/tag134.xml" ContentType="application/vnd.openxmlformats-officedocument.presentationml.tags+xml"/>
  <Override PartName="/ppt/slides/slide16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e671cf2bef64d66" /><Relationship Type="http://schemas.openxmlformats.org/package/2006/relationships/metadata/core-properties" Target="/docProps/core.xml" Id="R377394adefe14d08" /><Relationship Type="http://schemas.openxmlformats.org/officeDocument/2006/relationships/extended-properties" Target="/docProps/app.xml" Id="Rc66fb1f320e74f40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9b8794985f054430"/>
  </p:sldMasterIdLst>
  <p:notesMasterIdLst>
    <p:notesMasterId r:id="R67885ad878674457"/>
  </p:notesMasterIdLst>
  <p:handoutMasterIdLst>
    <p:handoutMasterId r:id="Re9203a452fd149f1"/>
  </p:handoutMasterIdLst>
  <p:sldIdLst>
    <p:sldId id="256" r:id="R702c73f039b341f7"/>
    <p:sldId id="257" r:id="R9399dcc6dc804e6d"/>
    <p:sldId id="258" r:id="R2a54658df6ff401c"/>
    <p:sldId id="259" r:id="R038dd6a9e82745b1"/>
    <p:sldId id="260" r:id="R29b30e37dd064f60"/>
    <p:sldId id="261" r:id="R0839207b60ae43b7"/>
    <p:sldId id="262" r:id="Ra7f585fcbb94450a"/>
    <p:sldId id="263" r:id="Rfe0defa40ce348b9"/>
    <p:sldId id="264" r:id="R49e4276c846b49c2"/>
    <p:sldId id="265" r:id="R9c491fc18d36403e"/>
    <p:sldId id="266" r:id="Rcc04c4aee9f4488e"/>
    <p:sldId id="267" r:id="R92f2155464a045bb"/>
    <p:sldId id="268" r:id="R41210a24c8ea42c1"/>
    <p:sldId id="269" r:id="Ra9882e554d7a4619"/>
    <p:sldId id="270" r:id="Rd0cc78a167cd4018"/>
    <p:sldId id="271" r:id="Rb943b5d367c1495a"/>
    <p:sldId id="272" r:id="Rb0a501f831d0448c"/>
    <p:sldId id="273" r:id="R0dba0a47fdaf48a1"/>
    <p:sldId id="274" r:id="Rbeb5d7e931514066"/>
    <p:sldId id="275" r:id="Rb61e5fde7ae24bb1"/>
    <p:sldId id="276" r:id="Reb27c866bdbd4d0e"/>
    <p:sldId id="277" r:id="Rf39848b41c47460e"/>
    <p:sldId id="278" r:id="Raffb8c52253445f2"/>
    <p:sldId id="279" r:id="Rcd51ddb71b374aad"/>
    <p:sldId id="280" r:id="R10849b7e533b478c"/>
    <p:sldId id="281" r:id="Ra7a2f490b19846bc"/>
    <p:sldId id="282" r:id="R7dfbaebdefa041f0"/>
    <p:sldId id="283" r:id="Rfcb4f13f841d4d31"/>
    <p:sldId id="284" r:id="R61772bfb66784a0d"/>
    <p:sldId id="285" r:id="Rd52aea845d3f4676"/>
    <p:sldId id="286" r:id="Ra8d071779d6747b0"/>
    <p:sldId id="287" r:id="Rcc59dd3d050b4627"/>
    <p:sldId id="288" r:id="R86dff315a11a4b60"/>
    <p:sldId id="289" r:id="R8d39a5b483b14c5d"/>
    <p:sldId id="290" r:id="Rd3eb8b81ef624b28"/>
    <p:sldId id="291" r:id="R359a6e82437d415b"/>
    <p:sldId id="292" r:id="R070f674485cb4941"/>
    <p:sldId id="293" r:id="Re7bf1919af554dd0"/>
    <p:sldId id="294" r:id="R25789e33c9974bd4"/>
    <p:sldId id="295" r:id="Rdf3ae2a07b644650"/>
    <p:sldId id="296" r:id="Rc202c0904aca4c22"/>
    <p:sldId id="297" r:id="R1690e82e9aff40cb"/>
    <p:sldId id="298" r:id="Rc9a87616cbf14141"/>
    <p:sldId id="299" r:id="R170621e9b3534ca1"/>
    <p:sldId id="300" r:id="R2dd88a6ebf8b460b"/>
    <p:sldId id="301" r:id="Rc3a3759e55d34d58"/>
    <p:sldId id="302" r:id="R26a3b692b5164d40"/>
    <p:sldId id="303" r:id="Ra1f5dd488d734880"/>
    <p:sldId id="304" r:id="R4971eb72c818417a"/>
    <p:sldId id="305" r:id="Rd5e071b141fb4b8e"/>
    <p:sldId id="306" r:id="Rc158c8f5a04843aa"/>
    <p:sldId id="307" r:id="R00da2467c82e47ad"/>
    <p:sldId id="308" r:id="R29658c3caebd4ba3"/>
    <p:sldId id="309" r:id="Rc897f1a4506b4daf"/>
    <p:sldId id="310" r:id="R1af5b9265654436d"/>
    <p:sldId id="311" r:id="Rd8b3fda7c1c24554"/>
    <p:sldId id="312" r:id="R71106e640b6b42a3"/>
    <p:sldId id="313" r:id="R0b360f78477341cc"/>
    <p:sldId id="314" r:id="R50daefafbd254393"/>
    <p:sldId id="315" r:id="Rff082718b9ee4918"/>
    <p:sldId id="316" r:id="R5f96b50045544f0f"/>
    <p:sldId id="317" r:id="R14aa1ed844504e7a"/>
    <p:sldId id="318" r:id="Rbdea5b8817464a19"/>
    <p:sldId id="319" r:id="R2ae4861778e14630"/>
    <p:sldId id="320" r:id="Rcc5f759716ee4345"/>
    <p:sldId id="321" r:id="R749bc02fcdd14107"/>
    <p:sldId id="322" r:id="Ra48043481c7d4ed3"/>
    <p:sldId id="323" r:id="R9aff82d2e43141d1"/>
    <p:sldId id="324" r:id="Re8ad99ad26424ac2"/>
    <p:sldId id="325" r:id="R787f2ca115564931"/>
    <p:sldId id="326" r:id="Re133430f53b0481a"/>
    <p:sldId id="327" r:id="R8ebc9a4e19ea43db"/>
    <p:sldId id="328" r:id="Rde9ea76dfa4d4124"/>
    <p:sldId id="329" r:id="Re28958a0c1a34f8e"/>
    <p:sldId id="330" r:id="R870f11c0969441f5"/>
    <p:sldId id="331" r:id="R2c1f51ddb8a74e39"/>
    <p:sldId id="332" r:id="R049af4e523fd4ade"/>
    <p:sldId id="333" r:id="R5d05733e9374425f"/>
    <p:sldId id="334" r:id="R688e28938a4a4529"/>
    <p:sldId id="335" r:id="R357d3301fa9b42e0"/>
    <p:sldId id="336" r:id="R11cf027d2fec48d5"/>
    <p:sldId id="337" r:id="R275dd240596e4d95"/>
    <p:sldId id="338" r:id="Ra9397b1389f84ba3"/>
    <p:sldId id="339" r:id="Rf89d1a0808684f3c"/>
    <p:sldId id="340" r:id="R865f6c3bc0914605"/>
    <p:sldId id="341" r:id="R77a3f8739d2042a6"/>
    <p:sldId id="342" r:id="R0d1646e47e454f29"/>
    <p:sldId id="343" r:id="Rc4661e3718864295"/>
    <p:sldId id="344" r:id="R0997f123c50d4e7c"/>
    <p:sldId id="345" r:id="R2345d37f98144190"/>
    <p:sldId id="346" r:id="Rd05a8f187ae44bac"/>
    <p:sldId id="347" r:id="Rc734523484f54817"/>
    <p:sldId id="348" r:id="R9e8e85ca59c74764"/>
    <p:sldId id="349" r:id="R32f96c5ee7b341f3"/>
    <p:sldId id="350" r:id="Rb2484d9570c74ea7"/>
    <p:sldId id="351" r:id="Rc4005727f40c4133"/>
    <p:sldId id="352" r:id="R9be91f27f7914465"/>
    <p:sldId id="353" r:id="Rf623c339d1fd4766"/>
    <p:sldId id="354" r:id="Rd284846acef1433c"/>
    <p:sldId id="355" r:id="R9f32e00f3ccf441c"/>
    <p:sldId id="356" r:id="R4c782925dc44488f"/>
    <p:sldId id="357" r:id="R5ced20f2ae634872"/>
    <p:sldId id="358" r:id="R6d17625c6c7844af"/>
    <p:sldId id="359" r:id="R3c9657009b264a34"/>
    <p:sldId id="360" r:id="Rcd427bb200f84b00"/>
    <p:sldId id="361" r:id="Ra9eb4481482a4595"/>
    <p:sldId id="362" r:id="R06998bb867bd4de4"/>
    <p:sldId id="363" r:id="R2ed620b09d734c9c"/>
    <p:sldId id="364" r:id="R17be2535f2bc461c"/>
    <p:sldId id="365" r:id="R2c1ae63d39364fb3"/>
    <p:sldId id="366" r:id="R77f37053dbec4658"/>
    <p:sldId id="367" r:id="R40fa4bf2dde04339"/>
    <p:sldId id="368" r:id="R45532717d5ba49eb"/>
    <p:sldId id="369" r:id="Rcdffffecb5624806"/>
    <p:sldId id="370" r:id="Raf448dc2d190486f"/>
    <p:sldId id="371" r:id="Rb56ffbe0b9074db8"/>
    <p:sldId id="372" r:id="Rc7e21f7e507b4447"/>
    <p:sldId id="373" r:id="Rc315bf2199594ea0"/>
    <p:sldId id="374" r:id="R1647368fcff1464e"/>
    <p:sldId id="375" r:id="Reb304619668943e3"/>
    <p:sldId id="376" r:id="R4cd699c7ef2b4f23"/>
    <p:sldId id="377" r:id="R3bee1efb269f4453"/>
    <p:sldId id="378" r:id="R332e2877080f4bfd"/>
    <p:sldId id="379" r:id="R07a5d2b64daf4cf7"/>
    <p:sldId id="380" r:id="Ra399b36016a74674"/>
    <p:sldId id="381" r:id="Rf7ffc24f3b2d49a5"/>
    <p:sldId id="382" r:id="R21eee6aabb26475e"/>
    <p:sldId id="383" r:id="R1847fd9e82954cec"/>
    <p:sldId id="384" r:id="R61a8aea9c67347a2"/>
    <p:sldId id="385" r:id="Re65e67d2e5974e0b"/>
    <p:sldId id="386" r:id="R042cdde5eb624281"/>
    <p:sldId id="387" r:id="R776ce8cd8a7847f4"/>
    <p:sldId id="388" r:id="R094b586ffbeb4df7"/>
    <p:sldId id="389" r:id="R4da6cb8ed7d348c8"/>
    <p:sldId id="390" r:id="R0d9861a48c034cd0"/>
    <p:sldId id="391" r:id="R3730464931a9426f"/>
    <p:sldId id="392" r:id="R63def21bb8ea4bec"/>
    <p:sldId id="393" r:id="R612505101bc04110"/>
    <p:sldId id="394" r:id="R980db0a4a68d47a2"/>
    <p:sldId id="395" r:id="R5c0a9bfd194a4428"/>
    <p:sldId id="396" r:id="R874cd6deaaae4cb7"/>
    <p:sldId id="397" r:id="Re0f34b924e4e4bf2"/>
    <p:sldId id="398" r:id="R9c9254af255d4efa"/>
    <p:sldId id="399" r:id="R9c80cecf6b1f4827"/>
    <p:sldId id="400" r:id="R550423168d8b439c"/>
    <p:sldId id="401" r:id="Rb728d735f22a4ae7"/>
    <p:sldId id="402" r:id="R05684cf8adeb4e7e"/>
    <p:sldId id="403" r:id="R897a8c75f0644f5f"/>
    <p:sldId id="404" r:id="Rc1aa3595332b4915"/>
    <p:sldId id="405" r:id="R7762c78705ea4438"/>
    <p:sldId id="406" r:id="R46a1de5e01834f6f"/>
    <p:sldId id="407" r:id="R4f37a03157444ffe"/>
    <p:sldId id="408" r:id="R1c1cd6e3e6484924"/>
    <p:sldId id="409" r:id="R9595c7cf8a2c4a82"/>
    <p:sldId id="410" r:id="R7f0b193ef5954694"/>
    <p:sldId id="411" r:id="R2add370607324485"/>
    <p:sldId id="412" r:id="Rea03feae17594512"/>
    <p:sldId id="413" r:id="R06ed237637ac45d4"/>
    <p:sldId id="414" r:id="R276675f7ab0f4c76"/>
    <p:sldId id="415" r:id="R8ad72b21cb83410b"/>
    <p:sldId id="416" r:id="R9929bb00ed524556"/>
    <p:sldId id="417" r:id="Ra6a561338b604393"/>
    <p:sldId id="418" r:id="R4d3e298b7c4a457e"/>
    <p:sldId id="419" r:id="R13f7b85cb1ad466b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7B26C5-4107-4FEC-AEDC-1716B250A1EF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73" autoAdjust="0"/>
    <p:restoredTop sz="96281" autoAdjust="0"/>
  </p:normalViewPr>
  <p:slideViewPr>
    <p:cSldViewPr snapToGrid="0">
      <p:cViewPr varScale="1">
        <p:scale>
          <a:sx n="64" d="100"/>
          <a:sy n="64" d="100"/>
        </p:scale>
        <p:origin x="1302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1" d="100"/>
          <a:sy n="91" d="100"/>
        </p:scale>
        <p:origin x="3750" y="108"/>
      </p:cViewPr>
      <p:guideLst/>
    </p:cSldViewPr>
  </p:notes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handoutMaster" Target="/ppt/handoutMasters/handoutMaster1.xml" Id="Re9203a452fd149f1" /><Relationship Type="http://schemas.openxmlformats.org/officeDocument/2006/relationships/notesMaster" Target="/ppt/notesMasters/notesMaster1.xml" Id="R67885ad878674457" /><Relationship Type="http://schemas.openxmlformats.org/officeDocument/2006/relationships/presProps" Target="/ppt/presProps.xml" Id="R24e7cc4ea15f4c0f" /><Relationship Type="http://schemas.openxmlformats.org/officeDocument/2006/relationships/viewProps" Target="/ppt/viewProps.xml" Id="R8a84d813394a4dec" /><Relationship Type="http://schemas.openxmlformats.org/officeDocument/2006/relationships/slideMaster" Target="/ppt/slideMasters/slideMaster1.xml" Id="R9b8794985f054430" /><Relationship Type="http://schemas.openxmlformats.org/officeDocument/2006/relationships/theme" Target="/ppt/slideMasters/theme/theme3.xml" Id="R407a8009cf0445bb" /><Relationship Type="http://schemas.openxmlformats.org/officeDocument/2006/relationships/slide" Target="/ppt/slides/slide1.xml" Id="R702c73f039b341f7" /><Relationship Type="http://schemas.openxmlformats.org/officeDocument/2006/relationships/slide" Target="/ppt/slides/slide2.xml" Id="R9399dcc6dc804e6d" /><Relationship Type="http://schemas.openxmlformats.org/officeDocument/2006/relationships/slide" Target="/ppt/slides/slide3.xml" Id="R2a54658df6ff401c" /><Relationship Type="http://schemas.openxmlformats.org/officeDocument/2006/relationships/slide" Target="/ppt/slides/slide4.xml" Id="R038dd6a9e82745b1" /><Relationship Type="http://schemas.openxmlformats.org/officeDocument/2006/relationships/slide" Target="/ppt/slides/slide5.xml" Id="R29b30e37dd064f60" /><Relationship Type="http://schemas.openxmlformats.org/officeDocument/2006/relationships/slide" Target="/ppt/slides/slide6.xml" Id="R0839207b60ae43b7" /><Relationship Type="http://schemas.openxmlformats.org/officeDocument/2006/relationships/slide" Target="/ppt/slides/slide7.xml" Id="Ra7f585fcbb94450a" /><Relationship Type="http://schemas.openxmlformats.org/officeDocument/2006/relationships/slide" Target="/ppt/slides/slide8.xml" Id="Rfe0defa40ce348b9" /><Relationship Type="http://schemas.openxmlformats.org/officeDocument/2006/relationships/slide" Target="/ppt/slides/slide9.xml" Id="R49e4276c846b49c2" /><Relationship Type="http://schemas.openxmlformats.org/officeDocument/2006/relationships/slide" Target="/ppt/slides/slide10.xml" Id="R9c491fc18d36403e" /><Relationship Type="http://schemas.openxmlformats.org/officeDocument/2006/relationships/slide" Target="/ppt/slides/slide11.xml" Id="Rcc04c4aee9f4488e" /><Relationship Type="http://schemas.openxmlformats.org/officeDocument/2006/relationships/slide" Target="/ppt/slides/slide12.xml" Id="R92f2155464a045bb" /><Relationship Type="http://schemas.openxmlformats.org/officeDocument/2006/relationships/tableStyles" Target="/ppt/tableStyles.xml" Id="Rc8d863ce7cf4400c" /><Relationship Type="http://schemas.openxmlformats.org/officeDocument/2006/relationships/slide" Target="/ppt/slides/slide13.xml" Id="R41210a24c8ea42c1" /><Relationship Type="http://schemas.openxmlformats.org/officeDocument/2006/relationships/slide" Target="/ppt/slides/slide14.xml" Id="Ra9882e554d7a4619" /><Relationship Type="http://schemas.openxmlformats.org/officeDocument/2006/relationships/slide" Target="/ppt/slides/slide15.xml" Id="Rd0cc78a167cd4018" /><Relationship Type="http://schemas.openxmlformats.org/officeDocument/2006/relationships/slide" Target="/ppt/slides/slide16.xml" Id="Rb943b5d367c1495a" /><Relationship Type="http://schemas.openxmlformats.org/officeDocument/2006/relationships/slide" Target="/ppt/slides/slide17.xml" Id="Rb0a501f831d0448c" /><Relationship Type="http://schemas.openxmlformats.org/officeDocument/2006/relationships/slide" Target="/ppt/slides/slide18.xml" Id="R0dba0a47fdaf48a1" /><Relationship Type="http://schemas.openxmlformats.org/officeDocument/2006/relationships/slide" Target="/ppt/slides/slide19.xml" Id="Rbeb5d7e931514066" /><Relationship Type="http://schemas.openxmlformats.org/officeDocument/2006/relationships/slide" Target="/ppt/slides/slide20.xml" Id="Rb61e5fde7ae24bb1" /><Relationship Type="http://schemas.openxmlformats.org/officeDocument/2006/relationships/slide" Target="/ppt/slides/slide21.xml" Id="Reb27c866bdbd4d0e" /><Relationship Type="http://schemas.openxmlformats.org/officeDocument/2006/relationships/slide" Target="/ppt/slides/slide22.xml" Id="Rf39848b41c47460e" /><Relationship Type="http://schemas.openxmlformats.org/officeDocument/2006/relationships/slide" Target="/ppt/slides/slide23.xml" Id="Raffb8c52253445f2" /><Relationship Type="http://schemas.openxmlformats.org/officeDocument/2006/relationships/slide" Target="/ppt/slides/slide24.xml" Id="Rcd51ddb71b374aad" /><Relationship Type="http://schemas.openxmlformats.org/officeDocument/2006/relationships/slide" Target="/ppt/slides/slide25.xml" Id="R10849b7e533b478c" /><Relationship Type="http://schemas.openxmlformats.org/officeDocument/2006/relationships/slide" Target="/ppt/slides/slide26.xml" Id="Ra7a2f490b19846bc" /><Relationship Type="http://schemas.openxmlformats.org/officeDocument/2006/relationships/slide" Target="/ppt/slides/slide27.xml" Id="R7dfbaebdefa041f0" /><Relationship Type="http://schemas.openxmlformats.org/officeDocument/2006/relationships/slide" Target="/ppt/slides/slide28.xml" Id="Rfcb4f13f841d4d31" /><Relationship Type="http://schemas.openxmlformats.org/officeDocument/2006/relationships/slide" Target="/ppt/slides/slide29.xml" Id="R61772bfb66784a0d" /><Relationship Type="http://schemas.openxmlformats.org/officeDocument/2006/relationships/slide" Target="/ppt/slides/slide30.xml" Id="Rd52aea845d3f4676" /><Relationship Type="http://schemas.openxmlformats.org/officeDocument/2006/relationships/slide" Target="/ppt/slides/slide31.xml" Id="Ra8d071779d6747b0" /><Relationship Type="http://schemas.openxmlformats.org/officeDocument/2006/relationships/slide" Target="/ppt/slides/slide32.xml" Id="Rcc59dd3d050b4627" /><Relationship Type="http://schemas.openxmlformats.org/officeDocument/2006/relationships/slide" Target="/ppt/slides/slide33.xml" Id="R86dff315a11a4b60" /><Relationship Type="http://schemas.openxmlformats.org/officeDocument/2006/relationships/slide" Target="/ppt/slides/slide34.xml" Id="R8d39a5b483b14c5d" /><Relationship Type="http://schemas.openxmlformats.org/officeDocument/2006/relationships/slide" Target="/ppt/slides/slide35.xml" Id="Rd3eb8b81ef624b28" /><Relationship Type="http://schemas.openxmlformats.org/officeDocument/2006/relationships/slide" Target="/ppt/slides/slide36.xml" Id="R359a6e82437d415b" /><Relationship Type="http://schemas.openxmlformats.org/officeDocument/2006/relationships/slide" Target="/ppt/slides/slide37.xml" Id="R070f674485cb4941" /><Relationship Type="http://schemas.openxmlformats.org/officeDocument/2006/relationships/slide" Target="/ppt/slides/slide38.xml" Id="Re7bf1919af554dd0" /><Relationship Type="http://schemas.openxmlformats.org/officeDocument/2006/relationships/slide" Target="/ppt/slides/slide39.xml" Id="R25789e33c9974bd4" /><Relationship Type="http://schemas.openxmlformats.org/officeDocument/2006/relationships/slide" Target="/ppt/slides/slide40.xml" Id="Rdf3ae2a07b644650" /><Relationship Type="http://schemas.openxmlformats.org/officeDocument/2006/relationships/slide" Target="/ppt/slides/slide41.xml" Id="Rc202c0904aca4c22" /><Relationship Type="http://schemas.openxmlformats.org/officeDocument/2006/relationships/slide" Target="/ppt/slides/slide42.xml" Id="R1690e82e9aff40cb" /><Relationship Type="http://schemas.openxmlformats.org/officeDocument/2006/relationships/slide" Target="/ppt/slides/slide43.xml" Id="Rc9a87616cbf14141" /><Relationship Type="http://schemas.openxmlformats.org/officeDocument/2006/relationships/slide" Target="/ppt/slides/slide44.xml" Id="R170621e9b3534ca1" /><Relationship Type="http://schemas.openxmlformats.org/officeDocument/2006/relationships/slide" Target="/ppt/slides/slide45.xml" Id="R2dd88a6ebf8b460b" /><Relationship Type="http://schemas.openxmlformats.org/officeDocument/2006/relationships/slide" Target="/ppt/slides/slide46.xml" Id="Rc3a3759e55d34d58" /><Relationship Type="http://schemas.openxmlformats.org/officeDocument/2006/relationships/slide" Target="/ppt/slides/slide47.xml" Id="R26a3b692b5164d40" /><Relationship Type="http://schemas.openxmlformats.org/officeDocument/2006/relationships/slide" Target="/ppt/slides/slide48.xml" Id="Ra1f5dd488d734880" /><Relationship Type="http://schemas.openxmlformats.org/officeDocument/2006/relationships/slide" Target="/ppt/slides/slide49.xml" Id="R4971eb72c818417a" /><Relationship Type="http://schemas.openxmlformats.org/officeDocument/2006/relationships/slide" Target="/ppt/slides/slide50.xml" Id="Rd5e071b141fb4b8e" /><Relationship Type="http://schemas.openxmlformats.org/officeDocument/2006/relationships/slide" Target="/ppt/slides/slide51.xml" Id="Rc158c8f5a04843aa" /><Relationship Type="http://schemas.openxmlformats.org/officeDocument/2006/relationships/slide" Target="/ppt/slides/slide52.xml" Id="R00da2467c82e47ad" /><Relationship Type="http://schemas.openxmlformats.org/officeDocument/2006/relationships/slide" Target="/ppt/slides/slide53.xml" Id="R29658c3caebd4ba3" /><Relationship Type="http://schemas.openxmlformats.org/officeDocument/2006/relationships/slide" Target="/ppt/slides/slide54.xml" Id="Rc897f1a4506b4daf" /><Relationship Type="http://schemas.openxmlformats.org/officeDocument/2006/relationships/slide" Target="/ppt/slides/slide55.xml" Id="R1af5b9265654436d" /><Relationship Type="http://schemas.openxmlformats.org/officeDocument/2006/relationships/slide" Target="/ppt/slides/slide56.xml" Id="Rd8b3fda7c1c24554" /><Relationship Type="http://schemas.openxmlformats.org/officeDocument/2006/relationships/slide" Target="/ppt/slides/slide57.xml" Id="R71106e640b6b42a3" /><Relationship Type="http://schemas.openxmlformats.org/officeDocument/2006/relationships/slide" Target="/ppt/slides/slide58.xml" Id="R0b360f78477341cc" /><Relationship Type="http://schemas.openxmlformats.org/officeDocument/2006/relationships/slide" Target="/ppt/slides/slide59.xml" Id="R50daefafbd254393" /><Relationship Type="http://schemas.openxmlformats.org/officeDocument/2006/relationships/slide" Target="/ppt/slides/slide60.xml" Id="Rff082718b9ee4918" /><Relationship Type="http://schemas.openxmlformats.org/officeDocument/2006/relationships/slide" Target="/ppt/slides/slide61.xml" Id="R5f96b50045544f0f" /><Relationship Type="http://schemas.openxmlformats.org/officeDocument/2006/relationships/slide" Target="/ppt/slides/slide62.xml" Id="R14aa1ed844504e7a" /><Relationship Type="http://schemas.openxmlformats.org/officeDocument/2006/relationships/slide" Target="/ppt/slides/slide63.xml" Id="Rbdea5b8817464a19" /><Relationship Type="http://schemas.openxmlformats.org/officeDocument/2006/relationships/slide" Target="/ppt/slides/slide64.xml" Id="R2ae4861778e14630" /><Relationship Type="http://schemas.openxmlformats.org/officeDocument/2006/relationships/slide" Target="/ppt/slides/slide65.xml" Id="Rcc5f759716ee4345" /><Relationship Type="http://schemas.openxmlformats.org/officeDocument/2006/relationships/slide" Target="/ppt/slides/slide66.xml" Id="R749bc02fcdd14107" /><Relationship Type="http://schemas.openxmlformats.org/officeDocument/2006/relationships/slide" Target="/ppt/slides/slide67.xml" Id="Ra48043481c7d4ed3" /><Relationship Type="http://schemas.openxmlformats.org/officeDocument/2006/relationships/slide" Target="/ppt/slides/slide68.xml" Id="R9aff82d2e43141d1" /><Relationship Type="http://schemas.openxmlformats.org/officeDocument/2006/relationships/slide" Target="/ppt/slides/slide69.xml" Id="Re8ad99ad26424ac2" /><Relationship Type="http://schemas.openxmlformats.org/officeDocument/2006/relationships/slide" Target="/ppt/slides/slide70.xml" Id="R787f2ca115564931" /><Relationship Type="http://schemas.openxmlformats.org/officeDocument/2006/relationships/slide" Target="/ppt/slides/slide71.xml" Id="Re133430f53b0481a" /><Relationship Type="http://schemas.openxmlformats.org/officeDocument/2006/relationships/slide" Target="/ppt/slides/slide72.xml" Id="R8ebc9a4e19ea43db" /><Relationship Type="http://schemas.openxmlformats.org/officeDocument/2006/relationships/slide" Target="/ppt/slides/slide73.xml" Id="Rde9ea76dfa4d4124" /><Relationship Type="http://schemas.openxmlformats.org/officeDocument/2006/relationships/slide" Target="/ppt/slides/slide74.xml" Id="Re28958a0c1a34f8e" /><Relationship Type="http://schemas.openxmlformats.org/officeDocument/2006/relationships/slide" Target="/ppt/slides/slide75.xml" Id="R870f11c0969441f5" /><Relationship Type="http://schemas.openxmlformats.org/officeDocument/2006/relationships/slide" Target="/ppt/slides/slide76.xml" Id="R2c1f51ddb8a74e39" /><Relationship Type="http://schemas.openxmlformats.org/officeDocument/2006/relationships/slide" Target="/ppt/slides/slide77.xml" Id="R049af4e523fd4ade" /><Relationship Type="http://schemas.openxmlformats.org/officeDocument/2006/relationships/slide" Target="/ppt/slides/slide78.xml" Id="R5d05733e9374425f" /><Relationship Type="http://schemas.openxmlformats.org/officeDocument/2006/relationships/slide" Target="/ppt/slides/slide79.xml" Id="R688e28938a4a4529" /><Relationship Type="http://schemas.openxmlformats.org/officeDocument/2006/relationships/slide" Target="/ppt/slides/slide80.xml" Id="R357d3301fa9b42e0" /><Relationship Type="http://schemas.openxmlformats.org/officeDocument/2006/relationships/slide" Target="/ppt/slides/slide81.xml" Id="R11cf027d2fec48d5" /><Relationship Type="http://schemas.openxmlformats.org/officeDocument/2006/relationships/slide" Target="/ppt/slides/slide82.xml" Id="R275dd240596e4d95" /><Relationship Type="http://schemas.openxmlformats.org/officeDocument/2006/relationships/slide" Target="/ppt/slides/slide83.xml" Id="Ra9397b1389f84ba3" /><Relationship Type="http://schemas.openxmlformats.org/officeDocument/2006/relationships/slide" Target="/ppt/slides/slide84.xml" Id="Rf89d1a0808684f3c" /><Relationship Type="http://schemas.openxmlformats.org/officeDocument/2006/relationships/slide" Target="/ppt/slides/slide85.xml" Id="R865f6c3bc0914605" /><Relationship Type="http://schemas.openxmlformats.org/officeDocument/2006/relationships/slide" Target="/ppt/slides/slide86.xml" Id="R77a3f8739d2042a6" /><Relationship Type="http://schemas.openxmlformats.org/officeDocument/2006/relationships/slide" Target="/ppt/slides/slide87.xml" Id="R0d1646e47e454f29" /><Relationship Type="http://schemas.openxmlformats.org/officeDocument/2006/relationships/slide" Target="/ppt/slides/slide88.xml" Id="Rc4661e3718864295" /><Relationship Type="http://schemas.openxmlformats.org/officeDocument/2006/relationships/slide" Target="/ppt/slides/slide89.xml" Id="R0997f123c50d4e7c" /><Relationship Type="http://schemas.openxmlformats.org/officeDocument/2006/relationships/slide" Target="/ppt/slides/slide90.xml" Id="R2345d37f98144190" /><Relationship Type="http://schemas.openxmlformats.org/officeDocument/2006/relationships/slide" Target="/ppt/slides/slide91.xml" Id="Rd05a8f187ae44bac" /><Relationship Type="http://schemas.openxmlformats.org/officeDocument/2006/relationships/slide" Target="/ppt/slides/slide92.xml" Id="Rc734523484f54817" /><Relationship Type="http://schemas.openxmlformats.org/officeDocument/2006/relationships/slide" Target="/ppt/slides/slide93.xml" Id="R9e8e85ca59c74764" /><Relationship Type="http://schemas.openxmlformats.org/officeDocument/2006/relationships/slide" Target="/ppt/slides/slide94.xml" Id="R32f96c5ee7b341f3" /><Relationship Type="http://schemas.openxmlformats.org/officeDocument/2006/relationships/slide" Target="/ppt/slides/slide95.xml" Id="Rb2484d9570c74ea7" /><Relationship Type="http://schemas.openxmlformats.org/officeDocument/2006/relationships/slide" Target="/ppt/slides/slide96.xml" Id="Rc4005727f40c4133" /><Relationship Type="http://schemas.openxmlformats.org/officeDocument/2006/relationships/slide" Target="/ppt/slides/slide97.xml" Id="R9be91f27f7914465" /><Relationship Type="http://schemas.openxmlformats.org/officeDocument/2006/relationships/slide" Target="/ppt/slides/slide98.xml" Id="Rf623c339d1fd4766" /><Relationship Type="http://schemas.openxmlformats.org/officeDocument/2006/relationships/slide" Target="/ppt/slides/slide99.xml" Id="Rd284846acef1433c" /><Relationship Type="http://schemas.openxmlformats.org/officeDocument/2006/relationships/slide" Target="/ppt/slides/slide100.xml" Id="R9f32e00f3ccf441c" /><Relationship Type="http://schemas.openxmlformats.org/officeDocument/2006/relationships/slide" Target="/ppt/slides/slide101.xml" Id="R4c782925dc44488f" /><Relationship Type="http://schemas.openxmlformats.org/officeDocument/2006/relationships/slide" Target="/ppt/slides/slide102.xml" Id="R5ced20f2ae634872" /><Relationship Type="http://schemas.openxmlformats.org/officeDocument/2006/relationships/slide" Target="/ppt/slides/slide103.xml" Id="R6d17625c6c7844af" /><Relationship Type="http://schemas.openxmlformats.org/officeDocument/2006/relationships/slide" Target="/ppt/slides/slide104.xml" Id="R3c9657009b264a34" /><Relationship Type="http://schemas.openxmlformats.org/officeDocument/2006/relationships/slide" Target="/ppt/slides/slide105.xml" Id="Rcd427bb200f84b00" /><Relationship Type="http://schemas.openxmlformats.org/officeDocument/2006/relationships/slide" Target="/ppt/slides/slide106.xml" Id="Ra9eb4481482a4595" /><Relationship Type="http://schemas.openxmlformats.org/officeDocument/2006/relationships/slide" Target="/ppt/slides/slide107.xml" Id="R06998bb867bd4de4" /><Relationship Type="http://schemas.openxmlformats.org/officeDocument/2006/relationships/slide" Target="/ppt/slides/slide108.xml" Id="R2ed620b09d734c9c" /><Relationship Type="http://schemas.openxmlformats.org/officeDocument/2006/relationships/slide" Target="/ppt/slides/slide109.xml" Id="R17be2535f2bc461c" /><Relationship Type="http://schemas.openxmlformats.org/officeDocument/2006/relationships/slide" Target="/ppt/slides/slide110.xml" Id="R2c1ae63d39364fb3" /><Relationship Type="http://schemas.openxmlformats.org/officeDocument/2006/relationships/slide" Target="/ppt/slides/slide111.xml" Id="R77f37053dbec4658" /><Relationship Type="http://schemas.openxmlformats.org/officeDocument/2006/relationships/slide" Target="/ppt/slides/slide112.xml" Id="R40fa4bf2dde04339" /><Relationship Type="http://schemas.openxmlformats.org/officeDocument/2006/relationships/slide" Target="/ppt/slides/slide113.xml" Id="R45532717d5ba49eb" /><Relationship Type="http://schemas.openxmlformats.org/officeDocument/2006/relationships/slide" Target="/ppt/slides/slide114.xml" Id="Rcdffffecb5624806" /><Relationship Type="http://schemas.openxmlformats.org/officeDocument/2006/relationships/slide" Target="/ppt/slides/slide115.xml" Id="Raf448dc2d190486f" /><Relationship Type="http://schemas.openxmlformats.org/officeDocument/2006/relationships/slide" Target="/ppt/slides/slide116.xml" Id="Rb56ffbe0b9074db8" /><Relationship Type="http://schemas.openxmlformats.org/officeDocument/2006/relationships/slide" Target="/ppt/slides/slide117.xml" Id="Rc7e21f7e507b4447" /><Relationship Type="http://schemas.openxmlformats.org/officeDocument/2006/relationships/slide" Target="/ppt/slides/slide118.xml" Id="Rc315bf2199594ea0" /><Relationship Type="http://schemas.openxmlformats.org/officeDocument/2006/relationships/slide" Target="/ppt/slides/slide119.xml" Id="R1647368fcff1464e" /><Relationship Type="http://schemas.openxmlformats.org/officeDocument/2006/relationships/slide" Target="/ppt/slides/slide120.xml" Id="Reb304619668943e3" /><Relationship Type="http://schemas.openxmlformats.org/officeDocument/2006/relationships/slide" Target="/ppt/slides/slide121.xml" Id="R4cd699c7ef2b4f23" /><Relationship Type="http://schemas.openxmlformats.org/officeDocument/2006/relationships/slide" Target="/ppt/slides/slide122.xml" Id="R3bee1efb269f4453" /><Relationship Type="http://schemas.openxmlformats.org/officeDocument/2006/relationships/slide" Target="/ppt/slides/slide123.xml" Id="R332e2877080f4bfd" /><Relationship Type="http://schemas.openxmlformats.org/officeDocument/2006/relationships/slide" Target="/ppt/slides/slide124.xml" Id="R07a5d2b64daf4cf7" /><Relationship Type="http://schemas.openxmlformats.org/officeDocument/2006/relationships/slide" Target="/ppt/slides/slide125.xml" Id="Ra399b36016a74674" /><Relationship Type="http://schemas.openxmlformats.org/officeDocument/2006/relationships/slide" Target="/ppt/slides/slide126.xml" Id="Rf7ffc24f3b2d49a5" /><Relationship Type="http://schemas.openxmlformats.org/officeDocument/2006/relationships/slide" Target="/ppt/slides/slide127.xml" Id="R21eee6aabb26475e" /><Relationship Type="http://schemas.openxmlformats.org/officeDocument/2006/relationships/slide" Target="/ppt/slides/slide128.xml" Id="R1847fd9e82954cec" /><Relationship Type="http://schemas.openxmlformats.org/officeDocument/2006/relationships/slide" Target="/ppt/slides/slide129.xml" Id="R61a8aea9c67347a2" /><Relationship Type="http://schemas.openxmlformats.org/officeDocument/2006/relationships/slide" Target="/ppt/slides/slide130.xml" Id="Re65e67d2e5974e0b" /><Relationship Type="http://schemas.openxmlformats.org/officeDocument/2006/relationships/slide" Target="/ppt/slides/slide131.xml" Id="R042cdde5eb624281" /><Relationship Type="http://schemas.openxmlformats.org/officeDocument/2006/relationships/slide" Target="/ppt/slides/slide132.xml" Id="R776ce8cd8a7847f4" /><Relationship Type="http://schemas.openxmlformats.org/officeDocument/2006/relationships/slide" Target="/ppt/slides/slide133.xml" Id="R094b586ffbeb4df7" /><Relationship Type="http://schemas.openxmlformats.org/officeDocument/2006/relationships/slide" Target="/ppt/slides/slide134.xml" Id="R4da6cb8ed7d348c8" /><Relationship Type="http://schemas.openxmlformats.org/officeDocument/2006/relationships/slide" Target="/ppt/slides/slide135.xml" Id="R0d9861a48c034cd0" /><Relationship Type="http://schemas.openxmlformats.org/officeDocument/2006/relationships/slide" Target="/ppt/slides/slide136.xml" Id="R3730464931a9426f" /><Relationship Type="http://schemas.openxmlformats.org/officeDocument/2006/relationships/slide" Target="/ppt/slides/slide137.xml" Id="R63def21bb8ea4bec" /><Relationship Type="http://schemas.openxmlformats.org/officeDocument/2006/relationships/slide" Target="/ppt/slides/slide138.xml" Id="R612505101bc04110" /><Relationship Type="http://schemas.openxmlformats.org/officeDocument/2006/relationships/slide" Target="/ppt/slides/slide139.xml" Id="R980db0a4a68d47a2" /><Relationship Type="http://schemas.openxmlformats.org/officeDocument/2006/relationships/slide" Target="/ppt/slides/slide140.xml" Id="R5c0a9bfd194a4428" /><Relationship Type="http://schemas.openxmlformats.org/officeDocument/2006/relationships/slide" Target="/ppt/slides/slide141.xml" Id="R874cd6deaaae4cb7" /><Relationship Type="http://schemas.openxmlformats.org/officeDocument/2006/relationships/slide" Target="/ppt/slides/slide142.xml" Id="Re0f34b924e4e4bf2" /><Relationship Type="http://schemas.openxmlformats.org/officeDocument/2006/relationships/slide" Target="/ppt/slides/slide143.xml" Id="R9c9254af255d4efa" /><Relationship Type="http://schemas.openxmlformats.org/officeDocument/2006/relationships/slide" Target="/ppt/slides/slide144.xml" Id="R9c80cecf6b1f4827" /><Relationship Type="http://schemas.openxmlformats.org/officeDocument/2006/relationships/slide" Target="/ppt/slides/slide145.xml" Id="R550423168d8b439c" /><Relationship Type="http://schemas.openxmlformats.org/officeDocument/2006/relationships/slide" Target="/ppt/slides/slide146.xml" Id="Rb728d735f22a4ae7" /><Relationship Type="http://schemas.openxmlformats.org/officeDocument/2006/relationships/slide" Target="/ppt/slides/slide147.xml" Id="R05684cf8adeb4e7e" /><Relationship Type="http://schemas.openxmlformats.org/officeDocument/2006/relationships/slide" Target="/ppt/slides/slide148.xml" Id="R897a8c75f0644f5f" /><Relationship Type="http://schemas.openxmlformats.org/officeDocument/2006/relationships/slide" Target="/ppt/slides/slide149.xml" Id="Rc1aa3595332b4915" /><Relationship Type="http://schemas.openxmlformats.org/officeDocument/2006/relationships/slide" Target="/ppt/slides/slide150.xml" Id="R7762c78705ea4438" /><Relationship Type="http://schemas.openxmlformats.org/officeDocument/2006/relationships/slide" Target="/ppt/slides/slide151.xml" Id="R46a1de5e01834f6f" /><Relationship Type="http://schemas.openxmlformats.org/officeDocument/2006/relationships/slide" Target="/ppt/slides/slide152.xml" Id="R4f37a03157444ffe" /><Relationship Type="http://schemas.openxmlformats.org/officeDocument/2006/relationships/slide" Target="/ppt/slides/slide153.xml" Id="R1c1cd6e3e6484924" /><Relationship Type="http://schemas.openxmlformats.org/officeDocument/2006/relationships/slide" Target="/ppt/slides/slide154.xml" Id="R9595c7cf8a2c4a82" /><Relationship Type="http://schemas.openxmlformats.org/officeDocument/2006/relationships/slide" Target="/ppt/slides/slide155.xml" Id="R7f0b193ef5954694" /><Relationship Type="http://schemas.openxmlformats.org/officeDocument/2006/relationships/slide" Target="/ppt/slides/slide156.xml" Id="R2add370607324485" /><Relationship Type="http://schemas.openxmlformats.org/officeDocument/2006/relationships/slide" Target="/ppt/slides/slide157.xml" Id="Rea03feae17594512" /><Relationship Type="http://schemas.openxmlformats.org/officeDocument/2006/relationships/slide" Target="/ppt/slides/slide158.xml" Id="R06ed237637ac45d4" /><Relationship Type="http://schemas.openxmlformats.org/officeDocument/2006/relationships/slide" Target="/ppt/slides/slide159.xml" Id="R276675f7ab0f4c76" /><Relationship Type="http://schemas.openxmlformats.org/officeDocument/2006/relationships/slide" Target="/ppt/slides/slide160.xml" Id="R8ad72b21cb83410b" /><Relationship Type="http://schemas.openxmlformats.org/officeDocument/2006/relationships/slide" Target="/ppt/slides/slide161.xml" Id="R9929bb00ed524556" /><Relationship Type="http://schemas.openxmlformats.org/officeDocument/2006/relationships/slide" Target="/ppt/slides/slide162.xml" Id="Ra6a561338b604393" /><Relationship Type="http://schemas.openxmlformats.org/officeDocument/2006/relationships/slide" Target="/ppt/slides/slide163.xml" Id="R4d3e298b7c4a457e" /><Relationship Type="http://schemas.openxmlformats.org/officeDocument/2006/relationships/slide" Target="/ppt/slides/slide164.xml" Id="R13f7b85cb1ad466b" /></Relationships>
</file>

<file path=ppt/handoutMasters/_rels/handoutMaster1.xml.rels>&#65279;<?xml version="1.0" encoding="utf-8"?><Relationships xmlns="http://schemas.openxmlformats.org/package/2006/relationships"><Relationship Type="http://schemas.openxmlformats.org/officeDocument/2006/relationships/theme" Target="/ppt/handoutMasters/theme/theme1.xml" Id="Ra9b999e1b8604b98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DE6AC-9ACF-4929-B820-39B657DA30CA}" type="datetimeFigureOut">
              <a:rPr lang="en-IN"/>
              <a:t>29-04-2025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6649FB-1A5C-4ADE-AC4E-C740F5198A2A}" type="slidenum">
              <a:rPr lang="en-IN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040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handout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81cd6e56886480e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B90AC0-D5C3-AD43-91A3-7D18C836627E}" type="datetimeFigureOut">
              <a:rPr lang="en-US"/>
              <a:t>4/29/2025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2E4CE2-CEC8-754E-B21E-2BD547D16516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492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97ab72bf48490f" /><Relationship Type="http://schemas.openxmlformats.org/officeDocument/2006/relationships/image" Target="/ppt/media/image2.png" Id="Rffe222cc9c624f74" /><Relationship Type="http://schemas.openxmlformats.org/officeDocument/2006/relationships/image" Target="/ppt/media/image3.png" Id="R0a77b7d6364a427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b1ff48c3d6441a" /><Relationship Type="http://schemas.openxmlformats.org/officeDocument/2006/relationships/image" Target="/ppt/media/image.png" Id="Rc0744a6c6d7945d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ca19b8ad3d412e" /><Relationship Type="http://schemas.openxmlformats.org/officeDocument/2006/relationships/image" Target="/ppt/media/image.png" Id="R2b13498e8bdd4ea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5c8e5b4a694cdf" /><Relationship Type="http://schemas.openxmlformats.org/officeDocument/2006/relationships/image" Target="/ppt/media/image.jpg" Id="R157ac7393e66438a" 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10"/>
          <p:cNvGrpSpPr/>
          <p:nvPr userDrawn="1"/>
        </p:nvGrpSpPr>
        <p:grpSpPr>
          <a:xfrm>
            <a:off x="445191" y="0"/>
            <a:ext cx="8698811" cy="6857999"/>
            <a:chOff x="-4801433" y="-1782234"/>
            <a:chExt cx="18084927" cy="14257864"/>
          </a:xfrm>
        </p:grpSpPr>
        <p:sp>
          <p:nvSpPr>
            <p:cNvPr id="4" name="object 11"/>
            <p:cNvSpPr/>
            <p:nvPr/>
          </p:nvSpPr>
          <p:spPr>
            <a:xfrm>
              <a:off x="-4801433" y="1790698"/>
              <a:ext cx="12600815" cy="983098"/>
            </a:xfrm>
            <a:custGeom>
              <a:avLst/>
              <a:gdLst/>
              <a:ahLst/>
              <a:cxnLst/>
              <a:rect l="l" t="t" r="r" b="b"/>
              <a:pathLst>
                <a:path w="4610100" h="660400">
                  <a:moveTo>
                    <a:pt x="0" y="660400"/>
                  </a:moveTo>
                  <a:lnTo>
                    <a:pt x="4610100" y="660400"/>
                  </a:lnTo>
                  <a:lnTo>
                    <a:pt x="4610100" y="0"/>
                  </a:lnTo>
                  <a:lnTo>
                    <a:pt x="0" y="0"/>
                  </a:lnTo>
                  <a:lnTo>
                    <a:pt x="0" y="660400"/>
                  </a:lnTo>
                  <a:close/>
                </a:path>
              </a:pathLst>
            </a:custGeom>
            <a:solidFill>
              <a:srgbClr val="646464"/>
            </a:solidFill>
          </p:spPr>
          <p:txBody>
            <a:bodyPr wrap="square" lIns="0" tIns="0" rIns="0" bIns="0" rtlCol="0"/>
            <a:lstStyle/>
            <a:p>
              <a:endParaRPr sz="865"/>
            </a:p>
          </p:txBody>
        </p:sp>
        <p:sp>
          <p:nvSpPr>
            <p:cNvPr id="5" name="object 12"/>
            <p:cNvSpPr/>
            <p:nvPr/>
          </p:nvSpPr>
          <p:spPr>
            <a:xfrm>
              <a:off x="8339276" y="-1782234"/>
              <a:ext cx="4944218" cy="14257864"/>
            </a:xfrm>
            <a:custGeom>
              <a:avLst/>
              <a:gdLst/>
              <a:ahLst/>
              <a:cxnLst/>
              <a:rect l="l" t="t" r="r" b="b"/>
              <a:pathLst>
                <a:path w="2387600" h="10693400">
                  <a:moveTo>
                    <a:pt x="0" y="0"/>
                  </a:moveTo>
                  <a:lnTo>
                    <a:pt x="2387600" y="0"/>
                  </a:lnTo>
                  <a:lnTo>
                    <a:pt x="2387600" y="10693400"/>
                  </a:lnTo>
                  <a:lnTo>
                    <a:pt x="0" y="10693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 sz="865"/>
            </a:p>
          </p:txBody>
        </p:sp>
      </p:grpSp>
      <p:pic>
        <p:nvPicPr>
          <p:cNvPr id="2" name="Picture 1"/>
          <p:cNvPicPr>
            <a:picLocks noChangeAspect="1"/>
          </p:cNvPicPr>
          <p:nvPr userDrawn="1"/>
        </p:nvPicPr>
        <p:blipFill>
          <a:blip r:embed="Rffe222cc9c624f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5166" y="253736"/>
            <a:ext cx="2161851" cy="8637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0a77b7d6364a427c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55" y="253736"/>
            <a:ext cx="4597617" cy="69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314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/>
          <p:nvPr userDrawn="1"/>
        </p:nvSpPr>
        <p:spPr>
          <a:xfrm>
            <a:off x="4" y="1955845"/>
            <a:ext cx="9143999" cy="1935817"/>
          </a:xfrm>
          <a:custGeom>
            <a:avLst/>
            <a:gdLst/>
            <a:ahLst/>
            <a:cxnLst/>
            <a:rect l="l" t="t" r="r" b="b"/>
            <a:pathLst>
              <a:path w="7556500" h="26289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9" name="Rectangle 8"/>
          <p:cNvSpPr/>
          <p:nvPr userDrawn="1"/>
        </p:nvSpPr>
        <p:spPr>
          <a:xfrm>
            <a:off x="603478" y="2256535"/>
            <a:ext cx="7887578" cy="7155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5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Diode and Transistors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c0744a6c6d7945db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55" y="250378"/>
            <a:ext cx="8438496" cy="695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585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/>
          <p:nvPr userDrawn="1"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2b13498e8bdd4ea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55" y="250378"/>
            <a:ext cx="8438496" cy="695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179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157ac7393e66438a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911147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1e9f868795a4aa0" /><Relationship Type="http://schemas.openxmlformats.org/officeDocument/2006/relationships/slideLayout" Target="/ppt/slideLayouts/slideLayout2.xml" Id="R5e5ab3ea750d48e1" /><Relationship Type="http://schemas.openxmlformats.org/officeDocument/2006/relationships/slideLayout" Target="/ppt/slideLayouts/slideLayout3.xml" Id="Rabc35a3412ca4652" /><Relationship Type="http://schemas.openxmlformats.org/officeDocument/2006/relationships/slideLayout" Target="/ppt/slideLayouts/slideLayout4.xml" Id="Rc3028f3aa6f84dee" /><Relationship Type="http://schemas.openxmlformats.org/officeDocument/2006/relationships/slideLayout" Target="/ppt/slideLayouts/slideLayout5.xml" Id="R62eddce2bcf94e0e" 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934578"/>
            <a:ext cx="7886700" cy="1178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249992"/>
            <a:ext cx="7886700" cy="40956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655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5e5ab3ea750d48e1"/>
    <p:sldLayoutId id="2147483651" r:id="Rabc35a3412ca4652"/>
    <p:sldLayoutId id="2147483652" r:id="Rc3028f3aa6f84dee"/>
    <p:sldLayoutId id="2147483653" r:id="R62eddce2bcf94e0e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3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9263da9ebfa46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89ebaa69d648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tags" Target="/ppt/slides/tags/tag1.xml" Id="Ree92e571d42a45e4" /><Relationship Type="http://schemas.openxmlformats.org/officeDocument/2006/relationships/slideLayout" Target="/ppt/slideLayouts/slideLayout4.xml" Id="R2d5b9ce11b8d49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tags" Target="/ppt/slides/tags/tag2.xml" Id="Rd5fc365d6b1f4931" /><Relationship Type="http://schemas.openxmlformats.org/officeDocument/2006/relationships/slideLayout" Target="/ppt/slideLayouts/slideLayout4.xml" Id="Rb0469508847947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4.png" Id="R6c7b449be8bd4be3" /><Relationship Type="http://schemas.openxmlformats.org/officeDocument/2006/relationships/tags" Target="/ppt/slides/tags/tag3.xml" Id="Rfd8789e00b86470e" /><Relationship Type="http://schemas.openxmlformats.org/officeDocument/2006/relationships/slideLayout" Target="/ppt/slideLayouts/slideLayout4.xml" Id="Ra5b7ef73f98f4b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tags" Target="/ppt/slides/tags/tag4.xml" Id="R866078fbe2334083" /><Relationship Type="http://schemas.openxmlformats.org/officeDocument/2006/relationships/slideLayout" Target="/ppt/slideLayouts/slideLayout4.xml" Id="Ra631c1bf09bf4e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tags" Target="/ppt/slides/tags/tag5.xml" Id="Rde199daffb144b83" /><Relationship Type="http://schemas.openxmlformats.org/officeDocument/2006/relationships/slideLayout" Target="/ppt/slideLayouts/slideLayout4.xml" Id="Redce93e1f1e041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tags" Target="/ppt/slides/tags/tag6.xml" Id="R85fd1f31f4284737" /><Relationship Type="http://schemas.openxmlformats.org/officeDocument/2006/relationships/slideLayout" Target="/ppt/slideLayouts/slideLayout4.xml" Id="R2aa6c5135b5743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tags" Target="/ppt/slides/tags/tag7.xml" Id="R0453a483814c4cfd" /><Relationship Type="http://schemas.openxmlformats.org/officeDocument/2006/relationships/slideLayout" Target="/ppt/slideLayouts/slideLayout4.xml" Id="Rb36d703f44ad4e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tags" Target="/ppt/slides/tags/tag8.xml" Id="R4d63adbfd7de4905" /><Relationship Type="http://schemas.openxmlformats.org/officeDocument/2006/relationships/slideLayout" Target="/ppt/slideLayouts/slideLayout4.xml" Id="R26f34046df9f4b8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tags" Target="/ppt/slides/tags/tag9.xml" Id="R21d7b3fccf764496" /><Relationship Type="http://schemas.openxmlformats.org/officeDocument/2006/relationships/slideLayout" Target="/ppt/slideLayouts/slideLayout4.xml" Id="R70619f9bae0448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tags" Target="/ppt/slides/tags/tag10.xml" Id="R4ebfac883f5f4ee1" /><Relationship Type="http://schemas.openxmlformats.org/officeDocument/2006/relationships/slideLayout" Target="/ppt/slideLayouts/slideLayout4.xml" Id="Rf8c2fd81e28f4bb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tags" Target="/ppt/slides/tags/tag11.xml" Id="R018d3debce4e476d" /><Relationship Type="http://schemas.openxmlformats.org/officeDocument/2006/relationships/slideLayout" Target="/ppt/slideLayouts/slideLayout4.xml" Id="Rd1ee318f0834479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tags" Target="/ppt/slides/tags/tag12.xml" Id="R786b46be1b374cfe" /><Relationship Type="http://schemas.openxmlformats.org/officeDocument/2006/relationships/slideLayout" Target="/ppt/slideLayouts/slideLayout4.xml" Id="R4ff80c47054f414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5.png" Id="R89d71531760d416f" /><Relationship Type="http://schemas.openxmlformats.org/officeDocument/2006/relationships/tags" Target="/ppt/slides/tags/tag13.xml" Id="R66b2603db23849d7" /><Relationship Type="http://schemas.openxmlformats.org/officeDocument/2006/relationships/slideLayout" Target="/ppt/slideLayouts/slideLayout4.xml" Id="R99afc1efc9ec483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image" Target="/ppt/media/image6.png" Id="Rf9c065927efa4a09" /><Relationship Type="http://schemas.microsoft.com/office/2007/relationships/hdphoto" Target="/ppt/slides/udata/data.wdp" Id="R5932a88810da4782" /><Relationship Type="http://schemas.openxmlformats.org/officeDocument/2006/relationships/tags" Target="/ppt/slides/tags/tag14.xml" Id="Ra85056daf07848c7" /><Relationship Type="http://schemas.openxmlformats.org/officeDocument/2006/relationships/slideLayout" Target="/ppt/slideLayouts/slideLayout4.xml" Id="R8f3e50ea13a044a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image" Target="/ppt/media/image2.jpg" Id="R0339a758818d4929" /><Relationship Type="http://schemas.openxmlformats.org/officeDocument/2006/relationships/tags" Target="/ppt/slides/tags/tag15.xml" Id="Rbde17ef0df55496b" /><Relationship Type="http://schemas.openxmlformats.org/officeDocument/2006/relationships/slideLayout" Target="/ppt/slideLayouts/slideLayout4.xml" Id="Rd2520921dc404ab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tags" Target="/ppt/slides/tags/tag16.xml" Id="R06b868a6cd084a59" /><Relationship Type="http://schemas.openxmlformats.org/officeDocument/2006/relationships/slideLayout" Target="/ppt/slideLayouts/slideLayout4.xml" Id="R5d572c5a0e82410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tags" Target="/ppt/slides/tags/tag17.xml" Id="R3a662dd823fb4c51" /><Relationship Type="http://schemas.openxmlformats.org/officeDocument/2006/relationships/slideLayout" Target="/ppt/slideLayouts/slideLayout4.xml" Id="Ref60f748ad84494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tags" Target="/ppt/slides/tags/tag18.xml" Id="R55a0c777d81f4551" /><Relationship Type="http://schemas.openxmlformats.org/officeDocument/2006/relationships/slideLayout" Target="/ppt/slideLayouts/slideLayout4.xml" Id="R61686a575cf94a8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tags" Target="/ppt/slides/tags/tag19.xml" Id="R12bcacb9af174062" /><Relationship Type="http://schemas.openxmlformats.org/officeDocument/2006/relationships/slideLayout" Target="/ppt/slideLayouts/slideLayout4.xml" Id="Rdaceecf7945e43d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tags" Target="/ppt/slides/tags/tag20.xml" Id="R50de552ac5924050" /><Relationship Type="http://schemas.openxmlformats.org/officeDocument/2006/relationships/slideLayout" Target="/ppt/slideLayouts/slideLayout4.xml" Id="R91c43c5cb5024e2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f0bd622d0bf493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28466c9c57946e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f0d75bfbb44a5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image" Target="/ppt/media/image7.png" Id="R31a92e43d0634dfc" /><Relationship Type="http://schemas.openxmlformats.org/officeDocument/2006/relationships/tags" Target="/ppt/slides/tags/tag21.xml" Id="R656ad52f831544ac" /><Relationship Type="http://schemas.openxmlformats.org/officeDocument/2006/relationships/slideLayout" Target="/ppt/slideLayouts/slideLayout4.xml" Id="R7ada9587841b4c5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tags" Target="/ppt/slides/tags/tag22.xml" Id="Rfc1064ee21dc4942" /><Relationship Type="http://schemas.openxmlformats.org/officeDocument/2006/relationships/slideLayout" Target="/ppt/slideLayouts/slideLayout4.xml" Id="R2d35c105284b4a0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image" Target="/ppt/media/image4.png" Id="R54b13de63a4d48b2" /><Relationship Type="http://schemas.openxmlformats.org/officeDocument/2006/relationships/tags" Target="/ppt/slides/tags/tag23.xml" Id="Rb25e020ab3f0476a" /><Relationship Type="http://schemas.openxmlformats.org/officeDocument/2006/relationships/slideLayout" Target="/ppt/slideLayouts/slideLayout4.xml" Id="R0535d10f37e44b6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tags" Target="/ppt/slides/tags/tag24.xml" Id="R155b84bf7ae14dcd" /><Relationship Type="http://schemas.openxmlformats.org/officeDocument/2006/relationships/slideLayout" Target="/ppt/slideLayouts/slideLayout4.xml" Id="R936128f7736c462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tags" Target="/ppt/slides/tags/tag25.xml" Id="R0c39f5e9b76e459d" /><Relationship Type="http://schemas.openxmlformats.org/officeDocument/2006/relationships/slideLayout" Target="/ppt/slideLayouts/slideLayout4.xml" Id="Rbb53e4f667d9424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tags" Target="/ppt/slides/tags/tag26.xml" Id="Rf424783a73fc49da" /><Relationship Type="http://schemas.openxmlformats.org/officeDocument/2006/relationships/slideLayout" Target="/ppt/slideLayouts/slideLayout4.xml" Id="R83de5e48972b44d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tags" Target="/ppt/slides/tags/tag27.xml" Id="Rde3ffae50faa4456" /><Relationship Type="http://schemas.openxmlformats.org/officeDocument/2006/relationships/slideLayout" Target="/ppt/slideLayouts/slideLayout4.xml" Id="R81cd16fdcd364e6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tags" Target="/ppt/slides/tags/tag28.xml" Id="Re566842932404c14" /><Relationship Type="http://schemas.openxmlformats.org/officeDocument/2006/relationships/slideLayout" Target="/ppt/slideLayouts/slideLayout4.xml" Id="R9ceaae99044a4be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tags" Target="/ppt/slides/tags/tag29.xml" Id="Re3953b6403c748d0" /><Relationship Type="http://schemas.openxmlformats.org/officeDocument/2006/relationships/slideLayout" Target="/ppt/slideLayouts/slideLayout4.xml" Id="R62cbf5c87c304d2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tags" Target="/ppt/slides/tags/tag30.xml" Id="R5433fe0e0a744cc6" /><Relationship Type="http://schemas.openxmlformats.org/officeDocument/2006/relationships/slideLayout" Target="/ppt/slideLayouts/slideLayout4.xml" Id="Rd6e466c1da364f7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tags" Target="/ppt/slides/tags/tag31.xml" Id="R7f2947bf2a0e42c5" /><Relationship Type="http://schemas.openxmlformats.org/officeDocument/2006/relationships/slideLayout" Target="/ppt/slideLayouts/slideLayout4.xml" Id="R719d9a2c630f479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tags" Target="/ppt/slides/tags/tag32.xml" Id="Rf8cd8da9e34c4cf5" /><Relationship Type="http://schemas.openxmlformats.org/officeDocument/2006/relationships/slideLayout" Target="/ppt/slideLayouts/slideLayout4.xml" Id="R0b066b9a906c407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image" Target="/ppt/media/image5.png" Id="R8ea201de6fce4061" /><Relationship Type="http://schemas.openxmlformats.org/officeDocument/2006/relationships/tags" Target="/ppt/slides/tags/tag33.xml" Id="R175cf52e284f44c8" /><Relationship Type="http://schemas.openxmlformats.org/officeDocument/2006/relationships/slideLayout" Target="/ppt/slideLayouts/slideLayout4.xml" Id="Reaa9a851502c477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image" Target="/ppt/media/image6.png" Id="Ra96b202a3d8946ba" /><Relationship Type="http://schemas.microsoft.com/office/2007/relationships/hdphoto" Target="/ppt/slides/udata/data2.wdp" Id="Raa94ce9f27094e84" /><Relationship Type="http://schemas.openxmlformats.org/officeDocument/2006/relationships/tags" Target="/ppt/slides/tags/tag34.xml" Id="Rc287ede7e8a145c1" /><Relationship Type="http://schemas.openxmlformats.org/officeDocument/2006/relationships/slideLayout" Target="/ppt/slideLayouts/slideLayout4.xml" Id="Radab9e4a76d34fa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image" Target="/ppt/media/image2.jpg" Id="R358cabbd95f6465f" /><Relationship Type="http://schemas.openxmlformats.org/officeDocument/2006/relationships/tags" Target="/ppt/slides/tags/tag35.xml" Id="R3d885436f62a44c5" /><Relationship Type="http://schemas.openxmlformats.org/officeDocument/2006/relationships/slideLayout" Target="/ppt/slideLayouts/slideLayout4.xml" Id="R3cc885d8fd0545d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tags" Target="/ppt/slides/tags/tag36.xml" Id="Rafa5c7209b4643a7" /><Relationship Type="http://schemas.openxmlformats.org/officeDocument/2006/relationships/slideLayout" Target="/ppt/slideLayouts/slideLayout4.xml" Id="R9d84b0b383e149d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tags" Target="/ppt/slides/tags/tag37.xml" Id="R37ad66f89ace48d2" /><Relationship Type="http://schemas.openxmlformats.org/officeDocument/2006/relationships/slideLayout" Target="/ppt/slideLayouts/slideLayout4.xml" Id="Rffe434eb276f4a97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tags" Target="/ppt/slides/tags/tag38.xml" Id="R048f594b6dd74d2e" /><Relationship Type="http://schemas.openxmlformats.org/officeDocument/2006/relationships/slideLayout" Target="/ppt/slideLayouts/slideLayout4.xml" Id="R4ecb377f0798495b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tags" Target="/ppt/slides/tags/tag39.xml" Id="R1e9b8b15791f40b6" /><Relationship Type="http://schemas.openxmlformats.org/officeDocument/2006/relationships/slideLayout" Target="/ppt/slideLayouts/slideLayout4.xml" Id="Rc39814f23c4c4be2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tags" Target="/ppt/slides/tags/tag40.xml" Id="R3868a7f22fd04c23" /><Relationship Type="http://schemas.openxmlformats.org/officeDocument/2006/relationships/slideLayout" Target="/ppt/slideLayouts/slideLayout4.xml" Id="Re971e1b920d14217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bb9b6608b02453a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dc55e3be5234389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af9601e4cd4214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tags" Target="/ppt/slides/tags/tag41.xml" Id="R2b9ed2c883244b92" /><Relationship Type="http://schemas.openxmlformats.org/officeDocument/2006/relationships/slideLayout" Target="/ppt/slideLayouts/slideLayout4.xml" Id="Rdfa299e8cd074d1b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image" Target="/ppt/media/image3.jpg" Id="R0b5f5136f07542d0" /><Relationship Type="http://schemas.openxmlformats.org/officeDocument/2006/relationships/tags" Target="/ppt/slides/tags/tag42.xml" Id="R75d435d448674e15" /><Relationship Type="http://schemas.openxmlformats.org/officeDocument/2006/relationships/slideLayout" Target="/ppt/slideLayouts/slideLayout4.xml" Id="R4b64306a2ae849e7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tags" Target="/ppt/slides/tags/tag43.xml" Id="Rb63ad1f98a484355" /><Relationship Type="http://schemas.openxmlformats.org/officeDocument/2006/relationships/slideLayout" Target="/ppt/slideLayouts/slideLayout4.xml" Id="R9d7e406ce15a4c0b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tags" Target="/ppt/slides/tags/tag44.xml" Id="Rb0cf976e020f4aab" /><Relationship Type="http://schemas.openxmlformats.org/officeDocument/2006/relationships/slideLayout" Target="/ppt/slideLayouts/slideLayout4.xml" Id="R2eb4fb8aa29c44ba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tags" Target="/ppt/slides/tags/tag45.xml" Id="R6d18840903b94624" /><Relationship Type="http://schemas.openxmlformats.org/officeDocument/2006/relationships/slideLayout" Target="/ppt/slideLayouts/slideLayout4.xml" Id="Rbb97a9bb8af247bf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tags" Target="/ppt/slides/tags/tag46.xml" Id="R61576dffc7934fb0" /><Relationship Type="http://schemas.openxmlformats.org/officeDocument/2006/relationships/slideLayout" Target="/ppt/slideLayouts/slideLayout4.xml" Id="Rb938da8a5ba14bb1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tags" Target="/ppt/slides/tags/tag47.xml" Id="R6454993626e84a63" /><Relationship Type="http://schemas.openxmlformats.org/officeDocument/2006/relationships/slideLayout" Target="/ppt/slideLayouts/slideLayout4.xml" Id="R0ff0ee29e48648f3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tags" Target="/ppt/slides/tags/tag48.xml" Id="R1abcc3a29d774a83" /><Relationship Type="http://schemas.openxmlformats.org/officeDocument/2006/relationships/slideLayout" Target="/ppt/slideLayouts/slideLayout4.xml" Id="Rab46294bb8ee4f69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tags" Target="/ppt/slides/tags/tag49.xml" Id="Rd720a23b1e2345b6" /><Relationship Type="http://schemas.openxmlformats.org/officeDocument/2006/relationships/slideLayout" Target="/ppt/slideLayouts/slideLayout4.xml" Id="R0f883e24932b4375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tags" Target="/ppt/slides/tags/tag50.xml" Id="Ra4676ee7be914e68" /><Relationship Type="http://schemas.openxmlformats.org/officeDocument/2006/relationships/slideLayout" Target="/ppt/slideLayouts/slideLayout4.xml" Id="R1aa6c5310e4d418d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tags" Target="/ppt/slides/tags/tag51.xml" Id="Rfa60dbbb7673491b" /><Relationship Type="http://schemas.openxmlformats.org/officeDocument/2006/relationships/slideLayout" Target="/ppt/slideLayouts/slideLayout4.xml" Id="R08061a77dea54de7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tags" Target="/ppt/slides/tags/tag52.xml" Id="R9646fc5b7bbf48e9" /><Relationship Type="http://schemas.openxmlformats.org/officeDocument/2006/relationships/slideLayout" Target="/ppt/slideLayouts/slideLayout4.xml" Id="Ra78be199ff5e435f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tags" Target="/ppt/slides/tags/tag53.xml" Id="R83badb2e4f06466e" /><Relationship Type="http://schemas.openxmlformats.org/officeDocument/2006/relationships/slideLayout" Target="/ppt/slideLayouts/slideLayout4.xml" Id="R6b3fc1c441af4fcd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tags" Target="/ppt/slides/tags/tag54.xml" Id="R16375f5cacb34fab" /><Relationship Type="http://schemas.openxmlformats.org/officeDocument/2006/relationships/slideLayout" Target="/ppt/slideLayouts/slideLayout4.xml" Id="Re33a6628302941d7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tags" Target="/ppt/slides/tags/tag55.xml" Id="Rb061b662fec34bff" /><Relationship Type="http://schemas.openxmlformats.org/officeDocument/2006/relationships/slideLayout" Target="/ppt/slideLayouts/slideLayout4.xml" Id="Rf625c6fe0a9d4e60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tags" Target="/ppt/slides/tags/tag56.xml" Id="Rf06cc80909974066" /><Relationship Type="http://schemas.openxmlformats.org/officeDocument/2006/relationships/slideLayout" Target="/ppt/slideLayouts/slideLayout4.xml" Id="R18aa0d29728d467b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a5f3338cccf4bca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fef6902d96c4279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257d6bd4bd4054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tags" Target="/ppt/slides/tags/tag57.xml" Id="R77c6ef6e2f264967" /><Relationship Type="http://schemas.openxmlformats.org/officeDocument/2006/relationships/slideLayout" Target="/ppt/slideLayouts/slideLayout4.xml" Id="Rb081e94ddbc94846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image" Target="/ppt/media/image8.png" Id="R0d91e0db5a544f00" /><Relationship Type="http://schemas.openxmlformats.org/officeDocument/2006/relationships/tags" Target="/ppt/slides/tags/tag58.xml" Id="R1239c33cc1fd4f7f" /><Relationship Type="http://schemas.openxmlformats.org/officeDocument/2006/relationships/slideLayout" Target="/ppt/slideLayouts/slideLayout4.xml" Id="R01ffdc859bff49d4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tags" Target="/ppt/slides/tags/tag59.xml" Id="Rc70049dd989f4f42" /><Relationship Type="http://schemas.openxmlformats.org/officeDocument/2006/relationships/slideLayout" Target="/ppt/slideLayouts/slideLayout4.xml" Id="R3df0bc32d2394b84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tags" Target="/ppt/slides/tags/tag60.xml" Id="R3843355894b64a20" /><Relationship Type="http://schemas.openxmlformats.org/officeDocument/2006/relationships/slideLayout" Target="/ppt/slideLayouts/slideLayout4.xml" Id="Rf61eede5d7134514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tags" Target="/ppt/slides/tags/tag61.xml" Id="R069a382d148342ad" /><Relationship Type="http://schemas.openxmlformats.org/officeDocument/2006/relationships/slideLayout" Target="/ppt/slideLayouts/slideLayout4.xml" Id="R07f651aaa9f54af9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image" Target="/ppt/media/image9.png" Id="Rac4f4b7cf74c434e" /><Relationship Type="http://schemas.openxmlformats.org/officeDocument/2006/relationships/tags" Target="/ppt/slides/tags/tag62.xml" Id="Ra7e551226e134a81" /><Relationship Type="http://schemas.openxmlformats.org/officeDocument/2006/relationships/slideLayout" Target="/ppt/slideLayouts/slideLayout4.xml" Id="Rd7331b67e2904582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tags" Target="/ppt/slides/tags/tag63.xml" Id="R408134dd15734126" /><Relationship Type="http://schemas.openxmlformats.org/officeDocument/2006/relationships/slideLayout" Target="/ppt/slideLayouts/slideLayout4.xml" Id="R89bb701c25e243d4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tags" Target="/ppt/slides/tags/tag64.xml" Id="Rcee1ba15ce1d4d18" /><Relationship Type="http://schemas.openxmlformats.org/officeDocument/2006/relationships/slideLayout" Target="/ppt/slideLayouts/slideLayout4.xml" Id="R8fe4c699565047d0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tags" Target="/ppt/slides/tags/tag65.xml" Id="Redc73e86ed0f4428" /><Relationship Type="http://schemas.openxmlformats.org/officeDocument/2006/relationships/slideLayout" Target="/ppt/slideLayouts/slideLayout4.xml" Id="R1bfbc7bff8b44cd3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tags" Target="/ppt/slides/tags/tag66.xml" Id="R28740353bcf8451c" /><Relationship Type="http://schemas.openxmlformats.org/officeDocument/2006/relationships/slideLayout" Target="/ppt/slideLayouts/slideLayout4.xml" Id="R42408eaf72ad480d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tags" Target="/ppt/slides/tags/tag67.xml" Id="Rced92f28dcd1457b" /><Relationship Type="http://schemas.openxmlformats.org/officeDocument/2006/relationships/slideLayout" Target="/ppt/slideLayouts/slideLayout4.xml" Id="R2f8b10406e6944b5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5ddfe96c69c43c6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6adc940e5454899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b4b8d4dcc5479d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tags" Target="/ppt/slides/tags/tag68.xml" Id="R779ae17e5ce441d9" /><Relationship Type="http://schemas.openxmlformats.org/officeDocument/2006/relationships/slideLayout" Target="/ppt/slideLayouts/slideLayout4.xml" Id="R9f2f910abe904c5f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tags" Target="/ppt/slides/tags/tag69.xml" Id="R7916701dfb64484a" /><Relationship Type="http://schemas.openxmlformats.org/officeDocument/2006/relationships/slideLayout" Target="/ppt/slideLayouts/slideLayout4.xml" Id="R18478dd953704b76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image" Target="/ppt/media/image10.png" Id="Rb00a58cecacb48e1" /><Relationship Type="http://schemas.openxmlformats.org/officeDocument/2006/relationships/tags" Target="/ppt/slides/tags/tag70.xml" Id="R6af226d3690c48f4" /><Relationship Type="http://schemas.openxmlformats.org/officeDocument/2006/relationships/slideLayout" Target="/ppt/slideLayouts/slideLayout4.xml" Id="Re4b2880888194b84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tags" Target="/ppt/slides/tags/tag71.xml" Id="Re99f9d6b7b8b4a84" /><Relationship Type="http://schemas.openxmlformats.org/officeDocument/2006/relationships/slideLayout" Target="/ppt/slideLayouts/slideLayout4.xml" Id="Recdae35411be434d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tags" Target="/ppt/slides/tags/tag72.xml" Id="Ra68efcb432f243ac" /><Relationship Type="http://schemas.openxmlformats.org/officeDocument/2006/relationships/slideLayout" Target="/ppt/slideLayouts/slideLayout4.xml" Id="R62a5c96473464196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tags" Target="/ppt/slides/tags/tag73.xml" Id="Reb0060378cee4483" /><Relationship Type="http://schemas.openxmlformats.org/officeDocument/2006/relationships/slideLayout" Target="/ppt/slideLayouts/slideLayout4.xml" Id="R410533e719bb4c2a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image" Target="/ppt/media/image11.png" Id="R7744cc4a343042c9" /><Relationship Type="http://schemas.openxmlformats.org/officeDocument/2006/relationships/tags" Target="/ppt/slides/tags/tag74.xml" Id="R6e04259a58ea475e" /><Relationship Type="http://schemas.openxmlformats.org/officeDocument/2006/relationships/slideLayout" Target="/ppt/slideLayouts/slideLayout4.xml" Id="Rd8da5b69e6d94aeb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tags" Target="/ppt/slides/tags/tag75.xml" Id="R70597daecc804b4e" /><Relationship Type="http://schemas.openxmlformats.org/officeDocument/2006/relationships/slideLayout" Target="/ppt/slideLayouts/slideLayout4.xml" Id="Rfbb70ab40d094ed8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tags" Target="/ppt/slides/tags/tag76.xml" Id="Rd676dc9d60e0478e" /><Relationship Type="http://schemas.openxmlformats.org/officeDocument/2006/relationships/slideLayout" Target="/ppt/slideLayouts/slideLayout4.xml" Id="Rb1de8d2bc28a4bf4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tags" Target="/ppt/slides/tags/tag77.xml" Id="Rbd8b3df2d12f426f" /><Relationship Type="http://schemas.openxmlformats.org/officeDocument/2006/relationships/slideLayout" Target="/ppt/slideLayouts/slideLayout4.xml" Id="Rba473f4f83764087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tags" Target="/ppt/slides/tags/tag78.xml" Id="R2afcd2a50df44191" /><Relationship Type="http://schemas.openxmlformats.org/officeDocument/2006/relationships/slideLayout" Target="/ppt/slideLayouts/slideLayout4.xml" Id="R44b75867ef864c39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tags" Target="/ppt/slides/tags/tag79.xml" Id="R7865a79ea27847ab" /><Relationship Type="http://schemas.openxmlformats.org/officeDocument/2006/relationships/slideLayout" Target="/ppt/slideLayouts/slideLayout4.xml" Id="Rc769e9bff90c4dde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1e2a059cfb2468d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72e858f22f5474c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037cfe81c04acc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tags" Target="/ppt/slides/tags/tag80.xml" Id="Rffa59d8b1702436e" /><Relationship Type="http://schemas.openxmlformats.org/officeDocument/2006/relationships/slideLayout" Target="/ppt/slideLayouts/slideLayout4.xml" Id="Rf05479c712be4d48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tags" Target="/ppt/slides/tags/tag81.xml" Id="Re8ce21044970436c" /><Relationship Type="http://schemas.openxmlformats.org/officeDocument/2006/relationships/slideLayout" Target="/ppt/slideLayouts/slideLayout4.xml" Id="R0961cc83ae354680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tags" Target="/ppt/slides/tags/tag82.xml" Id="R70b40619ebf64453" /><Relationship Type="http://schemas.openxmlformats.org/officeDocument/2006/relationships/slideLayout" Target="/ppt/slideLayouts/slideLayout4.xml" Id="Rf29587628eaa4017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tags" Target="/ppt/slides/tags/tag83.xml" Id="R12225da14da84a68" /><Relationship Type="http://schemas.openxmlformats.org/officeDocument/2006/relationships/slideLayout" Target="/ppt/slideLayouts/slideLayout4.xml" Id="R053f0c0f009041a7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tags" Target="/ppt/slides/tags/tag84.xml" Id="R125b9d05caa44e15" /><Relationship Type="http://schemas.openxmlformats.org/officeDocument/2006/relationships/slideLayout" Target="/ppt/slideLayouts/slideLayout4.xml" Id="R2620528d6d3e4f81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image" Target="/ppt/media/image12.png" Id="R81e51f6ae6634283" /><Relationship Type="http://schemas.openxmlformats.org/officeDocument/2006/relationships/tags" Target="/ppt/slides/tags/tag85.xml" Id="Ra2d4ab519d2f4f8e" /><Relationship Type="http://schemas.openxmlformats.org/officeDocument/2006/relationships/slideLayout" Target="/ppt/slideLayouts/slideLayout4.xml" Id="R6ba41d26a9b848a8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tags" Target="/ppt/slides/tags/tag86.xml" Id="R86c49df1a2ca4b8f" /><Relationship Type="http://schemas.openxmlformats.org/officeDocument/2006/relationships/slideLayout" Target="/ppt/slideLayouts/slideLayout4.xml" Id="R9e12ecbca8b148f6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tags" Target="/ppt/slides/tags/tag87.xml" Id="Re233d14bccbb4756" /><Relationship Type="http://schemas.openxmlformats.org/officeDocument/2006/relationships/slideLayout" Target="/ppt/slideLayouts/slideLayout4.xml" Id="R946a8e3c846f4c43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tags" Target="/ppt/slides/tags/tag88.xml" Id="R4a2a617f70e04507" /><Relationship Type="http://schemas.openxmlformats.org/officeDocument/2006/relationships/slideLayout" Target="/ppt/slideLayouts/slideLayout4.xml" Id="R3e73c4ee201240df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tags" Target="/ppt/slides/tags/tag89.xml" Id="Rf8663c2fd17940e9" /><Relationship Type="http://schemas.openxmlformats.org/officeDocument/2006/relationships/slideLayout" Target="/ppt/slideLayouts/slideLayout4.xml" Id="R24223fdd367f4c01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tags" Target="/ppt/slides/tags/tag90.xml" Id="R86d024a7b4f7404c" /><Relationship Type="http://schemas.openxmlformats.org/officeDocument/2006/relationships/slideLayout" Target="/ppt/slideLayouts/slideLayout4.xml" Id="R7a870849012d4e75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tags" Target="/ppt/slides/tags/tag91.xml" Id="R4d13c749b8564d74" /><Relationship Type="http://schemas.openxmlformats.org/officeDocument/2006/relationships/slideLayout" Target="/ppt/slideLayouts/slideLayout4.xml" Id="R35255ef5d6c743ed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6d5d554428f47b0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1d49731c06a42a7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af4e356bcc4ca4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tags" Target="/ppt/slides/tags/tag92.xml" Id="R4d1957e4db344eba" /><Relationship Type="http://schemas.openxmlformats.org/officeDocument/2006/relationships/slideLayout" Target="/ppt/slideLayouts/slideLayout4.xml" Id="R1070508c2e254355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tags" Target="/ppt/slides/tags/tag93.xml" Id="R92110c2e5ad44a2f" /><Relationship Type="http://schemas.openxmlformats.org/officeDocument/2006/relationships/slideLayout" Target="/ppt/slideLayouts/slideLayout4.xml" Id="Rd77bcf1955094a27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tags" Target="/ppt/slides/tags/tag94.xml" Id="R8c3a17b9b74c42ea" /><Relationship Type="http://schemas.openxmlformats.org/officeDocument/2006/relationships/slideLayout" Target="/ppt/slideLayouts/slideLayout4.xml" Id="R7b4bc0dce04b481f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tags" Target="/ppt/slides/tags/tag95.xml" Id="R0f9fec2d100c4c3c" /><Relationship Type="http://schemas.openxmlformats.org/officeDocument/2006/relationships/slideLayout" Target="/ppt/slideLayouts/slideLayout4.xml" Id="Rde7a4204b67745f9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tags" Target="/ppt/slides/tags/tag96.xml" Id="R091b83ce8a0b4b9d" /><Relationship Type="http://schemas.openxmlformats.org/officeDocument/2006/relationships/slideLayout" Target="/ppt/slideLayouts/slideLayout4.xml" Id="R7560d20ed2194957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tags" Target="/ppt/slides/tags/tag97.xml" Id="Raf1a02bf02cb448e" /><Relationship Type="http://schemas.openxmlformats.org/officeDocument/2006/relationships/slideLayout" Target="/ppt/slideLayouts/slideLayout4.xml" Id="R55a287b96ebd48b3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tags" Target="/ppt/slides/tags/tag98.xml" Id="Ra853139aed564af8" /><Relationship Type="http://schemas.openxmlformats.org/officeDocument/2006/relationships/slideLayout" Target="/ppt/slideLayouts/slideLayout4.xml" Id="R64e3fcc2dabe40ec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tags" Target="/ppt/slides/tags/tag99.xml" Id="R02278a7727454f5e" /><Relationship Type="http://schemas.openxmlformats.org/officeDocument/2006/relationships/slideLayout" Target="/ppt/slideLayouts/slideLayout4.xml" Id="Rf278f75ba0864913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tags" Target="/ppt/slides/tags/tag100.xml" Id="Ra73c21ede0f94376" /><Relationship Type="http://schemas.openxmlformats.org/officeDocument/2006/relationships/slideLayout" Target="/ppt/slideLayouts/slideLayout4.xml" Id="R01bbec3796d54814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image" Target="/ppt/media/image13.png" Id="Rf4784495478e4a76" /><Relationship Type="http://schemas.openxmlformats.org/officeDocument/2006/relationships/tags" Target="/ppt/slides/tags/tag101.xml" Id="R6203706e574a4b31" /><Relationship Type="http://schemas.openxmlformats.org/officeDocument/2006/relationships/slideLayout" Target="/ppt/slideLayouts/slideLayout4.xml" Id="R9bcc4cec36214326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tags" Target="/ppt/slides/tags/tag102.xml" Id="Rdbd6473244d64c55" /><Relationship Type="http://schemas.openxmlformats.org/officeDocument/2006/relationships/slideLayout" Target="/ppt/slideLayouts/slideLayout4.xml" Id="R4878fc7396764eff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ee5f22c2a1f4609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8b5df6148954d6c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eab52521f346fa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tags" Target="/ppt/slides/tags/tag103.xml" Id="R8c93dd4167d44976" /><Relationship Type="http://schemas.openxmlformats.org/officeDocument/2006/relationships/slideLayout" Target="/ppt/slideLayouts/slideLayout4.xml" Id="Rd8bec0ee18714d32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tags" Target="/ppt/slides/tags/tag104.xml" Id="Rbd9565e1ac0244c2" /><Relationship Type="http://schemas.openxmlformats.org/officeDocument/2006/relationships/slideLayout" Target="/ppt/slideLayouts/slideLayout4.xml" Id="R05ce852f7fa84bb8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tags" Target="/ppt/slides/tags/tag105.xml" Id="Rce80cb53bac14f54" /><Relationship Type="http://schemas.openxmlformats.org/officeDocument/2006/relationships/slideLayout" Target="/ppt/slideLayouts/slideLayout4.xml" Id="R7ebbfa9425754fb6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tags" Target="/ppt/slides/tags/tag106.xml" Id="Rb0708c6f30a744a9" /><Relationship Type="http://schemas.openxmlformats.org/officeDocument/2006/relationships/slideLayout" Target="/ppt/slideLayouts/slideLayout4.xml" Id="Rc2285b828d884e9e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tags" Target="/ppt/slides/tags/tag107.xml" Id="R9cec3eb47095436c" /><Relationship Type="http://schemas.openxmlformats.org/officeDocument/2006/relationships/slideLayout" Target="/ppt/slideLayouts/slideLayout4.xml" Id="Rdf4c149d28604423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tags" Target="/ppt/slides/tags/tag108.xml" Id="R3d5ff831ca1e4c16" /><Relationship Type="http://schemas.openxmlformats.org/officeDocument/2006/relationships/slideLayout" Target="/ppt/slideLayouts/slideLayout4.xml" Id="R2dcb17d009274e7f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tags" Target="/ppt/slides/tags/tag109.xml" Id="Rb59c2c9c8ae641d2" /><Relationship Type="http://schemas.openxmlformats.org/officeDocument/2006/relationships/slideLayout" Target="/ppt/slideLayouts/slideLayout4.xml" Id="R0b126063c0b24f51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tags" Target="/ppt/slides/tags/tag110.xml" Id="R529d38d1df3b4602" /><Relationship Type="http://schemas.openxmlformats.org/officeDocument/2006/relationships/slideLayout" Target="/ppt/slideLayouts/slideLayout4.xml" Id="R1c73af464a9a4adb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tags" Target="/ppt/slides/tags/tag111.xml" Id="R7cb49c62808c4e73" /><Relationship Type="http://schemas.openxmlformats.org/officeDocument/2006/relationships/slideLayout" Target="/ppt/slideLayouts/slideLayout4.xml" Id="R53c2d10320664bd3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tags" Target="/ppt/slides/tags/tag112.xml" Id="Reaa2d9aa8fc84209" /><Relationship Type="http://schemas.openxmlformats.org/officeDocument/2006/relationships/slideLayout" Target="/ppt/slideLayouts/slideLayout4.xml" Id="Ra7caf2abf9f54e27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ddea9ad05b64876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d788fa7eeb44477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19869e4f774b38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tags" Target="/ppt/slides/tags/tag113.xml" Id="R8468368d2918438c" /><Relationship Type="http://schemas.openxmlformats.org/officeDocument/2006/relationships/slideLayout" Target="/ppt/slideLayouts/slideLayout4.xml" Id="R86030682f9b34405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tags" Target="/ppt/slides/tags/tag114.xml" Id="R8ba65326cc9c4441" /><Relationship Type="http://schemas.openxmlformats.org/officeDocument/2006/relationships/slideLayout" Target="/ppt/slideLayouts/slideLayout4.xml" Id="Rc549aa076f834178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image" Target="/ppt/media/image14.png" Id="Rc86838956f0543f9" /><Relationship Type="http://schemas.openxmlformats.org/officeDocument/2006/relationships/tags" Target="/ppt/slides/tags/tag115.xml" Id="R785bfd388a244a23" /><Relationship Type="http://schemas.openxmlformats.org/officeDocument/2006/relationships/slideLayout" Target="/ppt/slideLayouts/slideLayout4.xml" Id="Ra5b8aa794d66440f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tags" Target="/ppt/slides/tags/tag116.xml" Id="Rcdc41edbb41b4546" /><Relationship Type="http://schemas.openxmlformats.org/officeDocument/2006/relationships/slideLayout" Target="/ppt/slideLayouts/slideLayout4.xml" Id="R525e1d1c3b06468c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tags" Target="/ppt/slides/tags/tag117.xml" Id="R88718ebea96746b8" /><Relationship Type="http://schemas.openxmlformats.org/officeDocument/2006/relationships/slideLayout" Target="/ppt/slideLayouts/slideLayout4.xml" Id="Rcd15507aafdd48e7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tags" Target="/ppt/slides/tags/tag118.xml" Id="Rbe3c9c8105f24b4e" /><Relationship Type="http://schemas.openxmlformats.org/officeDocument/2006/relationships/slideLayout" Target="/ppt/slideLayouts/slideLayout4.xml" Id="R2e7df7e68df84670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tags" Target="/ppt/slides/tags/tag119.xml" Id="Ra180ec52b5e445d2" /><Relationship Type="http://schemas.openxmlformats.org/officeDocument/2006/relationships/slideLayout" Target="/ppt/slideLayouts/slideLayout4.xml" Id="R50558de0eb8c4ccc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tags" Target="/ppt/slides/tags/tag120.xml" Id="R39d20a9d11514d83" /><Relationship Type="http://schemas.openxmlformats.org/officeDocument/2006/relationships/slideLayout" Target="/ppt/slideLayouts/slideLayout4.xml" Id="R6d4ee3bd5f6241f3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tags" Target="/ppt/slides/tags/tag121.xml" Id="R34f722a0d855427c" /><Relationship Type="http://schemas.openxmlformats.org/officeDocument/2006/relationships/slideLayout" Target="/ppt/slideLayouts/slideLayout4.xml" Id="R6af2dd89445745f0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tags" Target="/ppt/slides/tags/tag122.xml" Id="Ra6d9a15a90a24b03" /><Relationship Type="http://schemas.openxmlformats.org/officeDocument/2006/relationships/slideLayout" Target="/ppt/slideLayouts/slideLayout4.xml" Id="Rda88377830714d8d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tags" Target="/ppt/slides/tags/tag123.xml" Id="R8e1b9a23e6b04634" /><Relationship Type="http://schemas.openxmlformats.org/officeDocument/2006/relationships/slideLayout" Target="/ppt/slideLayouts/slideLayout4.xml" Id="Ra38e55ba2ff8459d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a4c0ffc56514ace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3e548d256e64af8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7307b2ea824f27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tags" Target="/ppt/slides/tags/tag124.xml" Id="R1b603c0a1ef14ba3" /><Relationship Type="http://schemas.openxmlformats.org/officeDocument/2006/relationships/slideLayout" Target="/ppt/slideLayouts/slideLayout4.xml" Id="R4eb862220642426f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tags" Target="/ppt/slides/tags/tag125.xml" Id="Rfdbe642bb8a34b9b" /><Relationship Type="http://schemas.openxmlformats.org/officeDocument/2006/relationships/slideLayout" Target="/ppt/slideLayouts/slideLayout4.xml" Id="Rda7efbb9266a40fa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tags" Target="/ppt/slides/tags/tag126.xml" Id="R025f1546a9a9463b" /><Relationship Type="http://schemas.openxmlformats.org/officeDocument/2006/relationships/slideLayout" Target="/ppt/slideLayouts/slideLayout4.xml" Id="R9f800f35e67d41be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tags" Target="/ppt/slides/tags/tag127.xml" Id="R9b934f298967413b" /><Relationship Type="http://schemas.openxmlformats.org/officeDocument/2006/relationships/slideLayout" Target="/ppt/slideLayouts/slideLayout4.xml" Id="R3b6110df0a6b410e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tags" Target="/ppt/slides/tags/tag128.xml" Id="R7c970664ef8c481f" /><Relationship Type="http://schemas.openxmlformats.org/officeDocument/2006/relationships/slideLayout" Target="/ppt/slideLayouts/slideLayout4.xml" Id="R2b0ae559a2c3437f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tags" Target="/ppt/slides/tags/tag129.xml" Id="Rcaf87909dbf34d2e" /><Relationship Type="http://schemas.openxmlformats.org/officeDocument/2006/relationships/slideLayout" Target="/ppt/slideLayouts/slideLayout4.xml" Id="R8e58e558630a4ba1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tags" Target="/ppt/slides/tags/tag130.xml" Id="Rfec1f5dc8a4e41ff" /><Relationship Type="http://schemas.openxmlformats.org/officeDocument/2006/relationships/slideLayout" Target="/ppt/slideLayouts/slideLayout4.xml" Id="R35b699f419524b3c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tags" Target="/ppt/slides/tags/tag131.xml" Id="Rf929e6e5aced43cd" /><Relationship Type="http://schemas.openxmlformats.org/officeDocument/2006/relationships/slideLayout" Target="/ppt/slideLayouts/slideLayout4.xml" Id="Rffe1872fa87e440e" /></Relationships>
</file>

<file path=ppt/slides/_rels/slide161.xml.rels>&#65279;<?xml version="1.0" encoding="utf-8"?><Relationships xmlns="http://schemas.openxmlformats.org/package/2006/relationships"><Relationship Type="http://schemas.openxmlformats.org/officeDocument/2006/relationships/tags" Target="/ppt/slides/tags/tag132.xml" Id="Ra2fec9740e2f4894" /><Relationship Type="http://schemas.openxmlformats.org/officeDocument/2006/relationships/slideLayout" Target="/ppt/slideLayouts/slideLayout4.xml" Id="R78e28976cd854ead" /></Relationships>
</file>

<file path=ppt/slides/_rels/slide162.xml.rels>&#65279;<?xml version="1.0" encoding="utf-8"?><Relationships xmlns="http://schemas.openxmlformats.org/package/2006/relationships"><Relationship Type="http://schemas.openxmlformats.org/officeDocument/2006/relationships/tags" Target="/ppt/slides/tags/tag133.xml" Id="Rc38e01c9032641fd" /><Relationship Type="http://schemas.openxmlformats.org/officeDocument/2006/relationships/slideLayout" Target="/ppt/slideLayouts/slideLayout4.xml" Id="R07904eaebdc7421a" /></Relationships>
</file>

<file path=ppt/slides/_rels/slide163.xml.rels>&#65279;<?xml version="1.0" encoding="utf-8"?><Relationships xmlns="http://schemas.openxmlformats.org/package/2006/relationships"><Relationship Type="http://schemas.openxmlformats.org/officeDocument/2006/relationships/tags" Target="/ppt/slides/tags/tag134.xml" Id="R61552b21160f4a78" /><Relationship Type="http://schemas.openxmlformats.org/officeDocument/2006/relationships/slideLayout" Target="/ppt/slideLayouts/slideLayout4.xml" Id="R457d7301451b4d5b" /></Relationships>
</file>

<file path=ppt/slides/_rels/slide1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c999c9ebfab404e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/>
          <p:cNvSpPr/>
          <p:nvPr/>
        </p:nvSpPr>
        <p:spPr>
          <a:xfrm>
            <a:off x="1" y="2004207"/>
            <a:ext cx="9143999" cy="1935817"/>
          </a:xfrm>
          <a:custGeom>
            <a:avLst/>
            <a:gdLst/>
            <a:ahLst/>
            <a:cxnLst/>
            <a:rect l="l" t="t" r="r" b="b"/>
            <a:pathLst>
              <a:path w="7556500" h="26289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5" name="Rectangle 4"/>
          <p:cNvSpPr/>
          <p:nvPr/>
        </p:nvSpPr>
        <p:spPr>
          <a:xfrm>
            <a:off x="1006889" y="2538923"/>
            <a:ext cx="7887578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of IC voltage regulator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741" y="5601409"/>
            <a:ext cx="383282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Meet Soni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Faculty (PIT)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Electrical Engineering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123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DDD1C7-30A8-6F0B-4F00-4DF1E563DD59}"/>
              </a:ext>
            </a:extLst>
          </p:cNvPr>
          <p:cNvSpPr txBox="1"/>
          <p:nvPr/>
        </p:nvSpPr>
        <p:spPr>
          <a:xfrm>
            <a:off x="431076" y="1778284"/>
            <a:ext cx="6074228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Content </a:t>
            </a:r>
          </a:p>
          <a:p>
            <a:endParaRPr lang="en-US" dirty="0"/>
          </a:p>
          <a:p>
            <a:r>
              <a:rPr lang="en-US" sz="2400" dirty="0"/>
              <a:t>1. DC Power Supply Requirements in Electronic Circuits</a:t>
            </a:r>
          </a:p>
          <a:p>
            <a:r>
              <a:rPr lang="en-US" sz="2400" dirty="0"/>
              <a:t>2. Unregulated DC Power Supply</a:t>
            </a:r>
          </a:p>
          <a:p>
            <a:r>
              <a:rPr lang="en-US" sz="2400" dirty="0"/>
              <a:t>3. Drawbacks of Unregulated Power Supply</a:t>
            </a:r>
          </a:p>
          <a:p>
            <a:pPr marL="342900" indent="-342900">
              <a:buAutoNum type="arabicPeriod"/>
            </a:pPr>
            <a:endParaRPr lang="en-US" sz="2400" dirty="0"/>
          </a:p>
          <a:p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835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7D253-7D00-97B5-95E9-E558DBAEC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FE45A01-8120-B0F5-006B-B7115314C763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990BEA-4022-F945-E26B-AC91871E7F83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971F973A-4C88-E8FE-17D5-AC415D0912A8}"/>
              </a:ext>
            </a:extLst>
          </p:cNvPr>
          <p:cNvSpPr>
            <a:spLocks noChangeArrowheads="1"/>
          </p:cNvSpPr>
          <p:nvPr>
            <p:custDataLst>
              <p:tags r:id="Ree92e571d42a45e4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DC Power Supply Requirements in Electronic Circuits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89FB6D-7E04-4DD7-7D98-3B13A009BE44}"/>
              </a:ext>
            </a:extLst>
          </p:cNvPr>
          <p:cNvSpPr txBox="1"/>
          <p:nvPr/>
        </p:nvSpPr>
        <p:spPr>
          <a:xfrm>
            <a:off x="221227" y="2119452"/>
            <a:ext cx="8509818" cy="4085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Electronic circuits need a stable </a:t>
            </a:r>
            <a:r>
              <a:rPr kumimoji="0" lang="en-US" altLang="en-US" sz="220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d.c.</a:t>
            </a:r>
            <a:r>
              <a:rPr kumimoji="0" lang="en-US" altLang="en-US" sz="22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supply for components like transistors and vacuum tubes.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transistor circuits, specific bias voltages are applied to emitter and collector for proper functioning.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Batteries can provide </a:t>
            </a:r>
            <a:r>
              <a:rPr kumimoji="0" lang="en-US" altLang="en-US" sz="220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d.c.</a:t>
            </a:r>
            <a:r>
              <a:rPr kumimoji="0" lang="en-US" altLang="en-US" sz="22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power but are expensive, short-lived, and require frequent replacement.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common method is converting </a:t>
            </a:r>
            <a:r>
              <a:rPr kumimoji="0" lang="en-US" altLang="en-US" sz="220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a.c.</a:t>
            </a:r>
            <a:r>
              <a:rPr kumimoji="0" lang="en-US" altLang="en-US" sz="22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mains into </a:t>
            </a:r>
            <a:r>
              <a:rPr kumimoji="0" lang="en-US" altLang="en-US" sz="220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d.c.</a:t>
            </a:r>
            <a:r>
              <a:rPr kumimoji="0" lang="en-US" altLang="en-US" sz="22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using a rectifier-filter circuit.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Rectifier converts </a:t>
            </a:r>
            <a:r>
              <a:rPr kumimoji="0" lang="en-US" altLang="en-US" sz="220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a.c.</a:t>
            </a:r>
            <a:r>
              <a:rPr kumimoji="0" lang="en-US" altLang="en-US" sz="22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 pulsating </a:t>
            </a:r>
            <a:r>
              <a:rPr kumimoji="0" lang="en-US" altLang="en-US" sz="220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d.c.</a:t>
            </a:r>
            <a:r>
              <a:rPr kumimoji="0" lang="en-US" altLang="en-US" sz="22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filter smooths it.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Voltage regulators are added to ensure a constant </a:t>
            </a:r>
            <a:r>
              <a:rPr kumimoji="0" lang="en-US" altLang="en-US" sz="220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d.c.</a:t>
            </a:r>
            <a:r>
              <a:rPr kumimoji="0" lang="en-US" altLang="en-US" sz="22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output for sensitive electronics.</a:t>
            </a:r>
          </a:p>
        </p:txBody>
      </p:sp>
    </p:spTree>
    <p:extLst>
      <p:ext uri="{BB962C8B-B14F-4D97-AF65-F5344CB8AC3E}">
        <p14:creationId xmlns:p14="http://schemas.microsoft.com/office/powerpoint/2010/main" val="1071091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E359E-7012-07A1-50DA-255C6FA78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56061E4-228D-C1FC-8530-CEA9B9D76FBC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71DC1CB-330E-B0F8-FCB9-01E46EEED0A5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85916653-3607-4B54-506B-1AACE1C5239E}"/>
              </a:ext>
            </a:extLst>
          </p:cNvPr>
          <p:cNvSpPr>
            <a:spLocks noChangeArrowheads="1"/>
          </p:cNvSpPr>
          <p:nvPr>
            <p:custDataLst>
              <p:tags r:id="Rd5fc365d6b1f4931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Working Principle of Series Voltage Regulator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685A7A-AA40-A798-4F1A-025336853CCC}"/>
              </a:ext>
            </a:extLst>
          </p:cNvPr>
          <p:cNvSpPr txBox="1"/>
          <p:nvPr/>
        </p:nvSpPr>
        <p:spPr>
          <a:xfrm>
            <a:off x="811658" y="2119452"/>
            <a:ext cx="7428216" cy="1695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 voltage is unregulated DC.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200" dirty="0">
                <a:latin typeface="Calibri" panose="020F0502020204030204"/>
              </a:rPr>
              <a:t>Zener diode provides a stable reference.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200" dirty="0">
                <a:latin typeface="Calibri" panose="020F0502020204030204"/>
              </a:rPr>
              <a:t>Feedback from output is compared to reference.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200" dirty="0">
                <a:latin typeface="Calibri" panose="020F0502020204030204"/>
              </a:rPr>
              <a:t>Transistor adjusts conduction to regulate output</a:t>
            </a:r>
            <a:r>
              <a:rPr lang="en-US" altLang="en-US" sz="2200" b="1" dirty="0">
                <a:solidFill>
                  <a:srgbClr val="0070C0"/>
                </a:solidFill>
                <a:latin typeface="Calibri" panose="020F050202020403020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7963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76D43-15E8-347D-9149-9C447A16B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307B5A-7492-BEF4-7BC1-6CC7BE9256DE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5856E61-737E-212D-C64B-BE99869EB201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ACD09761-CE9A-8565-232A-52947E10D317}"/>
              </a:ext>
            </a:extLst>
          </p:cNvPr>
          <p:cNvSpPr>
            <a:spLocks noChangeArrowheads="1"/>
          </p:cNvSpPr>
          <p:nvPr>
            <p:custDataLst>
              <p:tags r:id="Rfd8789e00b86470e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Basic Series Voltage Regulator Circuit</a:t>
            </a:r>
            <a:endParaRPr lang="en-IN" altLang="en-US" sz="24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5992E1DE-059B-5A31-552B-D119C459CB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6c7b449be8bd4be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39" b="10752"/>
          <a:stretch/>
        </p:blipFill>
        <p:spPr bwMode="auto">
          <a:xfrm>
            <a:off x="695325" y="2021908"/>
            <a:ext cx="7753350" cy="3886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3448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52817-54CD-4581-73C6-1259510E3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0BE6DE4-F5E2-E38F-008F-1A271BB87BB3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5F8F2AA-DF52-7667-9E41-B05683FA4466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E5B915A8-A7C7-426A-267A-1FC183455D7A}"/>
              </a:ext>
            </a:extLst>
          </p:cNvPr>
          <p:cNvSpPr>
            <a:spLocks noChangeArrowheads="1"/>
          </p:cNvSpPr>
          <p:nvPr>
            <p:custDataLst>
              <p:tags r:id="R866078fbe2334083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Circuit Components</a:t>
            </a:r>
          </a:p>
        </p:txBody>
      </p:sp>
      <p:sp>
        <p:nvSpPr>
          <p:cNvPr id="142" name="Rectangle 138">
            <a:extLst>
              <a:ext uri="{FF2B5EF4-FFF2-40B4-BE49-F238E27FC236}">
                <a16:creationId xmlns:a16="http://schemas.microsoft.com/office/drawing/2014/main" id="{44CEE477-0EA6-1326-303F-BF6E1CD7B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3238500"/>
            <a:ext cx="1714500" cy="2114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167" name="Text Box 163">
            <a:extLst>
              <a:ext uri="{FF2B5EF4-FFF2-40B4-BE49-F238E27FC236}">
                <a16:creationId xmlns:a16="http://schemas.microsoft.com/office/drawing/2014/main" id="{9F05C5D8-DBA7-CFBA-A573-8492428ECA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1844211"/>
            <a:ext cx="7356297" cy="3913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Series Pass Transistor(Q1) : Main regulating element.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Zenner Diode : Provides constant reference voltage.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Voltage Divider(R1, R2) : Samples a fraction of output of feedback.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Error Detector(Op-Amp or transistor base-emitter junction) : Compares and controls base current of the series transistor.</a:t>
            </a:r>
          </a:p>
        </p:txBody>
      </p:sp>
    </p:spTree>
    <p:extLst>
      <p:ext uri="{BB962C8B-B14F-4D97-AF65-F5344CB8AC3E}">
        <p14:creationId xmlns:p14="http://schemas.microsoft.com/office/powerpoint/2010/main" val="2215749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F27A5-F99D-55B8-96CF-1EA38D04E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A0F877-1A75-12E4-2E61-4D82E2C731CF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1E4339E-8047-E66A-FBBE-974068B4DD88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65B31902-4AFF-D281-3ECB-CBFB7D120061}"/>
              </a:ext>
            </a:extLst>
          </p:cNvPr>
          <p:cNvSpPr>
            <a:spLocks noChangeArrowheads="1"/>
          </p:cNvSpPr>
          <p:nvPr>
            <p:custDataLst>
              <p:tags r:id="Rde199daffb144b83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Mathematical Analysis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3BBFAA48-2CD3-88A4-D504-6192E309E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142" name="Rectangle 138">
            <a:extLst>
              <a:ext uri="{FF2B5EF4-FFF2-40B4-BE49-F238E27FC236}">
                <a16:creationId xmlns:a16="http://schemas.microsoft.com/office/drawing/2014/main" id="{034CA13D-9A61-52A5-41DA-C0703FC3B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3238500"/>
            <a:ext cx="1714500" cy="2114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99" name="Rectangle 133">
            <a:extLst>
              <a:ext uri="{FF2B5EF4-FFF2-40B4-BE49-F238E27FC236}">
                <a16:creationId xmlns:a16="http://schemas.microsoft.com/office/drawing/2014/main" id="{5F54CF45-8643-2F23-8594-23D59A8FC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24" name="Text Box 159">
            <a:extLst>
              <a:ext uri="{FF2B5EF4-FFF2-40B4-BE49-F238E27FC236}">
                <a16:creationId xmlns:a16="http://schemas.microsoft.com/office/drawing/2014/main" id="{7CD844DF-7545-8641-D20D-90D36B029A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4" y="2678571"/>
            <a:ext cx="7356297" cy="2462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sz="2200" b="1" dirty="0" err="1">
                <a:solidFill>
                  <a:srgbClr val="006699"/>
                </a:solidFill>
              </a:rPr>
              <a:t>V</a:t>
            </a:r>
            <a:r>
              <a:rPr lang="en-US" sz="1600" b="1" dirty="0" err="1">
                <a:solidFill>
                  <a:srgbClr val="006699"/>
                </a:solidFill>
              </a:rPr>
              <a:t>out</a:t>
            </a:r>
            <a:r>
              <a:rPr lang="en-US" sz="2200" b="1" dirty="0">
                <a:solidFill>
                  <a:srgbClr val="006699"/>
                </a:solidFill>
              </a:rPr>
              <a:t>  = </a:t>
            </a:r>
            <a:r>
              <a:rPr lang="en-US" sz="2200" b="1" dirty="0" err="1">
                <a:solidFill>
                  <a:srgbClr val="006699"/>
                </a:solidFill>
              </a:rPr>
              <a:t>V</a:t>
            </a:r>
            <a:r>
              <a:rPr lang="en-US" sz="1600" b="1" dirty="0" err="1">
                <a:solidFill>
                  <a:srgbClr val="006699"/>
                </a:solidFill>
              </a:rPr>
              <a:t>z</a:t>
            </a:r>
            <a:r>
              <a:rPr lang="en-US" sz="2200" b="1" dirty="0">
                <a:solidFill>
                  <a:srgbClr val="006699"/>
                </a:solidFill>
              </a:rPr>
              <a:t> + </a:t>
            </a:r>
            <a:r>
              <a:rPr lang="en-US" sz="2200" b="1" dirty="0" err="1">
                <a:solidFill>
                  <a:srgbClr val="006699"/>
                </a:solidFill>
              </a:rPr>
              <a:t>V</a:t>
            </a:r>
            <a:r>
              <a:rPr lang="en-US" sz="1600" b="1" dirty="0" err="1">
                <a:solidFill>
                  <a:srgbClr val="006699"/>
                </a:solidFill>
              </a:rPr>
              <a:t>be</a:t>
            </a:r>
            <a:endParaRPr lang="en-US" sz="1600" b="1" dirty="0">
              <a:solidFill>
                <a:srgbClr val="006699"/>
              </a:solidFill>
            </a:endParaRPr>
          </a:p>
          <a:p>
            <a:endParaRPr lang="en-US" sz="2200" b="1" dirty="0">
              <a:solidFill>
                <a:srgbClr val="006699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006699"/>
                </a:solidFill>
              </a:rPr>
              <a:t>			Where :</a:t>
            </a:r>
          </a:p>
          <a:p>
            <a:pPr marL="2114550" lvl="4" indent="-285750">
              <a:buFont typeface="Wingdings" panose="05000000000000000000" pitchFamily="2" charset="2"/>
              <a:buChar char="§"/>
            </a:pPr>
            <a:r>
              <a:rPr lang="en-US" sz="2200" b="1" dirty="0" err="1">
                <a:solidFill>
                  <a:srgbClr val="006699"/>
                </a:solidFill>
              </a:rPr>
              <a:t>V</a:t>
            </a:r>
            <a:r>
              <a:rPr lang="en-US" sz="1600" b="1" dirty="0" err="1">
                <a:solidFill>
                  <a:srgbClr val="006699"/>
                </a:solidFill>
              </a:rPr>
              <a:t>z</a:t>
            </a:r>
            <a:r>
              <a:rPr lang="en-US" sz="2200" b="1" dirty="0">
                <a:solidFill>
                  <a:srgbClr val="006699"/>
                </a:solidFill>
              </a:rPr>
              <a:t>  = Zener voltage</a:t>
            </a:r>
          </a:p>
          <a:p>
            <a:pPr marL="2114550" lvl="4" indent="-285750">
              <a:buFont typeface="Wingdings" panose="05000000000000000000" pitchFamily="2" charset="2"/>
              <a:buChar char="§"/>
            </a:pPr>
            <a:r>
              <a:rPr lang="en-US" sz="2200" b="1" dirty="0" err="1">
                <a:solidFill>
                  <a:srgbClr val="006699"/>
                </a:solidFill>
              </a:rPr>
              <a:t>V</a:t>
            </a:r>
            <a:r>
              <a:rPr lang="en-US" sz="1600" b="1" dirty="0" err="1">
                <a:solidFill>
                  <a:srgbClr val="006699"/>
                </a:solidFill>
              </a:rPr>
              <a:t>be</a:t>
            </a:r>
            <a:r>
              <a:rPr lang="en-US" sz="1600" b="1" dirty="0">
                <a:solidFill>
                  <a:srgbClr val="006699"/>
                </a:solidFill>
              </a:rPr>
              <a:t> </a:t>
            </a:r>
            <a:r>
              <a:rPr lang="en-US" sz="2200" b="1" dirty="0">
                <a:solidFill>
                  <a:srgbClr val="006699"/>
                </a:solidFill>
              </a:rPr>
              <a:t>= Base-Emitter voltage(~0.7V for silicon)</a:t>
            </a:r>
          </a:p>
          <a:p>
            <a:pPr marL="2114550" lvl="4" indent="-285750">
              <a:buFont typeface="Wingdings" panose="05000000000000000000" pitchFamily="2" charset="2"/>
              <a:buChar char="§"/>
            </a:pPr>
            <a:endParaRPr lang="en-US" sz="2200" b="1" dirty="0">
              <a:solidFill>
                <a:srgbClr val="00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298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3068D-EDC8-7664-465E-11A294F8D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ACF66D-8564-A154-AF10-125C44DBA15A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D859EB8-8ABC-D583-114A-883574D7FA9B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F92B7B2D-D82C-653D-9ACB-0A5334968F88}"/>
              </a:ext>
            </a:extLst>
          </p:cNvPr>
          <p:cNvSpPr>
            <a:spLocks noChangeArrowheads="1"/>
          </p:cNvSpPr>
          <p:nvPr>
            <p:custDataLst>
              <p:tags r:id="R85fd1f31f4284737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708D0EF3-4D9D-02A1-60F4-9E7B40BB0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 dirty="0"/>
          </a:p>
        </p:txBody>
      </p:sp>
      <p:sp>
        <p:nvSpPr>
          <p:cNvPr id="142" name="Rectangle 138">
            <a:extLst>
              <a:ext uri="{FF2B5EF4-FFF2-40B4-BE49-F238E27FC236}">
                <a16:creationId xmlns:a16="http://schemas.microsoft.com/office/drawing/2014/main" id="{62581A29-DD75-E032-CEC1-8F18622F3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3238500"/>
            <a:ext cx="1714500" cy="2114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99" name="Rectangle 133">
            <a:extLst>
              <a:ext uri="{FF2B5EF4-FFF2-40B4-BE49-F238E27FC236}">
                <a16:creationId xmlns:a16="http://schemas.microsoft.com/office/drawing/2014/main" id="{97072D03-E58A-DB29-4777-0D63BA119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24" name="Text Box 159">
            <a:extLst>
              <a:ext uri="{FF2B5EF4-FFF2-40B4-BE49-F238E27FC236}">
                <a16:creationId xmlns:a16="http://schemas.microsoft.com/office/drawing/2014/main" id="{F6B5ED60-54E1-4499-7DC2-DC9D39CC8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2114022"/>
            <a:ext cx="7356297" cy="2579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Excellent line and lead regulation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Low output ripple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Simple design and easy to implement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Fast transient response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Can be made using discrete components</a:t>
            </a:r>
          </a:p>
        </p:txBody>
      </p:sp>
    </p:spTree>
    <p:extLst>
      <p:ext uri="{BB962C8B-B14F-4D97-AF65-F5344CB8AC3E}">
        <p14:creationId xmlns:p14="http://schemas.microsoft.com/office/powerpoint/2010/main" val="1933476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C7D47-6A52-0935-F0DB-B72B092FF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08D40E-24D3-351D-8F00-7E9BEB7D0982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246600A-4BED-13C9-A930-801CB0E3306C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52ECCC19-5845-1C3C-B769-D1709B9CEF77}"/>
              </a:ext>
            </a:extLst>
          </p:cNvPr>
          <p:cNvSpPr>
            <a:spLocks noChangeArrowheads="1"/>
          </p:cNvSpPr>
          <p:nvPr>
            <p:custDataLst>
              <p:tags r:id="R0453a483814c4cfd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Disadvantages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B9F4D10B-2BDE-FE5E-9623-2BF202D40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142" name="Rectangle 138">
            <a:extLst>
              <a:ext uri="{FF2B5EF4-FFF2-40B4-BE49-F238E27FC236}">
                <a16:creationId xmlns:a16="http://schemas.microsoft.com/office/drawing/2014/main" id="{13B20403-09E3-74E1-7383-58430B62F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3238500"/>
            <a:ext cx="1714500" cy="2114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99" name="Rectangle 133">
            <a:extLst>
              <a:ext uri="{FF2B5EF4-FFF2-40B4-BE49-F238E27FC236}">
                <a16:creationId xmlns:a16="http://schemas.microsoft.com/office/drawing/2014/main" id="{6229AAB0-9C09-8548-E5E7-33221F7C8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24" name="Text Box 159">
            <a:extLst>
              <a:ext uri="{FF2B5EF4-FFF2-40B4-BE49-F238E27FC236}">
                <a16:creationId xmlns:a16="http://schemas.microsoft.com/office/drawing/2014/main" id="{E6E1B3E2-153E-63A7-F5C7-7898EAE2F8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335" y="2104989"/>
            <a:ext cx="7356297" cy="2071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Inefficient : Excess energy is dissipated as heat.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Requires heatsink for high currents.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Dropout voltage limits low input-output differential.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Not suitable for high power applications.</a:t>
            </a:r>
          </a:p>
        </p:txBody>
      </p:sp>
    </p:spTree>
    <p:extLst>
      <p:ext uri="{BB962C8B-B14F-4D97-AF65-F5344CB8AC3E}">
        <p14:creationId xmlns:p14="http://schemas.microsoft.com/office/powerpoint/2010/main" val="4029060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D6154-A8D2-A355-1D42-FAF2A3E2F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00A3B0-05ED-FD3B-62D7-CD65355950BA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BC1328F-CCC8-77BD-AED9-B5C5B30A7844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580E90F8-8C4C-7A6D-C4D6-D4A613AA411B}"/>
              </a:ext>
            </a:extLst>
          </p:cNvPr>
          <p:cNvSpPr>
            <a:spLocks noChangeArrowheads="1"/>
          </p:cNvSpPr>
          <p:nvPr>
            <p:custDataLst>
              <p:tags r:id="R4d63adbfd7de4905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B0B6EA23-950C-C4AE-5B1A-9F61F0582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142" name="Rectangle 138">
            <a:extLst>
              <a:ext uri="{FF2B5EF4-FFF2-40B4-BE49-F238E27FC236}">
                <a16:creationId xmlns:a16="http://schemas.microsoft.com/office/drawing/2014/main" id="{5A1CEE69-1DEA-604A-091D-73D7DE651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3238500"/>
            <a:ext cx="1714500" cy="2114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99" name="Rectangle 133">
            <a:extLst>
              <a:ext uri="{FF2B5EF4-FFF2-40B4-BE49-F238E27FC236}">
                <a16:creationId xmlns:a16="http://schemas.microsoft.com/office/drawing/2014/main" id="{35CE623E-DECE-CDF6-9A58-16D4C27FE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24" name="Text Box 159">
            <a:extLst>
              <a:ext uri="{FF2B5EF4-FFF2-40B4-BE49-F238E27FC236}">
                <a16:creationId xmlns:a16="http://schemas.microsoft.com/office/drawing/2014/main" id="{6C58923F-F6BA-A26C-3B46-6B38888662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1975016"/>
            <a:ext cx="7356297" cy="2970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Power supplies for analog and digital circuits.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Voltage regulation in audio systems.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Battery chargers.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Voltage regulators in embedded systems.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Laboratory power supplies.</a:t>
            </a:r>
          </a:p>
          <a:p>
            <a:pPr marL="2114550" lvl="4" indent="-285750">
              <a:buFont typeface="Wingdings" panose="05000000000000000000" pitchFamily="2" charset="2"/>
              <a:buChar char="§"/>
            </a:pPr>
            <a:endParaRPr lang="en-US" sz="2200" b="1" dirty="0">
              <a:solidFill>
                <a:srgbClr val="00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8474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446C1-3D82-AEA2-3258-A2C2A22FC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75E28B6-559C-D837-C95D-E9E946C0DFA8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6D8BF3-1E2D-FEB4-D23A-F505CCFD3258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5C520924-AF11-677F-7F94-E4DD3FD394F3}"/>
              </a:ext>
            </a:extLst>
          </p:cNvPr>
          <p:cNvSpPr>
            <a:spLocks noChangeArrowheads="1"/>
          </p:cNvSpPr>
          <p:nvPr>
            <p:custDataLst>
              <p:tags r:id="R21d7b3fccf764496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Practical Example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88244CC4-D89B-9A4B-507F-F2A5722EA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142" name="Rectangle 138">
            <a:extLst>
              <a:ext uri="{FF2B5EF4-FFF2-40B4-BE49-F238E27FC236}">
                <a16:creationId xmlns:a16="http://schemas.microsoft.com/office/drawing/2014/main" id="{3CF17E97-FFA6-9E81-B750-631598FF7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3238500"/>
            <a:ext cx="1714500" cy="2114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99" name="Rectangle 133">
            <a:extLst>
              <a:ext uri="{FF2B5EF4-FFF2-40B4-BE49-F238E27FC236}">
                <a16:creationId xmlns:a16="http://schemas.microsoft.com/office/drawing/2014/main" id="{35BD653F-63E3-045E-02B9-4CF0A8A40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24" name="Text Box 159">
            <a:extLst>
              <a:ext uri="{FF2B5EF4-FFF2-40B4-BE49-F238E27FC236}">
                <a16:creationId xmlns:a16="http://schemas.microsoft.com/office/drawing/2014/main" id="{7D026497-741C-04EC-1542-9118466FF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4" y="2001464"/>
            <a:ext cx="7356297" cy="3816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sz="2200" dirty="0"/>
              <a:t>Given 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V</a:t>
            </a:r>
            <a:r>
              <a:rPr lang="en-US" sz="1600" dirty="0"/>
              <a:t>in</a:t>
            </a:r>
            <a:r>
              <a:rPr lang="en-US" sz="2200" dirty="0"/>
              <a:t> = 12V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Zener = 5.6V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 err="1"/>
              <a:t>V</a:t>
            </a:r>
            <a:r>
              <a:rPr lang="en-US" sz="1600" dirty="0" err="1"/>
              <a:t>be</a:t>
            </a:r>
            <a:r>
              <a:rPr lang="en-US" sz="2200" dirty="0"/>
              <a:t> = 0.7V</a:t>
            </a:r>
          </a:p>
          <a:p>
            <a:endParaRPr lang="en-US" sz="2200" dirty="0"/>
          </a:p>
          <a:p>
            <a:r>
              <a:rPr lang="en-US" sz="2200" dirty="0"/>
              <a:t>Then 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 err="1"/>
              <a:t>V</a:t>
            </a:r>
            <a:r>
              <a:rPr lang="en-US" sz="1600" dirty="0" err="1"/>
              <a:t>out</a:t>
            </a:r>
            <a:r>
              <a:rPr lang="en-US" sz="2200" dirty="0"/>
              <a:t> = 5.6V + 0.7V = 6.3V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lvl="1" indent="-457200"/>
            <a:r>
              <a:rPr lang="en-US" sz="2200" dirty="0"/>
              <a:t>If the load changes, the transistor dynamically adjusts to maintain ~6.3V output.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b="1" dirty="0">
              <a:solidFill>
                <a:srgbClr val="00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2665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A4FCA-6A0D-DF93-0B42-4918ECEC6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EFD628A-2A6E-49EA-7AD8-2765725A1CFC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4A15EEB-D681-5AE2-1BA8-75254B382572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1F858551-9CAC-87B3-B3EF-56CD60E529AD}"/>
              </a:ext>
            </a:extLst>
          </p:cNvPr>
          <p:cNvSpPr>
            <a:spLocks noChangeArrowheads="1"/>
          </p:cNvSpPr>
          <p:nvPr>
            <p:custDataLst>
              <p:tags r:id="R4ebfac883f5f4ee1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Comparison with Shunt Regulator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AF671EEE-F818-D3ED-5D49-92E9B4D6E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142" name="Rectangle 138">
            <a:extLst>
              <a:ext uri="{FF2B5EF4-FFF2-40B4-BE49-F238E27FC236}">
                <a16:creationId xmlns:a16="http://schemas.microsoft.com/office/drawing/2014/main" id="{6F98D580-9707-7412-6DA0-5B3788971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3238500"/>
            <a:ext cx="1714500" cy="2114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99" name="Rectangle 133">
            <a:extLst>
              <a:ext uri="{FF2B5EF4-FFF2-40B4-BE49-F238E27FC236}">
                <a16:creationId xmlns:a16="http://schemas.microsoft.com/office/drawing/2014/main" id="{B7CF5D42-223E-2CB3-0E76-43560B1F5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A17795A-85BD-60F9-EEE5-CF539ADCEF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041968"/>
              </p:ext>
            </p:extLst>
          </p:nvPr>
        </p:nvGraphicFramePr>
        <p:xfrm>
          <a:off x="729464" y="1900081"/>
          <a:ext cx="7356297" cy="408385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452099">
                  <a:extLst>
                    <a:ext uri="{9D8B030D-6E8A-4147-A177-3AD203B41FA5}">
                      <a16:colId xmlns:a16="http://schemas.microsoft.com/office/drawing/2014/main" val="2610600860"/>
                    </a:ext>
                  </a:extLst>
                </a:gridCol>
                <a:gridCol w="2452099">
                  <a:extLst>
                    <a:ext uri="{9D8B030D-6E8A-4147-A177-3AD203B41FA5}">
                      <a16:colId xmlns:a16="http://schemas.microsoft.com/office/drawing/2014/main" val="3589762451"/>
                    </a:ext>
                  </a:extLst>
                </a:gridCol>
                <a:gridCol w="2452099">
                  <a:extLst>
                    <a:ext uri="{9D8B030D-6E8A-4147-A177-3AD203B41FA5}">
                      <a16:colId xmlns:a16="http://schemas.microsoft.com/office/drawing/2014/main" val="1374641019"/>
                    </a:ext>
                  </a:extLst>
                </a:gridCol>
              </a:tblGrid>
              <a:tr h="680643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Series Regulator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Shunt Regulator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289474"/>
                  </a:ext>
                </a:extLst>
              </a:tr>
              <a:tr h="680643">
                <a:tc>
                  <a:txBody>
                    <a:bodyPr/>
                    <a:lstStyle/>
                    <a:p>
                      <a:r>
                        <a:rPr lang="en-US" dirty="0"/>
                        <a:t>Configuration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 series with 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 parallel with load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809415"/>
                  </a:ext>
                </a:extLst>
              </a:tr>
              <a:tr h="680643">
                <a:tc>
                  <a:txBody>
                    <a:bodyPr/>
                    <a:lstStyle/>
                    <a:p>
                      <a:r>
                        <a:rPr lang="en-US" dirty="0"/>
                        <a:t>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587623"/>
                  </a:ext>
                </a:extLst>
              </a:tr>
              <a:tr h="680643">
                <a:tc>
                  <a:txBody>
                    <a:bodyPr/>
                    <a:lstStyle/>
                    <a:p>
                      <a:r>
                        <a:rPr lang="en-US" dirty="0"/>
                        <a:t>Load Regulation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Poorer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1318873"/>
                  </a:ext>
                </a:extLst>
              </a:tr>
              <a:tr h="680643">
                <a:tc>
                  <a:txBody>
                    <a:bodyPr/>
                    <a:lstStyle/>
                    <a:p>
                      <a:r>
                        <a:rPr lang="en-US" dirty="0"/>
                        <a:t>Power Dissipation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Less(at low load current)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552908"/>
                  </a:ext>
                </a:extLst>
              </a:tr>
              <a:tr h="680643">
                <a:tc>
                  <a:txBody>
                    <a:bodyPr/>
                    <a:lstStyle/>
                    <a:p>
                      <a:r>
                        <a:rPr lang="en-US" dirty="0"/>
                        <a:t>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Simple, low-power circuits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732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167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6EE38-9C35-9902-AFEA-8F22B21B8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583687B-DD6D-11EE-5771-A537564E700E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EC3D672-79D9-E2F8-278F-643A290AE593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463BB531-2D9A-812A-43F4-6CC7E4C2870A}"/>
              </a:ext>
            </a:extLst>
          </p:cNvPr>
          <p:cNvSpPr>
            <a:spLocks noChangeArrowheads="1"/>
          </p:cNvSpPr>
          <p:nvPr>
            <p:custDataLst>
              <p:tags r:id="R018d3debce4e476d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Thermal Considerations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2BDC8A4D-821C-0F65-B357-45C2D4706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142" name="Rectangle 138">
            <a:extLst>
              <a:ext uri="{FF2B5EF4-FFF2-40B4-BE49-F238E27FC236}">
                <a16:creationId xmlns:a16="http://schemas.microsoft.com/office/drawing/2014/main" id="{105D84B0-2CB5-CCEF-26F4-A56FE6F77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3238500"/>
            <a:ext cx="1714500" cy="2114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99" name="Rectangle 133">
            <a:extLst>
              <a:ext uri="{FF2B5EF4-FFF2-40B4-BE49-F238E27FC236}">
                <a16:creationId xmlns:a16="http://schemas.microsoft.com/office/drawing/2014/main" id="{7C66AC16-3F07-0C9C-9848-FA767DE36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24" name="Text Box 159">
            <a:extLst>
              <a:ext uri="{FF2B5EF4-FFF2-40B4-BE49-F238E27FC236}">
                <a16:creationId xmlns:a16="http://schemas.microsoft.com/office/drawing/2014/main" id="{5A49A24B-537B-CFAB-73D6-E57752C484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2021908"/>
            <a:ext cx="7356297" cy="2071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Transistor dissipates Power = (V</a:t>
            </a:r>
            <a:r>
              <a:rPr lang="en-US" sz="1600" dirty="0"/>
              <a:t>in </a:t>
            </a:r>
            <a:r>
              <a:rPr lang="en-US" sz="2200" dirty="0"/>
              <a:t>– </a:t>
            </a:r>
            <a:r>
              <a:rPr lang="en-US" sz="2200" dirty="0" err="1"/>
              <a:t>V</a:t>
            </a:r>
            <a:r>
              <a:rPr lang="en-US" sz="1600" dirty="0" err="1"/>
              <a:t>out</a:t>
            </a:r>
            <a:r>
              <a:rPr lang="en-US" sz="1600" dirty="0"/>
              <a:t> </a:t>
            </a:r>
            <a:r>
              <a:rPr lang="en-US" sz="2200" dirty="0"/>
              <a:t>) x </a:t>
            </a:r>
            <a:r>
              <a:rPr lang="en-US" sz="2200" dirty="0" err="1"/>
              <a:t>l</a:t>
            </a:r>
            <a:r>
              <a:rPr lang="en-US" sz="1600" dirty="0" err="1"/>
              <a:t>load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Requires a heatsink to prevent thermal runaway.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Use of thermal shutdown or current limiting is recommended for safety.</a:t>
            </a:r>
          </a:p>
        </p:txBody>
      </p:sp>
    </p:spTree>
    <p:extLst>
      <p:ext uri="{BB962C8B-B14F-4D97-AF65-F5344CB8AC3E}">
        <p14:creationId xmlns:p14="http://schemas.microsoft.com/office/powerpoint/2010/main" val="277468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E8B54-D25C-7BCE-E21D-AD4DE7E97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3416C8-753C-1DA1-9A99-DDDB5BF826FB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652BA3-E469-62A0-0E13-A45D2D7E59A5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80186252-18D5-C904-A023-2D19DDA9119E}"/>
              </a:ext>
            </a:extLst>
          </p:cNvPr>
          <p:cNvSpPr>
            <a:spLocks noChangeArrowheads="1"/>
          </p:cNvSpPr>
          <p:nvPr>
            <p:custDataLst>
              <p:tags r:id="R786b46be1b374cfe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Key Takeaways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6298E5C3-58D1-DFF5-9938-2FF3F503A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142" name="Rectangle 138">
            <a:extLst>
              <a:ext uri="{FF2B5EF4-FFF2-40B4-BE49-F238E27FC236}">
                <a16:creationId xmlns:a16="http://schemas.microsoft.com/office/drawing/2014/main" id="{87478811-9816-3AB2-DAA5-A86675182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3238500"/>
            <a:ext cx="1714500" cy="2114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99" name="Rectangle 133">
            <a:extLst>
              <a:ext uri="{FF2B5EF4-FFF2-40B4-BE49-F238E27FC236}">
                <a16:creationId xmlns:a16="http://schemas.microsoft.com/office/drawing/2014/main" id="{BBBC1318-6057-1754-EF25-0C6ECB9F5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24" name="Text Box 159">
            <a:extLst>
              <a:ext uri="{FF2B5EF4-FFF2-40B4-BE49-F238E27FC236}">
                <a16:creationId xmlns:a16="http://schemas.microsoft.com/office/drawing/2014/main" id="{1B670D1A-6D36-52B4-5211-6C66EE1576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4" y="1679527"/>
            <a:ext cx="7356297" cy="5118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Series voltage regulators provide stable and precise output voltage.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They are widely used due to their simplicity and reliability.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However, they suffer from low efficiency, especially at high currents.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Design must consider thermal management and protection features.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Ideal for medium-power linear regulation where energy efficiency is not the primary concern.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044154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0441B-8CD5-AA51-D3ED-5850E24DD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3C3CFF-23A3-27EA-5768-7D3A33682773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7D622A1-40D1-B1F3-9BB0-6D89F77A83E8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A42C1880-6B7C-DC6D-D18B-6852EFD57940}"/>
              </a:ext>
            </a:extLst>
          </p:cNvPr>
          <p:cNvSpPr>
            <a:spLocks noChangeArrowheads="1"/>
          </p:cNvSpPr>
          <p:nvPr>
            <p:custDataLst>
              <p:tags r:id="R66b2603db23849d7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Introduction  to Shunt Voltage Regulator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0F36371B-CA09-41F9-92FB-7A2678914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pic>
        <p:nvPicPr>
          <p:cNvPr id="5" name="Picture 4" descr="Transistor Shunt Voltage Regulator - Electronics Post">
            <a:extLst>
              <a:ext uri="{FF2B5EF4-FFF2-40B4-BE49-F238E27FC236}">
                <a16:creationId xmlns:a16="http://schemas.microsoft.com/office/drawing/2014/main" id="{B18A4F28-D467-984E-9281-23F4A7ABEF0C}"/>
              </a:ext>
            </a:extLst>
          </p:cNvPr>
          <p:cNvPicPr>
            <a:picLocks noChangeAspect="1"/>
          </p:cNvPicPr>
          <p:nvPr/>
        </p:nvPicPr>
        <p:blipFill>
          <a:blip r:embed="R89d71531760d416f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6753" y="3615092"/>
            <a:ext cx="3549276" cy="282373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Box 159">
            <a:extLst>
              <a:ext uri="{FF2B5EF4-FFF2-40B4-BE49-F238E27FC236}">
                <a16:creationId xmlns:a16="http://schemas.microsoft.com/office/drawing/2014/main" id="{9EB0F9C3-CC1F-D34D-CC35-A1F00E069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4" y="1940773"/>
            <a:ext cx="7356297" cy="178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A Shunt Voltage Regulator is an electronic circuit that regulates the voltage across a load by shunting excess current to ground. It works parallel with the load and maintains a constant output voltage regardless of changes in input voltage or load current.</a:t>
            </a:r>
          </a:p>
        </p:txBody>
      </p:sp>
    </p:spTree>
    <p:extLst>
      <p:ext uri="{BB962C8B-B14F-4D97-AF65-F5344CB8AC3E}">
        <p14:creationId xmlns:p14="http://schemas.microsoft.com/office/powerpoint/2010/main" val="2004099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FFF05-257B-E9A0-DA77-7D9130553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DFD3F3-3547-3F16-DAC7-865B84A9D782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582DD1-72D8-13BA-20ED-7DF6F18C7E9E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329B5D7D-73C9-CFC0-52C1-43F45C4D2F6C}"/>
              </a:ext>
            </a:extLst>
          </p:cNvPr>
          <p:cNvSpPr>
            <a:spLocks noChangeArrowheads="1"/>
          </p:cNvSpPr>
          <p:nvPr>
            <p:custDataLst>
              <p:tags r:id="Ra85056daf07848c7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Working Principle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2CEF942E-98FE-E237-2F13-959D04700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20A96DDC-D292-1195-14CC-6CD0FAC51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4" y="1844211"/>
            <a:ext cx="7356297" cy="3086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When input voltage increases : The regulator diverts more current away from the load to ground, keeping the output voltage constant.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When input voltage decreases : It diverts less current, allowing more to flow through the load, maintaining voltage.</a:t>
            </a:r>
          </a:p>
        </p:txBody>
      </p:sp>
      <p:pic>
        <p:nvPicPr>
          <p:cNvPr id="6" name="Picture 5" descr="Shunt Voltage Regulator Block Diagram ...">
            <a:extLst>
              <a:ext uri="{FF2B5EF4-FFF2-40B4-BE49-F238E27FC236}">
                <a16:creationId xmlns:a16="http://schemas.microsoft.com/office/drawing/2014/main" id="{04165E45-3452-12D2-989E-73AAFEE84CB2}"/>
              </a:ext>
            </a:extLst>
          </p:cNvPr>
          <p:cNvPicPr>
            <a:picLocks noChangeAspect="1"/>
          </p:cNvPicPr>
          <p:nvPr/>
        </p:nvPicPr>
        <p:blipFill>
          <a:blip r:embed="Rf9c065927efa4a09">
            <a:extLst>
              <a:ext uri="{BEBA8EAE-BF5A-486C-A8C5-ECC9F3942E4B}">
                <a14:imgProps xmlns:a14="http://schemas.microsoft.com/office/drawing/2010/main">
                  <a14:imgLayer r:embed="R5932a88810da4782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7391" y="4370294"/>
            <a:ext cx="3620526" cy="2047614"/>
          </a:xfrm>
          <a:prstGeom prst="rect">
            <a:avLst/>
          </a:prstGeom>
          <a:noFill/>
          <a:ln w="19050"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1CF834-4C35-93D0-3014-3113A6771992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006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95412-3EC2-4759-F8CA-0BFF62984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Regulated Power Supplies">
            <a:extLst>
              <a:ext uri="{FF2B5EF4-FFF2-40B4-BE49-F238E27FC236}">
                <a16:creationId xmlns:a16="http://schemas.microsoft.com/office/drawing/2014/main" id="{80DFB099-3A2E-E530-5158-8849DB7E051C}"/>
              </a:ext>
            </a:extLst>
          </p:cNvPr>
          <p:cNvPicPr>
            <a:picLocks noChangeAspect="1"/>
          </p:cNvPicPr>
          <p:nvPr/>
        </p:nvPicPr>
        <p:blipFill>
          <a:blip r:embed="R0339a758818d49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576" y="4408076"/>
            <a:ext cx="4170988" cy="208986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B81F552-751B-A16F-F3E0-067D1E4700E6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3BA9A01-074D-1D68-792E-AB5E0D3AB53C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2A807563-F1B3-CE8F-3C09-04DBA73D4558}"/>
              </a:ext>
            </a:extLst>
          </p:cNvPr>
          <p:cNvSpPr>
            <a:spLocks noChangeArrowheads="1"/>
          </p:cNvSpPr>
          <p:nvPr>
            <p:custDataLst>
              <p:tags r:id="Rbde17ef0df55496b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Operation 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94792344-4338-B2E6-C949-4FC601531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6CEF3877-3097-3AE8-89A6-7D6CA6E43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4" y="1623965"/>
            <a:ext cx="7356297" cy="3086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The series resistor R limits the current through the circuit.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When the input voltage exceeds the Zener breakdown voltage, the Zener diode conducts and shunts current to ground, there by maintaining a constant </a:t>
            </a:r>
            <a:r>
              <a:rPr lang="en-US" sz="2200" dirty="0" err="1"/>
              <a:t>V</a:t>
            </a:r>
            <a:r>
              <a:rPr lang="en-US" sz="1600" dirty="0" err="1"/>
              <a:t>out</a:t>
            </a:r>
            <a:r>
              <a:rPr lang="en-US" sz="2200" dirty="0"/>
              <a:t> = </a:t>
            </a:r>
            <a:r>
              <a:rPr lang="en-US" sz="2200" dirty="0" err="1"/>
              <a:t>V</a:t>
            </a:r>
            <a:r>
              <a:rPr lang="en-US" sz="1600" dirty="0" err="1"/>
              <a:t>z</a:t>
            </a:r>
            <a:r>
              <a:rPr lang="en-US" sz="2200" dirty="0"/>
              <a:t> (Zener voltage).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Shunt Regulator with Transistor.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425041-18E4-5768-3D1E-62A479C2274F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671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8BE22-831F-F733-5F2A-77FCEF304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9A4CC3F-2CEB-22AA-660C-BCDD7E1D72F0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78FE0C-1EB5-4572-51B0-6ED019B33930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4BBA6437-5856-000E-0A3B-F68D5549DD07}"/>
              </a:ext>
            </a:extLst>
          </p:cNvPr>
          <p:cNvSpPr>
            <a:spLocks noChangeArrowheads="1"/>
          </p:cNvSpPr>
          <p:nvPr>
            <p:custDataLst>
              <p:tags r:id="R06b868a6cd084a59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Application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A318C9B8-F0AF-82D2-4795-D1F4D28A0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500D4CB9-E090-9A4A-A88B-C02C51C32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4" y="1877882"/>
            <a:ext cx="7356297" cy="2579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Voltage reference circuits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Protection circuits(against overvoltage)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Low-current power supplies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Analog signal conditioning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Sensor biasing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D620ED-388F-5243-71E0-E191ADA13172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744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08D9B-DB4C-337B-8177-4C50ED2AC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EF68D3-D793-C435-0EEB-812703F2B099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815E060-C241-1E99-5D65-44E7F6E29BB5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BE23EF06-3782-75D3-2AA7-72CB5A0F9DAB}"/>
              </a:ext>
            </a:extLst>
          </p:cNvPr>
          <p:cNvSpPr>
            <a:spLocks noChangeArrowheads="1"/>
          </p:cNvSpPr>
          <p:nvPr>
            <p:custDataLst>
              <p:tags r:id="R3a662dd823fb4c51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2346D7A4-69FE-94C3-1E1F-F585EBE87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63127B54-2BF5-2AB7-C0E9-4F3961FF1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4" y="1916827"/>
            <a:ext cx="7356297" cy="2071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Simple and inexpensive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Fewer components required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Instant response to voltage changes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No complex feedback loop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B0524D-87E0-BECE-932A-6C551CF5A8F4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026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C5626-0F9D-F174-7E29-2971E03B3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4D1597-D98D-AD59-48ED-9E154764286D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DDB4D88-A3CF-D1EE-A2EC-B13E4582A42A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D0FBDFEB-5EA6-C869-6900-4ECD0306A65D}"/>
              </a:ext>
            </a:extLst>
          </p:cNvPr>
          <p:cNvSpPr>
            <a:spLocks noChangeArrowheads="1"/>
          </p:cNvSpPr>
          <p:nvPr>
            <p:custDataLst>
              <p:tags r:id="R55a0c777d81f4551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Disadvantages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2664F8B8-69DB-1DBC-E52E-39B02BDD1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4131DFFC-41C6-3C41-F818-1A99B94568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4" y="1844211"/>
            <a:ext cx="7356297" cy="3594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Not suitable for high load currents (inefficient at high power)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Poor efficiency due to continuous power dissipation in the shunt element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Heat dissipation can be significant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Not ideal for variable loads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Requires large series resistor for higher voltages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006B1F-1302-A8A6-9466-9ABA310C6FD3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021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ACD66-E51C-50CA-9B33-8924A4D29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54C501-C7C7-DE98-79A3-8132FF4853E6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C2BD3BE-1837-8532-C412-60068FEA9431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68472A2B-27AD-2C1B-B660-CEDF700F8F28}"/>
              </a:ext>
            </a:extLst>
          </p:cNvPr>
          <p:cNvSpPr>
            <a:spLocks noChangeArrowheads="1"/>
          </p:cNvSpPr>
          <p:nvPr>
            <p:custDataLst>
              <p:tags r:id="R12bcacb9af174062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Efficiency Considerations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73E6662A-C9AA-AA87-FC40-B69736207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2B6CDD24-53F7-C484-239E-8ECE6CBA64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4" y="2098128"/>
            <a:ext cx="7356297" cy="3086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The regulating element continuously draws current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 part of the input power is always dissipated as heat efficiency can be improved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Using low current application only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Minimizing series resistance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Ensuring optimal Zener current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CF1F5B-78DE-AD30-3217-5A528C2CFE04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637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83DF1-F357-D547-47BB-DA7F3584B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9A358BD-77F4-50F8-47DA-F4D9AA39CB0B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4BC9D98-8C45-28AE-4B71-F7785DDC4CFD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4BD41FD7-E28C-29E9-149B-3FC0BD12CF30}"/>
              </a:ext>
            </a:extLst>
          </p:cNvPr>
          <p:cNvSpPr>
            <a:spLocks noChangeArrowheads="1"/>
          </p:cNvSpPr>
          <p:nvPr>
            <p:custDataLst>
              <p:tags r:id="R50de552ac5924050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Key Takeaways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9B8AD9FE-7A82-5BC1-8DAD-620E3B575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111D156B-DDD9-C9C5-D16D-C9D146D97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1998707"/>
            <a:ext cx="7356297" cy="4102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Shunt regulators are parallel voltage circuits.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They work by shunting excess current to maintain a constant output voltage.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Zener diode is the core components in most basic shunt regulators.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Efficient for low-power, steady-load applications.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Not ideal for high-current or dynamic-load systems due to energy inefficiency.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74A016-EDAF-4DD5-6FE1-9B1CDC76226A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34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81781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/>
          <p:cNvSpPr/>
          <p:nvPr/>
        </p:nvSpPr>
        <p:spPr>
          <a:xfrm>
            <a:off x="1" y="2004207"/>
            <a:ext cx="9143999" cy="1935817"/>
          </a:xfrm>
          <a:custGeom>
            <a:avLst/>
            <a:gdLst/>
            <a:ahLst/>
            <a:cxnLst/>
            <a:rect l="l" t="t" r="r" b="b"/>
            <a:pathLst>
              <a:path w="7556500" h="26289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5" name="Rectangle 4"/>
          <p:cNvSpPr/>
          <p:nvPr/>
        </p:nvSpPr>
        <p:spPr>
          <a:xfrm>
            <a:off x="1006889" y="2538923"/>
            <a:ext cx="7887578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5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Basic series and shunt voltage regulator</a:t>
            </a:r>
            <a:endParaRPr lang="en-US" sz="35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2741" y="5601409"/>
            <a:ext cx="383282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Meet Soni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Faculty (PIT)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Electrical Engineering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1235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DDD1C7-30A8-6F0B-4F00-4DF1E563DD59}"/>
              </a:ext>
            </a:extLst>
          </p:cNvPr>
          <p:cNvSpPr txBox="1"/>
          <p:nvPr/>
        </p:nvSpPr>
        <p:spPr>
          <a:xfrm>
            <a:off x="431076" y="1778284"/>
            <a:ext cx="6074228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Content 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sz="2400" dirty="0"/>
              <a:t>Series Voltage Regulator                                 1    </a:t>
            </a:r>
          </a:p>
          <a:p>
            <a:pPr marL="342900" indent="-342900">
              <a:buAutoNum type="arabicPeriod"/>
            </a:pPr>
            <a:endParaRPr lang="en-US" sz="2400" dirty="0"/>
          </a:p>
          <a:p>
            <a:pPr marL="342900" indent="-342900">
              <a:buAutoNum type="arabicPeriod"/>
            </a:pPr>
            <a:r>
              <a:rPr lang="en-US" sz="2400" dirty="0"/>
              <a:t>Shunt Voltage Regulator					  2</a:t>
            </a:r>
          </a:p>
          <a:p>
            <a:pPr marL="342900" indent="-342900">
              <a:buAutoNum type="arabicPeriod"/>
            </a:pPr>
            <a:endParaRPr lang="en-US" sz="2400" dirty="0"/>
          </a:p>
          <a:p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8355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7D253-7D00-97B5-95E9-E558DBAEC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FE45A01-8120-B0F5-006B-B7115314C763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990BEA-4022-F945-E26B-AC91871E7F83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971F973A-4C88-E8FE-17D5-AC415D0912A8}"/>
              </a:ext>
            </a:extLst>
          </p:cNvPr>
          <p:cNvSpPr>
            <a:spLocks noChangeArrowheads="1"/>
          </p:cNvSpPr>
          <p:nvPr>
            <p:custDataLst>
              <p:tags r:id="R656ad52f831544ac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Introduction to Series Voltage Regulator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89FB6D-7E04-4DD7-7D98-3B13A009BE44}"/>
              </a:ext>
            </a:extLst>
          </p:cNvPr>
          <p:cNvSpPr txBox="1"/>
          <p:nvPr/>
        </p:nvSpPr>
        <p:spPr>
          <a:xfrm>
            <a:off x="811658" y="2119452"/>
            <a:ext cx="7274104" cy="1311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Series Voltage Regulator maintains constant output by controlling a series pass element (typically a transistor). It operates with a closed-loop feedback system to adjust voltage dynamically.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B69165-243F-C713-836E-078142292B9C}"/>
              </a:ext>
            </a:extLst>
          </p:cNvPr>
          <p:cNvPicPr>
            <a:picLocks noChangeAspect="1"/>
          </p:cNvPicPr>
          <p:nvPr/>
        </p:nvPicPr>
        <p:blipFill>
          <a:blip r:embed="R31a92e43d0634dfc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70"/>
          <a:stretch/>
        </p:blipFill>
        <p:spPr>
          <a:xfrm>
            <a:off x="2129168" y="3602520"/>
            <a:ext cx="6203174" cy="282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0913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E359E-7012-07A1-50DA-255C6FA78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56061E4-228D-C1FC-8530-CEA9B9D76FBC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71DC1CB-330E-B0F8-FCB9-01E46EEED0A5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85916653-3607-4B54-506B-1AACE1C5239E}"/>
              </a:ext>
            </a:extLst>
          </p:cNvPr>
          <p:cNvSpPr>
            <a:spLocks noChangeArrowheads="1"/>
          </p:cNvSpPr>
          <p:nvPr>
            <p:custDataLst>
              <p:tags r:id="Rfc1064ee21dc4942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Working Principle of Series Voltage Regulator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685A7A-AA40-A798-4F1A-025336853CCC}"/>
              </a:ext>
            </a:extLst>
          </p:cNvPr>
          <p:cNvSpPr txBox="1"/>
          <p:nvPr/>
        </p:nvSpPr>
        <p:spPr>
          <a:xfrm>
            <a:off x="811658" y="2119452"/>
            <a:ext cx="7428216" cy="1695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 voltage is unregulated DC.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200" dirty="0">
                <a:latin typeface="Calibri" panose="020F0502020204030204"/>
              </a:rPr>
              <a:t>Zener diode provides a stable reference.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200" dirty="0">
                <a:latin typeface="Calibri" panose="020F0502020204030204"/>
              </a:rPr>
              <a:t>Feedback from output is compared to reference.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200" dirty="0">
                <a:latin typeface="Calibri" panose="020F0502020204030204"/>
              </a:rPr>
              <a:t>Transistor adjusts conduction to regulate output.</a:t>
            </a:r>
          </a:p>
        </p:txBody>
      </p:sp>
    </p:spTree>
    <p:extLst>
      <p:ext uri="{BB962C8B-B14F-4D97-AF65-F5344CB8AC3E}">
        <p14:creationId xmlns:p14="http://schemas.microsoft.com/office/powerpoint/2010/main" val="29079630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76D43-15E8-347D-9149-9C447A16B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307B5A-7492-BEF4-7BC1-6CC7BE9256DE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5856E61-737E-212D-C64B-BE99869EB201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ACD09761-CE9A-8565-232A-52947E10D317}"/>
              </a:ext>
            </a:extLst>
          </p:cNvPr>
          <p:cNvSpPr>
            <a:spLocks noChangeArrowheads="1"/>
          </p:cNvSpPr>
          <p:nvPr>
            <p:custDataLst>
              <p:tags r:id="Rb25e020ab3f0476a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Basic Series Voltage Regulator Circuit</a:t>
            </a:r>
            <a:endParaRPr lang="en-IN" altLang="en-US" sz="24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5992E1DE-059B-5A31-552B-D119C459CB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54b13de63a4d48b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39" b="10752"/>
          <a:stretch/>
        </p:blipFill>
        <p:spPr bwMode="auto">
          <a:xfrm>
            <a:off x="695325" y="2021908"/>
            <a:ext cx="7753350" cy="3886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34480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52817-54CD-4581-73C6-1259510E3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0BE6DE4-F5E2-E38F-008F-1A271BB87BB3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5F8F2AA-DF52-7667-9E41-B05683FA4466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E5B915A8-A7C7-426A-267A-1FC183455D7A}"/>
              </a:ext>
            </a:extLst>
          </p:cNvPr>
          <p:cNvSpPr>
            <a:spLocks noChangeArrowheads="1"/>
          </p:cNvSpPr>
          <p:nvPr>
            <p:custDataLst>
              <p:tags r:id="R155b84bf7ae14dcd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Circuit Components</a:t>
            </a:r>
          </a:p>
        </p:txBody>
      </p:sp>
      <p:sp>
        <p:nvSpPr>
          <p:cNvPr id="142" name="Rectangle 138">
            <a:extLst>
              <a:ext uri="{FF2B5EF4-FFF2-40B4-BE49-F238E27FC236}">
                <a16:creationId xmlns:a16="http://schemas.microsoft.com/office/drawing/2014/main" id="{44CEE477-0EA6-1326-303F-BF6E1CD7B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3238500"/>
            <a:ext cx="1714500" cy="2114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167" name="Text Box 163">
            <a:extLst>
              <a:ext uri="{FF2B5EF4-FFF2-40B4-BE49-F238E27FC236}">
                <a16:creationId xmlns:a16="http://schemas.microsoft.com/office/drawing/2014/main" id="{9F05C5D8-DBA7-CFBA-A573-8492428ECA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1844211"/>
            <a:ext cx="7356297" cy="3913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Series Pass Transistor(Q1) : Main regulating element.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Zenner Diode : Provides constant reference voltage.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Voltage Divider(R1, R2) : Samples a fraction of output of feedback.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Error Detector(Op-Amp or transistor base-emitter junction) : Compares and controls base current of the series transistor.</a:t>
            </a:r>
          </a:p>
        </p:txBody>
      </p:sp>
    </p:spTree>
    <p:extLst>
      <p:ext uri="{BB962C8B-B14F-4D97-AF65-F5344CB8AC3E}">
        <p14:creationId xmlns:p14="http://schemas.microsoft.com/office/powerpoint/2010/main" val="2215749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F27A5-F99D-55B8-96CF-1EA38D04E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A0F877-1A75-12E4-2E61-4D82E2C731CF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1E4339E-8047-E66A-FBBE-974068B4DD88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65B31902-4AFF-D281-3ECB-CBFB7D120061}"/>
              </a:ext>
            </a:extLst>
          </p:cNvPr>
          <p:cNvSpPr>
            <a:spLocks noChangeArrowheads="1"/>
          </p:cNvSpPr>
          <p:nvPr>
            <p:custDataLst>
              <p:tags r:id="R0c39f5e9b76e459d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Mathematical Analysis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3BBFAA48-2CD3-88A4-D504-6192E309E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142" name="Rectangle 138">
            <a:extLst>
              <a:ext uri="{FF2B5EF4-FFF2-40B4-BE49-F238E27FC236}">
                <a16:creationId xmlns:a16="http://schemas.microsoft.com/office/drawing/2014/main" id="{034CA13D-9A61-52A5-41DA-C0703FC3B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3238500"/>
            <a:ext cx="1714500" cy="2114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99" name="Rectangle 133">
            <a:extLst>
              <a:ext uri="{FF2B5EF4-FFF2-40B4-BE49-F238E27FC236}">
                <a16:creationId xmlns:a16="http://schemas.microsoft.com/office/drawing/2014/main" id="{5F54CF45-8643-2F23-8594-23D59A8FC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24" name="Text Box 159">
            <a:extLst>
              <a:ext uri="{FF2B5EF4-FFF2-40B4-BE49-F238E27FC236}">
                <a16:creationId xmlns:a16="http://schemas.microsoft.com/office/drawing/2014/main" id="{7CD844DF-7545-8641-D20D-90D36B029A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4" y="2847848"/>
            <a:ext cx="7356297" cy="212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sz="2200" dirty="0" err="1"/>
              <a:t>V</a:t>
            </a:r>
            <a:r>
              <a:rPr lang="en-US" sz="1600" dirty="0" err="1"/>
              <a:t>out</a:t>
            </a:r>
            <a:r>
              <a:rPr lang="en-US" sz="2200" dirty="0"/>
              <a:t>  = </a:t>
            </a:r>
            <a:r>
              <a:rPr lang="en-US" sz="2200" dirty="0" err="1"/>
              <a:t>V</a:t>
            </a:r>
            <a:r>
              <a:rPr lang="en-US" sz="1600" dirty="0" err="1"/>
              <a:t>z</a:t>
            </a:r>
            <a:r>
              <a:rPr lang="en-US" sz="2200" dirty="0"/>
              <a:t> + </a:t>
            </a:r>
            <a:r>
              <a:rPr lang="en-US" sz="2200" dirty="0" err="1"/>
              <a:t>V</a:t>
            </a:r>
            <a:r>
              <a:rPr lang="en-US" sz="1600" dirty="0" err="1"/>
              <a:t>be</a:t>
            </a:r>
            <a:endParaRPr lang="en-US" sz="1600" dirty="0"/>
          </a:p>
          <a:p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/>
              <a:t>			Where :</a:t>
            </a:r>
          </a:p>
          <a:p>
            <a:pPr marL="2114550" lvl="4" indent="-285750">
              <a:buFont typeface="Wingdings" panose="05000000000000000000" pitchFamily="2" charset="2"/>
              <a:buChar char="§"/>
            </a:pPr>
            <a:r>
              <a:rPr lang="en-US" sz="2200" dirty="0" err="1"/>
              <a:t>V</a:t>
            </a:r>
            <a:r>
              <a:rPr lang="en-US" sz="1600" dirty="0" err="1"/>
              <a:t>z</a:t>
            </a:r>
            <a:r>
              <a:rPr lang="en-US" sz="2200" dirty="0"/>
              <a:t>  = Zener voltage</a:t>
            </a:r>
          </a:p>
          <a:p>
            <a:pPr marL="2114550" lvl="4" indent="-285750">
              <a:buFont typeface="Wingdings" panose="05000000000000000000" pitchFamily="2" charset="2"/>
              <a:buChar char="§"/>
            </a:pPr>
            <a:r>
              <a:rPr lang="en-US" sz="2200" dirty="0" err="1"/>
              <a:t>V</a:t>
            </a:r>
            <a:r>
              <a:rPr lang="en-US" sz="1600" dirty="0" err="1"/>
              <a:t>be</a:t>
            </a:r>
            <a:r>
              <a:rPr lang="en-US" sz="1600" dirty="0"/>
              <a:t> </a:t>
            </a:r>
            <a:r>
              <a:rPr lang="en-US" sz="2200" dirty="0"/>
              <a:t>= Base-Emitter voltage(~0.7V for silicon)</a:t>
            </a:r>
          </a:p>
          <a:p>
            <a:pPr marL="2114550" lvl="4" indent="-285750">
              <a:buFont typeface="Wingdings" panose="05000000000000000000" pitchFamily="2" charset="2"/>
              <a:buChar char="§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54298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3068D-EDC8-7664-465E-11A294F8D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ACF66D-8564-A154-AF10-125C44DBA15A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D859EB8-8ABC-D583-114A-883574D7FA9B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F92B7B2D-D82C-653D-9ACB-0A5334968F88}"/>
              </a:ext>
            </a:extLst>
          </p:cNvPr>
          <p:cNvSpPr>
            <a:spLocks noChangeArrowheads="1"/>
          </p:cNvSpPr>
          <p:nvPr>
            <p:custDataLst>
              <p:tags r:id="Rf424783a73fc49da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708D0EF3-4D9D-02A1-60F4-9E7B40BB0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 dirty="0"/>
          </a:p>
        </p:txBody>
      </p:sp>
      <p:sp>
        <p:nvSpPr>
          <p:cNvPr id="142" name="Rectangle 138">
            <a:extLst>
              <a:ext uri="{FF2B5EF4-FFF2-40B4-BE49-F238E27FC236}">
                <a16:creationId xmlns:a16="http://schemas.microsoft.com/office/drawing/2014/main" id="{62581A29-DD75-E032-CEC1-8F18622F3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3238500"/>
            <a:ext cx="1714500" cy="2114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99" name="Rectangle 133">
            <a:extLst>
              <a:ext uri="{FF2B5EF4-FFF2-40B4-BE49-F238E27FC236}">
                <a16:creationId xmlns:a16="http://schemas.microsoft.com/office/drawing/2014/main" id="{97072D03-E58A-DB29-4777-0D63BA119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24" name="Text Box 159">
            <a:extLst>
              <a:ext uri="{FF2B5EF4-FFF2-40B4-BE49-F238E27FC236}">
                <a16:creationId xmlns:a16="http://schemas.microsoft.com/office/drawing/2014/main" id="{F6B5ED60-54E1-4499-7DC2-DC9D39CC8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2114022"/>
            <a:ext cx="7356297" cy="2579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Excellent line and lead regulation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Low output ripple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Simple design and easy to implement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Fast transient response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Can be made using discrete components</a:t>
            </a:r>
          </a:p>
        </p:txBody>
      </p:sp>
    </p:spTree>
    <p:extLst>
      <p:ext uri="{BB962C8B-B14F-4D97-AF65-F5344CB8AC3E}">
        <p14:creationId xmlns:p14="http://schemas.microsoft.com/office/powerpoint/2010/main" val="1933476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C7D47-6A52-0935-F0DB-B72B092FF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08D40E-24D3-351D-8F00-7E9BEB7D0982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246600A-4BED-13C9-A930-801CB0E3306C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52ECCC19-5845-1C3C-B769-D1709B9CEF77}"/>
              </a:ext>
            </a:extLst>
          </p:cNvPr>
          <p:cNvSpPr>
            <a:spLocks noChangeArrowheads="1"/>
          </p:cNvSpPr>
          <p:nvPr>
            <p:custDataLst>
              <p:tags r:id="Rde3ffae50faa4456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Disadvantages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B9F4D10B-2BDE-FE5E-9623-2BF202D40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142" name="Rectangle 138">
            <a:extLst>
              <a:ext uri="{FF2B5EF4-FFF2-40B4-BE49-F238E27FC236}">
                <a16:creationId xmlns:a16="http://schemas.microsoft.com/office/drawing/2014/main" id="{13B20403-09E3-74E1-7383-58430B62F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3238500"/>
            <a:ext cx="1714500" cy="2114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99" name="Rectangle 133">
            <a:extLst>
              <a:ext uri="{FF2B5EF4-FFF2-40B4-BE49-F238E27FC236}">
                <a16:creationId xmlns:a16="http://schemas.microsoft.com/office/drawing/2014/main" id="{6229AAB0-9C09-8548-E5E7-33221F7C8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24" name="Text Box 159">
            <a:extLst>
              <a:ext uri="{FF2B5EF4-FFF2-40B4-BE49-F238E27FC236}">
                <a16:creationId xmlns:a16="http://schemas.microsoft.com/office/drawing/2014/main" id="{E6E1B3E2-153E-63A7-F5C7-7898EAE2F8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335" y="2104989"/>
            <a:ext cx="7356297" cy="2071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Inefficient : Excess energy is dissipated as heat.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Requires heatsink for high currents.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Dropout voltage limits low input-output differential.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Not suitable for high power applications.</a:t>
            </a:r>
          </a:p>
        </p:txBody>
      </p:sp>
    </p:spTree>
    <p:extLst>
      <p:ext uri="{BB962C8B-B14F-4D97-AF65-F5344CB8AC3E}">
        <p14:creationId xmlns:p14="http://schemas.microsoft.com/office/powerpoint/2010/main" val="4029060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D6154-A8D2-A355-1D42-FAF2A3E2F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00A3B0-05ED-FD3B-62D7-CD65355950BA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BC1328F-CCC8-77BD-AED9-B5C5B30A7844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580E90F8-8C4C-7A6D-C4D6-D4A613AA411B}"/>
              </a:ext>
            </a:extLst>
          </p:cNvPr>
          <p:cNvSpPr>
            <a:spLocks noChangeArrowheads="1"/>
          </p:cNvSpPr>
          <p:nvPr>
            <p:custDataLst>
              <p:tags r:id="Re566842932404c14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B0B6EA23-950C-C4AE-5B1A-9F61F0582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142" name="Rectangle 138">
            <a:extLst>
              <a:ext uri="{FF2B5EF4-FFF2-40B4-BE49-F238E27FC236}">
                <a16:creationId xmlns:a16="http://schemas.microsoft.com/office/drawing/2014/main" id="{5A1CEE69-1DEA-604A-091D-73D7DE651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3238500"/>
            <a:ext cx="1714500" cy="2114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99" name="Rectangle 133">
            <a:extLst>
              <a:ext uri="{FF2B5EF4-FFF2-40B4-BE49-F238E27FC236}">
                <a16:creationId xmlns:a16="http://schemas.microsoft.com/office/drawing/2014/main" id="{35CE623E-DECE-CDF6-9A58-16D4C27FE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24" name="Text Box 159">
            <a:extLst>
              <a:ext uri="{FF2B5EF4-FFF2-40B4-BE49-F238E27FC236}">
                <a16:creationId xmlns:a16="http://schemas.microsoft.com/office/drawing/2014/main" id="{6C58923F-F6BA-A26C-3B46-6B38888662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1975016"/>
            <a:ext cx="7356297" cy="2970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Power supplies for analog and digital circuits.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Voltage regulation in audio systems.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Battery chargers.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Voltage regulators in embedded systems.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Laboratory power supplies.</a:t>
            </a:r>
          </a:p>
          <a:p>
            <a:pPr marL="2114550" lvl="4" indent="-285750">
              <a:buFont typeface="Wingdings" panose="05000000000000000000" pitchFamily="2" charset="2"/>
              <a:buChar char="§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978474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446C1-3D82-AEA2-3258-A2C2A22FC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75E28B6-559C-D837-C95D-E9E946C0DFA8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6D8BF3-1E2D-FEB4-D23A-F505CCFD3258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5C520924-AF11-677F-7F94-E4DD3FD394F3}"/>
              </a:ext>
            </a:extLst>
          </p:cNvPr>
          <p:cNvSpPr>
            <a:spLocks noChangeArrowheads="1"/>
          </p:cNvSpPr>
          <p:nvPr>
            <p:custDataLst>
              <p:tags r:id="Re3953b6403c748d0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Practical Example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88244CC4-D89B-9A4B-507F-F2A5722EA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142" name="Rectangle 138">
            <a:extLst>
              <a:ext uri="{FF2B5EF4-FFF2-40B4-BE49-F238E27FC236}">
                <a16:creationId xmlns:a16="http://schemas.microsoft.com/office/drawing/2014/main" id="{3CF17E97-FFA6-9E81-B750-631598FF7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3238500"/>
            <a:ext cx="1714500" cy="2114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99" name="Rectangle 133">
            <a:extLst>
              <a:ext uri="{FF2B5EF4-FFF2-40B4-BE49-F238E27FC236}">
                <a16:creationId xmlns:a16="http://schemas.microsoft.com/office/drawing/2014/main" id="{35BD653F-63E3-045E-02B9-4CF0A8A40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24" name="Text Box 159">
            <a:extLst>
              <a:ext uri="{FF2B5EF4-FFF2-40B4-BE49-F238E27FC236}">
                <a16:creationId xmlns:a16="http://schemas.microsoft.com/office/drawing/2014/main" id="{7D026497-741C-04EC-1542-9118466FF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4" y="2001464"/>
            <a:ext cx="7356297" cy="3816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sz="2200" dirty="0"/>
              <a:t>Given 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V</a:t>
            </a:r>
            <a:r>
              <a:rPr lang="en-US" sz="1600" dirty="0"/>
              <a:t>in</a:t>
            </a:r>
            <a:r>
              <a:rPr lang="en-US" sz="2200" dirty="0"/>
              <a:t> = 12V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Zener = 5.6V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 err="1"/>
              <a:t>V</a:t>
            </a:r>
            <a:r>
              <a:rPr lang="en-US" sz="1600" dirty="0" err="1"/>
              <a:t>be</a:t>
            </a:r>
            <a:r>
              <a:rPr lang="en-US" sz="2200" dirty="0"/>
              <a:t> = 0.7V</a:t>
            </a:r>
          </a:p>
          <a:p>
            <a:endParaRPr lang="en-US" sz="2200" dirty="0"/>
          </a:p>
          <a:p>
            <a:r>
              <a:rPr lang="en-US" sz="2200" dirty="0"/>
              <a:t>Then 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 err="1"/>
              <a:t>V</a:t>
            </a:r>
            <a:r>
              <a:rPr lang="en-US" sz="1600" dirty="0" err="1"/>
              <a:t>out</a:t>
            </a:r>
            <a:r>
              <a:rPr lang="en-US" sz="2200" dirty="0"/>
              <a:t> = 5.6V + 0.7V = 6.3V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lvl="1" indent="-457200"/>
            <a:r>
              <a:rPr lang="en-US" sz="2200" dirty="0"/>
              <a:t>If the load changes, the transistor dynamically adjusts to maintain ~6.3V output.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742665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A4FCA-6A0D-DF93-0B42-4918ECEC6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EFD628A-2A6E-49EA-7AD8-2765725A1CFC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4A15EEB-D681-5AE2-1BA8-75254B382572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1F858551-9CAC-87B3-B3EF-56CD60E529AD}"/>
              </a:ext>
            </a:extLst>
          </p:cNvPr>
          <p:cNvSpPr>
            <a:spLocks noChangeArrowheads="1"/>
          </p:cNvSpPr>
          <p:nvPr>
            <p:custDataLst>
              <p:tags r:id="R5433fe0e0a744cc6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Comparison with Shunt Regulator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AF671EEE-F818-D3ED-5D49-92E9B4D6E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142" name="Rectangle 138">
            <a:extLst>
              <a:ext uri="{FF2B5EF4-FFF2-40B4-BE49-F238E27FC236}">
                <a16:creationId xmlns:a16="http://schemas.microsoft.com/office/drawing/2014/main" id="{6F98D580-9707-7412-6DA0-5B3788971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3238500"/>
            <a:ext cx="1714500" cy="2114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99" name="Rectangle 133">
            <a:extLst>
              <a:ext uri="{FF2B5EF4-FFF2-40B4-BE49-F238E27FC236}">
                <a16:creationId xmlns:a16="http://schemas.microsoft.com/office/drawing/2014/main" id="{B7CF5D42-223E-2CB3-0E76-43560B1F5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A17795A-85BD-60F9-EEE5-CF539ADCEF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041968"/>
              </p:ext>
            </p:extLst>
          </p:nvPr>
        </p:nvGraphicFramePr>
        <p:xfrm>
          <a:off x="729464" y="1900081"/>
          <a:ext cx="7356297" cy="408385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452099">
                  <a:extLst>
                    <a:ext uri="{9D8B030D-6E8A-4147-A177-3AD203B41FA5}">
                      <a16:colId xmlns:a16="http://schemas.microsoft.com/office/drawing/2014/main" val="2610600860"/>
                    </a:ext>
                  </a:extLst>
                </a:gridCol>
                <a:gridCol w="2452099">
                  <a:extLst>
                    <a:ext uri="{9D8B030D-6E8A-4147-A177-3AD203B41FA5}">
                      <a16:colId xmlns:a16="http://schemas.microsoft.com/office/drawing/2014/main" val="3589762451"/>
                    </a:ext>
                  </a:extLst>
                </a:gridCol>
                <a:gridCol w="2452099">
                  <a:extLst>
                    <a:ext uri="{9D8B030D-6E8A-4147-A177-3AD203B41FA5}">
                      <a16:colId xmlns:a16="http://schemas.microsoft.com/office/drawing/2014/main" val="1374641019"/>
                    </a:ext>
                  </a:extLst>
                </a:gridCol>
              </a:tblGrid>
              <a:tr h="680643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Series Regulator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Shunt Regulator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289474"/>
                  </a:ext>
                </a:extLst>
              </a:tr>
              <a:tr h="680643">
                <a:tc>
                  <a:txBody>
                    <a:bodyPr/>
                    <a:lstStyle/>
                    <a:p>
                      <a:r>
                        <a:rPr lang="en-US" dirty="0"/>
                        <a:t>Configuration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 series with 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 parallel with load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809415"/>
                  </a:ext>
                </a:extLst>
              </a:tr>
              <a:tr h="680643">
                <a:tc>
                  <a:txBody>
                    <a:bodyPr/>
                    <a:lstStyle/>
                    <a:p>
                      <a:r>
                        <a:rPr lang="en-US" dirty="0"/>
                        <a:t>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587623"/>
                  </a:ext>
                </a:extLst>
              </a:tr>
              <a:tr h="680643">
                <a:tc>
                  <a:txBody>
                    <a:bodyPr/>
                    <a:lstStyle/>
                    <a:p>
                      <a:r>
                        <a:rPr lang="en-US" dirty="0"/>
                        <a:t>Load Regulation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Poorer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1318873"/>
                  </a:ext>
                </a:extLst>
              </a:tr>
              <a:tr h="680643">
                <a:tc>
                  <a:txBody>
                    <a:bodyPr/>
                    <a:lstStyle/>
                    <a:p>
                      <a:r>
                        <a:rPr lang="en-US" dirty="0"/>
                        <a:t>Power Dissipation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Less(at low load current)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552908"/>
                  </a:ext>
                </a:extLst>
              </a:tr>
              <a:tr h="680643">
                <a:tc>
                  <a:txBody>
                    <a:bodyPr/>
                    <a:lstStyle/>
                    <a:p>
                      <a:r>
                        <a:rPr lang="en-US" dirty="0"/>
                        <a:t>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Simple, low-power circuits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732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1672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6EE38-9C35-9902-AFEA-8F22B21B8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583687B-DD6D-11EE-5771-A537564E700E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EC3D672-79D9-E2F8-278F-643A290AE593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463BB531-2D9A-812A-43F4-6CC7E4C2870A}"/>
              </a:ext>
            </a:extLst>
          </p:cNvPr>
          <p:cNvSpPr>
            <a:spLocks noChangeArrowheads="1"/>
          </p:cNvSpPr>
          <p:nvPr>
            <p:custDataLst>
              <p:tags r:id="R7f2947bf2a0e42c5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Thermal Considerations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2BDC8A4D-821C-0F65-B357-45C2D4706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142" name="Rectangle 138">
            <a:extLst>
              <a:ext uri="{FF2B5EF4-FFF2-40B4-BE49-F238E27FC236}">
                <a16:creationId xmlns:a16="http://schemas.microsoft.com/office/drawing/2014/main" id="{105D84B0-2CB5-CCEF-26F4-A56FE6F77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3238500"/>
            <a:ext cx="1714500" cy="2114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99" name="Rectangle 133">
            <a:extLst>
              <a:ext uri="{FF2B5EF4-FFF2-40B4-BE49-F238E27FC236}">
                <a16:creationId xmlns:a16="http://schemas.microsoft.com/office/drawing/2014/main" id="{7C66AC16-3F07-0C9C-9848-FA767DE36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24" name="Text Box 159">
            <a:extLst>
              <a:ext uri="{FF2B5EF4-FFF2-40B4-BE49-F238E27FC236}">
                <a16:creationId xmlns:a16="http://schemas.microsoft.com/office/drawing/2014/main" id="{5A49A24B-537B-CFAB-73D6-E57752C484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2021908"/>
            <a:ext cx="7356297" cy="2071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Transistor dissipates Power = (V</a:t>
            </a:r>
            <a:r>
              <a:rPr lang="en-US" sz="1600" dirty="0"/>
              <a:t>in </a:t>
            </a:r>
            <a:r>
              <a:rPr lang="en-US" sz="2200" dirty="0"/>
              <a:t>– </a:t>
            </a:r>
            <a:r>
              <a:rPr lang="en-US" sz="2200" dirty="0" err="1"/>
              <a:t>V</a:t>
            </a:r>
            <a:r>
              <a:rPr lang="en-US" sz="1600" dirty="0" err="1"/>
              <a:t>out</a:t>
            </a:r>
            <a:r>
              <a:rPr lang="en-US" sz="1600" dirty="0"/>
              <a:t> </a:t>
            </a:r>
            <a:r>
              <a:rPr lang="en-US" sz="2200" dirty="0"/>
              <a:t>) x </a:t>
            </a:r>
            <a:r>
              <a:rPr lang="en-US" sz="2200" dirty="0" err="1"/>
              <a:t>l</a:t>
            </a:r>
            <a:r>
              <a:rPr lang="en-US" sz="1600" dirty="0" err="1"/>
              <a:t>load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Requires a heatsink to prevent thermal runaway.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Use of thermal shutdown or current limiting is recommended for safety.</a:t>
            </a:r>
          </a:p>
        </p:txBody>
      </p:sp>
    </p:spTree>
    <p:extLst>
      <p:ext uri="{BB962C8B-B14F-4D97-AF65-F5344CB8AC3E}">
        <p14:creationId xmlns:p14="http://schemas.microsoft.com/office/powerpoint/2010/main" val="277468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E8B54-D25C-7BCE-E21D-AD4DE7E97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3416C8-753C-1DA1-9A99-DDDB5BF826FB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652BA3-E469-62A0-0E13-A45D2D7E59A5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80186252-18D5-C904-A023-2D19DDA9119E}"/>
              </a:ext>
            </a:extLst>
          </p:cNvPr>
          <p:cNvSpPr>
            <a:spLocks noChangeArrowheads="1"/>
          </p:cNvSpPr>
          <p:nvPr>
            <p:custDataLst>
              <p:tags r:id="Rf8cd8da9e34c4cf5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Key Takeaways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6298E5C3-58D1-DFF5-9938-2FF3F503A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142" name="Rectangle 138">
            <a:extLst>
              <a:ext uri="{FF2B5EF4-FFF2-40B4-BE49-F238E27FC236}">
                <a16:creationId xmlns:a16="http://schemas.microsoft.com/office/drawing/2014/main" id="{87478811-9816-3AB2-DAA5-A86675182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3238500"/>
            <a:ext cx="1714500" cy="2114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99" name="Rectangle 133">
            <a:extLst>
              <a:ext uri="{FF2B5EF4-FFF2-40B4-BE49-F238E27FC236}">
                <a16:creationId xmlns:a16="http://schemas.microsoft.com/office/drawing/2014/main" id="{BBBC1318-6057-1754-EF25-0C6ECB9F5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24" name="Text Box 159">
            <a:extLst>
              <a:ext uri="{FF2B5EF4-FFF2-40B4-BE49-F238E27FC236}">
                <a16:creationId xmlns:a16="http://schemas.microsoft.com/office/drawing/2014/main" id="{1B670D1A-6D36-52B4-5211-6C66EE1576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4" y="1679527"/>
            <a:ext cx="7356297" cy="5118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Series voltage regulators provide stable and precise output voltage.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They are widely used due to their simplicity and reliability.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However, they suffer from low efficiency, especially at high currents.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Design must consider thermal management and protection features.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Ideal for medium-power linear regulation where energy efficiency is not the primary concern.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044154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0441B-8CD5-AA51-D3ED-5850E24DD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3C3CFF-23A3-27EA-5768-7D3A33682773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7D622A1-40D1-B1F3-9BB0-6D89F77A83E8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A42C1880-6B7C-DC6D-D18B-6852EFD57940}"/>
              </a:ext>
            </a:extLst>
          </p:cNvPr>
          <p:cNvSpPr>
            <a:spLocks noChangeArrowheads="1"/>
          </p:cNvSpPr>
          <p:nvPr>
            <p:custDataLst>
              <p:tags r:id="R175cf52e284f44c8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Introduction  to Shunt Voltage Regulator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0F36371B-CA09-41F9-92FB-7A2678914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pic>
        <p:nvPicPr>
          <p:cNvPr id="5" name="Picture 4" descr="Transistor Shunt Voltage Regulator - Electronics Post">
            <a:extLst>
              <a:ext uri="{FF2B5EF4-FFF2-40B4-BE49-F238E27FC236}">
                <a16:creationId xmlns:a16="http://schemas.microsoft.com/office/drawing/2014/main" id="{B18A4F28-D467-984E-9281-23F4A7ABEF0C}"/>
              </a:ext>
            </a:extLst>
          </p:cNvPr>
          <p:cNvPicPr>
            <a:picLocks noChangeAspect="1"/>
          </p:cNvPicPr>
          <p:nvPr/>
        </p:nvPicPr>
        <p:blipFill>
          <a:blip r:embed="R8ea201de6fce40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6753" y="3615092"/>
            <a:ext cx="3549276" cy="282373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Box 159">
            <a:extLst>
              <a:ext uri="{FF2B5EF4-FFF2-40B4-BE49-F238E27FC236}">
                <a16:creationId xmlns:a16="http://schemas.microsoft.com/office/drawing/2014/main" id="{9EB0F9C3-CC1F-D34D-CC35-A1F00E069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4" y="1940773"/>
            <a:ext cx="7356297" cy="178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A Shunt Voltage Regulator is an electronic circuit that regulates the voltage across a load by shunting excess current to ground. It works parallel with the load and maintains a constant output voltage regardless of changes in input voltage or load current.</a:t>
            </a:r>
          </a:p>
        </p:txBody>
      </p:sp>
    </p:spTree>
    <p:extLst>
      <p:ext uri="{BB962C8B-B14F-4D97-AF65-F5344CB8AC3E}">
        <p14:creationId xmlns:p14="http://schemas.microsoft.com/office/powerpoint/2010/main" val="2004099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FFF05-257B-E9A0-DA77-7D9130553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DFD3F3-3547-3F16-DAC7-865B84A9D782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582DD1-72D8-13BA-20ED-7DF6F18C7E9E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329B5D7D-73C9-CFC0-52C1-43F45C4D2F6C}"/>
              </a:ext>
            </a:extLst>
          </p:cNvPr>
          <p:cNvSpPr>
            <a:spLocks noChangeArrowheads="1"/>
          </p:cNvSpPr>
          <p:nvPr>
            <p:custDataLst>
              <p:tags r:id="Rc287ede7e8a145c1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Working Principle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2CEF942E-98FE-E237-2F13-959D04700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20A96DDC-D292-1195-14CC-6CD0FAC51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4" y="1844211"/>
            <a:ext cx="7356297" cy="3086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When input voltage increases : The regulator diverts more current away from the load to ground, keeping the output voltage constant.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When input voltage decreases : It diverts less current, allowing more to flow through the load, maintaining voltage.</a:t>
            </a:r>
          </a:p>
        </p:txBody>
      </p:sp>
      <p:pic>
        <p:nvPicPr>
          <p:cNvPr id="6" name="Picture 5" descr="Shunt Voltage Regulator Block Diagram ...">
            <a:extLst>
              <a:ext uri="{FF2B5EF4-FFF2-40B4-BE49-F238E27FC236}">
                <a16:creationId xmlns:a16="http://schemas.microsoft.com/office/drawing/2014/main" id="{04165E45-3452-12D2-989E-73AAFEE84CB2}"/>
              </a:ext>
            </a:extLst>
          </p:cNvPr>
          <p:cNvPicPr>
            <a:picLocks noChangeAspect="1"/>
          </p:cNvPicPr>
          <p:nvPr/>
        </p:nvPicPr>
        <p:blipFill>
          <a:blip r:embed="Ra96b202a3d8946ba">
            <a:extLst>
              <a:ext uri="{BEBA8EAE-BF5A-486C-A8C5-ECC9F3942E4B}">
                <a14:imgProps xmlns:a14="http://schemas.microsoft.com/office/drawing/2010/main">
                  <a14:imgLayer r:embed="Raa94ce9f27094e8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7391" y="4370294"/>
            <a:ext cx="3620526" cy="2047614"/>
          </a:xfrm>
          <a:prstGeom prst="rect">
            <a:avLst/>
          </a:prstGeom>
          <a:noFill/>
          <a:ln w="19050"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1CF834-4C35-93D0-3014-3113A6771992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006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95412-3EC2-4759-F8CA-0BFF62984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Regulated Power Supplies">
            <a:extLst>
              <a:ext uri="{FF2B5EF4-FFF2-40B4-BE49-F238E27FC236}">
                <a16:creationId xmlns:a16="http://schemas.microsoft.com/office/drawing/2014/main" id="{80DFB099-3A2E-E530-5158-8849DB7E051C}"/>
              </a:ext>
            </a:extLst>
          </p:cNvPr>
          <p:cNvPicPr>
            <a:picLocks noChangeAspect="1"/>
          </p:cNvPicPr>
          <p:nvPr/>
        </p:nvPicPr>
        <p:blipFill>
          <a:blip r:embed="R358cabbd95f6465f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576" y="4408076"/>
            <a:ext cx="4170988" cy="208986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B81F552-751B-A16F-F3E0-067D1E4700E6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3BA9A01-074D-1D68-792E-AB5E0D3AB53C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2A807563-F1B3-CE8F-3C09-04DBA73D4558}"/>
              </a:ext>
            </a:extLst>
          </p:cNvPr>
          <p:cNvSpPr>
            <a:spLocks noChangeArrowheads="1"/>
          </p:cNvSpPr>
          <p:nvPr>
            <p:custDataLst>
              <p:tags r:id="R3d885436f62a44c5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Operation 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94792344-4338-B2E6-C949-4FC601531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6CEF3877-3097-3AE8-89A6-7D6CA6E43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4" y="1623965"/>
            <a:ext cx="7356297" cy="3086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The series resistor R limits the current through the circuit.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When the input voltage exceeds the Zener breakdown voltage, the Zener diode conducts and shunts current to ground, there by maintaining a constant </a:t>
            </a:r>
            <a:r>
              <a:rPr lang="en-US" sz="2200" dirty="0" err="1"/>
              <a:t>V</a:t>
            </a:r>
            <a:r>
              <a:rPr lang="en-US" sz="1600" dirty="0" err="1"/>
              <a:t>out</a:t>
            </a:r>
            <a:r>
              <a:rPr lang="en-US" sz="2200" dirty="0"/>
              <a:t> = </a:t>
            </a:r>
            <a:r>
              <a:rPr lang="en-US" sz="2200" dirty="0" err="1"/>
              <a:t>V</a:t>
            </a:r>
            <a:r>
              <a:rPr lang="en-US" sz="1600" dirty="0" err="1"/>
              <a:t>z</a:t>
            </a:r>
            <a:r>
              <a:rPr lang="en-US" sz="2200" dirty="0"/>
              <a:t> (Zener voltage).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Shunt Regulator with Transistor.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425041-18E4-5768-3D1E-62A479C2274F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671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8BE22-831F-F733-5F2A-77FCEF304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9A4CC3F-2CEB-22AA-660C-BCDD7E1D72F0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78FE0C-1EB5-4572-51B0-6ED019B33930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4BBA6437-5856-000E-0A3B-F68D5549DD07}"/>
              </a:ext>
            </a:extLst>
          </p:cNvPr>
          <p:cNvSpPr>
            <a:spLocks noChangeArrowheads="1"/>
          </p:cNvSpPr>
          <p:nvPr>
            <p:custDataLst>
              <p:tags r:id="Rafa5c7209b4643a7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Application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A318C9B8-F0AF-82D2-4795-D1F4D28A0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500D4CB9-E090-9A4A-A88B-C02C51C32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4" y="1877882"/>
            <a:ext cx="7356297" cy="2579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Voltage reference circuits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Protection circuits(against overvoltage)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Low-current power supplies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Analog signal conditioning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Sensor biasing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D620ED-388F-5243-71E0-E191ADA13172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744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08D9B-DB4C-337B-8177-4C50ED2AC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EF68D3-D793-C435-0EEB-812703F2B099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815E060-C241-1E99-5D65-44E7F6E29BB5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BE23EF06-3782-75D3-2AA7-72CB5A0F9DAB}"/>
              </a:ext>
            </a:extLst>
          </p:cNvPr>
          <p:cNvSpPr>
            <a:spLocks noChangeArrowheads="1"/>
          </p:cNvSpPr>
          <p:nvPr>
            <p:custDataLst>
              <p:tags r:id="R37ad66f89ace48d2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2346D7A4-69FE-94C3-1E1F-F585EBE87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63127B54-2BF5-2AB7-C0E9-4F3961FF1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4" y="1916827"/>
            <a:ext cx="7356297" cy="2071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Simple and inexpensive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Fewer components required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Instant response to voltage changes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No complex feedback loop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B0524D-87E0-BECE-932A-6C551CF5A8F4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026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C5626-0F9D-F174-7E29-2971E03B3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4D1597-D98D-AD59-48ED-9E154764286D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DDB4D88-A3CF-D1EE-A2EC-B13E4582A42A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D0FBDFEB-5EA6-C869-6900-4ECD0306A65D}"/>
              </a:ext>
            </a:extLst>
          </p:cNvPr>
          <p:cNvSpPr>
            <a:spLocks noChangeArrowheads="1"/>
          </p:cNvSpPr>
          <p:nvPr>
            <p:custDataLst>
              <p:tags r:id="R048f594b6dd74d2e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Disadvantages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2664F8B8-69DB-1DBC-E52E-39B02BDD1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4131DFFC-41C6-3C41-F818-1A99B94568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4" y="1844211"/>
            <a:ext cx="7356297" cy="3594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Not suitable for high load currents (inefficient at high power)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Poor efficiency due to continuous power dissipation in the shunt element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Heat dissipation can be significant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Not ideal for variable loads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Requires large series resistor for higher voltages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006B1F-1302-A8A6-9466-9ABA310C6FD3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021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ACD66-E51C-50CA-9B33-8924A4D29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54C501-C7C7-DE98-79A3-8132FF4853E6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C2BD3BE-1837-8532-C412-60068FEA9431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68472A2B-27AD-2C1B-B660-CEDF700F8F28}"/>
              </a:ext>
            </a:extLst>
          </p:cNvPr>
          <p:cNvSpPr>
            <a:spLocks noChangeArrowheads="1"/>
          </p:cNvSpPr>
          <p:nvPr>
            <p:custDataLst>
              <p:tags r:id="R1e9b8b15791f40b6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Efficiency Considerations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73E6662A-C9AA-AA87-FC40-B69736207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2B6CDD24-53F7-C484-239E-8ECE6CBA64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4" y="2098128"/>
            <a:ext cx="7356297" cy="3086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The regulating element continuously draws current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 part of the input power is always dissipated as heat efficiency can be improved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Using low current application only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Minimizing series resistance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Ensuring optimal Zener current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CF1F5B-78DE-AD30-3217-5A528C2CFE04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637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83DF1-F357-D547-47BB-DA7F3584B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9A358BD-77F4-50F8-47DA-F4D9AA39CB0B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4BC9D98-8C45-28AE-4B71-F7785DDC4CFD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4BD41FD7-E28C-29E9-149B-3FC0BD12CF30}"/>
              </a:ext>
            </a:extLst>
          </p:cNvPr>
          <p:cNvSpPr>
            <a:spLocks noChangeArrowheads="1"/>
          </p:cNvSpPr>
          <p:nvPr>
            <p:custDataLst>
              <p:tags r:id="R3868a7f22fd04c23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Key Takeaways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9B8AD9FE-7A82-5BC1-8DAD-620E3B575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111D156B-DDD9-C9C5-D16D-C9D146D97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1998707"/>
            <a:ext cx="7356297" cy="4102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Shunt regulators are parallel voltage circuits.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They work by shunting excess current to maintain a constant output voltage.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Zener diode is the core components in most basic shunt regulators.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Efficient for low-power, steady-load applications.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Not ideal for high-current or dynamic-load systems due to energy inefficiency.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74A016-EDAF-4DD5-6FE1-9B1CDC76226A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34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81781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/>
          <p:cNvSpPr/>
          <p:nvPr/>
        </p:nvSpPr>
        <p:spPr>
          <a:xfrm>
            <a:off x="1" y="2004207"/>
            <a:ext cx="9143999" cy="1935817"/>
          </a:xfrm>
          <a:custGeom>
            <a:avLst/>
            <a:gdLst/>
            <a:ahLst/>
            <a:cxnLst/>
            <a:rect l="l" t="t" r="r" b="b"/>
            <a:pathLst>
              <a:path w="7556500" h="26289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5" name="Rectangle 4"/>
          <p:cNvSpPr/>
          <p:nvPr/>
        </p:nvSpPr>
        <p:spPr>
          <a:xfrm>
            <a:off x="1006889" y="2538923"/>
            <a:ext cx="788757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Fixed voltage regulator &amp; linear adjustable voltage regulator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741" y="5601409"/>
            <a:ext cx="383282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Meet Soni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Faculty (PIT)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Electrical Engineering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1235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DDD1C7-30A8-6F0B-4F00-4DF1E563DD59}"/>
              </a:ext>
            </a:extLst>
          </p:cNvPr>
          <p:cNvSpPr txBox="1"/>
          <p:nvPr/>
        </p:nvSpPr>
        <p:spPr>
          <a:xfrm>
            <a:off x="431076" y="1778284"/>
            <a:ext cx="607422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Content </a:t>
            </a:r>
          </a:p>
          <a:p>
            <a:endParaRPr lang="en-US" sz="2400" dirty="0"/>
          </a:p>
          <a:p>
            <a:r>
              <a:rPr lang="en-US" sz="2400" dirty="0"/>
              <a:t>1. Fixed Linear Voltage Regulators  </a:t>
            </a:r>
          </a:p>
          <a:p>
            <a:r>
              <a:rPr lang="en-US" sz="2400" dirty="0"/>
              <a:t>2. Adjustable Linear Voltage Regulators  </a:t>
            </a:r>
          </a:p>
          <a:p>
            <a:r>
              <a:rPr lang="en-US" sz="2400" dirty="0"/>
              <a:t>3. Positive vs. Negative Voltage Regulators </a:t>
            </a:r>
          </a:p>
          <a:p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8355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7D253-7D00-97B5-95E9-E558DBAEC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FE45A01-8120-B0F5-006B-B7115314C763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990BEA-4022-F945-E26B-AC91871E7F83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971F973A-4C88-E8FE-17D5-AC415D0912A8}"/>
              </a:ext>
            </a:extLst>
          </p:cNvPr>
          <p:cNvSpPr>
            <a:spLocks noChangeArrowheads="1"/>
          </p:cNvSpPr>
          <p:nvPr>
            <p:custDataLst>
              <p:tags r:id="R2b9ed2c883244b92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Fixed Linear Voltage Regulators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89FB6D-7E04-4DD7-7D98-3B13A009BE44}"/>
              </a:ext>
            </a:extLst>
          </p:cNvPr>
          <p:cNvSpPr txBox="1"/>
          <p:nvPr/>
        </p:nvSpPr>
        <p:spPr>
          <a:xfrm>
            <a:off x="539308" y="2119452"/>
            <a:ext cx="7825204" cy="3347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Fixed voltage regulators provide consistent output under varying conditions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Common in low-noise, low-power applications such as analog or embedded systems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They operate in linear mode, dissipating excess voltage as heat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Ideal when simplicity and reliability are more important than efficiency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Widely used in power supplies of radios, sensors, and consumer electronics</a:t>
            </a:r>
          </a:p>
        </p:txBody>
      </p:sp>
    </p:spTree>
    <p:extLst>
      <p:ext uri="{BB962C8B-B14F-4D97-AF65-F5344CB8AC3E}">
        <p14:creationId xmlns:p14="http://schemas.microsoft.com/office/powerpoint/2010/main" val="10710913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EDAD5-976F-817C-EC07-CB29679A7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C30B4E-86ED-F4CF-09D0-7EB30B322C6C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3455D06-9808-F59C-41D9-DE78AAD79E32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83158C04-F21C-8EF1-5FD1-568ADE7B7B37}"/>
              </a:ext>
            </a:extLst>
          </p:cNvPr>
          <p:cNvSpPr>
            <a:spLocks noChangeArrowheads="1"/>
          </p:cNvSpPr>
          <p:nvPr>
            <p:custDataLst>
              <p:tags r:id="R75d435d448674e15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Fixed Linear Voltage Regulators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003B07-911C-BA4E-5B37-A8D01F8FEE1E}"/>
              </a:ext>
            </a:extLst>
          </p:cNvPr>
          <p:cNvPicPr>
            <a:picLocks noChangeAspect="1"/>
          </p:cNvPicPr>
          <p:nvPr/>
        </p:nvPicPr>
        <p:blipFill>
          <a:blip r:embed="R0b5f5136f07542d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5171" y="2579772"/>
            <a:ext cx="5833657" cy="295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4357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E359E-7012-07A1-50DA-255C6FA78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56061E4-228D-C1FC-8530-CEA9B9D76FBC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71DC1CB-330E-B0F8-FCB9-01E46EEED0A5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85916653-3607-4B54-506B-1AACE1C5239E}"/>
              </a:ext>
            </a:extLst>
          </p:cNvPr>
          <p:cNvSpPr>
            <a:spLocks noChangeArrowheads="1"/>
          </p:cNvSpPr>
          <p:nvPr>
            <p:custDataLst>
              <p:tags r:id="Rb63ad1f98a484355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Working &amp; Characteristics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685A7A-AA40-A798-4F1A-025336853CCC}"/>
              </a:ext>
            </a:extLst>
          </p:cNvPr>
          <p:cNvSpPr txBox="1"/>
          <p:nvPr/>
        </p:nvSpPr>
        <p:spPr>
          <a:xfrm>
            <a:off x="811658" y="2119452"/>
            <a:ext cx="7428216" cy="3347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Requires an input voltage higher than the desired output by at least the dropout margin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Maintains voltage using internal reference, pass transistor, and feedback loop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Dropout voltage typically ranges between 1.5V to 2.5V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Thermal dissipation occurs when input-output difference is high under load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Capacitors at input and output improve voltage stability and noise rejection</a:t>
            </a:r>
            <a:endParaRPr lang="en-US" altLang="en-US" sz="2200" dirty="0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079630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DA163-3B0D-D9FB-F090-F6C8EE987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DF974C6-264D-E02E-5621-E4DC67A07640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AB98BD-63AB-1655-66FA-371F093D5683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98396A96-CEB0-845D-CC38-F60B70266267}"/>
              </a:ext>
            </a:extLst>
          </p:cNvPr>
          <p:cNvSpPr>
            <a:spLocks noChangeArrowheads="1"/>
          </p:cNvSpPr>
          <p:nvPr>
            <p:custDataLst>
              <p:tags r:id="Rb0cf976e020f4aab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Fixed Regulator – Pros, Cons, and Use Cases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2148FE-0385-5D32-7A12-811C6EAD7B74}"/>
              </a:ext>
            </a:extLst>
          </p:cNvPr>
          <p:cNvSpPr txBox="1"/>
          <p:nvPr/>
        </p:nvSpPr>
        <p:spPr>
          <a:xfrm>
            <a:off x="539308" y="2119452"/>
            <a:ext cx="7700566" cy="3347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Advantages include simple circuitry, minimal external components, and clean output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Excellent for noise-sensitive applications such as amplifiers or precision instruments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Disadvantages include poor efficiency under high input-output voltage differences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Heat management becomes critical at higher currents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 suitable for variable-voltage or high-power applications without major derating </a:t>
            </a:r>
            <a:endParaRPr lang="en-US" altLang="en-US" sz="2200" dirty="0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5762759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AB74B-DAA6-BDDA-7420-7DEFEE159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C95A12A-A271-5D73-2C4C-50A2D468163A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6D1FE9-4989-5F7E-1DB2-94AE0DD2E1D5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BF8A61BA-981C-2A99-D446-9499219CA4A0}"/>
              </a:ext>
            </a:extLst>
          </p:cNvPr>
          <p:cNvSpPr>
            <a:spLocks noChangeArrowheads="1"/>
          </p:cNvSpPr>
          <p:nvPr>
            <p:custDataLst>
              <p:tags r:id="R6d18840903b94624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Common ICs – 78XX &amp; 79XX</a:t>
            </a:r>
            <a:endParaRPr lang="en-IN" altLang="en-US" sz="24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495CA7-E38F-5414-DF28-0419A6361596}"/>
              </a:ext>
            </a:extLst>
          </p:cNvPr>
          <p:cNvSpPr txBox="1"/>
          <p:nvPr/>
        </p:nvSpPr>
        <p:spPr>
          <a:xfrm>
            <a:off x="811658" y="2119452"/>
            <a:ext cx="7428216" cy="3652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78XX series provides fixed positive voltages, commonly used in 5V, 12V, and 15V designs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Used in digital electronics, sensor interfaces, and microcontroller systems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79XX series provides negative voltages, essential in dual rail and analog systems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Each IC has built-in thermal and short-circuit protection for safety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 voltage must be sufficiently higher (usually 2V or more) than output for regulation </a:t>
            </a:r>
          </a:p>
        </p:txBody>
      </p:sp>
    </p:spTree>
    <p:extLst>
      <p:ext uri="{BB962C8B-B14F-4D97-AF65-F5344CB8AC3E}">
        <p14:creationId xmlns:p14="http://schemas.microsoft.com/office/powerpoint/2010/main" val="20771760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52817-54CD-4581-73C6-1259510E3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0BE6DE4-F5E2-E38F-008F-1A271BB87BB3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5F8F2AA-DF52-7667-9E41-B05683FA4466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E5B915A8-A7C7-426A-267A-1FC183455D7A}"/>
              </a:ext>
            </a:extLst>
          </p:cNvPr>
          <p:cNvSpPr>
            <a:spLocks noChangeArrowheads="1"/>
          </p:cNvSpPr>
          <p:nvPr>
            <p:custDataLst>
              <p:tags r:id="R61576dffc7934fb0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Circuit Components</a:t>
            </a:r>
          </a:p>
        </p:txBody>
      </p:sp>
      <p:sp>
        <p:nvSpPr>
          <p:cNvPr id="142" name="Rectangle 138">
            <a:extLst>
              <a:ext uri="{FF2B5EF4-FFF2-40B4-BE49-F238E27FC236}">
                <a16:creationId xmlns:a16="http://schemas.microsoft.com/office/drawing/2014/main" id="{44CEE477-0EA6-1326-303F-BF6E1CD7B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3238500"/>
            <a:ext cx="1714500" cy="2114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167" name="Text Box 163">
            <a:extLst>
              <a:ext uri="{FF2B5EF4-FFF2-40B4-BE49-F238E27FC236}">
                <a16:creationId xmlns:a16="http://schemas.microsoft.com/office/drawing/2014/main" id="{9F05C5D8-DBA7-CFBA-A573-8492428ECA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1844211"/>
            <a:ext cx="7356297" cy="3913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Series Pass Transistor(Q1) : Main regulating element.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Zenner Diode : Provides constant reference voltage.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Voltage Divider(R1, R2) : Samples a fraction of output of feedback.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Error Detector(Op-Amp or transistor base-emitter junction) : Compares and controls base current of the series transistor.</a:t>
            </a:r>
          </a:p>
        </p:txBody>
      </p:sp>
    </p:spTree>
    <p:extLst>
      <p:ext uri="{BB962C8B-B14F-4D97-AF65-F5344CB8AC3E}">
        <p14:creationId xmlns:p14="http://schemas.microsoft.com/office/powerpoint/2010/main" val="2215749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" grpId="0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3068D-EDC8-7664-465E-11A294F8D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ACF66D-8564-A154-AF10-125C44DBA15A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D859EB8-8ABC-D583-114A-883574D7FA9B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F92B7B2D-D82C-653D-9ACB-0A5334968F88}"/>
              </a:ext>
            </a:extLst>
          </p:cNvPr>
          <p:cNvSpPr>
            <a:spLocks noChangeArrowheads="1"/>
          </p:cNvSpPr>
          <p:nvPr>
            <p:custDataLst>
              <p:tags r:id="R6454993626e84a63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708D0EF3-4D9D-02A1-60F4-9E7B40BB0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 dirty="0"/>
          </a:p>
        </p:txBody>
      </p:sp>
      <p:sp>
        <p:nvSpPr>
          <p:cNvPr id="142" name="Rectangle 138">
            <a:extLst>
              <a:ext uri="{FF2B5EF4-FFF2-40B4-BE49-F238E27FC236}">
                <a16:creationId xmlns:a16="http://schemas.microsoft.com/office/drawing/2014/main" id="{62581A29-DD75-E032-CEC1-8F18622F3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3238500"/>
            <a:ext cx="1714500" cy="2114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99" name="Rectangle 133">
            <a:extLst>
              <a:ext uri="{FF2B5EF4-FFF2-40B4-BE49-F238E27FC236}">
                <a16:creationId xmlns:a16="http://schemas.microsoft.com/office/drawing/2014/main" id="{97072D03-E58A-DB29-4777-0D63BA119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24" name="Text Box 159">
            <a:extLst>
              <a:ext uri="{FF2B5EF4-FFF2-40B4-BE49-F238E27FC236}">
                <a16:creationId xmlns:a16="http://schemas.microsoft.com/office/drawing/2014/main" id="{F6B5ED60-54E1-4499-7DC2-DC9D39CC8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2114022"/>
            <a:ext cx="7356297" cy="2579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Excellent line and lead regulation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Low output ripple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Simple design and easy to implement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Fast transient response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Can be made using discrete components</a:t>
            </a:r>
          </a:p>
        </p:txBody>
      </p:sp>
    </p:spTree>
    <p:extLst>
      <p:ext uri="{BB962C8B-B14F-4D97-AF65-F5344CB8AC3E}">
        <p14:creationId xmlns:p14="http://schemas.microsoft.com/office/powerpoint/2010/main" val="1933476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C7D47-6A52-0935-F0DB-B72B092FF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08D40E-24D3-351D-8F00-7E9BEB7D0982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246600A-4BED-13C9-A930-801CB0E3306C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52ECCC19-5845-1C3C-B769-D1709B9CEF77}"/>
              </a:ext>
            </a:extLst>
          </p:cNvPr>
          <p:cNvSpPr>
            <a:spLocks noChangeArrowheads="1"/>
          </p:cNvSpPr>
          <p:nvPr>
            <p:custDataLst>
              <p:tags r:id="R1abcc3a29d774a83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Disadvantages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B9F4D10B-2BDE-FE5E-9623-2BF202D40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142" name="Rectangle 138">
            <a:extLst>
              <a:ext uri="{FF2B5EF4-FFF2-40B4-BE49-F238E27FC236}">
                <a16:creationId xmlns:a16="http://schemas.microsoft.com/office/drawing/2014/main" id="{13B20403-09E3-74E1-7383-58430B62F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3238500"/>
            <a:ext cx="1714500" cy="2114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99" name="Rectangle 133">
            <a:extLst>
              <a:ext uri="{FF2B5EF4-FFF2-40B4-BE49-F238E27FC236}">
                <a16:creationId xmlns:a16="http://schemas.microsoft.com/office/drawing/2014/main" id="{6229AAB0-9C09-8548-E5E7-33221F7C8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24" name="Text Box 159">
            <a:extLst>
              <a:ext uri="{FF2B5EF4-FFF2-40B4-BE49-F238E27FC236}">
                <a16:creationId xmlns:a16="http://schemas.microsoft.com/office/drawing/2014/main" id="{E6E1B3E2-153E-63A7-F5C7-7898EAE2F8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335" y="2104989"/>
            <a:ext cx="7356297" cy="2071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Inefficient : Excess energy is dissipated as heat.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Requires heatsink for high currents.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Dropout voltage limits low input-output differential.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Not suitable for high power applications.</a:t>
            </a:r>
          </a:p>
        </p:txBody>
      </p:sp>
    </p:spTree>
    <p:extLst>
      <p:ext uri="{BB962C8B-B14F-4D97-AF65-F5344CB8AC3E}">
        <p14:creationId xmlns:p14="http://schemas.microsoft.com/office/powerpoint/2010/main" val="4029060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" grpId="0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D6154-A8D2-A355-1D42-FAF2A3E2F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00A3B0-05ED-FD3B-62D7-CD65355950BA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BC1328F-CCC8-77BD-AED9-B5C5B30A7844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580E90F8-8C4C-7A6D-C4D6-D4A613AA411B}"/>
              </a:ext>
            </a:extLst>
          </p:cNvPr>
          <p:cNvSpPr>
            <a:spLocks noChangeArrowheads="1"/>
          </p:cNvSpPr>
          <p:nvPr>
            <p:custDataLst>
              <p:tags r:id="Rd720a23b1e2345b6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Positive vs. Negative Voltage Regulators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B0B6EA23-950C-C4AE-5B1A-9F61F0582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142" name="Rectangle 138">
            <a:extLst>
              <a:ext uri="{FF2B5EF4-FFF2-40B4-BE49-F238E27FC236}">
                <a16:creationId xmlns:a16="http://schemas.microsoft.com/office/drawing/2014/main" id="{5A1CEE69-1DEA-604A-091D-73D7DE651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3238500"/>
            <a:ext cx="1714500" cy="2114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99" name="Rectangle 133">
            <a:extLst>
              <a:ext uri="{FF2B5EF4-FFF2-40B4-BE49-F238E27FC236}">
                <a16:creationId xmlns:a16="http://schemas.microsoft.com/office/drawing/2014/main" id="{35CE623E-DECE-CDF6-9A58-16D4C27FE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24" name="Text Box 159">
            <a:extLst>
              <a:ext uri="{FF2B5EF4-FFF2-40B4-BE49-F238E27FC236}">
                <a16:creationId xmlns:a16="http://schemas.microsoft.com/office/drawing/2014/main" id="{6C58923F-F6BA-A26C-3B46-6B38888662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2021908"/>
            <a:ext cx="7809851" cy="4102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Positive (78XX) vs Negative (79XX) series differ in polarity and internal layout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Pin mapping is different and must be carefully followed when integrating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Negative rails are common in audio, analog, and op-amp based designs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Both series include built-in current limiting, thermal protection, and noise suppression.</a:t>
            </a:r>
          </a:p>
        </p:txBody>
      </p:sp>
    </p:spTree>
    <p:extLst>
      <p:ext uri="{BB962C8B-B14F-4D97-AF65-F5344CB8AC3E}">
        <p14:creationId xmlns:p14="http://schemas.microsoft.com/office/powerpoint/2010/main" val="3978474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" grpId="0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8D466-C5DA-A23B-4EB3-F6BE692A4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CBDB04E-8860-D6D6-651D-41CBBB227A05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A7D27E1-460A-C0DB-2E3E-53A7747DCFC6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F8A8AFF0-CD29-1F9C-2878-8E9D416CBA97}"/>
              </a:ext>
            </a:extLst>
          </p:cNvPr>
          <p:cNvSpPr>
            <a:spLocks noChangeArrowheads="1"/>
          </p:cNvSpPr>
          <p:nvPr>
            <p:custDataLst>
              <p:tags r:id="Ra4676ee7be914e68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Positive vs. Negative Voltage Regulators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08F8F7B6-0FD8-A5C7-6F33-F118FB9A0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142" name="Rectangle 138">
            <a:extLst>
              <a:ext uri="{FF2B5EF4-FFF2-40B4-BE49-F238E27FC236}">
                <a16:creationId xmlns:a16="http://schemas.microsoft.com/office/drawing/2014/main" id="{57D561BF-0F3C-EEA3-5491-9BDF621D4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3238500"/>
            <a:ext cx="1714500" cy="2114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99" name="Rectangle 133">
            <a:extLst>
              <a:ext uri="{FF2B5EF4-FFF2-40B4-BE49-F238E27FC236}">
                <a16:creationId xmlns:a16="http://schemas.microsoft.com/office/drawing/2014/main" id="{F114FA3A-95CE-5A52-C863-DA28C8B85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24" name="Text Box 159">
            <a:extLst>
              <a:ext uri="{FF2B5EF4-FFF2-40B4-BE49-F238E27FC236}">
                <a16:creationId xmlns:a16="http://schemas.microsoft.com/office/drawing/2014/main" id="{140A113D-9C3B-8B63-695B-A43192CB2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656" y="2038151"/>
            <a:ext cx="8656688" cy="4102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Positive voltage regulators like 78XX deliver output above ground potential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Negative voltage regulators like 79XX provide output below ground reference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Correct pin configuration is essential for preventing reverse connections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 Both types are needed in dual-supply op-amp and analog environments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Selection depends on circuit topology and voltage rail requirements </a:t>
            </a:r>
          </a:p>
        </p:txBody>
      </p:sp>
    </p:spTree>
    <p:extLst>
      <p:ext uri="{BB962C8B-B14F-4D97-AF65-F5344CB8AC3E}">
        <p14:creationId xmlns:p14="http://schemas.microsoft.com/office/powerpoint/2010/main" val="665395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" grpId="0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446C1-3D82-AEA2-3258-A2C2A22FC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75E28B6-559C-D837-C95D-E9E946C0DFA8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6D8BF3-1E2D-FEB4-D23A-F505CCFD3258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5C520924-AF11-677F-7F94-E4DD3FD394F3}"/>
              </a:ext>
            </a:extLst>
          </p:cNvPr>
          <p:cNvSpPr>
            <a:spLocks noChangeArrowheads="1"/>
          </p:cNvSpPr>
          <p:nvPr>
            <p:custDataLst>
              <p:tags r:id="Rfa60dbbb7673491b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Practical Example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88244CC4-D89B-9A4B-507F-F2A5722EA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142" name="Rectangle 138">
            <a:extLst>
              <a:ext uri="{FF2B5EF4-FFF2-40B4-BE49-F238E27FC236}">
                <a16:creationId xmlns:a16="http://schemas.microsoft.com/office/drawing/2014/main" id="{3CF17E97-FFA6-9E81-B750-631598FF7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3238500"/>
            <a:ext cx="1714500" cy="2114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99" name="Rectangle 133">
            <a:extLst>
              <a:ext uri="{FF2B5EF4-FFF2-40B4-BE49-F238E27FC236}">
                <a16:creationId xmlns:a16="http://schemas.microsoft.com/office/drawing/2014/main" id="{35BD653F-63E3-045E-02B9-4CF0A8A40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24" name="Text Box 159">
            <a:extLst>
              <a:ext uri="{FF2B5EF4-FFF2-40B4-BE49-F238E27FC236}">
                <a16:creationId xmlns:a16="http://schemas.microsoft.com/office/drawing/2014/main" id="{7D026497-741C-04EC-1542-9118466FF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4" y="2001464"/>
            <a:ext cx="7356297" cy="3816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sz="2200" dirty="0"/>
              <a:t>Given 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V</a:t>
            </a:r>
            <a:r>
              <a:rPr lang="en-US" sz="1600" dirty="0"/>
              <a:t>in</a:t>
            </a:r>
            <a:r>
              <a:rPr lang="en-US" sz="2200" dirty="0"/>
              <a:t> = 12V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Zener = 5.6V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 err="1"/>
              <a:t>V</a:t>
            </a:r>
            <a:r>
              <a:rPr lang="en-US" sz="1600" dirty="0" err="1"/>
              <a:t>be</a:t>
            </a:r>
            <a:r>
              <a:rPr lang="en-US" sz="2200" dirty="0"/>
              <a:t> = 0.7V</a:t>
            </a:r>
          </a:p>
          <a:p>
            <a:endParaRPr lang="en-US" sz="2200" dirty="0"/>
          </a:p>
          <a:p>
            <a:r>
              <a:rPr lang="en-US" sz="2200" dirty="0"/>
              <a:t>Then 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 err="1"/>
              <a:t>V</a:t>
            </a:r>
            <a:r>
              <a:rPr lang="en-US" sz="1600" dirty="0" err="1"/>
              <a:t>out</a:t>
            </a:r>
            <a:r>
              <a:rPr lang="en-US" sz="2200" dirty="0"/>
              <a:t> = 5.6V + 0.7V = 6.3V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lvl="1" indent="-457200"/>
            <a:r>
              <a:rPr lang="en-US" sz="2200" dirty="0"/>
              <a:t>If the load changes, the transistor dynamically adjusts to maintain ~6.3V output.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742665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" grpId="0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6EE38-9C35-9902-AFEA-8F22B21B8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583687B-DD6D-11EE-5771-A537564E700E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EC3D672-79D9-E2F8-278F-643A290AE593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463BB531-2D9A-812A-43F4-6CC7E4C2870A}"/>
              </a:ext>
            </a:extLst>
          </p:cNvPr>
          <p:cNvSpPr>
            <a:spLocks noChangeArrowheads="1"/>
          </p:cNvSpPr>
          <p:nvPr>
            <p:custDataLst>
              <p:tags r:id="R9646fc5b7bbf48e9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Adjustable Linear Voltage Regulators 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2BDC8A4D-821C-0F65-B357-45C2D4706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142" name="Rectangle 138">
            <a:extLst>
              <a:ext uri="{FF2B5EF4-FFF2-40B4-BE49-F238E27FC236}">
                <a16:creationId xmlns:a16="http://schemas.microsoft.com/office/drawing/2014/main" id="{105D84B0-2CB5-CCEF-26F4-A56FE6F77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3238500"/>
            <a:ext cx="1714500" cy="2114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99" name="Rectangle 133">
            <a:extLst>
              <a:ext uri="{FF2B5EF4-FFF2-40B4-BE49-F238E27FC236}">
                <a16:creationId xmlns:a16="http://schemas.microsoft.com/office/drawing/2014/main" id="{7C66AC16-3F07-0C9C-9848-FA767DE36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24" name="Text Box 159">
            <a:extLst>
              <a:ext uri="{FF2B5EF4-FFF2-40B4-BE49-F238E27FC236}">
                <a16:creationId xmlns:a16="http://schemas.microsoft.com/office/drawing/2014/main" id="{5A49A24B-537B-CFAB-73D6-E57752C484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577" y="1975251"/>
            <a:ext cx="8414535" cy="4102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Output voltage is set using external resistors across adjust pin and ground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Popular ICs include LM317 (positive) and LM337 (negative) with wide voltage range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Ideal for circuits needing non-standard voltages like 2.2V, 6.8V, or 9V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Supports dynamic power configurations in lab setups and multi-voltage boards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Can replace several fixed regulators with a single adjustable unit</a:t>
            </a:r>
          </a:p>
        </p:txBody>
      </p:sp>
    </p:spTree>
    <p:extLst>
      <p:ext uri="{BB962C8B-B14F-4D97-AF65-F5344CB8AC3E}">
        <p14:creationId xmlns:p14="http://schemas.microsoft.com/office/powerpoint/2010/main" val="277468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" grpId="0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E8B54-D25C-7BCE-E21D-AD4DE7E97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3416C8-753C-1DA1-9A99-DDDB5BF826FB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652BA3-E469-62A0-0E13-A45D2D7E59A5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80186252-18D5-C904-A023-2D19DDA9119E}"/>
              </a:ext>
            </a:extLst>
          </p:cNvPr>
          <p:cNvSpPr>
            <a:spLocks noChangeArrowheads="1"/>
          </p:cNvSpPr>
          <p:nvPr>
            <p:custDataLst>
              <p:tags r:id="R83badb2e4f06466e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Key Takeaways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6298E5C3-58D1-DFF5-9938-2FF3F503A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142" name="Rectangle 138">
            <a:extLst>
              <a:ext uri="{FF2B5EF4-FFF2-40B4-BE49-F238E27FC236}">
                <a16:creationId xmlns:a16="http://schemas.microsoft.com/office/drawing/2014/main" id="{87478811-9816-3AB2-DAA5-A86675182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3238500"/>
            <a:ext cx="1714500" cy="2114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99" name="Rectangle 133">
            <a:extLst>
              <a:ext uri="{FF2B5EF4-FFF2-40B4-BE49-F238E27FC236}">
                <a16:creationId xmlns:a16="http://schemas.microsoft.com/office/drawing/2014/main" id="{BBBC1318-6057-1754-EF25-0C6ECB9F5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24" name="Text Box 159">
            <a:extLst>
              <a:ext uri="{FF2B5EF4-FFF2-40B4-BE49-F238E27FC236}">
                <a16:creationId xmlns:a16="http://schemas.microsoft.com/office/drawing/2014/main" id="{1B670D1A-6D36-52B4-5211-6C66EE1576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4" y="1679527"/>
            <a:ext cx="7356297" cy="5118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Series voltage regulators provide stable and precise output voltage.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They are widely used due to their simplicity and reliability.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However, they suffer from low efficiency, especially at high currents.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Design must consider thermal management and protection features.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Ideal for medium-power linear regulation where energy efficiency is not the primary concern.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044154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8BE22-831F-F733-5F2A-77FCEF304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9A4CC3F-2CEB-22AA-660C-BCDD7E1D72F0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78FE0C-1EB5-4572-51B0-6ED019B33930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4BBA6437-5856-000E-0A3B-F68D5549DD07}"/>
              </a:ext>
            </a:extLst>
          </p:cNvPr>
          <p:cNvSpPr>
            <a:spLocks noChangeArrowheads="1"/>
          </p:cNvSpPr>
          <p:nvPr>
            <p:custDataLst>
              <p:tags r:id="R16375f5cacb34fab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Application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A318C9B8-F0AF-82D2-4795-D1F4D28A0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500D4CB9-E090-9A4A-A88B-C02C51C32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4" y="1877882"/>
            <a:ext cx="7356297" cy="2579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Voltage reference circuits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Protection circuits(against overvoltage)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Low-current power supplies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Analog signal conditioning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Sensor biasing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D620ED-388F-5243-71E0-E191ADA13172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744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08D9B-DB4C-337B-8177-4C50ED2AC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EF68D3-D793-C435-0EEB-812703F2B099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815E060-C241-1E99-5D65-44E7F6E29BB5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BE23EF06-3782-75D3-2AA7-72CB5A0F9DAB}"/>
              </a:ext>
            </a:extLst>
          </p:cNvPr>
          <p:cNvSpPr>
            <a:spLocks noChangeArrowheads="1"/>
          </p:cNvSpPr>
          <p:nvPr>
            <p:custDataLst>
              <p:tags r:id="Rb061b662fec34bff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2346D7A4-69FE-94C3-1E1F-F585EBE87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63127B54-2BF5-2AB7-C0E9-4F3961FF1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4" y="1916827"/>
            <a:ext cx="7356297" cy="2071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Simple and inexpensive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Fewer components required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Instant response to voltage changes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No complex feedback loop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B0524D-87E0-BECE-932A-6C551CF5A8F4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026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83DF1-F357-D547-47BB-DA7F3584B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9A358BD-77F4-50F8-47DA-F4D9AA39CB0B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4BC9D98-8C45-28AE-4B71-F7785DDC4CFD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4BD41FD7-E28C-29E9-149B-3FC0BD12CF30}"/>
              </a:ext>
            </a:extLst>
          </p:cNvPr>
          <p:cNvSpPr>
            <a:spLocks noChangeArrowheads="1"/>
          </p:cNvSpPr>
          <p:nvPr>
            <p:custDataLst>
              <p:tags r:id="Rf06cc80909974066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Key Takeaways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9B8AD9FE-7A82-5BC1-8DAD-620E3B575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111D156B-DDD9-C9C5-D16D-C9D146D97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4" y="2021908"/>
            <a:ext cx="7814929" cy="4102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Fixed regulators are ideal for consistent voltage needs with standard output values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Adjustable regulators offer flexibility using resistor networks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78XX and 79XX series are widely used in academic, industrial, and commercial electronics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Negative regulators are vital for analog and bipolar systems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Voltage regulators ensure performance, safety, and longevity of circuits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74A016-EDAF-4DD5-6FE1-9B1CDC76226A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34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817817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/>
          <p:cNvSpPr/>
          <p:nvPr/>
        </p:nvSpPr>
        <p:spPr>
          <a:xfrm>
            <a:off x="1" y="2004207"/>
            <a:ext cx="9143999" cy="1935817"/>
          </a:xfrm>
          <a:custGeom>
            <a:avLst/>
            <a:gdLst/>
            <a:ahLst/>
            <a:cxnLst/>
            <a:rect l="l" t="t" r="r" b="b"/>
            <a:pathLst>
              <a:path w="7556500" h="26289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5" name="Rectangle 4"/>
          <p:cNvSpPr/>
          <p:nvPr/>
        </p:nvSpPr>
        <p:spPr>
          <a:xfrm>
            <a:off x="1006889" y="2538923"/>
            <a:ext cx="7887578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IC 78xx and IC 79xx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741" y="5601409"/>
            <a:ext cx="383282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Meet Soni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Faculty (PIT)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Electrical Engineering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12354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DDD1C7-30A8-6F0B-4F00-4DF1E563DD59}"/>
              </a:ext>
            </a:extLst>
          </p:cNvPr>
          <p:cNvSpPr txBox="1"/>
          <p:nvPr/>
        </p:nvSpPr>
        <p:spPr>
          <a:xfrm>
            <a:off x="431076" y="1778284"/>
            <a:ext cx="607422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Content </a:t>
            </a:r>
          </a:p>
          <a:p>
            <a:endParaRPr lang="en-US" sz="2400" dirty="0"/>
          </a:p>
          <a:p>
            <a:r>
              <a:rPr lang="en-US" sz="2400" dirty="0"/>
              <a:t>1. 78XX Series Positive Voltage Regulators</a:t>
            </a:r>
          </a:p>
          <a:p>
            <a:r>
              <a:rPr lang="en-US" sz="2400" dirty="0"/>
              <a:t>2. 79XX Series Negative Voltage Regulators</a:t>
            </a:r>
          </a:p>
          <a:p>
            <a:r>
              <a:rPr lang="en-US" sz="2400" dirty="0"/>
              <a:t>3. Application Circuit and Features </a:t>
            </a:r>
          </a:p>
          <a:p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83556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7D253-7D00-97B5-95E9-E558DBAEC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FE45A01-8120-B0F5-006B-B7115314C763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990BEA-4022-F945-E26B-AC91871E7F83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971F973A-4C88-E8FE-17D5-AC415D0912A8}"/>
              </a:ext>
            </a:extLst>
          </p:cNvPr>
          <p:cNvSpPr>
            <a:spLocks noChangeArrowheads="1"/>
          </p:cNvSpPr>
          <p:nvPr>
            <p:custDataLst>
              <p:tags r:id="R77c6ef6e2f264967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78XX Series – Introduction &amp; IC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89FB6D-7E04-4DD7-7D98-3B13A009BE44}"/>
              </a:ext>
            </a:extLst>
          </p:cNvPr>
          <p:cNvSpPr txBox="1"/>
          <p:nvPr/>
        </p:nvSpPr>
        <p:spPr>
          <a:xfrm>
            <a:off x="221227" y="2119452"/>
            <a:ext cx="8509818" cy="3042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Fixed voltage regulators provide consistent output under varying conditions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Common in low-noise, low-power applications such as analog or embedded systems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They operate in linear mode, dissipating excess voltage as heat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Ideal when simplicity and reliability are more important than efficiency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Widely used in power supplies of radios, sensors, and consumer electronics</a:t>
            </a:r>
          </a:p>
        </p:txBody>
      </p:sp>
    </p:spTree>
    <p:extLst>
      <p:ext uri="{BB962C8B-B14F-4D97-AF65-F5344CB8AC3E}">
        <p14:creationId xmlns:p14="http://schemas.microsoft.com/office/powerpoint/2010/main" val="107109131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3FF59-3746-EF31-CCDF-CD9666962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C0D0EA-3C38-3EC4-4D66-2683ECCE4FE0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8DC4403-6CDD-E933-94C8-70AA8F2EDFF8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4F220414-2A19-2126-60B8-A1BA2027F2D4}"/>
              </a:ext>
            </a:extLst>
          </p:cNvPr>
          <p:cNvSpPr>
            <a:spLocks noChangeArrowheads="1"/>
          </p:cNvSpPr>
          <p:nvPr>
            <p:custDataLst>
              <p:tags r:id="R1239c33cc1fd4f7f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78XX Series – Introduction &amp; IC 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D25972-F6C9-A132-A31B-1D848424CFAC}"/>
              </a:ext>
            </a:extLst>
          </p:cNvPr>
          <p:cNvPicPr>
            <a:picLocks noChangeAspect="1"/>
          </p:cNvPicPr>
          <p:nvPr/>
        </p:nvPicPr>
        <p:blipFill>
          <a:blip r:embed="R0d91e0db5a544f0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65" y="2200375"/>
            <a:ext cx="8047227" cy="345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7593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E359E-7012-07A1-50DA-255C6FA78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56061E4-228D-C1FC-8530-CEA9B9D76FBC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71DC1CB-330E-B0F8-FCB9-01E46EEED0A5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85916653-3607-4B54-506B-1AACE1C5239E}"/>
              </a:ext>
            </a:extLst>
          </p:cNvPr>
          <p:cNvSpPr>
            <a:spLocks noChangeArrowheads="1"/>
          </p:cNvSpPr>
          <p:nvPr>
            <p:custDataLst>
              <p:tags r:id="Rc70049dd989f4f42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 78XX Series – ICs, Pins &amp; Operation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685A7A-AA40-A798-4F1A-025336853CCC}"/>
              </a:ext>
            </a:extLst>
          </p:cNvPr>
          <p:cNvSpPr txBox="1"/>
          <p:nvPr/>
        </p:nvSpPr>
        <p:spPr>
          <a:xfrm>
            <a:off x="811658" y="2119452"/>
            <a:ext cx="7428216" cy="2738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Common ICs: 7805, 7806, 7809, 7812, 7815, 7824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 voltage must always exceed output voltage by at least 2V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Pin 1 is Input, Pin 2 is Ground, Pin 3 is Output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Optional diode at the output can raise voltage by approx. 0.7V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 = </a:t>
            </a:r>
            <a:r>
              <a:rPr kumimoji="0" lang="en-US" altLang="en-US" sz="22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Vreg</a:t>
            </a: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+ </a:t>
            </a:r>
            <a:r>
              <a:rPr kumimoji="0" lang="en-US" altLang="en-US" sz="22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Vdiode</a:t>
            </a: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if a diode is placed in series </a:t>
            </a:r>
            <a:endParaRPr lang="en-US" altLang="en-US" sz="2200" dirty="0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0796304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AB74B-DAA6-BDDA-7420-7DEFEE159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C95A12A-A271-5D73-2C4C-50A2D468163A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6D1FE9-4989-5F7E-1DB2-94AE0DD2E1D5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BF8A61BA-981C-2A99-D446-9499219CA4A0}"/>
              </a:ext>
            </a:extLst>
          </p:cNvPr>
          <p:cNvSpPr>
            <a:spLocks noChangeArrowheads="1"/>
          </p:cNvSpPr>
          <p:nvPr>
            <p:custDataLst>
              <p:tags r:id="R3843355894b64a20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78XX Series – Features, Pros &amp; Limitations</a:t>
            </a:r>
            <a:endParaRPr lang="en-IN" altLang="en-US" sz="24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495CA7-E38F-5414-DF28-0419A6361596}"/>
              </a:ext>
            </a:extLst>
          </p:cNvPr>
          <p:cNvSpPr txBox="1"/>
          <p:nvPr/>
        </p:nvSpPr>
        <p:spPr>
          <a:xfrm>
            <a:off x="811658" y="2119452"/>
            <a:ext cx="7428216" cy="3347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Provides regulated positive voltage with minimal external parts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Features include short-circuit protection, thermal shutdown, and overload handling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Advantages include ease of use, low cost, and stable voltage output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Limitations include poor efficiency at high current, and fixed output range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 suited for low-noise and moderate power applications </a:t>
            </a:r>
          </a:p>
        </p:txBody>
      </p:sp>
    </p:spTree>
    <p:extLst>
      <p:ext uri="{BB962C8B-B14F-4D97-AF65-F5344CB8AC3E}">
        <p14:creationId xmlns:p14="http://schemas.microsoft.com/office/powerpoint/2010/main" val="207717609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2DF9F-1E50-7C15-46A2-1F4F2D0E0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56E96A7-4B29-47A5-E057-B0DB3DB97B6C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64C3699-DAEF-A924-3DB9-B23D106664AC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65E9EB26-7C32-DF24-47E3-77ADC1866406}"/>
              </a:ext>
            </a:extLst>
          </p:cNvPr>
          <p:cNvSpPr>
            <a:spLocks noChangeArrowheads="1"/>
          </p:cNvSpPr>
          <p:nvPr>
            <p:custDataLst>
              <p:tags r:id="R069a382d148342ad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79XX Series – Introduction &amp; IC Overview</a:t>
            </a:r>
            <a:endParaRPr lang="en-IN" altLang="en-US" sz="24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845E48-A84D-A46F-CC2E-46951442AD73}"/>
              </a:ext>
            </a:extLst>
          </p:cNvPr>
          <p:cNvSpPr txBox="1"/>
          <p:nvPr/>
        </p:nvSpPr>
        <p:spPr>
          <a:xfrm>
            <a:off x="811658" y="2119452"/>
            <a:ext cx="7428216" cy="2128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79XX series offers fixed negative voltage outputs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Used in dual-rail systems where both +V and −V are needed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Similar in function to 78XX but for negative voltage rails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Examples: 7905 (–5V), 7912 (–12V), 7924 (–24V)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Essential in op-amp and analog circuit designs </a:t>
            </a:r>
          </a:p>
        </p:txBody>
      </p:sp>
    </p:spTree>
    <p:extLst>
      <p:ext uri="{BB962C8B-B14F-4D97-AF65-F5344CB8AC3E}">
        <p14:creationId xmlns:p14="http://schemas.microsoft.com/office/powerpoint/2010/main" val="63351325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52FCB-220B-EEBD-D471-9146D8EFE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AB21CFF-9DFE-7042-5164-78A13C79B132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4AE019-F3BD-BAF5-ED2F-1260D85A3625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E5E025A0-D220-3D86-A923-C0D9526FFEC3}"/>
              </a:ext>
            </a:extLst>
          </p:cNvPr>
          <p:cNvSpPr>
            <a:spLocks noChangeArrowheads="1"/>
          </p:cNvSpPr>
          <p:nvPr>
            <p:custDataLst>
              <p:tags r:id="Ra7e551226e134a81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79XX Series – Introduction &amp; IC Overview</a:t>
            </a:r>
            <a:endParaRPr lang="en-IN" altLang="en-US" sz="24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9828BC-15A5-91DA-95B4-3C69ACB465AD}"/>
              </a:ext>
            </a:extLst>
          </p:cNvPr>
          <p:cNvPicPr>
            <a:picLocks noChangeAspect="1"/>
          </p:cNvPicPr>
          <p:nvPr/>
        </p:nvPicPr>
        <p:blipFill>
          <a:blip r:embed="Rac4f4b7cf74c434e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981" y="2392857"/>
            <a:ext cx="5659264" cy="404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06355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B01B6-3E52-7C90-2BB9-0B0B15A70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463E29-0C2A-8911-1C86-B400CE9CEAEB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46CD55-BB9A-C176-8641-1EA03BF4BB65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BE75A6CE-B33A-731B-45F9-00107D8E8292}"/>
              </a:ext>
            </a:extLst>
          </p:cNvPr>
          <p:cNvSpPr>
            <a:spLocks noChangeArrowheads="1"/>
          </p:cNvSpPr>
          <p:nvPr>
            <p:custDataLst>
              <p:tags r:id="R408134dd15734126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79XX Series – Pins, Range &amp; Formula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7E8ED7-3258-F3EA-B90F-03E3E51079BA}"/>
              </a:ext>
            </a:extLst>
          </p:cNvPr>
          <p:cNvSpPr txBox="1"/>
          <p:nvPr/>
        </p:nvSpPr>
        <p:spPr>
          <a:xfrm>
            <a:off x="811658" y="2119452"/>
            <a:ext cx="7428216" cy="2738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Pin configuration: Pin 1 is Ground, Pin 2 is Output, Pin 3 is Input 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 must be more negative than output by at least 2V 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Vout</a:t>
            </a: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–XXV (fixed) 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a diode in series, </a:t>
            </a:r>
            <a:r>
              <a:rPr kumimoji="0" lang="en-US" altLang="en-US" sz="22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Vout</a:t>
            </a: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can be shifted: </a:t>
            </a:r>
            <a:r>
              <a:rPr kumimoji="0" lang="en-US" altLang="en-US" sz="22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Vout</a:t>
            </a: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–</a:t>
            </a:r>
            <a:r>
              <a:rPr kumimoji="0" lang="en-US" altLang="en-US" sz="22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Vreg</a:t>
            </a: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</a:t>
            </a:r>
            <a:r>
              <a:rPr kumimoji="0" lang="en-US" altLang="en-US" sz="22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Vdiode</a:t>
            </a: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Same protection features as 78XX for reliability and safety </a:t>
            </a:r>
          </a:p>
        </p:txBody>
      </p:sp>
    </p:spTree>
    <p:extLst>
      <p:ext uri="{BB962C8B-B14F-4D97-AF65-F5344CB8AC3E}">
        <p14:creationId xmlns:p14="http://schemas.microsoft.com/office/powerpoint/2010/main" val="158445420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21DE5-6161-0CBB-3F6B-62360CC56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E07553-0C0B-C687-DF96-FC8064740FA5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CDE298-3B32-AFB3-0EDC-33ED10D5EAB0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A46645D6-DC26-4C8C-B119-814049F12092}"/>
              </a:ext>
            </a:extLst>
          </p:cNvPr>
          <p:cNvSpPr>
            <a:spLocks noChangeArrowheads="1"/>
          </p:cNvSpPr>
          <p:nvPr>
            <p:custDataLst>
              <p:tags r:id="Rcee1ba15ce1d4d18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79XX Series – Features, Uses, Pros &amp; Limitations</a:t>
            </a:r>
            <a:endParaRPr lang="en-IN" altLang="en-US" sz="24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3BAB4D-4076-CC49-A80B-E7A10D8CE56C}"/>
              </a:ext>
            </a:extLst>
          </p:cNvPr>
          <p:cNvSpPr txBox="1"/>
          <p:nvPr/>
        </p:nvSpPr>
        <p:spPr>
          <a:xfrm>
            <a:off x="811658" y="2119452"/>
            <a:ext cx="7428216" cy="3042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Designed for stable negative rail supply in analog systems 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Applications include audio amplifiers, instrumentation, signal processing 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Advantages include built-in protection and simple design 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Limitations include low efficiency and lack of voltage flexibility 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Must be paired with capacitors for ripple filtering and stable operation </a:t>
            </a:r>
          </a:p>
        </p:txBody>
      </p:sp>
    </p:spTree>
    <p:extLst>
      <p:ext uri="{BB962C8B-B14F-4D97-AF65-F5344CB8AC3E}">
        <p14:creationId xmlns:p14="http://schemas.microsoft.com/office/powerpoint/2010/main" val="337230555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C4DCF-FE45-6E3B-1A19-91346E521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D866A47-174D-9A8B-AB25-5B30F43172F3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01B948B-8029-79AC-61B4-BF9ABFF1DDE7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224B7A8A-7117-D546-D931-9DC9EA05B463}"/>
              </a:ext>
            </a:extLst>
          </p:cNvPr>
          <p:cNvSpPr>
            <a:spLocks noChangeArrowheads="1"/>
          </p:cNvSpPr>
          <p:nvPr>
            <p:custDataLst>
              <p:tags r:id="Redc73e86ed0f4428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Application Circuit &amp; Component Guidelines</a:t>
            </a:r>
            <a:endParaRPr lang="en-IN" altLang="en-US" sz="24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72EDAE-6376-3F48-3E70-3DB3AABDAC1B}"/>
              </a:ext>
            </a:extLst>
          </p:cNvPr>
          <p:cNvSpPr txBox="1"/>
          <p:nvPr/>
        </p:nvSpPr>
        <p:spPr>
          <a:xfrm>
            <a:off x="811658" y="2119452"/>
            <a:ext cx="7428216" cy="2433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 capacitor C1 = 0.33µF to 10µF for voltage stability 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 capacitor C2 = 0.1µF to 100µF for transient response 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Protection diodes D1 and D2 prevent reverse polarity or back current 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Capacitors help reduce noise and improve dynamic response 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Applicable for both 78XX and 79XX series designs </a:t>
            </a:r>
          </a:p>
        </p:txBody>
      </p:sp>
    </p:spTree>
    <p:extLst>
      <p:ext uri="{BB962C8B-B14F-4D97-AF65-F5344CB8AC3E}">
        <p14:creationId xmlns:p14="http://schemas.microsoft.com/office/powerpoint/2010/main" val="342173886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52817-54CD-4581-73C6-1259510E3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0BE6DE4-F5E2-E38F-008F-1A271BB87BB3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5F8F2AA-DF52-7667-9E41-B05683FA4466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E5B915A8-A7C7-426A-267A-1FC183455D7A}"/>
              </a:ext>
            </a:extLst>
          </p:cNvPr>
          <p:cNvSpPr>
            <a:spLocks noChangeArrowheads="1"/>
          </p:cNvSpPr>
          <p:nvPr>
            <p:custDataLst>
              <p:tags r:id="R28740353bcf8451c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Comparison of 78XX vs. 79XX</a:t>
            </a:r>
            <a:endParaRPr lang="en-IN" altLang="en-US" sz="2400" b="1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42" name="Rectangle 138">
            <a:extLst>
              <a:ext uri="{FF2B5EF4-FFF2-40B4-BE49-F238E27FC236}">
                <a16:creationId xmlns:a16="http://schemas.microsoft.com/office/drawing/2014/main" id="{44CEE477-0EA6-1326-303F-BF6E1CD7B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3238500"/>
            <a:ext cx="1714500" cy="2114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167" name="Text Box 163">
            <a:extLst>
              <a:ext uri="{FF2B5EF4-FFF2-40B4-BE49-F238E27FC236}">
                <a16:creationId xmlns:a16="http://schemas.microsoft.com/office/drawing/2014/main" id="{9F05C5D8-DBA7-CFBA-A573-8492428ECA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1844211"/>
            <a:ext cx="7356297" cy="3913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Series Pass Transistor(Q1) : Main regulating element.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Zenner Diode : Provides constant reference voltage.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Voltage Divider(R1, R2) : Samples a fraction of output of feedback.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Error Detector(Op-Amp or transistor base-emitter junction) : Compares and controls base current of the series transistor.</a:t>
            </a:r>
          </a:p>
        </p:txBody>
      </p:sp>
    </p:spTree>
    <p:extLst>
      <p:ext uri="{BB962C8B-B14F-4D97-AF65-F5344CB8AC3E}">
        <p14:creationId xmlns:p14="http://schemas.microsoft.com/office/powerpoint/2010/main" val="2215749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" grpId="0" autoUpdateAnimBg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83DF1-F357-D547-47BB-DA7F3584B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9A358BD-77F4-50F8-47DA-F4D9AA39CB0B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4BC9D98-8C45-28AE-4B71-F7785DDC4CFD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4BD41FD7-E28C-29E9-149B-3FC0BD12CF30}"/>
              </a:ext>
            </a:extLst>
          </p:cNvPr>
          <p:cNvSpPr>
            <a:spLocks noChangeArrowheads="1"/>
          </p:cNvSpPr>
          <p:nvPr>
            <p:custDataLst>
              <p:tags r:id="Rced92f28dcd1457b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Key Takeaways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9B8AD9FE-7A82-5BC1-8DAD-620E3B575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111D156B-DDD9-C9C5-D16D-C9D146D97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1744791"/>
            <a:ext cx="7356297" cy="4610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78XX series delivers fixed positive voltage, ideal for standard supply needs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79XX series provides fixed negative voltage, necessary for dual-rail systems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Both are simple, cost-effective, and widely available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Use capacitors and diodes to enhance reliability and stability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Not suitable for high-current or high-efficiency requirements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74A016-EDAF-4DD5-6FE1-9B1CDC76226A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34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817817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/>
          <p:cNvSpPr/>
          <p:nvPr/>
        </p:nvSpPr>
        <p:spPr>
          <a:xfrm>
            <a:off x="1" y="2004207"/>
            <a:ext cx="9143999" cy="1935817"/>
          </a:xfrm>
          <a:custGeom>
            <a:avLst/>
            <a:gdLst/>
            <a:ahLst/>
            <a:cxnLst/>
            <a:rect l="l" t="t" r="r" b="b"/>
            <a:pathLst>
              <a:path w="7556500" h="26289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5" name="Rectangle 4"/>
          <p:cNvSpPr/>
          <p:nvPr/>
        </p:nvSpPr>
        <p:spPr>
          <a:xfrm>
            <a:off x="1006889" y="2538923"/>
            <a:ext cx="788757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5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DC Regulated Power Supply Concepts and Implementation</a:t>
            </a:r>
            <a:endParaRPr lang="en-US" sz="35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2741" y="5601409"/>
            <a:ext cx="383282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Meet Soni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Faculty (PIT)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Electrical Engineering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12354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DDD1C7-30A8-6F0B-4F00-4DF1E563DD59}"/>
              </a:ext>
            </a:extLst>
          </p:cNvPr>
          <p:cNvSpPr txBox="1"/>
          <p:nvPr/>
        </p:nvSpPr>
        <p:spPr>
          <a:xfrm>
            <a:off x="431076" y="1778284"/>
            <a:ext cx="607422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Content </a:t>
            </a:r>
          </a:p>
          <a:p>
            <a:endParaRPr lang="en-US" sz="2400" dirty="0"/>
          </a:p>
          <a:p>
            <a:pPr marL="457200" indent="-457200">
              <a:buAutoNum type="arabicPeriod"/>
            </a:pPr>
            <a:r>
              <a:rPr lang="en-US" sz="2400" dirty="0"/>
              <a:t>Introduction and Functional Blocks of DC Power Supply</a:t>
            </a:r>
          </a:p>
          <a:p>
            <a:pPr marL="457200" indent="-457200">
              <a:buAutoNum type="arabicPeriod"/>
            </a:pPr>
            <a:r>
              <a:rPr lang="en-US" sz="2400" dirty="0"/>
              <a:t>Working Principle and Voltage Regulation Techniques</a:t>
            </a:r>
          </a:p>
          <a:p>
            <a:pPr marL="457200" indent="-457200">
              <a:buAutoNum type="arabicPeriod"/>
            </a:pPr>
            <a:r>
              <a:rPr lang="en-US" sz="2400" dirty="0"/>
              <a:t>Design Considerations and Thermal Management</a:t>
            </a:r>
          </a:p>
          <a:p>
            <a:pPr marL="457200" indent="-457200">
              <a:buAutoNum type="arabicPeriod"/>
            </a:pPr>
            <a:r>
              <a:rPr lang="en-US" sz="2400" dirty="0"/>
              <a:t>Practical Applications and Implementation Examples</a:t>
            </a:r>
          </a:p>
          <a:p>
            <a:r>
              <a:rPr lang="en-US" sz="2400" dirty="0"/>
              <a:t> </a:t>
            </a:r>
          </a:p>
          <a:p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83556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7D253-7D00-97B5-95E9-E558DBAEC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FE45A01-8120-B0F5-006B-B7115314C763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990BEA-4022-F945-E26B-AC91871E7F83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971F973A-4C88-E8FE-17D5-AC415D0912A8}"/>
              </a:ext>
            </a:extLst>
          </p:cNvPr>
          <p:cNvSpPr>
            <a:spLocks noChangeArrowheads="1"/>
          </p:cNvSpPr>
          <p:nvPr>
            <p:custDataLst>
              <p:tags r:id="R779ae17e5ce441d9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Introduction to DC Regulated Power Supply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89FB6D-7E04-4DD7-7D98-3B13A009BE44}"/>
              </a:ext>
            </a:extLst>
          </p:cNvPr>
          <p:cNvSpPr txBox="1"/>
          <p:nvPr/>
        </p:nvSpPr>
        <p:spPr>
          <a:xfrm>
            <a:off x="729465" y="2119452"/>
            <a:ext cx="7874889" cy="291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DC regulated power supplies convert AC mains into stable DC output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 safe, consistent voltage to circuits like microcontrollers and sensors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Protect sensitive electronic components from input voltage fluctuations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Critical for maintaining accuracy, performance, and safety over time </a:t>
            </a:r>
          </a:p>
        </p:txBody>
      </p:sp>
    </p:spTree>
    <p:extLst>
      <p:ext uri="{BB962C8B-B14F-4D97-AF65-F5344CB8AC3E}">
        <p14:creationId xmlns:p14="http://schemas.microsoft.com/office/powerpoint/2010/main" val="107109131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FBB74-F41E-83CF-4382-7ED5FCFF7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DEC737B-6D3E-89D5-2FCA-E794516C546E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C3EAAC-5512-5187-8856-5D55676BC13A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811CCB6B-1F07-5067-CBE5-B379BE5B325C}"/>
              </a:ext>
            </a:extLst>
          </p:cNvPr>
          <p:cNvSpPr>
            <a:spLocks noChangeArrowheads="1"/>
          </p:cNvSpPr>
          <p:nvPr>
            <p:custDataLst>
              <p:tags r:id="R7916701dfb64484a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Functional Blocks of DC Power Supply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6F6BB9-FCB9-B555-2E6A-3E73CE94680F}"/>
              </a:ext>
            </a:extLst>
          </p:cNvPr>
          <p:cNvSpPr txBox="1"/>
          <p:nvPr/>
        </p:nvSpPr>
        <p:spPr>
          <a:xfrm>
            <a:off x="221227" y="2119452"/>
            <a:ext cx="8509818" cy="2738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Transformer steps down or steps up AC voltage and isolates the circuit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Rectifier converts AC to pulsating DC, commonly using bridge rectifiers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Filter reduces ripple content using capacitors or inductors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Voltage regulator maintains constant output voltage despite load variations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Each block improves signal quality and protects downstream electronics </a:t>
            </a:r>
          </a:p>
        </p:txBody>
      </p:sp>
    </p:spTree>
    <p:extLst>
      <p:ext uri="{BB962C8B-B14F-4D97-AF65-F5344CB8AC3E}">
        <p14:creationId xmlns:p14="http://schemas.microsoft.com/office/powerpoint/2010/main" val="155740099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9536B-2437-5AA8-F09A-C3668FA12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CA1BEDD-9ECA-31A6-ACEE-B0868F988098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8265E9B-67A5-C050-3F2A-7C6B36C9F62E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4613F813-D867-95FA-C62C-7F07B388A837}"/>
              </a:ext>
            </a:extLst>
          </p:cNvPr>
          <p:cNvSpPr>
            <a:spLocks noChangeArrowheads="1"/>
          </p:cNvSpPr>
          <p:nvPr>
            <p:custDataLst>
              <p:tags r:id="R6af226d3690c48f4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Functional Blocks of DC Power Supply</a:t>
            </a:r>
          </a:p>
        </p:txBody>
      </p:sp>
      <p:pic>
        <p:nvPicPr>
          <p:cNvPr id="1026" name="Picture 2" descr="Block diagram of regulated DC power ...">
            <a:extLst>
              <a:ext uri="{FF2B5EF4-FFF2-40B4-BE49-F238E27FC236}">
                <a16:creationId xmlns:a16="http://schemas.microsoft.com/office/drawing/2014/main" id="{AF6E8A50-66C2-06BE-1C8D-11A3F07E9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b00a58cecacb48e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308" y="2755977"/>
            <a:ext cx="8265172" cy="2061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81932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3B65-E0ED-5D6E-3F4A-9C447EED7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318CAC-DDD9-1BE8-BB21-73688B098D3C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C12C36-8709-528E-86A3-6E125CE6569C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45AEA925-89EC-A6AB-10F2-4BDBA550C040}"/>
              </a:ext>
            </a:extLst>
          </p:cNvPr>
          <p:cNvSpPr>
            <a:spLocks noChangeArrowheads="1"/>
          </p:cNvSpPr>
          <p:nvPr>
            <p:custDataLst>
              <p:tags r:id="Re99f9d6b7b8b4a84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Fixed Linear Voltage Regulators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82CBF4-CA2E-6F0A-A760-61984630B2FD}"/>
              </a:ext>
            </a:extLst>
          </p:cNvPr>
          <p:cNvSpPr txBox="1"/>
          <p:nvPr/>
        </p:nvSpPr>
        <p:spPr>
          <a:xfrm>
            <a:off x="221227" y="2119452"/>
            <a:ext cx="8509818" cy="3042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Fixed voltage regulators provide consistent output under varying conditions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Common in low-noise, low-power applications such as analog or embedded systems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They operate in linear mode, dissipating excess voltage as heat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Ideal when simplicity and reliability are more important than efficiency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Widely used in power supplies of radios, sensors, and consumer electronics</a:t>
            </a:r>
          </a:p>
        </p:txBody>
      </p:sp>
    </p:spTree>
    <p:extLst>
      <p:ext uri="{BB962C8B-B14F-4D97-AF65-F5344CB8AC3E}">
        <p14:creationId xmlns:p14="http://schemas.microsoft.com/office/powerpoint/2010/main" val="14460459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6F28C-AC78-DFEB-2AC1-6BA80DB24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8A4E320-61F7-1DED-0752-55F40A96CF14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4B3ACA1-83F0-959A-9ACC-65697A1D0188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89B3158E-5007-5EB2-A98C-94719CC72688}"/>
              </a:ext>
            </a:extLst>
          </p:cNvPr>
          <p:cNvSpPr>
            <a:spLocks noChangeArrowheads="1"/>
          </p:cNvSpPr>
          <p:nvPr>
            <p:custDataLst>
              <p:tags r:id="Ra68efcb432f243ac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Transformer, Rectifier and Filter Stages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AE6BE6-CBB9-3600-1F86-6B4C2F119A10}"/>
              </a:ext>
            </a:extLst>
          </p:cNvPr>
          <p:cNvSpPr txBox="1"/>
          <p:nvPr/>
        </p:nvSpPr>
        <p:spPr>
          <a:xfrm>
            <a:off x="221227" y="2119452"/>
            <a:ext cx="8509818" cy="2128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Transformer adjusts voltage level and provides safety isolation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Rectifiers like bridge circuits provide full-wave DC conversion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Filters smooth DC output using capacitors and LC combinations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Minimizing ripple improves stability of final DC supply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Critical for analog, digital, and communication circuits </a:t>
            </a:r>
          </a:p>
        </p:txBody>
      </p:sp>
    </p:spTree>
    <p:extLst>
      <p:ext uri="{BB962C8B-B14F-4D97-AF65-F5344CB8AC3E}">
        <p14:creationId xmlns:p14="http://schemas.microsoft.com/office/powerpoint/2010/main" val="343541071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83DF1-F357-D547-47BB-DA7F3584B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9A358BD-77F4-50F8-47DA-F4D9AA39CB0B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4BC9D98-8C45-28AE-4B71-F7785DDC4CFD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4BD41FD7-E28C-29E9-149B-3FC0BD12CF30}"/>
              </a:ext>
            </a:extLst>
          </p:cNvPr>
          <p:cNvSpPr>
            <a:spLocks noChangeArrowheads="1"/>
          </p:cNvSpPr>
          <p:nvPr>
            <p:custDataLst>
              <p:tags r:id="Reb0060378cee4483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Voltage Regulator Stage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9B8AD9FE-7A82-5BC1-8DAD-620E3B575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111D156B-DDD9-C9C5-D16D-C9D146D97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1744791"/>
            <a:ext cx="7356297" cy="4610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6699"/>
                </a:solidFill>
              </a:rPr>
              <a:t>Final stage ensures constant output regardless of input or load changes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6699"/>
                </a:solidFill>
              </a:rPr>
              <a:t>Linear regulators (like 78XX) use resistive control to stabilize voltage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6699"/>
                </a:solidFill>
              </a:rPr>
              <a:t>Switching regulators use energy storage and high-frequency switching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6699"/>
                </a:solidFill>
              </a:rPr>
              <a:t>Feedback systems dynamically adjust regulator output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6699"/>
                </a:solidFill>
              </a:rPr>
              <a:t>Ensures circuit functionality even under fluctuating conditions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74A016-EDAF-4DD5-6FE1-9B1CDC76226A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34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0771B-7924-77F1-162E-F742244B2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BD6929-3C38-1B88-9CD2-6EC613FAD925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18A540-49A3-4E1F-1942-8DCEE2BBB1A8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E407007F-3ADC-D1FD-6F01-41DEA892EA25}"/>
              </a:ext>
            </a:extLst>
          </p:cNvPr>
          <p:cNvSpPr>
            <a:spLocks noChangeArrowheads="1"/>
          </p:cNvSpPr>
          <p:nvPr>
            <p:custDataLst>
              <p:tags r:id="R6e04259a58ea475e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Voltage Regulator Stage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969B2F29-8679-CB2C-F027-F93C62BB6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0469C8-6981-42B8-77EB-DBD867898760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4EE4C1-06D0-37F3-165D-31842B9C9843}"/>
              </a:ext>
            </a:extLst>
          </p:cNvPr>
          <p:cNvPicPr>
            <a:picLocks noChangeAspect="1"/>
          </p:cNvPicPr>
          <p:nvPr/>
        </p:nvPicPr>
        <p:blipFill>
          <a:blip r:embed="R7744cc4a343042c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271" y="2318774"/>
            <a:ext cx="4236808" cy="336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94158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647B1-CA2A-E275-80A3-65AE8B689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5B3EFBB-5C21-87CF-1BBA-911AB0045349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D58A373-78F6-B0B5-0AE1-110F4E2276CB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496140FE-BEEA-C490-6277-99026BAC495C}"/>
              </a:ext>
            </a:extLst>
          </p:cNvPr>
          <p:cNvSpPr>
            <a:spLocks noChangeArrowheads="1"/>
          </p:cNvSpPr>
          <p:nvPr>
            <p:custDataLst>
              <p:tags r:id="R70597daecc804b4e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Working Principle of Regulated </a:t>
            </a:r>
            <a:r>
              <a:rPr lang="en-US" altLang="en-US" sz="2400" b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Power Supply</a:t>
            </a:r>
            <a:endParaRPr lang="en-IN" altLang="en-US" sz="2400" b="1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045ED9E7-F4DE-A3C7-2FF9-7FC57391C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04A2E57D-A78B-FD86-CE27-C56321FC8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308" y="2120430"/>
            <a:ext cx="7356297" cy="2579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AC input is stepped down and isolated via transformer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Rectifier converts AC to unsteady DC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Filter smooths waveform to reduce ripple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Voltage regulator locks output to desired constant value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Ensures reliable and noise-free DC power for electronics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BD747B-5CE0-E5F7-1645-176293010B12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267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745E1-3FF1-BD1D-F50D-10AFA8D8C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375311-8C28-A2BF-6A74-A8F1006D2717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51B9FF3-CB6C-5AE4-DA91-C4E05AB2413F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12E8BA81-037F-80B9-2F7F-B8FDD072F88D}"/>
              </a:ext>
            </a:extLst>
          </p:cNvPr>
          <p:cNvSpPr>
            <a:spLocks noChangeArrowheads="1"/>
          </p:cNvSpPr>
          <p:nvPr>
            <p:custDataLst>
              <p:tags r:id="Rd676dc9d60e0478e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Voltage Regulation Techniques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460A886D-FD63-63AF-AD13-8ECB37F4E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E192C3AB-26FD-9E37-2809-9E68430A1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1998707"/>
            <a:ext cx="7356297" cy="4102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Linear Regulation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Simple design, low ripple output, but inefficient due to heat loss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Ideal for low-noise sensitive applications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Switching Regulation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Efficient power conversion with reduced heat generation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More complex circuitry, additional filtering needed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Used in battery-operated, high-efficiency systems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1910F4-0E2F-7150-B3DC-87EC8C7DC38B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887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C8F0A-1823-A08E-C621-39F8EDF81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2A164A-83EC-1323-8310-29E5E9BA8E78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357A9C-88EC-4621-CDDE-A5A93A9839B4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E120A391-8985-65E4-F065-F169CB4752AB}"/>
              </a:ext>
            </a:extLst>
          </p:cNvPr>
          <p:cNvSpPr>
            <a:spLocks noChangeArrowheads="1"/>
          </p:cNvSpPr>
          <p:nvPr>
            <p:custDataLst>
              <p:tags r:id="Rbd8b3df2d12f426f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Design Considerations and Thermal Management</a:t>
            </a:r>
            <a:endParaRPr lang="en-IN" altLang="en-US" sz="2400" b="1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85F3CA8F-0B25-4CF3-360D-99BA2F561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AF8AE637-DCB9-6DB8-DCB2-2AF0FF898D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1744791"/>
            <a:ext cx="7356297" cy="4610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Heat sinks must be attached to linear regulators for safe operation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Power dissipation = (Vin – </a:t>
            </a:r>
            <a:r>
              <a:rPr lang="en-US" sz="2200" dirty="0" err="1"/>
              <a:t>Vout</a:t>
            </a:r>
            <a:r>
              <a:rPr lang="en-US" sz="2200" dirty="0"/>
              <a:t>) × </a:t>
            </a:r>
            <a:r>
              <a:rPr lang="en-US" sz="2200" dirty="0" err="1"/>
              <a:t>Iload</a:t>
            </a:r>
            <a:r>
              <a:rPr lang="en-US" sz="2200" dirty="0"/>
              <a:t>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Ventilation and thermal shutdown circuits improve longevity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Proper capacitor placement improves stability and transient response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Component protection is vital against overload, short circuits, and reverse polarity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04EB64-BF95-A275-02B2-C46EB78773FB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203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9A58F-ED7B-9E2A-7D8B-9A5AF800A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EFC1CA-7F86-DB6E-EF92-72767D7E8D7D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986CF0B-5DD8-3105-AF89-822D5906892F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C136BE95-9F02-8BD1-7DE5-AA68222E1D91}"/>
              </a:ext>
            </a:extLst>
          </p:cNvPr>
          <p:cNvSpPr>
            <a:spLocks noChangeArrowheads="1"/>
          </p:cNvSpPr>
          <p:nvPr>
            <p:custDataLst>
              <p:tags r:id="R2afcd2a50df44191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Practical Applications and Examples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6C3C00EA-5E6E-AEAA-56D2-FBB0EB977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663F5D05-54FE-853F-0AF5-04016E8CBB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1744791"/>
            <a:ext cx="8059958" cy="4610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Example: 7805 circuit provides stable +5V from 9V–12V input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Input capacitor 0.33µF suppresses noise, output capacitor 0.1µF stabilizes output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Applications include microcontroller boards, sensor circuits, and industrial controllers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Regulated supplies power oscilloscopes, PLCs, and communication equipment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Essential for ensuring precise voltage in test instruments and embedded devices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C1A0C4-E66D-75D5-7847-CEF394B0DDEC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676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D354F-C3C9-D880-39FE-86D5E6120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438F38B-3474-DEC2-F7C1-A8EED5FF5D63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ABDCC94-59D1-E6CD-BE83-0983C16A5BCA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24E6C9EC-BA94-E1E4-3194-086756434D2C}"/>
              </a:ext>
            </a:extLst>
          </p:cNvPr>
          <p:cNvSpPr>
            <a:spLocks noChangeArrowheads="1"/>
          </p:cNvSpPr>
          <p:nvPr>
            <p:custDataLst>
              <p:tags r:id="R7865a79ea27847ab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 Key Takeaways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E338E7D9-F0C8-8B7A-95C4-A243ACAD41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09CEBBE9-C49D-BC9E-8441-49206D436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1998707"/>
            <a:ext cx="8059958" cy="4102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DC regulated power supply provides safe and reliable DC output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Key stages include transformer, rectifier, filter, and regulator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Linear regulators are simple but inefficient at high currents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Switching regulators are efficient but complex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Design must focus on heat management, ripple reduction, and voltage stability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Applications span from consumer electronics to industrial automation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1B72F7-2B32-F279-8736-CB1775189697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189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817817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/>
          <p:cNvSpPr/>
          <p:nvPr/>
        </p:nvSpPr>
        <p:spPr>
          <a:xfrm>
            <a:off x="1" y="2004207"/>
            <a:ext cx="9143999" cy="1935817"/>
          </a:xfrm>
          <a:custGeom>
            <a:avLst/>
            <a:gdLst/>
            <a:ahLst/>
            <a:cxnLst/>
            <a:rect l="l" t="t" r="r" b="b"/>
            <a:pathLst>
              <a:path w="7556500" h="26289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5" name="Rectangle 4"/>
          <p:cNvSpPr/>
          <p:nvPr/>
        </p:nvSpPr>
        <p:spPr>
          <a:xfrm>
            <a:off x="1006889" y="2538923"/>
            <a:ext cx="788757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5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to Transducers Basics and Definitions</a:t>
            </a:r>
            <a:endParaRPr lang="en-US" sz="35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2741" y="5601409"/>
            <a:ext cx="383282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Meet Soni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Faculty (PIT)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Electrical Engineering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12354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DDD1C7-30A8-6F0B-4F00-4DF1E563DD59}"/>
              </a:ext>
            </a:extLst>
          </p:cNvPr>
          <p:cNvSpPr txBox="1"/>
          <p:nvPr/>
        </p:nvSpPr>
        <p:spPr>
          <a:xfrm>
            <a:off x="431076" y="1778284"/>
            <a:ext cx="607422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Content </a:t>
            </a:r>
          </a:p>
          <a:p>
            <a:endParaRPr lang="en-US" sz="2400" dirty="0"/>
          </a:p>
          <a:p>
            <a:pPr marL="457200" indent="-457200">
              <a:buAutoNum type="arabicPeriod"/>
            </a:pPr>
            <a:r>
              <a:rPr lang="en-US" sz="2400" dirty="0"/>
              <a:t>Fundamentals of Transducers</a:t>
            </a:r>
          </a:p>
          <a:p>
            <a:pPr marL="457200" indent="-457200">
              <a:buAutoNum type="arabicPeriod"/>
            </a:pPr>
            <a:r>
              <a:rPr lang="en-US" sz="2400" dirty="0"/>
              <a:t>Core Characteristics and Functions</a:t>
            </a:r>
          </a:p>
          <a:p>
            <a:pPr marL="457200" indent="-457200">
              <a:buAutoNum type="arabicPeriod"/>
            </a:pPr>
            <a:r>
              <a:rPr lang="en-US" sz="2400" dirty="0"/>
              <a:t>Types and Classification Overview</a:t>
            </a:r>
          </a:p>
          <a:p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83556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E359E-7012-07A1-50DA-255C6FA78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56061E4-228D-C1FC-8530-CEA9B9D76FBC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71DC1CB-330E-B0F8-FCB9-01E46EEED0A5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85916653-3607-4B54-506B-1AACE1C5239E}"/>
              </a:ext>
            </a:extLst>
          </p:cNvPr>
          <p:cNvSpPr>
            <a:spLocks noChangeArrowheads="1"/>
          </p:cNvSpPr>
          <p:nvPr>
            <p:custDataLst>
              <p:tags r:id="Rffa59d8b1702436e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Fundamentals of Transducers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685A7A-AA40-A798-4F1A-025336853CCC}"/>
              </a:ext>
            </a:extLst>
          </p:cNvPr>
          <p:cNvSpPr txBox="1"/>
          <p:nvPr/>
        </p:nvSpPr>
        <p:spPr>
          <a:xfrm>
            <a:off x="539309" y="2119452"/>
            <a:ext cx="7546453" cy="3652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transducer converts one form of energy into another form  </a:t>
            </a:r>
          </a:p>
          <a:p>
            <a:pPr marL="228600" marR="0" lvl="0" indent="-228600" algn="just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Mainly converts physical quantities like temperature, pressure, light into electrical signals  </a:t>
            </a:r>
          </a:p>
          <a:p>
            <a:pPr marL="228600" marR="0" lvl="0" indent="-228600" algn="just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Examples include thermocouples, microphones, strain gauges, and photodiodes  </a:t>
            </a:r>
          </a:p>
          <a:p>
            <a:pPr marL="228600" marR="0" lvl="0" indent="-228600" algn="just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Transducers bridge the gap between the physical environment and digital processing systems  </a:t>
            </a:r>
          </a:p>
          <a:p>
            <a:pPr marL="228600" marR="0" lvl="0" indent="-228600" algn="just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Widely used in automation, medical devices, robotics, and industrial controls </a:t>
            </a:r>
            <a:endParaRPr lang="en-US" altLang="en-US" sz="2200" dirty="0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0796304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83DF1-F357-D547-47BB-DA7F3584B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9A358BD-77F4-50F8-47DA-F4D9AA39CB0B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4BC9D98-8C45-28AE-4B71-F7785DDC4CFD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4BD41FD7-E28C-29E9-149B-3FC0BD12CF30}"/>
              </a:ext>
            </a:extLst>
          </p:cNvPr>
          <p:cNvSpPr>
            <a:spLocks noChangeArrowheads="1"/>
          </p:cNvSpPr>
          <p:nvPr>
            <p:custDataLst>
              <p:tags r:id="Re8ce21044970436c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Basic Elements of a Transducer System</a:t>
            </a:r>
            <a:endParaRPr lang="en-IN" altLang="en-US" sz="2400" b="1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9B8AD9FE-7A82-5BC1-8DAD-620E3B575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111D156B-DDD9-C9C5-D16D-C9D146D97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1998707"/>
            <a:ext cx="8059958" cy="4102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Sensing Element directly interacts with the physical quantity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Examples include strain gauges, thermistors, or photodiodes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Transduction Element converts sensed change into an electrical signal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Examples include resistance change, voltage output, or capacitance variation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Combined operation ensures accurate detection and reliable signal output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74A016-EDAF-4DD5-6FE1-9B1CDC76226A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34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3EB15-6BB8-3788-46B3-034F11BCC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7C4BD83-E7A9-9C7E-984E-112A6E57F49C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4C07FC3-FDAE-31FB-EA84-42676274B296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C313EE79-9197-D29B-0BDC-D2E0DEE33BC0}"/>
              </a:ext>
            </a:extLst>
          </p:cNvPr>
          <p:cNvSpPr>
            <a:spLocks noChangeArrowheads="1"/>
          </p:cNvSpPr>
          <p:nvPr>
            <p:custDataLst>
              <p:tags r:id="R70b40619ebf64453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Characteristics of a Good Transducer</a:t>
            </a:r>
            <a:endParaRPr lang="en-IN" altLang="en-US" sz="2400" b="1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168E4EA7-A17A-B48F-86F9-D07E2F63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4567EA8A-530D-751D-6EA7-55417D3D3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309" y="2305086"/>
            <a:ext cx="7546454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Sensitivity: Large output for small input change improves measurement precision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Linearity: Input-output relation should ideally be directly proportional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Accuracy: Output must match actual physical quantity as close as possible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Response Time: Fast response is critical for dynamic system performance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Stability: Maintains accuracy and performance over time and environmental changes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7DF290-007E-35FE-5DBB-23917572C8FB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167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115E7-2F4B-B6D6-AAF7-84EFFC80B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1BF1B8-2864-7529-8393-EBF98BB9B41E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FD581CA-2FF1-2A4D-FFA9-466027A765A0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4E9293DD-3FC9-B669-5E6F-1AB0CA520693}"/>
              </a:ext>
            </a:extLst>
          </p:cNvPr>
          <p:cNvSpPr>
            <a:spLocks noChangeArrowheads="1"/>
          </p:cNvSpPr>
          <p:nvPr>
            <p:custDataLst>
              <p:tags r:id="R12225da14da84a68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Classification Based on Energy Conversion and Output</a:t>
            </a:r>
            <a:endParaRPr lang="en-IN" altLang="en-US" sz="2400" b="1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E703E0A4-4C13-3D4D-6897-CFBA62822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EAFA0C5A-9076-D46E-CB2F-67F0A3D1A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308" y="2120437"/>
            <a:ext cx="7720272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Active Transducers generate output without external energy (e.g., thermocouples)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Passive Transducers need external power to operate (e.g., strain gauges)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Analog Transducers provide continuous signals (e.g., temperature sensors)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Digital Transducers provide discrete signals (e.g., optical encoders)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Classification helps in selecting the right transducer for an application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CB57DD-F42F-A055-3D58-BD4DA07690D0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555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2904A-4202-D531-9A89-5A4D7CEA2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2AA35E3-8BCE-F39C-0FC1-A797BF9EB0A7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2FCB5D-67B9-3F3C-CB32-D64D3E9F7ABC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9D1D72D8-4484-FC17-CC1D-FFD3D58AC517}"/>
              </a:ext>
            </a:extLst>
          </p:cNvPr>
          <p:cNvSpPr>
            <a:spLocks noChangeArrowheads="1"/>
          </p:cNvSpPr>
          <p:nvPr>
            <p:custDataLst>
              <p:tags r:id="R125b9d05caa44e15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Classification Based on Physical Quantity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17332A66-5A55-7BC3-157C-BE8D0B7D6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68A2632B-7359-659D-D992-5E4B893980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4" y="2588153"/>
            <a:ext cx="7356297" cy="2462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Temperature: Thermocouples, Thermistors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Pressure: Strain gauges, Piezoelectric sensors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Light Intensity: Photodiodes, LDRs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Displacement: LVDTs, Potentiometers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Sound: Microphones, Piezo buzzers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Each category specializes in detecting a specific kind of physical event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116926-A168-6F7C-3D6A-A0488131A4F3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986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4A6EC-2BE8-7F70-C0BC-26E1E47C2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0BAF2D-3E9D-BA41-D867-9982409A9F66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A87DC9-93EC-5F10-6146-A9F7CD10AEFC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15F7A244-4DC7-CF6B-AE32-172AD2C66D30}"/>
              </a:ext>
            </a:extLst>
          </p:cNvPr>
          <p:cNvSpPr>
            <a:spLocks noChangeArrowheads="1"/>
          </p:cNvSpPr>
          <p:nvPr>
            <p:custDataLst>
              <p:tags r:id="Ra2d4ab519d2f4f8e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Classification Based on Physical Quantity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658C5011-A727-22FF-CCEB-B4860F609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6BD94B-94B0-EF2B-ECD4-36C75B541279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7B1FAF-8DB0-748E-6000-0BF829D7ED1A}"/>
              </a:ext>
            </a:extLst>
          </p:cNvPr>
          <p:cNvPicPr>
            <a:picLocks noChangeAspect="1"/>
          </p:cNvPicPr>
          <p:nvPr/>
        </p:nvPicPr>
        <p:blipFill>
          <a:blip r:embed="R81e51f6ae663428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857" y="2227669"/>
            <a:ext cx="7114286" cy="3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9331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64E92-955F-B8C9-7562-38CFE2740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CA6866A-E7B0-6A0A-F711-C01880015101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2E9971D-C35A-FDE9-64D5-A9440D8BCF34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C5300EB9-31F5-AF55-634A-A634DBC0B1BB}"/>
              </a:ext>
            </a:extLst>
          </p:cNvPr>
          <p:cNvSpPr>
            <a:spLocks noChangeArrowheads="1"/>
          </p:cNvSpPr>
          <p:nvPr>
            <p:custDataLst>
              <p:tags r:id="R86c49df1a2ca4b8f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Types of Transducers – Overview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416D2024-0539-C107-1620-8A43373A9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4AF3D720-8308-2C4E-99D0-33247BA2E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2311036"/>
            <a:ext cx="7356297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Resistive Transducers: Measure change in resistance due to input (e.g., potentiometers)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Inductive Transducers: Detect change in inductance (e.g., LVDTs)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Capacitive Transducers: Sense variations in capacitance (e.g., humidity sensors)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Piezoelectric Transducers: Generate voltage when mechanically stressed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Optical Transducers: Convert light intensity into measurable electrical signals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236FE4-3F4C-5606-CF14-397331B9D390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76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9A1F9-BF8C-546B-6995-0FB7CC5D3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783C6E-ECAE-280D-2A18-5D4B0AC54026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FDA3973-DC72-AED1-C106-D1F80238A04D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CF35FE95-4A2C-F35F-1367-B75FDA815EA8}"/>
              </a:ext>
            </a:extLst>
          </p:cNvPr>
          <p:cNvSpPr>
            <a:spLocks noChangeArrowheads="1"/>
          </p:cNvSpPr>
          <p:nvPr>
            <p:custDataLst>
              <p:tags r:id="Re233d14bccbb4756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Advantages of Using Transducers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1BB9374A-4710-034B-0A38-ED7AF091A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A4E8C204-1FC1-A8A5-C402-812FFA8FE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345" y="1926919"/>
            <a:ext cx="8193309" cy="3086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High sensitivity allows detection of minute physical changes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Fast response time enables real-time monitoring and control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Compact size allows easy integration into embedded electronics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Simple interfacing with microcontrollers and data acquisition systems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Crucial for building intelligent, automated, and responsive devices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B3BCDF-305F-148B-F50D-030191DE8806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819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81FAC-5679-F3FE-E35D-C37442E9C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5394CE-294F-B468-F74A-8814ABA5D5B4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B36A98-CBF0-3583-50AA-5653E99C2790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F34955CF-46E0-A399-4471-0BB9E9F8B494}"/>
              </a:ext>
            </a:extLst>
          </p:cNvPr>
          <p:cNvSpPr>
            <a:spLocks noChangeArrowheads="1"/>
          </p:cNvSpPr>
          <p:nvPr>
            <p:custDataLst>
              <p:tags r:id="R4a2a617f70e04507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Limitations and Challenges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3ECA11C4-FB8C-5654-BAB8-77D75C175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7C91D131-08A5-EA4F-EEF4-12B6D7AAA8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2252622"/>
            <a:ext cx="8059958" cy="3594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Non-linearity in some transducers affects measurement accuracy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Environmental factors like temperature and humidity may affect performance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Periodic calibration is needed to maintain precision over time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Signal conditioning like amplification and filtering is often necessary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Proper packaging is needed for hostile or industrial environments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036B73-06CA-C0AC-9843-D3685CE33A77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825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DF72D-751F-5819-B941-91E965B3B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5AB82FB-8E0A-5689-03BC-B6AA546A42B8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75FFA52-B0DC-133E-605D-224795466D9C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6D2928B5-6155-D8AA-D9D1-0D51AE16F7DA}"/>
              </a:ext>
            </a:extLst>
          </p:cNvPr>
          <p:cNvSpPr>
            <a:spLocks noChangeArrowheads="1"/>
          </p:cNvSpPr>
          <p:nvPr>
            <p:custDataLst>
              <p:tags r:id="Rf8663c2fd17940e9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Key Takeaways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00B60C23-992F-3F7C-8697-9BFFA4D9F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4567A7FB-EF92-2E71-9E53-08D3B67635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1998707"/>
            <a:ext cx="7356297" cy="4102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Shunt regulators are parallel voltage circuits.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They work by shunting excess current to maintain a constant output voltage.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Zener diode is the core components in most basic shunt regulators.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Efficient for low-power, steady-load applications.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Not ideal for high-current or dynamic-load systems due to energy inefficiency.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5491A6-C249-8B48-5FCB-9BEC4CC15F9F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925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D676B-6220-7441-70BA-D5B9A45D5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097DF2-8880-AEA4-9B8C-8BA0418A147E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93F2C7B-C951-8E99-BD3A-1ED3C8C153D9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D58539B4-9425-4EA4-CED8-E19945A33596}"/>
              </a:ext>
            </a:extLst>
          </p:cNvPr>
          <p:cNvSpPr>
            <a:spLocks noChangeArrowheads="1"/>
          </p:cNvSpPr>
          <p:nvPr>
            <p:custDataLst>
              <p:tags r:id="R86d024a7b4f7404c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Practical Applications and Real-Life Example</a:t>
            </a:r>
            <a:endParaRPr lang="en-IN" altLang="en-US" sz="2400" b="1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9236D74F-1E1E-0124-1257-85814548B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76D7B077-6F11-5D1F-EDF6-63D0983EC7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1998707"/>
            <a:ext cx="8149064" cy="4102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Medical: ECG, blood pressure monitors, digital thermometers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Industrial: Load cells, pressure sensors, position encoders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Consumer Electronics: Proximity sensors in smartphones, microphones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Environmental Monitoring: Weather sensors for temperature, humidity, air quality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Real-life Example: Thermocouple converts temperature difference into voltage using </a:t>
            </a:r>
            <a:r>
              <a:rPr lang="en-US" sz="2200" dirty="0" err="1"/>
              <a:t>Seebeck</a:t>
            </a:r>
            <a:r>
              <a:rPr lang="en-US" sz="2200" dirty="0"/>
              <a:t> effect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5D328B-8CD1-3226-1682-3BC9166F25A0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279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C76D5-5698-1472-0988-D46661F8E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1E886C-FC15-DA90-C369-7D03E74D9521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72205B8-78A5-C8F2-F4EB-9B438D47C265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BA122B4B-F56B-EF60-ACCF-B0DE6A14BFDD}"/>
              </a:ext>
            </a:extLst>
          </p:cNvPr>
          <p:cNvSpPr>
            <a:spLocks noChangeArrowheads="1"/>
          </p:cNvSpPr>
          <p:nvPr>
            <p:custDataLst>
              <p:tags r:id="R4d13c749b8564d74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Key Takeaways</a:t>
            </a:r>
            <a:endParaRPr lang="en-IN" altLang="en-US" sz="2400" b="1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ECA84AFB-895B-3FAA-E429-24EE80237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3EDB0EC9-E30D-8D2D-9026-35FF29174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577" y="1866737"/>
            <a:ext cx="8294976" cy="4102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Transducers convert physical phenomena into electrical signals and vice versa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They are classified by energy conversion type, signal output, and measured quantity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Core characteristics like sensitivity, linearity, and accuracy define their performance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Widely used across medical, industrial, aerospace, and consumer sectors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31BF9D-B68B-8488-8AAF-D1AD620D38AB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680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817817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/>
          <p:cNvSpPr/>
          <p:nvPr/>
        </p:nvSpPr>
        <p:spPr>
          <a:xfrm>
            <a:off x="1" y="2004207"/>
            <a:ext cx="9143999" cy="1935817"/>
          </a:xfrm>
          <a:custGeom>
            <a:avLst/>
            <a:gdLst/>
            <a:ahLst/>
            <a:cxnLst/>
            <a:rect l="l" t="t" r="r" b="b"/>
            <a:pathLst>
              <a:path w="7556500" h="26289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5" name="Rectangle 4"/>
          <p:cNvSpPr/>
          <p:nvPr/>
        </p:nvSpPr>
        <p:spPr>
          <a:xfrm>
            <a:off x="1006889" y="2538923"/>
            <a:ext cx="7887578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5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Classification and Types of Transducers</a:t>
            </a:r>
            <a:endParaRPr lang="en-US" sz="35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2741" y="5601409"/>
            <a:ext cx="383282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Meet Soni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Faculty (PIT)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Electrical Engineering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12354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DDD1C7-30A8-6F0B-4F00-4DF1E563DD59}"/>
              </a:ext>
            </a:extLst>
          </p:cNvPr>
          <p:cNvSpPr txBox="1"/>
          <p:nvPr/>
        </p:nvSpPr>
        <p:spPr>
          <a:xfrm>
            <a:off x="431076" y="1778284"/>
            <a:ext cx="607422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Content </a:t>
            </a:r>
          </a:p>
          <a:p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Classification by Function and Energy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Classification by Measured Quantity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Classification by Transduction Mechanism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Selection and Examples </a:t>
            </a:r>
          </a:p>
          <a:p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83556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7D253-7D00-97B5-95E9-E558DBAEC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FE45A01-8120-B0F5-006B-B7115314C763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990BEA-4022-F945-E26B-AC91871E7F83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971F973A-4C88-E8FE-17D5-AC415D0912A8}"/>
              </a:ext>
            </a:extLst>
          </p:cNvPr>
          <p:cNvSpPr>
            <a:spLocks noChangeArrowheads="1"/>
          </p:cNvSpPr>
          <p:nvPr>
            <p:custDataLst>
              <p:tags r:id="R4d1957e4db344eba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Introduction to Classifications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89FB6D-7E04-4DD7-7D98-3B13A009BE44}"/>
              </a:ext>
            </a:extLst>
          </p:cNvPr>
          <p:cNvSpPr txBox="1"/>
          <p:nvPr/>
        </p:nvSpPr>
        <p:spPr>
          <a:xfrm>
            <a:off x="221227" y="2119452"/>
            <a:ext cx="8509818" cy="2433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Transducers connect real-world physical events to digital systems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Classified based on energy conversion, signal type, measurement quantity, and mechanism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Correct classification improves design accuracy and system efficiency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Used extensively in instrumentation, control, robotics, and automation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Understanding classifications helps in targeted engineering applications </a:t>
            </a:r>
          </a:p>
        </p:txBody>
      </p:sp>
    </p:spTree>
    <p:extLst>
      <p:ext uri="{BB962C8B-B14F-4D97-AF65-F5344CB8AC3E}">
        <p14:creationId xmlns:p14="http://schemas.microsoft.com/office/powerpoint/2010/main" val="1071091310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83DF1-F357-D547-47BB-DA7F3584B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9A358BD-77F4-50F8-47DA-F4D9AA39CB0B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4BC9D98-8C45-28AE-4B71-F7785DDC4CFD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4BD41FD7-E28C-29E9-149B-3FC0BD12CF30}"/>
              </a:ext>
            </a:extLst>
          </p:cNvPr>
          <p:cNvSpPr>
            <a:spLocks noChangeArrowheads="1"/>
          </p:cNvSpPr>
          <p:nvPr>
            <p:custDataLst>
              <p:tags r:id="R92110c2e5ad44a2f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Classification by Energy Conversion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9B8AD9FE-7A82-5BC1-8DAD-620E3B575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111D156B-DDD9-C9C5-D16D-C9D146D97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616" y="1936768"/>
            <a:ext cx="8222806" cy="4102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Active Transducers generate output signal without external power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Examples include thermocouples, piezoelectric sensors, photovoltaic cells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Advantages are simple construction and no need for excitation voltage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Passive Transducers require external excitation for operation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Examples include strain gauges, RTDs, and LVDTs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Provide high sensitivity but need signal conditioning for use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74A016-EDAF-4DD5-6FE1-9B1CDC76226A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34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87E6E-0500-B113-3BF7-96182D2A4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5DC1D6F-C07C-A1B6-8FD4-A00688537E14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C68782-A197-CC8B-8275-30049999B973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09E410AA-975C-E552-B344-86E92F122B7A}"/>
              </a:ext>
            </a:extLst>
          </p:cNvPr>
          <p:cNvSpPr>
            <a:spLocks noChangeArrowheads="1"/>
          </p:cNvSpPr>
          <p:nvPr>
            <p:custDataLst>
              <p:tags r:id="R8c3a17b9b74c42ea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Classification by Output Signal Type</a:t>
            </a:r>
            <a:endParaRPr lang="en-IN" altLang="en-US" sz="2400" b="1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AFB6C216-FCA2-C763-3997-71E704C1F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8BEDC1C7-53B8-DF67-B996-6725F4DF9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1744791"/>
            <a:ext cx="7685070" cy="4610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Analog Transducers produce continuous output signals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Examples include thermistors, potentiometers, and LVDTs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Used for continuous monitoring and real-time control applications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Digital Transducers produce discrete binary or pulse signals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Examples include optical encoders, proximity switches, Hall effect sensors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Suitable for microcontroller interfacing and digital automation systems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7D947-2057-80B9-22F9-DE5C06DD9CD3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847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208BD-0E04-BA4B-29B5-FB84BF6D6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A1B372B-3B7D-6F13-CCF0-3AD666E49843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571616-A979-4E46-64FB-D4B20B395808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1A062A89-48ED-952B-A2FF-C5E769968AF2}"/>
              </a:ext>
            </a:extLst>
          </p:cNvPr>
          <p:cNvSpPr>
            <a:spLocks noChangeArrowheads="1"/>
          </p:cNvSpPr>
          <p:nvPr>
            <p:custDataLst>
              <p:tags r:id="R0f9fec2d100c4c3c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Classification by Measured Quantity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9D54CCF5-1ED4-6738-44DD-59B2C097E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DF19335B-639A-A2C9-790A-B5A3BA43A6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1744791"/>
            <a:ext cx="8059958" cy="4610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Transducers are classified by the physical quantity they measure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Temperature: Thermocouples, RTDs, Thermistors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Pressure: Strain gauges, Piezo sensors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Light Intensity: Photodiodes, LDRs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Sound: Microphones, Ultrasonic sensors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Displacement: LVDTs, Potentiometers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Humidity: Hygrometers, Capacitive sensors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Acceleration: Accelerometers using piezoelectric or capacitive effects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59CB5D-63DB-3A81-30CD-E45394EF2A53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559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4C3B6-4F17-B8A8-D908-EEBE6C317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A55FEAA-6FCB-B7C4-1BE7-582702AA46F0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7C4606B-6F9F-93CA-40C9-CC75D86C1AFB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C59D6E89-EF29-DFF7-0FD9-8EAC779296D3}"/>
              </a:ext>
            </a:extLst>
          </p:cNvPr>
          <p:cNvSpPr>
            <a:spLocks noChangeArrowheads="1"/>
          </p:cNvSpPr>
          <p:nvPr>
            <p:custDataLst>
              <p:tags r:id="R091b83ce8a0b4b9d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Classification by Transduction Mechanism – I</a:t>
            </a:r>
            <a:endParaRPr lang="en-IN" altLang="en-US" sz="2400" b="1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2DDBEAE9-7781-CBB9-4A1B-531CC6012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F87752E8-C764-B5FA-6946-44F1665A72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1998707"/>
            <a:ext cx="7356297" cy="4102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Resistive Transducers vary resistance with input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Examples are strain gauges, thermistors, potentiometers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Inductive Transducers vary inductance with displacement or motion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Examples include LVDTs and variable inductance sensors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Capacitive Transducers vary capacitance with distance or dielectric change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Examples include proximity and humidity sensors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64948D-ADD9-C552-F9F8-15DDFA20E9EF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930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B59B8-8D28-B652-1C63-310B566EC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70FF68-62EB-BF7C-FA3D-C566AF353C1D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99739D9-3343-A8FE-3FA0-1F3EFE5317F4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27ED3BB8-78B7-3754-6A07-280482CF1A8A}"/>
              </a:ext>
            </a:extLst>
          </p:cNvPr>
          <p:cNvSpPr>
            <a:spLocks noChangeArrowheads="1"/>
          </p:cNvSpPr>
          <p:nvPr>
            <p:custDataLst>
              <p:tags r:id="Raf1a02bf02cb448e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Classification by Transduction Mechanism – II</a:t>
            </a:r>
            <a:endParaRPr lang="en-IN" altLang="en-US" sz="2400" b="1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9AF09489-0FD8-C7E1-FE7B-A8BB04C6A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67FD79D2-8982-FFF9-8562-086EDDCDD0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1744791"/>
            <a:ext cx="7986832" cy="4610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Piezoelectric Transducers generate voltage under mechanical stress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Examples include vibration detectors, microphones, ultrasonic sensors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Optical Transducers generate current or voltage proportional to light intensity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Examples include photodiodes, LDRs, phototransistors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Choice of mechanism depends on application sensitivity and environment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12FDF0-F743-A56F-C81C-B0EFFB407D6C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25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CC51D-CC48-663B-7932-E9A12782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4E458B7-67E2-F080-1735-BC5394679D65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4570F3C-109D-5913-4911-6F48F3485076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E23F277D-61E2-B581-DF58-B4EEE306A571}"/>
              </a:ext>
            </a:extLst>
          </p:cNvPr>
          <p:cNvSpPr>
            <a:spLocks noChangeArrowheads="1"/>
          </p:cNvSpPr>
          <p:nvPr>
            <p:custDataLst>
              <p:tags r:id="Ra853139aed564af8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Classification Based on Application Function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79F110F5-ED20-F726-4B08-5505DF759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B024C651-E299-BD25-4C47-DBB71A9BDB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1746171"/>
            <a:ext cx="8216628" cy="4610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Input Transducers convert physical phenomena into electrical signals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Examples are microphones, load cells, accelerometers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Output Transducers convert electrical signals into physical action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Examples are loudspeakers, relays, actuators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Signal Conditioning Transducers modify signal for next processing stage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Examples include amplifier-integrated sensors, ADC interfaced systems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A03FAA-715B-3A7F-DAE2-D7CECCB28CCF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525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6D615-6459-823D-7F33-3436D2E86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55DB389-54B7-EC3D-8F2F-FC716766D70A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DFBB55-2A96-ACC9-A099-D778D05F8A82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D076EEA4-5928-7477-98D7-F6E6DD5B8901}"/>
              </a:ext>
            </a:extLst>
          </p:cNvPr>
          <p:cNvSpPr>
            <a:spLocks noChangeArrowheads="1"/>
          </p:cNvSpPr>
          <p:nvPr>
            <p:custDataLst>
              <p:tags r:id="R02278a7727454f5e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Selection Criteria for Transducers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D61E48CB-B52B-2CC8-ABD9-730A36EBE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7263B341-4F70-E33B-50C9-2A03F5635B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1998707"/>
            <a:ext cx="8059958" cy="4102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Range: Transducer must cover the measurable range accurately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Sensitivity: High sensitivity improves measurement precision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Linearity: Essential for direct input-output relationship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Frequency Response: Must match dynamic nature of application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Environmental Resistance: Temperature, humidity, and vibration tolerance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Output Compatibility: Should match acquisition and processing system standards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B93AC1-5C91-61A5-D35D-4EDE81393FBC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041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E56A4-5CFD-2D64-911E-62C3C2447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6F18B4-0BBF-A3E1-59AF-69431EFCAF70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A3A6B11-2D42-8E0D-8E28-2C04AC6E2428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DE117CB4-8751-19E4-5B6B-BD5AE36C48E0}"/>
              </a:ext>
            </a:extLst>
          </p:cNvPr>
          <p:cNvSpPr>
            <a:spLocks noChangeArrowheads="1"/>
          </p:cNvSpPr>
          <p:nvPr>
            <p:custDataLst>
              <p:tags r:id="Ra73c21ede0f94376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Real-Life Example: LVDT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FA2C89D4-4A2B-0B10-78AA-D0986E5125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58726B74-1EFE-0B8C-F366-7DEC02DFA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309" y="1998707"/>
            <a:ext cx="8000008" cy="4102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LVDT measures linear displacement with high accuracy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Consists of primary coil, two secondary coils, and movable magnetic core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As core moves, differential voltage output varies proportionally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Applications include CNC machines, robotics, aircraft control surfaces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Advantages include frictionless operation, high resolution, and robustness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4E6D67-EADA-2C29-712A-17C2669717A0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073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E5A55-8FF3-5FF0-8F32-1F3BE792B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0B638A5-5D5C-34BB-AF4B-D312880B4550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6BE064-1C3A-0942-386B-2A289FC79E24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2C535EB4-928B-6E6B-DA9B-6FC64800A321}"/>
              </a:ext>
            </a:extLst>
          </p:cNvPr>
          <p:cNvSpPr>
            <a:spLocks noChangeArrowheads="1"/>
          </p:cNvSpPr>
          <p:nvPr>
            <p:custDataLst>
              <p:tags r:id="R6203706e574a4b31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Real-Life Example: LVDT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4D942A76-D6C6-EAB2-079E-8992D1A56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230039-C704-AF78-5280-1F2DA92E82B4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B8723B-7E7F-2780-11DD-4574C0726204}"/>
              </a:ext>
            </a:extLst>
          </p:cNvPr>
          <p:cNvPicPr>
            <a:picLocks noChangeAspect="1"/>
          </p:cNvPicPr>
          <p:nvPr/>
        </p:nvPicPr>
        <p:blipFill>
          <a:blip r:embed="Rf4784495478e4a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705" y="2137936"/>
            <a:ext cx="6114590" cy="3993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96815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85EB8-8450-8ABD-0C72-B15B37415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FBD76DA-433A-B081-4683-D4BE1D7ED1B6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B266157-3A38-5749-B353-0B4C8532B492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7A47DFDC-5624-D1AD-99EB-EECFA4D72E1B}"/>
              </a:ext>
            </a:extLst>
          </p:cNvPr>
          <p:cNvSpPr>
            <a:spLocks noChangeArrowheads="1"/>
          </p:cNvSpPr>
          <p:nvPr>
            <p:custDataLst>
              <p:tags r:id="Rdbd6473244d64c55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Key Takeaways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4E79533A-E88C-A685-F92B-754BDB120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DA373C9A-B7BE-1BC8-2F95-4BA9E49A2C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309" y="1998706"/>
            <a:ext cx="8250114" cy="4102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Transducers classified based on energy conversion, output type, quantity measured, and mechanism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Active transducers generate their own signal, passive need external power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Analog transducers offer continuous signals; digital ones offer discrete outputs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Selection depends on sensitivity, range, frequency response, and environment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67C2F7-AE84-A322-4FC7-C48CC72F8B6A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856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8178173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/>
          <p:cNvSpPr/>
          <p:nvPr/>
        </p:nvSpPr>
        <p:spPr>
          <a:xfrm>
            <a:off x="1" y="2004207"/>
            <a:ext cx="9143999" cy="1935817"/>
          </a:xfrm>
          <a:custGeom>
            <a:avLst/>
            <a:gdLst/>
            <a:ahLst/>
            <a:cxnLst/>
            <a:rect l="l" t="t" r="r" b="b"/>
            <a:pathLst>
              <a:path w="7556500" h="26289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5" name="Rectangle 4"/>
          <p:cNvSpPr/>
          <p:nvPr/>
        </p:nvSpPr>
        <p:spPr>
          <a:xfrm>
            <a:off x="1006889" y="2538923"/>
            <a:ext cx="7887578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5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Working Principles of Transducers</a:t>
            </a:r>
            <a:endParaRPr lang="en-US" sz="35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2741" y="5601409"/>
            <a:ext cx="383282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Meet Soni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Faculty (PIT)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Electrical Engineering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123544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DDD1C7-30A8-6F0B-4F00-4DF1E563DD59}"/>
              </a:ext>
            </a:extLst>
          </p:cNvPr>
          <p:cNvSpPr txBox="1"/>
          <p:nvPr/>
        </p:nvSpPr>
        <p:spPr>
          <a:xfrm>
            <a:off x="431076" y="1778284"/>
            <a:ext cx="607422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Content </a:t>
            </a:r>
          </a:p>
          <a:p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Introduction to Transduction Principles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Detailed Working of Core Transducer Types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Signal Conditioning and Practical Use </a:t>
            </a:r>
          </a:p>
          <a:p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835567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7D253-7D00-97B5-95E9-E558DBAEC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FE45A01-8120-B0F5-006B-B7115314C763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990BEA-4022-F945-E26B-AC91871E7F83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971F973A-4C88-E8FE-17D5-AC415D0912A8}"/>
              </a:ext>
            </a:extLst>
          </p:cNvPr>
          <p:cNvSpPr>
            <a:spLocks noChangeArrowheads="1"/>
          </p:cNvSpPr>
          <p:nvPr>
            <p:custDataLst>
              <p:tags r:id="R8c93dd4167d44976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Introduction to Transduction Principles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89FB6D-7E04-4DD7-7D98-3B13A009BE44}"/>
              </a:ext>
            </a:extLst>
          </p:cNvPr>
          <p:cNvSpPr txBox="1"/>
          <p:nvPr/>
        </p:nvSpPr>
        <p:spPr>
          <a:xfrm>
            <a:off x="221227" y="2119452"/>
            <a:ext cx="8509818" cy="4107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Transducers convert physical parameters into electrical signals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Physical quantities include temperature, pressure, displacement, and light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Based on changes in resistance, inductance, capacitance, voltage, or light response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Core to instrumentation, automation, control, and sensing systems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Each type exploits a specific physical effect to perform the conversion </a:t>
            </a:r>
          </a:p>
        </p:txBody>
      </p:sp>
    </p:spTree>
    <p:extLst>
      <p:ext uri="{BB962C8B-B14F-4D97-AF65-F5344CB8AC3E}">
        <p14:creationId xmlns:p14="http://schemas.microsoft.com/office/powerpoint/2010/main" val="1071091310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83DF1-F357-D547-47BB-DA7F3584B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9A358BD-77F4-50F8-47DA-F4D9AA39CB0B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4BC9D98-8C45-28AE-4B71-F7785DDC4CFD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4BD41FD7-E28C-29E9-149B-3FC0BD12CF30}"/>
              </a:ext>
            </a:extLst>
          </p:cNvPr>
          <p:cNvSpPr>
            <a:spLocks noChangeArrowheads="1"/>
          </p:cNvSpPr>
          <p:nvPr>
            <p:custDataLst>
              <p:tags r:id="Rbd9565e1ac0244c2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Overview of Transduction Mechanisms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9B8AD9FE-7A82-5BC1-8DAD-620E3B575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111D156B-DDD9-C9C5-D16D-C9D146D97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308" y="2062024"/>
            <a:ext cx="8250115" cy="3594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Resistive: Change in resistance with deformation or temperature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Inductive: Change in inductance due to magnetic field or coil movement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Capacitive: Change in capacitance with geometry or dielectric shift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Piezoelectric: Voltage generation from mechanical pressure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Electromagnetic: Voltage induced by conductor in magnetic field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Photovoltaic: Light energy converted into voltage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74A016-EDAF-4DD5-6FE1-9B1CDC76226A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34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C59DB-AB2F-521C-3FD2-B6253274A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E548579-5741-1482-FCAF-A2F30CAC259E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6AD326A-625B-7104-46C5-CB36194A94CC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4F2E22F5-CBFD-7DE9-DFC2-3B9B24B9E359}"/>
              </a:ext>
            </a:extLst>
          </p:cNvPr>
          <p:cNvSpPr>
            <a:spLocks noChangeArrowheads="1"/>
          </p:cNvSpPr>
          <p:nvPr>
            <p:custDataLst>
              <p:tags r:id="Rce80cb53bac14f54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Working Principle – Resistive Transducers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7F06D6C9-A625-645C-8A84-5FE1A89C0A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C6DC44F3-0047-6A54-5EAB-2328F91C3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4" y="1767992"/>
            <a:ext cx="8145667" cy="3594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Resistance changes as physical dimension or material property varies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Equation: R = </a:t>
            </a:r>
            <a:r>
              <a:rPr lang="en-US" sz="2200" dirty="0" err="1"/>
              <a:t>ρL</a:t>
            </a:r>
            <a:r>
              <a:rPr lang="en-US" sz="2200" dirty="0"/>
              <a:t>/A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Strain gauges detect pressure or force via material elongation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Thermistors and RTDs respond to temperature with resistance shift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LDRs reduce resistance as light intensity increases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Used in force sensors, temperature monitors, and light detectors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D7C846-E0EC-4965-6875-D1DA83E6E2D4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024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4002A-98AB-EDF4-9A25-3C496C609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D20E27-1193-B99A-74A4-582D1DEB172C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23881BA-DF72-D35A-8A26-827822CB464F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422A7B74-A9E6-3E82-78F4-6CD3E93614E1}"/>
              </a:ext>
            </a:extLst>
          </p:cNvPr>
          <p:cNvSpPr>
            <a:spLocks noChangeArrowheads="1"/>
          </p:cNvSpPr>
          <p:nvPr>
            <p:custDataLst>
              <p:tags r:id="Rb0708c6f30a744a9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Working Principle – Inductive Transducers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89E2494F-AEFF-6C0C-A1B1-55A80790C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04FE6EB9-7247-A00A-8B72-03E37C9681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1998707"/>
            <a:ext cx="7356297" cy="4102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Inductance changes with movement of magnetic core or coil spacing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Equation: L = (N²μA)/l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LVDT uses a movable magnetic core to vary secondary coil voltage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Highly accurate for linear displacement measurement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Used in CNC systems, automation, and industrial position feedback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C00432-07E7-939C-6178-DDE653A78011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045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1E49D-2D6B-4794-196C-413039D43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209DFE-D7DC-AA48-0591-F1918E3330D5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E726D5C-68A0-0723-6CC1-01F1A600A411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82FC140D-13FC-DAA0-413A-62008BE15C84}"/>
              </a:ext>
            </a:extLst>
          </p:cNvPr>
          <p:cNvSpPr>
            <a:spLocks noChangeArrowheads="1"/>
          </p:cNvSpPr>
          <p:nvPr>
            <p:custDataLst>
              <p:tags r:id="R9cec3eb47095436c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Working Principle – Capacitive Transducers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6D47D351-0155-4461-9EF8-077778A9A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736D64AD-6AF9-85D5-4D44-D30E520B36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192" y="2021908"/>
            <a:ext cx="8119567" cy="3594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Capacitance changes with plate distance, area, or dielectric property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Equation: C = (</a:t>
            </a:r>
            <a:r>
              <a:rPr lang="en-US" sz="2200" dirty="0" err="1"/>
              <a:t>εA</a:t>
            </a:r>
            <a:r>
              <a:rPr lang="en-US" sz="2200" dirty="0"/>
              <a:t>)/d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Proximity sensors detect objects by measuring gap distance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Humidity sensors detect moisture by changing dielectric constant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Used in pressure systems, tank level monitoring, and humidity control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EB7B5E-C5D4-21DB-8377-49D1333AE760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374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0853D-10EE-7ED6-ABC7-AC4A80000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C6B5CA-ADCD-0365-D82F-2A90E8B0119A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60E873B-50B3-EA44-B66D-4798896DDD2D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012C06CF-A585-8A50-B0FA-7DF5115218D8}"/>
              </a:ext>
            </a:extLst>
          </p:cNvPr>
          <p:cNvSpPr>
            <a:spLocks noChangeArrowheads="1"/>
          </p:cNvSpPr>
          <p:nvPr>
            <p:custDataLst>
              <p:tags r:id="R3d5ff831ca1e4c16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Working Principle – Piezoelectric Transducers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EEB1CAD4-158F-ADE0-389A-F3C720135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22DDE308-D65F-8650-412A-2480A04448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2506537"/>
            <a:ext cx="7356297" cy="3086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Mechanical stress produces voltage across piezo crystal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Equation: V = d × F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Used in microphones, vibration detectors, and force sensors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Highly sensitive and fast response devices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Common in sound systems, impact sensors, and industrial alerts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50F48F-430F-6026-F365-AC7882146322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207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FDD69-E2AD-31BA-C42E-77382128B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0BD6532-D8F1-97A2-4499-FF4321496CE7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234B7CA-BD92-4DE7-A067-324EBE721616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B2CAEA48-8058-6C4F-4F97-8E61A7E689C7}"/>
              </a:ext>
            </a:extLst>
          </p:cNvPr>
          <p:cNvSpPr>
            <a:spLocks noChangeArrowheads="1"/>
          </p:cNvSpPr>
          <p:nvPr>
            <p:custDataLst>
              <p:tags r:id="Rb59c2c9c8ae641d2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Working Principle – Photonic &amp; Thermoelectric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CA275037-9DFD-934F-90BA-0645F3D29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CB317C9B-7F44-2031-8247-DD854EF3D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1998707"/>
            <a:ext cx="7685070" cy="4102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Photonic Transducers: Light alters current or resistance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Photodiodes and LDRs convert light into electrical response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Used in solar panels, light meters, and optical switches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Thermoelectric Transducers: </a:t>
            </a:r>
            <a:r>
              <a:rPr lang="en-US" sz="2200" dirty="0" err="1"/>
              <a:t>Seebeck</a:t>
            </a:r>
            <a:r>
              <a:rPr lang="en-US" sz="2200" dirty="0"/>
              <a:t> effect generates voltage from heat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Equation: V = S × ΔT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Thermocouples used in high-temperature monitoring and engine control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141598-7070-1913-A75E-8AA7FE83C679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638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3AEC3-BB4A-77E2-3DF2-31889A168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CAA7A74-461F-24AD-9393-999915301B1F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9B32521-A3EE-52FA-0250-BDAF167B92A5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C6C343F9-6043-D228-E06C-2B7AE6C15857}"/>
              </a:ext>
            </a:extLst>
          </p:cNvPr>
          <p:cNvSpPr>
            <a:spLocks noChangeArrowheads="1"/>
          </p:cNvSpPr>
          <p:nvPr>
            <p:custDataLst>
              <p:tags r:id="R529d38d1df3b4602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Signal Conditioning Requirements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BC0A7A21-6F9A-DB4F-1064-A1C11F6D7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266D1A36-806E-8632-0E69-091560560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1998707"/>
            <a:ext cx="7685070" cy="4102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Raw transducer signals are often weak or noisy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Signal conditioning makes them suitable for ADC and controllers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Includes amplification using op-amps to boost signal levels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Filtering removes unwanted noise or high-frequency interference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Conversion to digital is needed for microcontroller integration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Isolation ensures system safety and signal protection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E6CDDB-681F-979F-EDDE-F730DC318D37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109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19567-BDD7-C789-0A85-014BAB978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4AF9034-2AEC-DC24-D48F-AB07D5639785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C840B47-CF38-E8F9-1D70-392E24DC911E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A06C574A-9C13-F502-58EF-5B0A44C1CC5D}"/>
              </a:ext>
            </a:extLst>
          </p:cNvPr>
          <p:cNvSpPr>
            <a:spLocks noChangeArrowheads="1"/>
          </p:cNvSpPr>
          <p:nvPr>
            <p:custDataLst>
              <p:tags r:id="R7cb49c62808c4e73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Practical Example – Piezoelectric Microphone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F73311A5-A1E5-0C24-CFAA-7359E0EC2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9A9271DB-56D9-2419-9209-4D7379395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1998707"/>
            <a:ext cx="7685070" cy="4102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Quartz crystal placed between metal electrodes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When sound waves hit, the crystal compresses and generates voltage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Voltage is amplified and transmitted to audio processing circuits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Used in telecommunication, voice recording, and acoustic sensors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Demonstrates direct mechanical-to-electrical signal conversion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910FA9-FF8F-0E80-B4A8-EE06FF3DC713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7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98834-C3D1-E676-3307-0DDDB4CEA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FD2B6ED-00B6-9F20-3909-FE0FEF9280DD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D02441F-A954-26DD-0797-858C53138881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74B478D9-D488-0C86-2287-A732039B6650}"/>
              </a:ext>
            </a:extLst>
          </p:cNvPr>
          <p:cNvSpPr>
            <a:spLocks noChangeArrowheads="1"/>
          </p:cNvSpPr>
          <p:nvPr>
            <p:custDataLst>
              <p:tags r:id="Reaa2d9aa8fc84209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Key Takeaways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6C30BC65-BE00-5A6D-1E58-DA810A6EF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1DA209A1-A84E-42EE-CFE9-BC23F117A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1998707"/>
            <a:ext cx="8059958" cy="4102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Transducers convert physical input to electrical signals via specific mechanisms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Working principles include resistive, inductive, capacitive, piezoelectric, and others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Each mechanism has suited applications depending on sensitivity and use case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Signal conditioning is essential for reliable interfacing and accuracy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2357C0-986E-8C15-B1EC-F8D5FF8845DF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741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8178173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/>
          <p:cNvSpPr/>
          <p:nvPr/>
        </p:nvSpPr>
        <p:spPr>
          <a:xfrm>
            <a:off x="1" y="2004207"/>
            <a:ext cx="9143999" cy="1935817"/>
          </a:xfrm>
          <a:custGeom>
            <a:avLst/>
            <a:gdLst/>
            <a:ahLst/>
            <a:cxnLst/>
            <a:rect l="l" t="t" r="r" b="b"/>
            <a:pathLst>
              <a:path w="7556500" h="26289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5" name="Rectangle 4"/>
          <p:cNvSpPr/>
          <p:nvPr/>
        </p:nvSpPr>
        <p:spPr>
          <a:xfrm>
            <a:off x="1006889" y="2538923"/>
            <a:ext cx="788757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Characteristics and Specifications of Transducers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741" y="5601409"/>
            <a:ext cx="383282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Meet Soni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Faculty (PIT)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Electrical Engineering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123544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DDD1C7-30A8-6F0B-4F00-4DF1E563DD59}"/>
              </a:ext>
            </a:extLst>
          </p:cNvPr>
          <p:cNvSpPr txBox="1"/>
          <p:nvPr/>
        </p:nvSpPr>
        <p:spPr>
          <a:xfrm>
            <a:off x="431076" y="1778284"/>
            <a:ext cx="607422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Content </a:t>
            </a:r>
          </a:p>
          <a:p>
            <a:endParaRPr lang="en-US" sz="2400" dirty="0"/>
          </a:p>
          <a:p>
            <a:pPr>
              <a:buFont typeface="+mj-lt"/>
              <a:buAutoNum type="arabicPeriod"/>
            </a:pPr>
            <a:r>
              <a:rPr lang="en-US" sz="2400" dirty="0"/>
              <a:t>Static and Dynamic Characteristics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Electrical and Mechanical Parameters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Environmental and Calibration Aspects</a:t>
            </a:r>
          </a:p>
          <a:p>
            <a:r>
              <a:rPr lang="en-US" sz="2400" dirty="0"/>
              <a:t> </a:t>
            </a:r>
          </a:p>
          <a:p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835567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7D253-7D00-97B5-95E9-E558DBAEC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FE45A01-8120-B0F5-006B-B7115314C763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990BEA-4022-F945-E26B-AC91871E7F83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971F973A-4C88-E8FE-17D5-AC415D0912A8}"/>
              </a:ext>
            </a:extLst>
          </p:cNvPr>
          <p:cNvSpPr>
            <a:spLocks noChangeArrowheads="1"/>
          </p:cNvSpPr>
          <p:nvPr>
            <p:custDataLst>
              <p:tags r:id="R8468368d2918438c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Introduction to Transducer Specifications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89FB6D-7E04-4DD7-7D98-3B13A009BE44}"/>
              </a:ext>
            </a:extLst>
          </p:cNvPr>
          <p:cNvSpPr txBox="1"/>
          <p:nvPr/>
        </p:nvSpPr>
        <p:spPr>
          <a:xfrm>
            <a:off x="729465" y="2119452"/>
            <a:ext cx="8001580" cy="3979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transducer's behavior is defined by both its principle and performance characteristics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Proper understanding ensures reliable system design and accurate measurements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Static and dynamic characteristics are critical in automation, medical, and control systems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Helps engineers avoid errors, drift, and system failures </a:t>
            </a:r>
          </a:p>
        </p:txBody>
      </p:sp>
    </p:spTree>
    <p:extLst>
      <p:ext uri="{BB962C8B-B14F-4D97-AF65-F5344CB8AC3E}">
        <p14:creationId xmlns:p14="http://schemas.microsoft.com/office/powerpoint/2010/main" val="107109131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83DF1-F357-D547-47BB-DA7F3584B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9A358BD-77F4-50F8-47DA-F4D9AA39CB0B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4BC9D98-8C45-28AE-4B71-F7785DDC4CFD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4BD41FD7-E28C-29E9-149B-3FC0BD12CF30}"/>
              </a:ext>
            </a:extLst>
          </p:cNvPr>
          <p:cNvSpPr>
            <a:spLocks noChangeArrowheads="1"/>
          </p:cNvSpPr>
          <p:nvPr>
            <p:custDataLst>
              <p:tags r:id="R8ba65326cc9c4441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Static Characteristics – Part I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9B8AD9FE-7A82-5BC1-8DAD-620E3B575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111D156B-DDD9-C9C5-D16D-C9D146D97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4" y="2021908"/>
            <a:ext cx="7356297" cy="3086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Accuracy: Closeness of measured value to true value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Expressed as percentage of full-scale output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Precision (Repeatability): Consistency of output for repeated identical input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High precision doesn't guarantee high accuracy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Critical in stable control and measurement applications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74A016-EDAF-4DD5-6FE1-9B1CDC76226A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34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B638F-8783-AF72-51E9-56D56FEBA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67C13AB-2D22-D590-19E0-9DD6FD89CBB8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BA901F5-2220-8893-1BF3-88AD93CF8060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AA32026F-7E1B-53C0-146A-32241057433B}"/>
              </a:ext>
            </a:extLst>
          </p:cNvPr>
          <p:cNvSpPr>
            <a:spLocks noChangeArrowheads="1"/>
          </p:cNvSpPr>
          <p:nvPr>
            <p:custDataLst>
              <p:tags r:id="R785bfd388a244a23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Static Characteristics – Part I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3A3510D4-DDA2-BE52-0F96-15ED5FEDDD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4EF317-DBB8-A29B-0C5A-994DDEB7A92C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AF99E5-DACC-982D-75A9-242D8BCB672A}"/>
              </a:ext>
            </a:extLst>
          </p:cNvPr>
          <p:cNvPicPr>
            <a:picLocks noChangeAspect="1"/>
          </p:cNvPicPr>
          <p:nvPr/>
        </p:nvPicPr>
        <p:blipFill>
          <a:blip r:embed="Rc86838956f0543f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771" y="2105500"/>
            <a:ext cx="5714458" cy="3998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03809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7B34A-1B26-B7A0-DD45-484AB626D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94AE8AF-F227-8EF9-4502-A11FD3820E25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7756901-7B2F-DBBB-A0C2-FEEBFB877EC7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606F3ED0-7C38-451E-8AB6-4FA1375CC643}"/>
              </a:ext>
            </a:extLst>
          </p:cNvPr>
          <p:cNvSpPr>
            <a:spLocks noChangeArrowheads="1"/>
          </p:cNvSpPr>
          <p:nvPr>
            <p:custDataLst>
              <p:tags r:id="Rcdc41edbb41b4546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Static Characteristics – Part II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53316703-416D-83D3-1188-5B77E4979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58E37CA8-3186-AF1A-6CF2-792884D54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1998707"/>
            <a:ext cx="7356297" cy="4102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Sensitivity = Change in output / Change in input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Used to detect small variations in physical parameters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Linearity: Degree to which output follows input proportionally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Ideal linear systems provide straight-line I/O relationship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Resolution: Smallest input change that produces a detectable output shift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Higher resolution enables finer measurement detail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6412A6-8C7B-A8E7-B819-493FF71D1869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04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5647D-0685-F125-C225-FDF1F0138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2B74BF-CEA8-192B-9608-A0B5262BBDD0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7A9FEFC-3D48-DA67-E6C9-FAC79D39C5E9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EE8BF995-F727-BD22-9C30-7A1CAB4465D7}"/>
              </a:ext>
            </a:extLst>
          </p:cNvPr>
          <p:cNvSpPr>
            <a:spLocks noChangeArrowheads="1"/>
          </p:cNvSpPr>
          <p:nvPr>
            <p:custDataLst>
              <p:tags r:id="R88718ebea96746b8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Dynamic Characteristics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8D70DD71-6968-FC6C-D306-DA6D4EB39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AFC665AB-7E6C-EDE8-249F-3FE6A1BF1F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942" y="1992757"/>
            <a:ext cx="8237554" cy="4102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Response Time: Time to reach defined percentage of final value after input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Time Constant (τ): Time to reach 63.2% of final value in step input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Lower τ indicates faster system response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Rise Time: Time to go from 10% to 90% of final value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Settling Time: Time to stabilize within error band of final value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Bandwidth: Range of input frequencies that can be accurately sensed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21D53A-F4B3-8C25-5CDB-030719FBDB99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544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83F86-72C7-DEF3-3414-7569B947B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4D4A134-D25D-C4A3-9F8A-7EAADAE9ACD3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E0F8347-B29B-B09E-923C-0A8ABBCDCC7D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3FF61364-8D6E-8F45-7AA1-00C23E7BDB87}"/>
              </a:ext>
            </a:extLst>
          </p:cNvPr>
          <p:cNvSpPr>
            <a:spLocks noChangeArrowheads="1"/>
          </p:cNvSpPr>
          <p:nvPr>
            <p:custDataLst>
              <p:tags r:id="Rbe3c9c8105f24b4e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Electrical Characteristics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427F7BCC-7EBB-91D5-F18C-0F6CC2722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9BFCBC65-0DC0-7DB6-79DD-895D8DEF92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2252622"/>
            <a:ext cx="7356297" cy="3594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Input Impedance: Resistance offered to source input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High input impedance prevents loading effects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Output Impedance: Resistance at transducer output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Should be compatible with load or next signal stage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Signal Types: Analog (voltage, current), Digital (binary, pulse)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Some outputs may require amplification or conditioning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5AE90-7EF4-7613-274C-A23F67DC6E36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188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22817-8CD1-9568-B665-941B6286F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F9A52B9-7A0A-53FF-E571-B3E49B70B142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3DEA3AD-108B-C8C6-7522-86119BB8113E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BACF24B4-8EC9-B78D-3E11-C889ACA8E257}"/>
              </a:ext>
            </a:extLst>
          </p:cNvPr>
          <p:cNvSpPr>
            <a:spLocks noChangeArrowheads="1"/>
          </p:cNvSpPr>
          <p:nvPr>
            <p:custDataLst>
              <p:tags r:id="Ra180ec52b5e445d2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Mechanical Characteristics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1A052ED1-2B2B-A712-F03B-DA754F63C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281F87D2-084B-12E2-181F-E2CB4BD43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1998707"/>
            <a:ext cx="7356297" cy="4102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Range: Input span over which the transducer functions accurately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Hysteresis: Output difference for same input during increasing vs decreasing conditions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Must be minimized for precision control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Drift: Slow, unintentional change in output over time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Caused by aging, temperature, and wear; minimized through regular calibration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BD5346-BD8C-E3DA-17BD-6E00D8DB48A8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69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93BBF-CDF4-39A9-8C0B-942CC1B7A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2C1913D-6A64-F76B-C818-39D961B4E19E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01DFA85-55A0-84E1-AEB5-99755E290CD0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423E7C47-EA73-1EC7-E24D-BA0951FB9DDD}"/>
              </a:ext>
            </a:extLst>
          </p:cNvPr>
          <p:cNvSpPr>
            <a:spLocks noChangeArrowheads="1"/>
          </p:cNvSpPr>
          <p:nvPr>
            <p:custDataLst>
              <p:tags r:id="R39d20a9d11514d83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Environmental Specifications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ED34898E-8E33-5BA1-0603-B9856C48B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76604CD1-1319-E376-5141-0E7A48788D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309" y="1998707"/>
            <a:ext cx="7985260" cy="4102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Operating Temperature: Safe temperature range for functional operation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Humidity Tolerance: Prevents corrosion or short-circuits in moist environments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Shock and Vibration Resistance: Important in mobile, automotive, aerospace systems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EMI/EMC Resistance: Immunity to electromagnetic noise ensures stable output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7D1CF4-F22A-6198-1C23-7AA9BA7CE52D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414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47AE9-9EF8-8758-1C0A-D826AD502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8DFC5F-A4E8-127B-A1E0-96EA509E1897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EC68BCA-9EE9-F1D2-8E0D-11F35E965D87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E5A24DFB-4D2A-9C3B-BCDA-82A9A7625296}"/>
              </a:ext>
            </a:extLst>
          </p:cNvPr>
          <p:cNvSpPr>
            <a:spLocks noChangeArrowheads="1"/>
          </p:cNvSpPr>
          <p:nvPr>
            <p:custDataLst>
              <p:tags r:id="R34f722a0d855427c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Calibration Essentials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101FFED4-136F-9D49-224D-BAB7326DE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90D29790-885D-1B39-4901-8F70101B0C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4" y="2021908"/>
            <a:ext cx="7356297" cy="3594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Calibration aligns transducer output with known reference values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Corrects for deviations across the measurement range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Performed using standard inputs and adjustment procedures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Maintains measurement integrity across operating life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Periodic recalibration ensures long-term accuracy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AAF290-DC8A-4CB7-9509-21ED521576F2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074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A2344-0C48-934A-5734-908443EFA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8377473-6246-E377-6F89-A1C7F157DDBA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A3BCFE-B6FC-36CA-D697-D2D571B67EB9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138BB753-CB92-50BD-3BA2-136363F1643B}"/>
              </a:ext>
            </a:extLst>
          </p:cNvPr>
          <p:cNvSpPr>
            <a:spLocks noChangeArrowheads="1"/>
          </p:cNvSpPr>
          <p:nvPr>
            <p:custDataLst>
              <p:tags r:id="Ra6d9a15a90a24b03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Real-Life Example – RTD (Pt100)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C43DCAB5-BD48-EB15-33F5-84091223C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D38E8F28-E6F9-469C-539C-D3F1CD5F8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1998707"/>
            <a:ext cx="7356297" cy="4102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RTD uses platinum wire whose resistance varies with temperature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Accuracy: ±0.1°C is typical in precision-grade RTDs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Sensitivity: 0.385 Ω/°C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Linearity is excellent across operational range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Low drift, fast response, and high stability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Widely used in medical, HVAC, and industrial process control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A5D1D2-5B96-9E6C-2A6D-D4D7D7A3DC10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276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551E8-4943-93F2-0170-A88979EBE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1AD647-7AD3-31BC-511E-22F2A81B1F99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48A8F15-C3C3-6748-C485-23DAFC3DE0A6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BCE79E38-31D5-A08C-AE74-20B760743CE0}"/>
              </a:ext>
            </a:extLst>
          </p:cNvPr>
          <p:cNvSpPr>
            <a:spLocks noChangeArrowheads="1"/>
          </p:cNvSpPr>
          <p:nvPr>
            <p:custDataLst>
              <p:tags r:id="R8e1b9a23e6b04634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Key Takeaways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E01F30E4-76A6-14B3-527D-049B09B36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9429666A-576F-A77B-9B37-3BEBBCC85D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1998707"/>
            <a:ext cx="8119567" cy="4102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Transducer performance depends on static, dynamic, electrical, and environmental factors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Key terms include accuracy, precision, sensitivity, linearity, resolution, and response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Impedance matching, calibration, and drift control are essential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Mechanical limits like range and hysteresis define usability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Understanding specifications ensures reliability and safety in engineering systems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FF1661-DA04-7316-1BAC-43F8C80AB950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000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8178173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/>
          <p:cNvSpPr/>
          <p:nvPr/>
        </p:nvSpPr>
        <p:spPr>
          <a:xfrm>
            <a:off x="1" y="2004207"/>
            <a:ext cx="9143999" cy="1935817"/>
          </a:xfrm>
          <a:custGeom>
            <a:avLst/>
            <a:gdLst/>
            <a:ahLst/>
            <a:cxnLst/>
            <a:rect l="l" t="t" r="r" b="b"/>
            <a:pathLst>
              <a:path w="7556500" h="26289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5" name="Rectangle 4"/>
          <p:cNvSpPr/>
          <p:nvPr/>
        </p:nvSpPr>
        <p:spPr>
          <a:xfrm>
            <a:off x="1006889" y="2538923"/>
            <a:ext cx="788757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5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Industrial and Engineering Applications of Transducers</a:t>
            </a:r>
            <a:endParaRPr lang="en-US" sz="35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2741" y="5601409"/>
            <a:ext cx="383282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Meet Soni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Faculty (PIT)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Electrical Engineering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123544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DDD1C7-30A8-6F0B-4F00-4DF1E563DD59}"/>
              </a:ext>
            </a:extLst>
          </p:cNvPr>
          <p:cNvSpPr txBox="1"/>
          <p:nvPr/>
        </p:nvSpPr>
        <p:spPr>
          <a:xfrm>
            <a:off x="431076" y="1778284"/>
            <a:ext cx="6074228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Content </a:t>
            </a:r>
          </a:p>
          <a:p>
            <a:endParaRPr lang="en-US" sz="2400" dirty="0"/>
          </a:p>
          <a:p>
            <a:pPr marL="457200" indent="-457200">
              <a:buAutoNum type="arabicPeriod"/>
            </a:pPr>
            <a:r>
              <a:rPr lang="en-US" sz="2400" dirty="0"/>
              <a:t>General Role and Importance</a:t>
            </a:r>
          </a:p>
          <a:p>
            <a:pPr marL="457200" indent="-457200">
              <a:buAutoNum type="arabicPeriod"/>
            </a:pPr>
            <a:r>
              <a:rPr lang="en-US" sz="2400" dirty="0"/>
              <a:t>Application Domains</a:t>
            </a:r>
          </a:p>
          <a:p>
            <a:pPr marL="457200" indent="-457200">
              <a:buAutoNum type="arabicPeriod"/>
            </a:pPr>
            <a:r>
              <a:rPr lang="en-US" sz="2400" dirty="0"/>
              <a:t>Case Study and Examples</a:t>
            </a: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835567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7D253-7D00-97B5-95E9-E558DBAEC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FE45A01-8120-B0F5-006B-B7115314C763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990BEA-4022-F945-E26B-AC91871E7F83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971F973A-4C88-E8FE-17D5-AC415D0912A8}"/>
              </a:ext>
            </a:extLst>
          </p:cNvPr>
          <p:cNvSpPr>
            <a:spLocks noChangeArrowheads="1"/>
          </p:cNvSpPr>
          <p:nvPr>
            <p:custDataLst>
              <p:tags r:id="R1b603c0a1ef14ba3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Introduction and General Role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89FB6D-7E04-4DD7-7D98-3B13A009BE44}"/>
              </a:ext>
            </a:extLst>
          </p:cNvPr>
          <p:cNvSpPr txBox="1"/>
          <p:nvPr/>
        </p:nvSpPr>
        <p:spPr>
          <a:xfrm>
            <a:off x="729465" y="2119452"/>
            <a:ext cx="8001580" cy="4107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Transducers convert physical phenomena into electrical signals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Bridge the gap between real-world conditions and electronic control systems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Enable measurement, monitoring, automation, and feedback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Critical in improving operational efficiency, safety, and reliability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Used in industries like manufacturing, aerospace, healthcare, and energy </a:t>
            </a:r>
          </a:p>
        </p:txBody>
      </p:sp>
    </p:spTree>
    <p:extLst>
      <p:ext uri="{BB962C8B-B14F-4D97-AF65-F5344CB8AC3E}">
        <p14:creationId xmlns:p14="http://schemas.microsoft.com/office/powerpoint/2010/main" val="1071091310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83DF1-F357-D547-47BB-DA7F3584B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9A358BD-77F4-50F8-47DA-F4D9AA39CB0B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4BC9D98-8C45-28AE-4B71-F7785DDC4CFD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4BD41FD7-E28C-29E9-149B-3FC0BD12CF30}"/>
              </a:ext>
            </a:extLst>
          </p:cNvPr>
          <p:cNvSpPr>
            <a:spLocks noChangeArrowheads="1"/>
          </p:cNvSpPr>
          <p:nvPr>
            <p:custDataLst>
              <p:tags r:id="Rfdbe642bb8a34b9b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Role of Transducers in Industry</a:t>
            </a:r>
            <a:endParaRPr lang="en-IN" altLang="en-US" sz="2400" b="1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9B8AD9FE-7A82-5BC1-8DAD-620E3B575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111D156B-DDD9-C9C5-D16D-C9D146D97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1744791"/>
            <a:ext cx="7356297" cy="4610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Measurement: Detect and quantify physical variables accurately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Monitoring: Track operational parameters in real-time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Control: Enable dynamic adjustments through feedback systems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Safety: Trigger alerts and shutdowns under abnormal conditions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Vital for automation, quality control, and system optimization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74A016-EDAF-4DD5-6FE1-9B1CDC76226A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34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255C3-0B03-2AD8-8096-33728E653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A23F74-D05F-36FE-3455-395CA9A27709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3DC88D6-250C-7327-247C-BB7D3B9FBC19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3BDA0A8D-9EA9-8002-02A9-103CB17401A8}"/>
              </a:ext>
            </a:extLst>
          </p:cNvPr>
          <p:cNvSpPr>
            <a:spLocks noChangeArrowheads="1"/>
          </p:cNvSpPr>
          <p:nvPr>
            <p:custDataLst>
              <p:tags r:id="R025f1546a9a9463b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Applications in Manufacturing and Automation</a:t>
            </a:r>
            <a:endParaRPr lang="en-IN" altLang="en-US" sz="2400" b="1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EA1791E5-E171-A966-4D08-F45B9676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E83147A8-B207-E36A-9367-5CFC3EA6A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1744791"/>
            <a:ext cx="7356297" cy="4610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Displacement and Position Sensing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LVDTs, potentiometers, encoders used in CNC, robotics, conveyors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Pressure and Force Measurement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Strain gauges and piezo sensors used in hydraulic presses, injection molding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Temperature Monitoring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Thermocouples, RTDs used in soldering, furnace control, food processing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159F46-3A6A-D7F5-A798-1EEFDBCB1E5E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897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0F86C-C45F-FE1F-CC22-1D619F2D1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4533A6C-EBD3-57FD-B8B9-C0FE3DDB2839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B3AE40E-1FA5-3431-9462-A21206AF453F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6EFD401D-36A0-6373-FFF7-91847FBC5013}"/>
              </a:ext>
            </a:extLst>
          </p:cNvPr>
          <p:cNvSpPr>
            <a:spLocks noChangeArrowheads="1"/>
          </p:cNvSpPr>
          <p:nvPr>
            <p:custDataLst>
              <p:tags r:id="R9b934f298967413b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Applications in Energy and Power Systems</a:t>
            </a:r>
            <a:endParaRPr lang="en-IN" altLang="en-US" sz="2400" b="1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3B045056-0792-2019-F237-46B1857D1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62963DCF-0A9A-4579-964D-26E1D7B32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1998707"/>
            <a:ext cx="7356297" cy="4102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Power System Monitoring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Voltage and current sensors for grid, substation, and smart metering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Renewable Energy Systems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Light sensors monitor solar panels, anemometers monitor wind turbines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Strain gauges monitor structural integrity of renewable energy systems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214563-E581-6666-90D1-D673F9418FF0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275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D99BA-B73A-5BBF-9102-CE723DDFC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97746A-C1CA-5EAD-FB2E-892666CCCB0A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583EB2B-70DB-301E-693E-1994F22D8871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1C543CDA-3F6E-FA49-01C4-F1131FB790A8}"/>
              </a:ext>
            </a:extLst>
          </p:cNvPr>
          <p:cNvSpPr>
            <a:spLocks noChangeArrowheads="1"/>
          </p:cNvSpPr>
          <p:nvPr>
            <p:custDataLst>
              <p:tags r:id="R7c970664ef8c481f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Applications in Automotive Systems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3BA721A2-DF10-FE14-A970-38A1B243C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2DBB075F-1833-5550-6454-B3669BE27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1998707"/>
            <a:ext cx="7356297" cy="4102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Engine and Exhaust Monitoring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Pressure sensors, oxygen sensors, and thermocouples optimize combustion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Safety and Stability Systems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Accelerometers, gyroscopes, and ultrasonic sensors used in ABS and airbags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Transducers ensure efficiency, emission control, and passenger safety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950DEE-F851-BAE0-4E13-3323F9BE716D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816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ECBAC-FCDB-C830-730A-D3F08EA9D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AA8009-1928-1D61-FDCF-D3A10C52D1CC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F4E50DB-7DA9-ADD6-8F1B-43109532FA39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1108C495-8368-16E4-A659-177920C42F4D}"/>
              </a:ext>
            </a:extLst>
          </p:cNvPr>
          <p:cNvSpPr>
            <a:spLocks noChangeArrowheads="1"/>
          </p:cNvSpPr>
          <p:nvPr>
            <p:custDataLst>
              <p:tags r:id="Rcaf87909dbf34d2e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Applications in Aerospace and Defense</a:t>
            </a:r>
            <a:endParaRPr lang="en-IN" altLang="en-US" sz="2400" b="1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D106E8FD-246D-E64B-C4CE-1AD411760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46A50F6B-03B9-E8EE-C75C-33AA28066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1998707"/>
            <a:ext cx="7356297" cy="4102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Flight Control and Navigation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Gyroscopes, LVDTs, barometric sensors guide autopilot and spacecraft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Structural Health Monitoring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Strain gauges and piezo sensors monitor aircraft wings and spacecraft structures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Reliability of transducers is crucial for mission-critical aerospace operations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723AFB-DF28-49A5-B56F-07966300EAB2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810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F84AF-F21A-ECB0-C382-EC2CFD478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161B0E9-6700-0177-A63F-6CDC241AABFB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D358B8-BF82-9E19-7735-E1FDE19C244F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F27CC566-43DF-DBDA-F76A-6BE834C0B8BB}"/>
              </a:ext>
            </a:extLst>
          </p:cNvPr>
          <p:cNvSpPr>
            <a:spLocks noChangeArrowheads="1"/>
          </p:cNvSpPr>
          <p:nvPr>
            <p:custDataLst>
              <p:tags r:id="Rfec1f5dc8a4e41ff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Applications in Biomedical Engineering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31B40F64-4EB9-10F8-ADA7-57FA9AF45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4EDDA941-2E81-0C03-1839-BBFAE7534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1998707"/>
            <a:ext cx="7356297" cy="4102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Vital Sign Monitoring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Temperature sensors, pressure sensors, ECG electrodes for patient health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Prosthetics and Rehabilitation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Force sensors and motion sensors empower smart prosthetics and physiotherapy tools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Enable real-time monitoring, diagnostics, and personalized treatments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3446B4-E521-B621-1A24-93B2295FA978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702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03FFA-2FD3-B632-9FCD-775589677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53B6D5-84A8-FD49-40C4-0621C6C77500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5C2476-94C5-068D-1938-EAE404A4BFC8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26FA73A6-8F49-C851-EFF7-EC4ECD1D9A1C}"/>
              </a:ext>
            </a:extLst>
          </p:cNvPr>
          <p:cNvSpPr>
            <a:spLocks noChangeArrowheads="1"/>
          </p:cNvSpPr>
          <p:nvPr>
            <p:custDataLst>
              <p:tags r:id="Rf929e6e5aced43cd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Applications in Consumer Electronics and Smart Homes</a:t>
            </a:r>
            <a:endParaRPr lang="en-IN" altLang="en-US" sz="2400" b="1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BFDA4BAD-35C5-798E-4B33-9DC6D7547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4A4C190F-2970-0E74-6E1B-EBC3A6E46A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1998707"/>
            <a:ext cx="7356297" cy="4102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User Interaction Devices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Microphones, touch sensors, accelerometers in smartphones, gaming devices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Home Automation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Light sensors, motion detectors, and thermostats manage smart homes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Transducers enhance user experience, convenience, and energy efficiency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A0701B-0BA7-8213-EC24-F529303C1FB2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710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04362-A917-AD35-FBA0-2BAC1F0CE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8F1B6C1-F5B4-D824-5A0D-DDBEB2AE30D9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0A9C20-242F-39A3-52AB-A0388D540452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095866FB-9E70-591E-0132-230A8DFD12D6}"/>
              </a:ext>
            </a:extLst>
          </p:cNvPr>
          <p:cNvSpPr>
            <a:spLocks noChangeArrowheads="1"/>
          </p:cNvSpPr>
          <p:nvPr>
            <p:custDataLst>
              <p:tags r:id="Ra2fec9740e2f4894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Applications in Environmental and Agricultural</a:t>
            </a:r>
            <a:endParaRPr lang="en-IN" altLang="en-US" sz="2400" b="1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2C254F2F-E8CA-E976-0A80-9065CB675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9F6508B3-B254-64D9-404B-CD4FC7A15B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1998707"/>
            <a:ext cx="7356297" cy="4102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Weather and Climate Monitoring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Humidity sensors, rain gauges, temperature sensors in weather stations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Smart Farming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Soil moisture sensors, pH sensors optimize irrigation and crop health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Support sustainable agriculture and environmental conservation efforts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CEED6D-A4DC-95AD-6ADF-1476A8A898F8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797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4B670-7799-ECB4-106D-FC9AB9754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A505A4A-8703-69AA-83D7-4DB778647249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6003D7D-EEB9-7A5C-06EA-0EE432011F85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3D8A5EF9-718D-8C3B-839F-D67730FDB917}"/>
              </a:ext>
            </a:extLst>
          </p:cNvPr>
          <p:cNvSpPr>
            <a:spLocks noChangeArrowheads="1"/>
          </p:cNvSpPr>
          <p:nvPr>
            <p:custDataLst>
              <p:tags r:id="Rc38e01c9032641fd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Case Study – Automated Packaging Line</a:t>
            </a:r>
            <a:endParaRPr lang="en-IN" altLang="en-US" sz="2400" b="1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48D35471-DF17-D1E2-1216-B940E50C3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5C43AD53-CB38-CF8D-A8A3-591FF45E5E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2224354"/>
            <a:ext cx="7356297" cy="3086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Proximity Sensors detect package arrival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Load Cells ensure correct package weight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Temperature Sensors maintain sealing machine quality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Optical Encoders verify labeling accuracy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Transducers automate quality control, reduce errors, and enhance productivity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160B35-3DE4-0C2B-5164-AD2114C7D9D2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530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F26E3-7923-7C0F-6A2E-0D19854C8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7F88D45-D9EC-0AF3-342B-23D4E6310060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7EA925E-51C8-7E1A-742E-72F9C945A2B0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FB2F509E-67B4-0EBC-ACD7-F4ACE76A4113}"/>
              </a:ext>
            </a:extLst>
          </p:cNvPr>
          <p:cNvSpPr>
            <a:spLocks noChangeArrowheads="1"/>
          </p:cNvSpPr>
          <p:nvPr>
            <p:custDataLst>
              <p:tags r:id="R61552b21160f4a78"/>
            </p:custDataLst>
          </p:nvPr>
        </p:nvSpPr>
        <p:spPr bwMode="auto">
          <a:xfrm>
            <a:off x="729465" y="1201274"/>
            <a:ext cx="7356297" cy="642937"/>
          </a:xfrm>
          <a:prstGeom prst="rect">
            <a:avLst/>
          </a:prstGeom>
          <a:solidFill>
            <a:srgbClr val="1F497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altLang="en-US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Key Takeaways</a:t>
            </a:r>
          </a:p>
        </p:txBody>
      </p:sp>
      <p:sp>
        <p:nvSpPr>
          <p:cNvPr id="141" name="Rectangle 137">
            <a:extLst>
              <a:ext uri="{FF2B5EF4-FFF2-40B4-BE49-F238E27FC236}">
                <a16:creationId xmlns:a16="http://schemas.microsoft.com/office/drawing/2014/main" id="{6AA200C4-FD61-C904-8DCB-1E1883BB2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3409950"/>
            <a:ext cx="1816894" cy="1657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E84F9EAC-EBBE-5294-58FA-208DE806C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65" y="1998707"/>
            <a:ext cx="7356297" cy="4102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Transducers are essential across industry, aerospace, biomedical, and consumer fields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Enable precise measurement, real-time monitoring, control, and automation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Selection of appropriate transducer improves system reliability and efficiency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Transducers are foundational in Industry 4.0 and smart technological evolution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E0CB31-D7FA-9C02-94E5-2349EBF32F16}"/>
              </a:ext>
            </a:extLst>
          </p:cNvPr>
          <p:cNvSpPr txBox="1"/>
          <p:nvPr/>
        </p:nvSpPr>
        <p:spPr>
          <a:xfrm>
            <a:off x="4572000" y="6131859"/>
            <a:ext cx="5513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726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8178173"/>
      </p:ext>
    </p:extLst>
  </p:cSld>
  <p:clrMapOvr>
    <a:masterClrMapping/>
  </p:clrMapOvr>
</p:sld>
</file>

<file path=ppt/slides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slides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364</TotalTime>
  <Words>831</Words>
  <Application>Microsoft Office PowerPoint</Application>
  <PresentationFormat>On-screen Show (4:3)</PresentationFormat>
  <Paragraphs>133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PowerPoint Presentation</dc:title>
  <dc:creator>Administrator</dc:creator>
  <lastModifiedBy>Meet Soni</lastModifiedBy>
  <revision>27</revision>
  <dcterms:created xsi:type="dcterms:W3CDTF">2024-12-13T07:18:04.0000000Z</dcterms:created>
  <dcterms:modified xsi:type="dcterms:W3CDTF">2025-09-15T08:34:27.7880000Z</dcterms:modified>
</coreProperties>
</file>