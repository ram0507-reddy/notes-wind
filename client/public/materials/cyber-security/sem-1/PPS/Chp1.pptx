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9"/>
  </p:notesMasterIdLst>
  <p:sldIdLst>
    <p:sldId id="256" r:id="rId2"/>
    <p:sldId id="326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15" r:id="rId11"/>
    <p:sldId id="316" r:id="rId12"/>
    <p:sldId id="335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17" r:id="rId21"/>
    <p:sldId id="343" r:id="rId22"/>
    <p:sldId id="350" r:id="rId23"/>
    <p:sldId id="344" r:id="rId24"/>
    <p:sldId id="346" r:id="rId25"/>
    <p:sldId id="347" r:id="rId26"/>
    <p:sldId id="348" r:id="rId27"/>
    <p:sldId id="349" r:id="rId28"/>
    <p:sldId id="352" r:id="rId29"/>
    <p:sldId id="353" r:id="rId30"/>
    <p:sldId id="354" r:id="rId31"/>
    <p:sldId id="355" r:id="rId32"/>
    <p:sldId id="318" r:id="rId33"/>
    <p:sldId id="351" r:id="rId34"/>
    <p:sldId id="319" r:id="rId35"/>
    <p:sldId id="320" r:id="rId36"/>
    <p:sldId id="382" r:id="rId37"/>
    <p:sldId id="383" r:id="rId38"/>
    <p:sldId id="384" r:id="rId39"/>
    <p:sldId id="390" r:id="rId40"/>
    <p:sldId id="391" r:id="rId41"/>
    <p:sldId id="400" r:id="rId42"/>
    <p:sldId id="401" r:id="rId43"/>
    <p:sldId id="323" r:id="rId44"/>
    <p:sldId id="402" r:id="rId45"/>
    <p:sldId id="403" r:id="rId46"/>
    <p:sldId id="404" r:id="rId47"/>
    <p:sldId id="325" r:id="rId48"/>
    <p:sldId id="405" r:id="rId49"/>
    <p:sldId id="410" r:id="rId50"/>
    <p:sldId id="411" r:id="rId51"/>
    <p:sldId id="412" r:id="rId52"/>
    <p:sldId id="324" r:id="rId53"/>
    <p:sldId id="418" r:id="rId54"/>
    <p:sldId id="419" r:id="rId55"/>
    <p:sldId id="420" r:id="rId56"/>
    <p:sldId id="421" r:id="rId57"/>
    <p:sldId id="422" r:id="rId58"/>
    <p:sldId id="423" r:id="rId59"/>
    <p:sldId id="426" r:id="rId60"/>
    <p:sldId id="427" r:id="rId61"/>
    <p:sldId id="428" r:id="rId62"/>
    <p:sldId id="429" r:id="rId63"/>
    <p:sldId id="430" r:id="rId64"/>
    <p:sldId id="431" r:id="rId65"/>
    <p:sldId id="424" r:id="rId66"/>
    <p:sldId id="425" r:id="rId67"/>
    <p:sldId id="269" r:id="rId68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4" roundtripDataSignature="AMtx7mhFAEJ1p6NKytNCABPwAn+Ok1v8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4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22210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55" name="Google Shape;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5840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0775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4211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7303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9127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6644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1260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0135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8623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22567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91237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1549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37959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37766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8114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40038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05428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35985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5386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46161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51402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03833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125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08733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82409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2930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4697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25275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35255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29772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73866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66260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87703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11456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80665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32995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93321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59739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18126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50530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82268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48055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23242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790126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342118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82588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590516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609840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411433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330839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002615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331816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74247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836940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971477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903431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584917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959112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792664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258636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880758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886736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028946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739161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834996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434104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spcBef>
                <a:spcPts val="408"/>
              </a:spcBef>
            </a:pPr>
            <a:endParaRPr/>
          </a:p>
        </p:txBody>
      </p:sp>
      <p:sp>
        <p:nvSpPr>
          <p:cNvPr id="185" name="Google Shape;1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9599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sldNum" idx="1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marL="914400" lvl="1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marL="1371600" lvl="2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marL="1828800" lvl="3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marL="2286000" lvl="4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body" idx="2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sldNum" idx="1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sldNum" idx="1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body" idx="2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sldNum" idx="1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sldNum" idx="1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6629400" y="274638"/>
            <a:ext cx="2057400" cy="5851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sldNum" idx="1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ldNum" idx="1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" descr="Picture 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165262"/>
            <a:ext cx="9144001" cy="690086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1131887" y="1348582"/>
            <a:ext cx="6858001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 algn="ctr">
              <a:buSzPts val="3500"/>
            </a:pPr>
            <a:r>
              <a:rPr lang="en-IN" sz="2800" dirty="0"/>
              <a:t>Programming for Problem Solving </a:t>
            </a:r>
            <a:r>
              <a:rPr lang="en-IN" sz="3200" b="1" dirty="0">
                <a:latin typeface="Calibri"/>
                <a:cs typeface="Calibri"/>
                <a:sym typeface="Calibri"/>
              </a:rPr>
              <a:t>(</a:t>
            </a:r>
            <a:r>
              <a:rPr lang="en-IN" sz="3200" b="1" dirty="0" smtClean="0">
                <a:latin typeface="Calibri"/>
                <a:cs typeface="Calibri"/>
                <a:sym typeface="Calibri"/>
              </a:rPr>
              <a:t>PPS)</a:t>
            </a:r>
          </a:p>
          <a:p>
            <a:pPr lvl="0" algn="ctr">
              <a:buSzPts val="3500"/>
            </a:pPr>
            <a:r>
              <a:rPr lang="en-IN" sz="3200" b="1" dirty="0" smtClean="0">
                <a:latin typeface="Calibri"/>
                <a:cs typeface="Calibri"/>
                <a:sym typeface="Calibri"/>
              </a:rPr>
              <a:t>Chapter-1</a:t>
            </a:r>
          </a:p>
          <a:p>
            <a:pPr lvl="0" algn="ctr">
              <a:buSzPts val="3500"/>
            </a:pPr>
            <a:r>
              <a:rPr lang="en-IN" sz="3200" dirty="0" smtClean="0"/>
              <a:t>Introduction to ‘C’ Programming:</a:t>
            </a:r>
            <a:endParaRPr lang="en-IN" sz="3200" dirty="0"/>
          </a:p>
        </p:txBody>
      </p:sp>
      <p:pic>
        <p:nvPicPr>
          <p:cNvPr id="60" name="Google Shape;60;p1" descr="Picture 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1375" y="500062"/>
            <a:ext cx="2381250" cy="6286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" name="Google Shape;61;p1"/>
          <p:cNvGrpSpPr/>
          <p:nvPr/>
        </p:nvGrpSpPr>
        <p:grpSpPr>
          <a:xfrm>
            <a:off x="1703385" y="3400522"/>
            <a:ext cx="6308728" cy="93667"/>
            <a:chOff x="-1" y="-1"/>
            <a:chExt cx="6308726" cy="93665"/>
          </a:xfrm>
        </p:grpSpPr>
        <p:cxnSp>
          <p:nvCxnSpPr>
            <p:cNvPr id="62" name="Google Shape;62;p1"/>
            <p:cNvCxnSpPr/>
            <p:nvPr/>
          </p:nvCxnSpPr>
          <p:spPr>
            <a:xfrm>
              <a:off x="0" y="46037"/>
              <a:ext cx="6286501" cy="1588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3" name="Google Shape;63;p1"/>
            <p:cNvSpPr/>
            <p:nvPr/>
          </p:nvSpPr>
          <p:spPr>
            <a:xfrm rot="10800000">
              <a:off x="-1" y="-1"/>
              <a:ext cx="93663" cy="9366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 rot="10800000">
              <a:off x="6215062" y="-1"/>
              <a:ext cx="93663" cy="9366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</a:t>
            </a:r>
            <a:r>
              <a:rPr lang="en-US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Program</a:t>
            </a:r>
            <a:r>
              <a:rPr lang="en-US" sz="3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3545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Program is a collection of instructions that performs a specific task when executed by a computer.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Programming Languages?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programming language is a set of commands, instructions and other syntax use to create a software</a:t>
            </a:r>
            <a:br>
              <a:rPr lang="en-US" sz="2000" dirty="0"/>
            </a:br>
            <a:r>
              <a:rPr lang="en-US" sz="2000" dirty="0"/>
              <a:t>program. Programming languages are used in computer programming to implement algorithms.</a:t>
            </a: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846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Introduction to C Programming Language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4197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 is a </a:t>
            </a:r>
            <a:r>
              <a:rPr lang="en-US" sz="1800" b="1" dirty="0"/>
              <a:t>general-purpose, high-level</a:t>
            </a:r>
            <a:r>
              <a:rPr lang="en-US" sz="1800" dirty="0"/>
              <a:t> programming language, which means it can be used to write a wide range of programs—from operating systems to games.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High-level</a:t>
            </a:r>
            <a:r>
              <a:rPr lang="en-US" sz="1800" dirty="0"/>
              <a:t>: Easier for humans to read and write than machine code.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General-purpose</a:t>
            </a:r>
            <a:r>
              <a:rPr lang="en-US" sz="1800" dirty="0"/>
              <a:t>: Not limited to specific applications.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Low-level features</a:t>
            </a:r>
            <a:r>
              <a:rPr lang="en-US" sz="1800" dirty="0"/>
              <a:t>: Allows direct memory access using pointers.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Procedural</a:t>
            </a:r>
            <a:r>
              <a:rPr lang="en-US" sz="1800" dirty="0"/>
              <a:t>: Follows a step-by-step approach using functions.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Compiled</a:t>
            </a:r>
            <a:r>
              <a:rPr lang="en-US" sz="1800" dirty="0"/>
              <a:t>: Code is converted into machine language before execution.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Structured</a:t>
            </a:r>
            <a:r>
              <a:rPr lang="en-US" sz="1800" dirty="0"/>
              <a:t>: Code is divided into blocks (functions), making it easier to manage.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Common Usage</a:t>
            </a:r>
            <a:r>
              <a:rPr lang="en-US" sz="1800" dirty="0"/>
              <a:t>: Operating systems, embedded systems, and compilers.</a:t>
            </a:r>
          </a:p>
          <a:p>
            <a:pPr>
              <a:lnSpc>
                <a:spcPct val="150000"/>
              </a:lnSpc>
            </a:pPr>
            <a:endParaRPr lang="en-GB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448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1. High Level Language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3505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Meaning</a:t>
            </a:r>
            <a:r>
              <a:rPr lang="en-US" sz="1800" dirty="0"/>
              <a:t>:</a:t>
            </a:r>
            <a:br>
              <a:rPr lang="en-US" sz="1800" dirty="0"/>
            </a:br>
            <a:r>
              <a:rPr lang="en-US" sz="1800" dirty="0"/>
              <a:t>A high-level language provides abstraction from the hardware. This means you don’t need to worry about managing memory locations, CPU registers, or writing binary code.</a:t>
            </a:r>
          </a:p>
          <a:p>
            <a:r>
              <a:rPr lang="en-US" sz="1800" b="1" dirty="0"/>
              <a:t>Why it matters</a:t>
            </a:r>
            <a:r>
              <a:rPr lang="en-US" sz="1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You can write commands like </a:t>
            </a:r>
            <a:r>
              <a:rPr lang="en-US" sz="1800" dirty="0" err="1"/>
              <a:t>printf</a:t>
            </a:r>
            <a:r>
              <a:rPr lang="en-US" sz="1800" dirty="0"/>
              <a:t>(“Hello”) instead of complicated machine-level instructions.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It uses English-like keywords (e.g., if, while, for, return).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Easier to learn and debug than assembly or machine code.</a:t>
            </a:r>
          </a:p>
          <a:p>
            <a:pPr>
              <a:lnSpc>
                <a:spcPct val="150000"/>
              </a:lnSpc>
            </a:pPr>
            <a:endParaRPr lang="en-GB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599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2. General-Purpose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3920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Meaning</a:t>
            </a:r>
            <a:r>
              <a:rPr lang="en-US" sz="1800" dirty="0"/>
              <a:t>:</a:t>
            </a:r>
            <a:br>
              <a:rPr lang="en-US" sz="1800" dirty="0"/>
            </a:br>
            <a:r>
              <a:rPr lang="en-US" sz="1800" dirty="0"/>
              <a:t>C is not restricted to solving a specific type of problem or limited to one domain. You can use it for a wide variety of applications.</a:t>
            </a:r>
          </a:p>
          <a:p>
            <a:r>
              <a:rPr lang="en-US" sz="1800" b="1" dirty="0"/>
              <a:t>Where it can be used</a:t>
            </a:r>
            <a:r>
              <a:rPr lang="en-US" sz="1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System software (OS, drivers)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Embedded systems (firmware)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Application software (compilers, databases)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Scientific computing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Games and graphics engines</a:t>
            </a:r>
          </a:p>
          <a:p>
            <a:r>
              <a:rPr lang="en-US" sz="1800" b="1" dirty="0"/>
              <a:t>Why it matters</a:t>
            </a:r>
            <a:r>
              <a:rPr lang="en-US" sz="1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You learn one language and can apply it almost anywhere.</a:t>
            </a:r>
          </a:p>
          <a:p>
            <a:pPr>
              <a:lnSpc>
                <a:spcPct val="150000"/>
              </a:lnSpc>
            </a:pPr>
            <a:endParaRPr lang="en-GB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299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3. Low-Level Features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3366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Meaning</a:t>
            </a:r>
            <a:r>
              <a:rPr lang="en-US" sz="1800" dirty="0"/>
              <a:t>:</a:t>
            </a:r>
            <a:br>
              <a:rPr lang="en-US" sz="1800" dirty="0"/>
            </a:br>
            <a:r>
              <a:rPr lang="en-US" sz="1800" dirty="0"/>
              <a:t>Even though C is a high-level language, it gives access to low-level operations like memory manipulation through </a:t>
            </a:r>
            <a:r>
              <a:rPr lang="en-US" sz="1800" b="1" dirty="0"/>
              <a:t>pointers</a:t>
            </a:r>
            <a:r>
              <a:rPr lang="en-US" sz="1800" dirty="0"/>
              <a:t>.</a:t>
            </a:r>
          </a:p>
          <a:p>
            <a:r>
              <a:rPr lang="en-US" sz="1800" b="1" dirty="0"/>
              <a:t>What this lets you do</a:t>
            </a:r>
            <a:r>
              <a:rPr lang="en-US" sz="1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Access and modify memory directly using addresses.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Write efficient and fast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Communicate with hardware-level resources.</a:t>
            </a:r>
          </a:p>
          <a:p>
            <a:r>
              <a:rPr lang="en-US" sz="1800" b="1" dirty="0"/>
              <a:t>Why it matters</a:t>
            </a:r>
            <a:r>
              <a:rPr lang="en-US" sz="1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Critical for writing OS kernels, drivers, and performance-critical code.</a:t>
            </a:r>
          </a:p>
          <a:p>
            <a:pPr>
              <a:lnSpc>
                <a:spcPct val="150000"/>
              </a:lnSpc>
            </a:pPr>
            <a:endParaRPr lang="en-GB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713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4. Procedural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3920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Meaning</a:t>
            </a:r>
            <a:r>
              <a:rPr lang="en-US" sz="1800" dirty="0"/>
              <a:t>:</a:t>
            </a:r>
            <a:br>
              <a:rPr lang="en-US" sz="1800" dirty="0"/>
            </a:br>
            <a:r>
              <a:rPr lang="en-US" sz="1800" dirty="0"/>
              <a:t>C follows the </a:t>
            </a:r>
            <a:r>
              <a:rPr lang="en-US" sz="1800" b="1" dirty="0"/>
              <a:t>procedure-oriented</a:t>
            </a:r>
            <a:r>
              <a:rPr lang="en-US" sz="1800" dirty="0"/>
              <a:t> approach. The program is divided into </a:t>
            </a:r>
            <a:r>
              <a:rPr lang="en-US" sz="1800" b="1" dirty="0"/>
              <a:t>functions or procedures</a:t>
            </a:r>
            <a:r>
              <a:rPr lang="en-US" sz="1800" dirty="0"/>
              <a:t> that run step-by-step.</a:t>
            </a:r>
          </a:p>
          <a:p>
            <a:r>
              <a:rPr lang="en-US" sz="1800" b="1" dirty="0"/>
              <a:t>Characteristics</a:t>
            </a:r>
            <a:r>
              <a:rPr lang="en-US" sz="1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Executes instructions in the order they are written.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Uses main() as the starting point.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Functions are used to divide tasks (e.g., input(), process(), output()).</a:t>
            </a:r>
          </a:p>
          <a:p>
            <a:r>
              <a:rPr lang="en-US" sz="1800" b="1" dirty="0"/>
              <a:t>Why it matters</a:t>
            </a:r>
            <a:r>
              <a:rPr lang="en-US" sz="1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Easier to write, understand, and maintain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Encourages logical thinking and problem-solving through small steps.</a:t>
            </a:r>
          </a:p>
          <a:p>
            <a:pPr>
              <a:lnSpc>
                <a:spcPct val="150000"/>
              </a:lnSpc>
            </a:pPr>
            <a:endParaRPr lang="en-GB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260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5. Compiled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44745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Meaning</a:t>
            </a:r>
            <a:r>
              <a:rPr lang="en-US" sz="1800" dirty="0"/>
              <a:t>:</a:t>
            </a:r>
            <a:br>
              <a:rPr lang="en-US" sz="1800" dirty="0"/>
            </a:br>
            <a:r>
              <a:rPr lang="en-US" sz="1800" dirty="0"/>
              <a:t>C is a </a:t>
            </a:r>
            <a:r>
              <a:rPr lang="en-US" sz="1800" b="1" dirty="0"/>
              <a:t>compiled language</a:t>
            </a:r>
            <a:r>
              <a:rPr lang="en-US" sz="1800" dirty="0"/>
              <a:t>, meaning the program you write (source code) is first converted into </a:t>
            </a:r>
            <a:r>
              <a:rPr lang="en-US" sz="1800" b="1" dirty="0"/>
              <a:t>machine code</a:t>
            </a:r>
            <a:r>
              <a:rPr lang="en-US" sz="1800" dirty="0"/>
              <a:t> by a compiler before it can be executed.</a:t>
            </a:r>
          </a:p>
          <a:p>
            <a:r>
              <a:rPr lang="en-IN" sz="1800" b="1" dirty="0"/>
              <a:t>Steps</a:t>
            </a:r>
            <a:r>
              <a:rPr lang="en-IN" sz="18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Write code in .c file.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Compile it using a compiler like GCC.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The compiler converts it into .exe (Windows) or </a:t>
            </a:r>
            <a:r>
              <a:rPr lang="en-US" sz="1800" dirty="0" err="1"/>
              <a:t>a.out</a:t>
            </a:r>
            <a:r>
              <a:rPr lang="en-US" sz="1800" dirty="0"/>
              <a:t> (Linux).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Run the executable.</a:t>
            </a:r>
          </a:p>
          <a:p>
            <a:r>
              <a:rPr lang="en-US" sz="1800" b="1" dirty="0"/>
              <a:t>Why it matters</a:t>
            </a:r>
            <a:r>
              <a:rPr lang="en-US" sz="1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Faster execution than interpreted languages.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Errors are caught during compilation.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No need for the compiler to run the program again.</a:t>
            </a:r>
          </a:p>
          <a:p>
            <a:endParaRPr lang="en-IN" sz="1800" dirty="0"/>
          </a:p>
          <a:p>
            <a:pPr>
              <a:lnSpc>
                <a:spcPct val="150000"/>
              </a:lnSpc>
            </a:pPr>
            <a:endParaRPr lang="en-GB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163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6. Structured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32280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Meaning</a:t>
            </a:r>
            <a:r>
              <a:rPr lang="en-US" sz="1800" dirty="0"/>
              <a:t>:</a:t>
            </a:r>
            <a:br>
              <a:rPr lang="en-US" sz="1800" dirty="0"/>
            </a:br>
            <a:r>
              <a:rPr lang="en-US" sz="1800" dirty="0"/>
              <a:t>C supports </a:t>
            </a:r>
            <a:r>
              <a:rPr lang="en-US" sz="1800" b="1" dirty="0"/>
              <a:t>structured programming</a:t>
            </a:r>
            <a:r>
              <a:rPr lang="en-US" sz="1800" dirty="0"/>
              <a:t>, which means organizing code into </a:t>
            </a:r>
            <a:r>
              <a:rPr lang="en-US" sz="1800" b="1" dirty="0"/>
              <a:t>blocks</a:t>
            </a:r>
            <a:r>
              <a:rPr lang="en-US" sz="1800" dirty="0"/>
              <a:t>, mainly using </a:t>
            </a:r>
            <a:r>
              <a:rPr lang="en-US" sz="1800" b="1" dirty="0"/>
              <a:t>functions</a:t>
            </a:r>
            <a:r>
              <a:rPr lang="en-US" sz="1800" dirty="0"/>
              <a:t>, </a:t>
            </a:r>
            <a:r>
              <a:rPr lang="en-US" sz="1800" b="1" dirty="0"/>
              <a:t>loops</a:t>
            </a:r>
            <a:r>
              <a:rPr lang="en-US" sz="1800" dirty="0"/>
              <a:t>, </a:t>
            </a:r>
            <a:r>
              <a:rPr lang="en-US" sz="1800" b="1" dirty="0"/>
              <a:t>conditionals</a:t>
            </a:r>
            <a:r>
              <a:rPr lang="en-US" sz="1800" dirty="0"/>
              <a:t>, etc.</a:t>
            </a:r>
          </a:p>
          <a:p>
            <a:r>
              <a:rPr lang="en-US" sz="1800" b="1" dirty="0"/>
              <a:t>Benefits</a:t>
            </a:r>
            <a:r>
              <a:rPr lang="en-US" sz="1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Increases readability and reusability.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Reduces errors and complexity.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Makes debugging easier.</a:t>
            </a:r>
          </a:p>
          <a:p>
            <a:r>
              <a:rPr lang="en-US" sz="1800" b="1" dirty="0"/>
              <a:t>Why it matters</a:t>
            </a:r>
            <a:r>
              <a:rPr lang="en-US" sz="1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Students learn to break problems into smaller tasks (modular design).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Helps in managing large codebases.</a:t>
            </a:r>
          </a:p>
          <a:p>
            <a:pPr>
              <a:lnSpc>
                <a:spcPct val="150000"/>
              </a:lnSpc>
            </a:pPr>
            <a:endParaRPr lang="en-GB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036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History of C Language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4197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Developed in </a:t>
            </a:r>
            <a:r>
              <a:rPr lang="en-US" sz="1800" b="1" dirty="0"/>
              <a:t>1972</a:t>
            </a:r>
            <a:r>
              <a:rPr lang="en-US" sz="1800" dirty="0"/>
              <a:t> by </a:t>
            </a:r>
            <a:r>
              <a:rPr lang="en-US" sz="1800" b="1" dirty="0"/>
              <a:t>Dennis Ritchie</a:t>
            </a:r>
            <a:r>
              <a:rPr lang="en-US" sz="1800" dirty="0"/>
              <a:t> at </a:t>
            </a:r>
            <a:r>
              <a:rPr lang="en-US" sz="1800" b="1" dirty="0"/>
              <a:t>Bell Labs</a:t>
            </a:r>
            <a:r>
              <a:rPr lang="en-US" sz="18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Evolved from:</a:t>
            </a:r>
          </a:p>
          <a:p>
            <a:pPr lvl="8">
              <a:lnSpc>
                <a:spcPct val="150000"/>
              </a:lnSpc>
            </a:pP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en-US" sz="1800" b="1" dirty="0"/>
              <a:t>BCPL</a:t>
            </a:r>
            <a:r>
              <a:rPr lang="en-US" sz="1800" dirty="0"/>
              <a:t> → Basic Combined Programming Language</a:t>
            </a:r>
          </a:p>
          <a:p>
            <a:pPr lvl="8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en-US" sz="1800" b="1" dirty="0"/>
              <a:t>B</a:t>
            </a:r>
            <a:r>
              <a:rPr lang="en-US" sz="1800" dirty="0"/>
              <a:t> (developed by Ken Thompson)</a:t>
            </a:r>
          </a:p>
          <a:p>
            <a:pPr lvl="8">
              <a:lnSpc>
                <a:spcPct val="150000"/>
              </a:lnSpc>
            </a:pPr>
            <a:r>
              <a:rPr lang="en-US" sz="1800" b="1" dirty="0"/>
              <a:t>	-C</a:t>
            </a:r>
            <a:r>
              <a:rPr lang="en-US" sz="1800" dirty="0"/>
              <a:t> (a successor to B)</a:t>
            </a:r>
          </a:p>
          <a:p>
            <a:pPr marL="285750" lvl="8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UNIX OS</a:t>
            </a:r>
            <a:r>
              <a:rPr lang="en-US" sz="1800" dirty="0"/>
              <a:t> was originally written in assembly, then rewritten in </a:t>
            </a:r>
            <a:r>
              <a:rPr lang="en-US" sz="1800" b="1" dirty="0"/>
              <a:t>C</a:t>
            </a:r>
            <a:r>
              <a:rPr lang="en-US" sz="1800" dirty="0"/>
              <a:t> (1973), making it portable.</a:t>
            </a:r>
          </a:p>
          <a:p>
            <a:pPr marL="285750" lvl="8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Standardization:</a:t>
            </a:r>
          </a:p>
          <a:p>
            <a:pPr lvl="8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en-IN" sz="1800" b="1" dirty="0"/>
              <a:t>ANSI C (1989)</a:t>
            </a:r>
            <a:r>
              <a:rPr lang="en-IN" sz="1800" dirty="0"/>
              <a:t> – American National Standards Institute version</a:t>
            </a:r>
          </a:p>
          <a:p>
            <a:pPr lvl="8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en-US" sz="1800" b="1" dirty="0"/>
              <a:t>ISO C</a:t>
            </a:r>
            <a:r>
              <a:rPr lang="en-US" sz="1800" dirty="0"/>
              <a:t> – International Standardization, later versions like C99, C11, C18.</a:t>
            </a:r>
            <a:endParaRPr lang="en-GB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466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Application Areas of C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3729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 is used in various fields due to its performance and control over hardware: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System Programming</a:t>
            </a:r>
            <a:r>
              <a:rPr lang="en-IN" sz="2000" dirty="0"/>
              <a:t>: Operating systems like UNIX, Linux kernels.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Embedded Systems</a:t>
            </a:r>
            <a:r>
              <a:rPr lang="en-IN" sz="2000" dirty="0"/>
              <a:t>: Microcontrollers, firmware for smart devices.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Game Development</a:t>
            </a:r>
            <a:r>
              <a:rPr lang="en-US" sz="2000" dirty="0"/>
              <a:t>: Core engines and performance-critical parts.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Compilers/Interpreters</a:t>
            </a:r>
            <a:r>
              <a:rPr lang="en-US" sz="2000" dirty="0"/>
              <a:t>: GCC and others are written in C.</a:t>
            </a:r>
            <a:endParaRPr lang="en-I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GUI Applications</a:t>
            </a:r>
            <a:r>
              <a:rPr lang="en-US" sz="2000" dirty="0"/>
              <a:t>: Though rare today, some interfaces still use C.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Database Systems</a:t>
            </a:r>
            <a:r>
              <a:rPr lang="en-US" sz="2000" dirty="0"/>
              <a:t>: MySQL is developed in C.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Network Programming</a:t>
            </a:r>
            <a:r>
              <a:rPr lang="en-US" sz="2000" dirty="0"/>
              <a:t>: Socket programming, protocol implementations.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Scientific &amp; Engineering</a:t>
            </a:r>
            <a:r>
              <a:rPr lang="en-US" sz="2000" dirty="0"/>
              <a:t>: Simulations and numerical analysis.</a:t>
            </a: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232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1. System Programming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Used for: Operating Systems, Kernels, Drivers, File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 was originally developed to write </a:t>
            </a:r>
            <a:r>
              <a:rPr lang="en-US" sz="2000" b="1" dirty="0"/>
              <a:t>UNIX</a:t>
            </a:r>
            <a:r>
              <a:rPr lang="en-US" sz="2000" dirty="0"/>
              <a:t>, and even today, parts of </a:t>
            </a:r>
            <a:r>
              <a:rPr lang="en-US" sz="2000" b="1" dirty="0"/>
              <a:t>Linux, Windows</a:t>
            </a:r>
            <a:r>
              <a:rPr lang="en-US" sz="2000" dirty="0"/>
              <a:t>, and </a:t>
            </a:r>
            <a:r>
              <a:rPr lang="en-US" sz="2000" b="1" dirty="0"/>
              <a:t>macOS</a:t>
            </a:r>
            <a:r>
              <a:rPr lang="en-US" sz="2000" dirty="0"/>
              <a:t> kernels are written in 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gives access to </a:t>
            </a:r>
            <a:r>
              <a:rPr lang="en-US" sz="2000" b="1" dirty="0"/>
              <a:t>low-level operations</a:t>
            </a:r>
            <a:r>
              <a:rPr lang="en-US" sz="2000" dirty="0"/>
              <a:t> like memory and I/O ports.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System programs need </a:t>
            </a:r>
            <a:r>
              <a:rPr lang="en-US" sz="2000" b="1" dirty="0"/>
              <a:t>fast execution</a:t>
            </a:r>
            <a:r>
              <a:rPr lang="en-US" sz="2000" dirty="0"/>
              <a:t>, </a:t>
            </a:r>
            <a:r>
              <a:rPr lang="en-US" sz="2000" b="1" dirty="0"/>
              <a:t>direct hardware access</a:t>
            </a:r>
            <a:r>
              <a:rPr lang="en-US" sz="2000" dirty="0"/>
              <a:t>, and </a:t>
            </a:r>
            <a:r>
              <a:rPr lang="en-US" sz="2000" b="1" dirty="0"/>
              <a:t>reliability</a:t>
            </a:r>
            <a:r>
              <a:rPr lang="en-US" sz="2000" dirty="0"/>
              <a:t>, all of which C provides.</a:t>
            </a: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772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2. Embedded Systems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Used for: Microcontrollers, IoT devices, Smart appliances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 embedded systems, memory and processing power are limited. C is ideal because it creates </a:t>
            </a:r>
            <a:r>
              <a:rPr lang="en-US" sz="2000" b="1" dirty="0"/>
              <a:t>compact and fast executables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 can communicate directly with </a:t>
            </a:r>
            <a:r>
              <a:rPr lang="en-US" sz="2000" b="1" dirty="0"/>
              <a:t>hardware registers</a:t>
            </a:r>
            <a:r>
              <a:rPr lang="en-US" sz="2000" dirty="0"/>
              <a:t> and </a:t>
            </a:r>
            <a:r>
              <a:rPr lang="en-US" sz="2000" b="1" dirty="0"/>
              <a:t>sensors</a:t>
            </a:r>
            <a:r>
              <a:rPr lang="en-US" sz="2000" dirty="0"/>
              <a:t> via memory addresses.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in </a:t>
            </a:r>
            <a:r>
              <a:rPr lang="en-US" sz="2000" b="1" dirty="0"/>
              <a:t>automobiles, washing machines, smart TVs, thermostats, medical devices</a:t>
            </a:r>
            <a:r>
              <a:rPr lang="en-US" sz="2000" dirty="0"/>
              <a:t>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Example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Firmware of a microwave oven or heartbeat monitor uses C to control its operations.</a:t>
            </a: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592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3. Game Development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for: Game engines, Physics calculations, Graphics rendering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 (and C++) powers the </a:t>
            </a:r>
            <a:r>
              <a:rPr lang="en-US" sz="2000" b="1" dirty="0"/>
              <a:t>core engine</a:t>
            </a:r>
            <a:r>
              <a:rPr lang="en-US" sz="2000" dirty="0"/>
              <a:t> of many games because it's extremely fast.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Games need </a:t>
            </a:r>
            <a:r>
              <a:rPr lang="en-US" sz="2000" b="1" dirty="0"/>
              <a:t>real-time performance</a:t>
            </a:r>
            <a:r>
              <a:rPr lang="en-US" sz="2000" dirty="0"/>
              <a:t>, especially in physics engines and rendering pipelines.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 is often used to build </a:t>
            </a:r>
            <a:r>
              <a:rPr lang="en-US" sz="2000" b="1" dirty="0"/>
              <a:t>custom graphics engines</a:t>
            </a:r>
            <a:r>
              <a:rPr lang="en-US" sz="2000" dirty="0"/>
              <a:t>, </a:t>
            </a:r>
            <a:r>
              <a:rPr lang="en-US" sz="2000" b="1" dirty="0"/>
              <a:t>AI algorithms</a:t>
            </a:r>
            <a:r>
              <a:rPr lang="en-US" sz="2000" dirty="0"/>
              <a:t>, or </a:t>
            </a:r>
            <a:r>
              <a:rPr lang="en-US" sz="2000" b="1" dirty="0"/>
              <a:t>low-level optimizations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Example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The Unreal Engine (originally) and early versions of games like </a:t>
            </a:r>
            <a:r>
              <a:rPr lang="en-US" sz="2000" b="1" dirty="0"/>
              <a:t>Doom</a:t>
            </a:r>
            <a:r>
              <a:rPr lang="en-US" sz="2000" dirty="0"/>
              <a:t> and </a:t>
            </a:r>
            <a:r>
              <a:rPr lang="en-US" sz="2000" b="1" dirty="0"/>
              <a:t>Quake</a:t>
            </a:r>
            <a:r>
              <a:rPr lang="en-US" sz="2000" dirty="0"/>
              <a:t> used C.</a:t>
            </a: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13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4. Compilers and Interpreters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for: Building programming tools, language compilers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Many popular compilers like </a:t>
            </a:r>
            <a:r>
              <a:rPr lang="en-US" sz="2000" b="1" dirty="0"/>
              <a:t>GCC (GNU Compiler Collection)</a:t>
            </a:r>
            <a:r>
              <a:rPr lang="en-US" sz="2000" dirty="0"/>
              <a:t> are written in 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 helps in building the compiler's </a:t>
            </a:r>
            <a:r>
              <a:rPr lang="en-US" sz="2000" b="1" dirty="0" err="1"/>
              <a:t>lexer</a:t>
            </a:r>
            <a:r>
              <a:rPr lang="en-US" sz="2000" b="1" dirty="0"/>
              <a:t>, parser, optimizer, and code generator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Interpreters for other languages also often rely on a C-written runtime.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Example</a:t>
            </a:r>
            <a:r>
              <a:rPr lang="en-IN" sz="2000" dirty="0"/>
              <a:t>:</a:t>
            </a:r>
            <a:br>
              <a:rPr lang="en-IN" sz="2000" dirty="0"/>
            </a:br>
            <a:r>
              <a:rPr lang="en-IN" sz="2000" dirty="0"/>
              <a:t>Python’s interpreter(</a:t>
            </a:r>
            <a:r>
              <a:rPr lang="en-IN" sz="2000" dirty="0" err="1"/>
              <a:t>CPython</a:t>
            </a:r>
            <a:r>
              <a:rPr lang="en-IN" sz="2000" dirty="0"/>
              <a:t>) is written in C.</a:t>
            </a: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393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5. GUI Applications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for: Creating desktop applications with graphical interfaces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 was widely used for GUI-based applications in early Windows and Linux.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Even though high-level languages (like Java, C#, Python) are used today, C libraries like </a:t>
            </a:r>
            <a:r>
              <a:rPr lang="en-US" sz="2000" b="1" dirty="0"/>
              <a:t>GTK</a:t>
            </a:r>
            <a:r>
              <a:rPr lang="en-US" sz="2000" dirty="0"/>
              <a:t> and </a:t>
            </a:r>
            <a:r>
              <a:rPr lang="en-US" sz="2000" b="1" dirty="0" err="1"/>
              <a:t>WinAPI</a:t>
            </a:r>
            <a:r>
              <a:rPr lang="en-US" sz="2000" dirty="0"/>
              <a:t> are still written in 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Developers may use C for the </a:t>
            </a:r>
            <a:r>
              <a:rPr lang="en-US" sz="2000" b="1" dirty="0"/>
              <a:t>backend logic</a:t>
            </a:r>
            <a:r>
              <a:rPr lang="en-US" sz="2000" dirty="0"/>
              <a:t> and then connect to a GUI frontend.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Example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The </a:t>
            </a:r>
            <a:r>
              <a:rPr lang="en-US" sz="2000" b="1" dirty="0"/>
              <a:t>GIMP image editor</a:t>
            </a:r>
            <a:r>
              <a:rPr lang="en-US" sz="2000" dirty="0"/>
              <a:t> uses C and the </a:t>
            </a:r>
            <a:r>
              <a:rPr lang="en-US" sz="2000" b="1" dirty="0"/>
              <a:t>GTK+ toolkit</a:t>
            </a:r>
            <a:r>
              <a:rPr lang="en-US" sz="2000" dirty="0"/>
              <a:t>.</a:t>
            </a: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455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6. Database Systems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for: Core development of relational databases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 provides </a:t>
            </a:r>
            <a:r>
              <a:rPr lang="en-US" sz="2000" b="1" dirty="0"/>
              <a:t>fine control over memory and file systems</a:t>
            </a:r>
            <a:r>
              <a:rPr lang="en-US" sz="2000" dirty="0"/>
              <a:t>, which is essential for database engines.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Since databases need high-speed processing for large data sets, C is an ideal choice.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also allows efficient </a:t>
            </a:r>
            <a:r>
              <a:rPr lang="en-US" sz="2000" b="1" dirty="0"/>
              <a:t>indexing</a:t>
            </a:r>
            <a:r>
              <a:rPr lang="en-US" sz="2000" dirty="0"/>
              <a:t>, </a:t>
            </a:r>
            <a:r>
              <a:rPr lang="en-US" sz="2000" b="1" dirty="0"/>
              <a:t>query parsing</a:t>
            </a:r>
            <a:r>
              <a:rPr lang="en-US" sz="2000" dirty="0"/>
              <a:t>, and </a:t>
            </a:r>
            <a:r>
              <a:rPr lang="en-US" sz="2000" b="1" dirty="0"/>
              <a:t>memory pooling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Example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b="1" dirty="0"/>
              <a:t>MySQL</a:t>
            </a:r>
            <a:r>
              <a:rPr lang="en-US" sz="2000" dirty="0"/>
              <a:t>, one of the most widely used relational databases, is written in C and C++.</a:t>
            </a: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68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7. Network Programming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for: Protocol implementation, server/client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Network programs often deal with </a:t>
            </a:r>
            <a:r>
              <a:rPr lang="en-US" sz="2000" b="1" dirty="0"/>
              <a:t>sockets</a:t>
            </a:r>
            <a:r>
              <a:rPr lang="en-US" sz="2000" dirty="0"/>
              <a:t>, </a:t>
            </a:r>
            <a:r>
              <a:rPr lang="en-US" sz="2000" b="1" dirty="0"/>
              <a:t>ports</a:t>
            </a:r>
            <a:r>
              <a:rPr lang="en-US" sz="2000" dirty="0"/>
              <a:t>, and </a:t>
            </a:r>
            <a:r>
              <a:rPr lang="en-US" sz="2000" b="1" dirty="0"/>
              <a:t>protocols (like TCP/IP)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 provides </a:t>
            </a:r>
            <a:r>
              <a:rPr lang="en-US" sz="2000" b="1" dirty="0"/>
              <a:t>low-level socket access</a:t>
            </a:r>
            <a:r>
              <a:rPr lang="en-US" sz="2000" dirty="0"/>
              <a:t> and the ability to work closely with the OS's networking stack.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Many </a:t>
            </a:r>
            <a:r>
              <a:rPr lang="en-US" sz="2000" b="1" dirty="0"/>
              <a:t>web servers, proxies, and firewalls</a:t>
            </a:r>
            <a:r>
              <a:rPr lang="en-US" sz="2000" dirty="0"/>
              <a:t> are built using 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Example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b="1" dirty="0"/>
              <a:t>Nginx</a:t>
            </a:r>
            <a:r>
              <a:rPr lang="en-US" sz="2000" dirty="0"/>
              <a:t>, a powerful web server used by millions of websites, is written in C.</a:t>
            </a: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106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8. Scientific &amp; Engineering Applications	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for: Simulations, modeling, numerical computation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These applications require </a:t>
            </a:r>
            <a:r>
              <a:rPr lang="en-US" sz="2000" b="1" dirty="0"/>
              <a:t>high performance</a:t>
            </a:r>
            <a:r>
              <a:rPr lang="en-US" sz="2000" dirty="0"/>
              <a:t>, </a:t>
            </a:r>
            <a:r>
              <a:rPr lang="en-US" sz="2000" b="1" dirty="0"/>
              <a:t>precision</a:t>
            </a:r>
            <a:r>
              <a:rPr lang="en-US" sz="2000" dirty="0"/>
              <a:t>, and </a:t>
            </a:r>
            <a:r>
              <a:rPr lang="en-US" sz="2000" b="1" dirty="0"/>
              <a:t>custom data handling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 supports integration with mathematical libraries like </a:t>
            </a:r>
            <a:r>
              <a:rPr lang="en-US" sz="2000" b="1" dirty="0"/>
              <a:t>BLAS, LAPACK</a:t>
            </a:r>
            <a:r>
              <a:rPr lang="en-US" sz="2000" dirty="0"/>
              <a:t>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in </a:t>
            </a:r>
            <a:r>
              <a:rPr lang="en-US" sz="2000" b="1" dirty="0"/>
              <a:t>climate modeling, molecular simulation, signal processing</a:t>
            </a:r>
            <a:r>
              <a:rPr lang="en-US" sz="2000" dirty="0"/>
              <a:t>, and more.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Example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NASA’s scientific computing applications have used C for performance-sensitive simulations.</a:t>
            </a: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091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Features of C language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2951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Simplicity</a:t>
            </a:r>
            <a:r>
              <a:rPr lang="en-US" sz="1800" dirty="0"/>
              <a:t>: Few keywords and clean syntax.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Efficiency</a:t>
            </a:r>
            <a:r>
              <a:rPr lang="en-US" sz="1800" dirty="0"/>
              <a:t>: Closer to hardware, thus fast.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Portability</a:t>
            </a:r>
            <a:r>
              <a:rPr lang="en-US" sz="1800" dirty="0"/>
              <a:t>: Write on one machine, run on another with minor changes.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Modularity</a:t>
            </a:r>
            <a:r>
              <a:rPr lang="en-US" sz="1800" dirty="0"/>
              <a:t>: Code is organized in functions.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Rich Library</a:t>
            </a:r>
            <a:r>
              <a:rPr lang="en-US" sz="1800" dirty="0"/>
              <a:t>: Standard libraries support I/O, math, etc.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Pointer Support</a:t>
            </a:r>
            <a:r>
              <a:rPr lang="en-US" sz="1800" dirty="0"/>
              <a:t>: Direct access to memory.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Structured Programming</a:t>
            </a:r>
            <a:r>
              <a:rPr lang="en-US" sz="1800" dirty="0"/>
              <a:t>: Encourages code reuse and readability.</a:t>
            </a:r>
            <a:endParaRPr lang="en-GB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035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1. Simplicity: Few Keywords and Clean Syntax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3366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/>
              <a:t>What it means: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 has a </a:t>
            </a:r>
            <a:r>
              <a:rPr lang="en-US" sz="1800" b="1" dirty="0"/>
              <a:t>small set of 32 keywords</a:t>
            </a:r>
            <a:r>
              <a:rPr lang="en-US" sz="1800" dirty="0"/>
              <a:t> (like if, while, for, int, return) which are easy to learn.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Its </a:t>
            </a:r>
            <a:r>
              <a:rPr lang="en-US" sz="1800" b="1" dirty="0"/>
              <a:t>syntax is straightforward</a:t>
            </a:r>
            <a:r>
              <a:rPr lang="en-US" sz="1800" dirty="0"/>
              <a:t>, and programs follow a logical structure with minimal special symbols or confusing rules.</a:t>
            </a:r>
          </a:p>
          <a:p>
            <a:r>
              <a:rPr lang="en-US" sz="1800" b="1" dirty="0"/>
              <a:t>Why it matters: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Beginners can focus more on </a:t>
            </a:r>
            <a:r>
              <a:rPr lang="en-US" sz="1800" b="1" dirty="0"/>
              <a:t>problem-solving and logic</a:t>
            </a:r>
            <a:r>
              <a:rPr lang="en-US" sz="1800" dirty="0"/>
              <a:t> than memorizing syntax.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Helps in writing </a:t>
            </a:r>
            <a:r>
              <a:rPr lang="en-US" sz="1800" b="1" dirty="0"/>
              <a:t>concise and clean code</a:t>
            </a:r>
            <a:r>
              <a:rPr lang="en-US" sz="1800" dirty="0"/>
              <a:t>.</a:t>
            </a:r>
          </a:p>
          <a:p>
            <a:pPr>
              <a:lnSpc>
                <a:spcPct val="150000"/>
              </a:lnSpc>
            </a:pPr>
            <a:endParaRPr lang="en-GB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701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2. Closer to Hardware, Thus Fast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/>
              <a:t>What it means:</a:t>
            </a:r>
            <a:endParaRPr lang="en-US" sz="1800" dirty="0"/>
          </a:p>
          <a:p>
            <a:r>
              <a:rPr lang="en-US" sz="1800" dirty="0"/>
              <a:t>C gives you </a:t>
            </a:r>
            <a:r>
              <a:rPr lang="en-US" sz="1800" b="1" dirty="0"/>
              <a:t>low-level access</a:t>
            </a:r>
            <a:r>
              <a:rPr lang="en-US" sz="1800" dirty="0"/>
              <a:t> to memory and hardware through pointers, bitwise operators, and direct register access (via inline assembly).</a:t>
            </a:r>
          </a:p>
          <a:p>
            <a:r>
              <a:rPr lang="en-US" sz="1800" dirty="0"/>
              <a:t>There is </a:t>
            </a:r>
            <a:r>
              <a:rPr lang="en-US" sz="1800" b="1" dirty="0"/>
              <a:t>no overhead</a:t>
            </a:r>
            <a:r>
              <a:rPr lang="en-US" sz="1800" dirty="0"/>
              <a:t> like in languages with garbage collection or runtime interpreters.</a:t>
            </a:r>
          </a:p>
          <a:p>
            <a:r>
              <a:rPr lang="en-US" sz="1800" b="1" dirty="0"/>
              <a:t>Why it matters:</a:t>
            </a:r>
            <a:endParaRPr lang="en-US" sz="1800" dirty="0"/>
          </a:p>
          <a:p>
            <a:r>
              <a:rPr lang="en-US" sz="1800" dirty="0"/>
              <a:t>C programs </a:t>
            </a:r>
            <a:r>
              <a:rPr lang="en-US" sz="1800" b="1" dirty="0"/>
              <a:t>run faster</a:t>
            </a:r>
            <a:r>
              <a:rPr lang="en-US" sz="1800" dirty="0"/>
              <a:t> than those written in high-level languages like Python or Java.</a:t>
            </a:r>
          </a:p>
          <a:p>
            <a:r>
              <a:rPr lang="en-US" sz="1800" dirty="0"/>
              <a:t>Ideal for </a:t>
            </a:r>
            <a:r>
              <a:rPr lang="en-US" sz="1800" b="1" dirty="0"/>
              <a:t>performance-critical systems</a:t>
            </a:r>
            <a:r>
              <a:rPr lang="en-US" sz="1800" dirty="0"/>
              <a:t> like OS kernels, games, or embedded software.</a:t>
            </a:r>
          </a:p>
        </p:txBody>
      </p:sp>
    </p:spTree>
    <p:extLst>
      <p:ext uri="{BB962C8B-B14F-4D97-AF65-F5344CB8AC3E}">
        <p14:creationId xmlns:p14="http://schemas.microsoft.com/office/powerpoint/2010/main" val="1236794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3. Portability: Write Once, Compile Anywhere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2674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/>
              <a:t>What it means: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 code can be compiled and run on </a:t>
            </a:r>
            <a:r>
              <a:rPr lang="en-US" sz="1800" b="1" dirty="0"/>
              <a:t>any hardware platform</a:t>
            </a:r>
            <a:r>
              <a:rPr lang="en-US" sz="1800" dirty="0"/>
              <a:t> with a C compiler.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You may need to make </a:t>
            </a:r>
            <a:r>
              <a:rPr lang="en-US" sz="1800" b="1" dirty="0"/>
              <a:t>minor changes</a:t>
            </a:r>
            <a:r>
              <a:rPr lang="en-US" sz="1800" dirty="0"/>
              <a:t> (like header files or hardware-specific code), but the logic remains the same.</a:t>
            </a:r>
          </a:p>
          <a:p>
            <a:r>
              <a:rPr lang="en-US" sz="1800" b="1" dirty="0"/>
              <a:t>Why it matters: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 is used to develop </a:t>
            </a:r>
            <a:r>
              <a:rPr lang="en-US" sz="1800" b="1" dirty="0"/>
              <a:t>cross-platform applications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same C program can run on Windows, Linux, or even embedded systems like Raspberry Pi or microcontrollers.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172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4. Modularity: Code is Organized in Functions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/>
              <a:t>What it means: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 encourages breaking a large program into </a:t>
            </a:r>
            <a:r>
              <a:rPr lang="en-US" sz="1800" b="1" dirty="0"/>
              <a:t>smaller units called functions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Each function handles a specific task, like input, processing, or output.</a:t>
            </a:r>
          </a:p>
          <a:p>
            <a:r>
              <a:rPr lang="en-US" sz="1800" b="1" dirty="0"/>
              <a:t>Why it matters: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Makes code easier to </a:t>
            </a:r>
            <a:r>
              <a:rPr lang="en-US" sz="1800" b="1" dirty="0"/>
              <a:t>debug</a:t>
            </a:r>
            <a:r>
              <a:rPr lang="en-US" sz="1800" dirty="0"/>
              <a:t>, </a:t>
            </a:r>
            <a:r>
              <a:rPr lang="en-US" sz="1800" b="1" dirty="0"/>
              <a:t>read</a:t>
            </a:r>
            <a:r>
              <a:rPr lang="en-US" sz="1800" dirty="0"/>
              <a:t>, and </a:t>
            </a:r>
            <a:r>
              <a:rPr lang="en-US" sz="1800" b="1" dirty="0"/>
              <a:t>reuse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Promotes </a:t>
            </a:r>
            <a:r>
              <a:rPr lang="en-US" sz="1800" b="1" dirty="0"/>
              <a:t>divide and conquer</a:t>
            </a:r>
            <a:r>
              <a:rPr lang="en-US" sz="1800" dirty="0"/>
              <a:t> approach in programming.</a:t>
            </a:r>
          </a:p>
        </p:txBody>
      </p:sp>
    </p:spTree>
    <p:extLst>
      <p:ext uri="{BB962C8B-B14F-4D97-AF65-F5344CB8AC3E}">
        <p14:creationId xmlns:p14="http://schemas.microsoft.com/office/powerpoint/2010/main" val="7916702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5. Rich Library: Standard Libraries Support I/O, Math, etc.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2951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/>
              <a:t>What it means: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 provides built-in libraries for </a:t>
            </a:r>
            <a:r>
              <a:rPr lang="en-US" sz="1800" b="1" dirty="0"/>
              <a:t>input/output, string handling, memory allocation, math</a:t>
            </a:r>
            <a:r>
              <a:rPr lang="en-US" sz="1800" dirty="0"/>
              <a:t>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These are available through </a:t>
            </a:r>
            <a:r>
              <a:rPr lang="en-US" sz="1800" b="1" dirty="0"/>
              <a:t>header files</a:t>
            </a:r>
            <a:r>
              <a:rPr lang="en-US" sz="1800" dirty="0"/>
              <a:t> like </a:t>
            </a:r>
            <a:r>
              <a:rPr lang="en-US" sz="1800" dirty="0" err="1"/>
              <a:t>stdio.h</a:t>
            </a:r>
            <a:r>
              <a:rPr lang="en-US" sz="1800" dirty="0"/>
              <a:t>, </a:t>
            </a:r>
            <a:r>
              <a:rPr lang="en-US" sz="1800" dirty="0" err="1"/>
              <a:t>math.h</a:t>
            </a:r>
            <a:r>
              <a:rPr lang="en-US" sz="1800" dirty="0"/>
              <a:t>, </a:t>
            </a:r>
            <a:r>
              <a:rPr lang="en-US" sz="1800" dirty="0" err="1"/>
              <a:t>stdlib.h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r>
              <a:rPr lang="en-US" sz="1800" b="1" dirty="0"/>
              <a:t>Why it matters: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Saves time for the programmer—you don’t need to write everything from scratch.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Increases productivity and functionality</a:t>
            </a:r>
          </a:p>
          <a:p>
            <a:endParaRPr lang="en-US" sz="1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5506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6. Pointer Support: Direct Access to Memory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2397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/>
              <a:t>What it means: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 allows you to create </a:t>
            </a:r>
            <a:r>
              <a:rPr lang="en-US" sz="1800" b="1" dirty="0"/>
              <a:t>pointers</a:t>
            </a:r>
            <a:r>
              <a:rPr lang="en-US" sz="1800" dirty="0"/>
              <a:t>, which are variables that store memory addresses.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This gives you </a:t>
            </a:r>
            <a:r>
              <a:rPr lang="en-US" sz="1800" b="1" dirty="0"/>
              <a:t>fine-grained control</a:t>
            </a:r>
            <a:r>
              <a:rPr lang="en-US" sz="1800" dirty="0"/>
              <a:t> over how data is accessed and stored.</a:t>
            </a:r>
          </a:p>
          <a:p>
            <a:r>
              <a:rPr lang="en-US" sz="1800" b="1" dirty="0"/>
              <a:t>Why it matters: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Crucial for building </a:t>
            </a:r>
            <a:r>
              <a:rPr lang="en-US" sz="1800" b="1" dirty="0"/>
              <a:t>dynamic data structures</a:t>
            </a:r>
            <a:r>
              <a:rPr lang="en-US" sz="1800" dirty="0"/>
              <a:t> (linked lists, trees).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Enables </a:t>
            </a:r>
            <a:r>
              <a:rPr lang="en-US" sz="1800" b="1" dirty="0"/>
              <a:t>efficient memory management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Needed in </a:t>
            </a:r>
            <a:r>
              <a:rPr lang="en-US" sz="1800" b="1" dirty="0"/>
              <a:t>system-level programming</a:t>
            </a:r>
            <a:r>
              <a:rPr lang="en-US" sz="1800" dirty="0"/>
              <a:t> (e.g., memory-mapped I/O, device drivers).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09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7. Structured Programming: Encourages Code Reuse and Readability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/>
              <a:t>What it means: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 follows a structured, top-down design approach.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It uses control structures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(if, for, while, switch) </a:t>
            </a:r>
            <a:r>
              <a:rPr lang="en-US" sz="1800" dirty="0"/>
              <a:t>and functions to create </a:t>
            </a:r>
            <a:r>
              <a:rPr lang="en-US" sz="1800" b="1" dirty="0"/>
              <a:t>logical blocks</a:t>
            </a:r>
            <a:r>
              <a:rPr lang="en-US" sz="1800" dirty="0"/>
              <a:t> of code.</a:t>
            </a:r>
          </a:p>
          <a:p>
            <a:r>
              <a:rPr lang="en-US" sz="1800" b="1" dirty="0"/>
              <a:t>Why it matters: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Encourages students to write </a:t>
            </a:r>
            <a:r>
              <a:rPr lang="en-US" sz="1800" b="1" dirty="0"/>
              <a:t>clean, readable, and maintainable code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Easy to follow the program flow from start to finish.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Supports code reuse through </a:t>
            </a:r>
            <a:r>
              <a:rPr lang="en-US" sz="1800" b="1" dirty="0"/>
              <a:t>functions and modular design</a:t>
            </a:r>
            <a:r>
              <a:rPr lang="en-US" sz="1800" dirty="0"/>
              <a:t>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597153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792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C Editor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665018" y="2208994"/>
            <a:ext cx="732905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1D35"/>
                </a:solidFill>
                <a:latin typeface="Google Sans"/>
              </a:rPr>
              <a:t>Syntax Highlighting:</a:t>
            </a:r>
            <a:endParaRPr lang="en-US" sz="1600" dirty="0">
              <a:solidFill>
                <a:srgbClr val="001D35"/>
              </a:solidFill>
              <a:latin typeface="Google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45D7E"/>
                </a:solidFill>
                <a:latin typeface="Google Sans"/>
              </a:rPr>
              <a:t>Different elements of the C language (keywords, comments, strings) are displayed in distinct colors for improved readability.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1D35"/>
                </a:solidFill>
                <a:latin typeface="Google Sans"/>
              </a:rPr>
              <a:t>Code Completion/IntelliSense:</a:t>
            </a:r>
            <a:endParaRPr lang="en-US" sz="1600" dirty="0">
              <a:solidFill>
                <a:srgbClr val="001D35"/>
              </a:solidFill>
              <a:latin typeface="Google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45D7E"/>
                </a:solidFill>
                <a:latin typeface="Google Sans"/>
              </a:rPr>
              <a:t>Suggestions for variable names, function calls, and library functions appear as the user types, accelerating coding and reducing errors.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1D35"/>
                </a:solidFill>
                <a:latin typeface="Google Sans"/>
              </a:rPr>
              <a:t>Error Highlighting:</a:t>
            </a:r>
            <a:endParaRPr lang="en-US" sz="1600" dirty="0">
              <a:solidFill>
                <a:srgbClr val="001D35"/>
              </a:solidFill>
              <a:latin typeface="Google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45D7E"/>
                </a:solidFill>
                <a:latin typeface="Google Sans"/>
              </a:rPr>
              <a:t>Potential syntax errors or warnings are flagged directly within the editor, often with squiggly underlines or specific icons.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1D35"/>
                </a:solidFill>
                <a:latin typeface="Google Sans"/>
              </a:rPr>
              <a:t>Code Formatting:</a:t>
            </a:r>
            <a:endParaRPr lang="en-US" sz="1600" dirty="0">
              <a:solidFill>
                <a:srgbClr val="001D35"/>
              </a:solidFill>
              <a:latin typeface="Google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45D7E"/>
                </a:solidFill>
                <a:latin typeface="Google Sans"/>
              </a:rPr>
              <a:t>Tools to automatically indent code, align elements, and apply consistent styling.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1D35"/>
                </a:solidFill>
                <a:latin typeface="Google Sans"/>
              </a:rPr>
              <a:t>Integrated Terminal/Output Window:</a:t>
            </a:r>
            <a:endParaRPr lang="en-US" sz="1600" dirty="0">
              <a:solidFill>
                <a:srgbClr val="001D35"/>
              </a:solidFill>
              <a:latin typeface="Google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45D7E"/>
                </a:solidFill>
                <a:latin typeface="Google Sans"/>
              </a:rPr>
              <a:t>Allows for direct compilation and execution of C programs and viewing of program output.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1D35"/>
                </a:solidFill>
                <a:latin typeface="Google Sans"/>
              </a:rPr>
              <a:t>Project Management:</a:t>
            </a:r>
            <a:endParaRPr lang="en-US" sz="1600" dirty="0">
              <a:solidFill>
                <a:srgbClr val="001D35"/>
              </a:solidFill>
              <a:latin typeface="Google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45D7E"/>
                </a:solidFill>
                <a:latin typeface="Google Sans"/>
              </a:rPr>
              <a:t>Features to organize multiple source files, header files, and other project components</a:t>
            </a:r>
            <a:r>
              <a:rPr lang="en-US" dirty="0">
                <a:solidFill>
                  <a:srgbClr val="545D7E"/>
                </a:solidFill>
                <a:latin typeface="Google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1205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792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C Debugger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78871" y="2208994"/>
            <a:ext cx="778625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1D35"/>
                </a:solidFill>
                <a:latin typeface="Google Sans"/>
              </a:rPr>
              <a:t>Breakpoints:</a:t>
            </a:r>
            <a:endParaRPr lang="en-US" sz="1600" dirty="0">
              <a:solidFill>
                <a:srgbClr val="001D35"/>
              </a:solidFill>
              <a:latin typeface="Google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45D7E"/>
                </a:solidFill>
                <a:latin typeface="Google Sans"/>
              </a:rPr>
              <a:t>Setting specific points in the code where program execution will pause, allowing inspection of variables and program state.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1D35"/>
                </a:solidFill>
                <a:latin typeface="Google Sans"/>
              </a:rPr>
              <a:t>Step-by-Step Execution:</a:t>
            </a:r>
            <a:endParaRPr lang="en-US" sz="1600" dirty="0">
              <a:solidFill>
                <a:srgbClr val="001D35"/>
              </a:solidFill>
              <a:latin typeface="Google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45D7E"/>
                </a:solidFill>
                <a:latin typeface="Google Sans"/>
              </a:rPr>
              <a:t>Executing the program line by line to observe the flow of control and variable changes. This </a:t>
            </a:r>
            <a:r>
              <a:rPr lang="en-US" sz="1600" dirty="0" err="1">
                <a:solidFill>
                  <a:srgbClr val="545D7E"/>
                </a:solidFill>
                <a:latin typeface="Google Sans"/>
              </a:rPr>
              <a:t>includes:</a:t>
            </a:r>
            <a:r>
              <a:rPr lang="en-US" sz="1600" b="1" dirty="0" err="1">
                <a:solidFill>
                  <a:srgbClr val="545D7E"/>
                </a:solidFill>
                <a:latin typeface="Google Sans"/>
              </a:rPr>
              <a:t>Step</a:t>
            </a:r>
            <a:r>
              <a:rPr lang="en-US" sz="1600" b="1" dirty="0">
                <a:solidFill>
                  <a:srgbClr val="545D7E"/>
                </a:solidFill>
                <a:latin typeface="Google Sans"/>
              </a:rPr>
              <a:t> Over:</a:t>
            </a:r>
            <a:r>
              <a:rPr lang="en-US" sz="1600" dirty="0">
                <a:solidFill>
                  <a:srgbClr val="545D7E"/>
                </a:solidFill>
                <a:latin typeface="Google Sans"/>
              </a:rPr>
              <a:t> Executes a function call as a single step without entering the function's code.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545D7E"/>
                </a:solidFill>
                <a:latin typeface="Google Sans"/>
              </a:rPr>
              <a:t>Step Into:</a:t>
            </a:r>
            <a:r>
              <a:rPr lang="en-US" sz="1600" dirty="0">
                <a:solidFill>
                  <a:srgbClr val="545D7E"/>
                </a:solidFill>
                <a:latin typeface="Google Sans"/>
              </a:rPr>
              <a:t> Enters the function's code when a function call is encountered.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545D7E"/>
                </a:solidFill>
                <a:latin typeface="Google Sans"/>
              </a:rPr>
              <a:t>Step Out:</a:t>
            </a:r>
            <a:r>
              <a:rPr lang="en-US" sz="1600" dirty="0">
                <a:solidFill>
                  <a:srgbClr val="545D7E"/>
                </a:solidFill>
                <a:latin typeface="Google Sans"/>
              </a:rPr>
              <a:t> Executes the remainder of the current function and stops at the line after the function call.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001D35"/>
                </a:solidFill>
                <a:latin typeface="Google Sans"/>
              </a:rPr>
              <a:t>Watchpoints</a:t>
            </a:r>
            <a:r>
              <a:rPr lang="en-US" sz="1600" b="1" dirty="0">
                <a:solidFill>
                  <a:srgbClr val="001D35"/>
                </a:solidFill>
                <a:latin typeface="Google Sans"/>
              </a:rPr>
              <a:t>:</a:t>
            </a:r>
            <a:endParaRPr lang="en-US" sz="1600" dirty="0">
              <a:solidFill>
                <a:srgbClr val="001D35"/>
              </a:solidFill>
              <a:latin typeface="Google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45D7E"/>
                </a:solidFill>
                <a:latin typeface="Google Sans"/>
              </a:rPr>
              <a:t>Setting conditions on variables or memory locations that will cause the program to pause when the condition is met (e.g., a variable's value changes).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1D35"/>
                </a:solidFill>
                <a:latin typeface="Google Sans"/>
              </a:rPr>
              <a:t>Variable Inspection:</a:t>
            </a:r>
            <a:endParaRPr lang="en-US" sz="1600" dirty="0">
              <a:solidFill>
                <a:srgbClr val="001D35"/>
              </a:solidFill>
              <a:latin typeface="Google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45D7E"/>
                </a:solidFill>
                <a:latin typeface="Google Sans"/>
              </a:rPr>
              <a:t>Viewing the current values of variables, arrays, and data structures during program execution.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1D35"/>
                </a:solidFill>
                <a:latin typeface="Google Sans"/>
              </a:rPr>
              <a:t>Call Stack:</a:t>
            </a:r>
            <a:endParaRPr lang="en-US" sz="1600" dirty="0">
              <a:solidFill>
                <a:srgbClr val="001D35"/>
              </a:solidFill>
              <a:latin typeface="Google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45D7E"/>
                </a:solidFill>
                <a:latin typeface="Google Sans"/>
              </a:rPr>
              <a:t>Examining the sequence of function calls that led to the current point of execution.</a:t>
            </a:r>
          </a:p>
        </p:txBody>
      </p:sp>
    </p:spTree>
    <p:extLst>
      <p:ext uri="{BB962C8B-B14F-4D97-AF65-F5344CB8AC3E}">
        <p14:creationId xmlns:p14="http://schemas.microsoft.com/office/powerpoint/2010/main" val="10565039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792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C Compiler</a:t>
            </a:r>
            <a:endParaRPr dirty="0"/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928254" y="2452921"/>
            <a:ext cx="7578436" cy="39333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Preprocessing: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Handles preprocessor directives (e.g., 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, 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), expanding macros and including header files.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Compilation (Translation):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Converts the preprocessed source code into assembly language.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Assembly: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Translates the assembly code into machine code (object code).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Linking: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Combines the object code with necessary library functions and other object files to create a single executable program.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94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792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Key Aspects of C Compilation</a:t>
            </a:r>
            <a:endParaRPr dirty="0"/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928254" y="2422143"/>
            <a:ext cx="7578436" cy="39949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/>
              <a:t>Error Detection:</a:t>
            </a:r>
            <a:endParaRPr lang="en-US" sz="2200" dirty="0"/>
          </a:p>
          <a:p>
            <a:pPr fontAlgn="ctr"/>
            <a:r>
              <a:rPr lang="en-US" sz="2200" dirty="0"/>
              <a:t>Compilers identify syntax errors, type mismatches, and other issues during the compilation phases.</a:t>
            </a:r>
          </a:p>
          <a:p>
            <a:r>
              <a:rPr lang="en-US" sz="2200" b="1" dirty="0"/>
              <a:t>Optimization:</a:t>
            </a:r>
            <a:endParaRPr lang="en-US" sz="2200" dirty="0"/>
          </a:p>
          <a:p>
            <a:pPr fontAlgn="ctr"/>
            <a:r>
              <a:rPr lang="en-US" sz="2200" dirty="0"/>
              <a:t>Compilers can apply various optimizations to the generated code to improve performance and efficiency. </a:t>
            </a:r>
          </a:p>
          <a:p>
            <a:r>
              <a:rPr lang="en-US" sz="2200" b="1" dirty="0"/>
              <a:t>Portability:</a:t>
            </a:r>
            <a:endParaRPr lang="en-US" sz="2200" dirty="0"/>
          </a:p>
          <a:p>
            <a:r>
              <a:rPr lang="en-US" sz="2200" dirty="0"/>
              <a:t>C compilers allow source code to be compiled for different platforms, enabling the same C code to run on various operating systems and architectures.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667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792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Structure of C Program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2795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// Preprocessor directive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main() {                        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Main function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("Hello World");      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Statement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0;                           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Exit status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}</a:t>
            </a:r>
            <a:endParaRPr lang="en-GB" sz="24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3085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792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Structure of C Program</a:t>
            </a:r>
            <a:endParaRPr dirty="0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AC267470-214F-4F42-8BFA-EA32585FA9B0}"/>
              </a:ext>
            </a:extLst>
          </p:cNvPr>
          <p:cNvSpPr txBox="1">
            <a:spLocks/>
          </p:cNvSpPr>
          <p:nvPr/>
        </p:nvSpPr>
        <p:spPr>
          <a:xfrm>
            <a:off x="580782" y="2235200"/>
            <a:ext cx="4060491" cy="4489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 smtClean="0"/>
              <a:t>Documentation</a:t>
            </a:r>
            <a:r>
              <a:rPr lang="en-US" dirty="0" smtClean="0"/>
              <a:t> – comments about program</a:t>
            </a:r>
          </a:p>
          <a:p>
            <a:pPr marL="0" indent="0">
              <a:buFont typeface="Arial"/>
              <a:buNone/>
            </a:pPr>
            <a:r>
              <a:rPr lang="en-US" b="1" dirty="0" smtClean="0"/>
              <a:t>Link</a:t>
            </a:r>
            <a:r>
              <a:rPr lang="en-US" dirty="0" smtClean="0"/>
              <a:t>- instructions to compiler</a:t>
            </a:r>
          </a:p>
          <a:p>
            <a:pPr marL="0" indent="0">
              <a:buFont typeface="Arial"/>
              <a:buNone/>
            </a:pPr>
            <a:r>
              <a:rPr lang="en-US" b="1" dirty="0" smtClean="0"/>
              <a:t>Definition</a:t>
            </a:r>
            <a:r>
              <a:rPr lang="en-US" dirty="0" smtClean="0"/>
              <a:t>- defines all symbolic constants</a:t>
            </a:r>
          </a:p>
          <a:p>
            <a:pPr marL="0" indent="0">
              <a:buFont typeface="Arial"/>
              <a:buNone/>
            </a:pPr>
            <a:r>
              <a:rPr lang="en-US" b="1" dirty="0" smtClean="0"/>
              <a:t>Global declaration</a:t>
            </a:r>
            <a:r>
              <a:rPr lang="en-US" dirty="0" smtClean="0"/>
              <a:t> - variable that is frequently used</a:t>
            </a:r>
          </a:p>
          <a:p>
            <a:pPr marL="0" indent="0">
              <a:buFont typeface="Arial"/>
              <a:buNone/>
            </a:pPr>
            <a:r>
              <a:rPr lang="en-US" b="1" dirty="0" smtClean="0"/>
              <a:t>Main()- </a:t>
            </a:r>
          </a:p>
          <a:p>
            <a:pPr marL="0" indent="0">
              <a:buFont typeface="Arial"/>
              <a:buNone/>
            </a:pPr>
            <a:r>
              <a:rPr lang="en-US" b="1" dirty="0" smtClean="0"/>
              <a:t>Declaration: </a:t>
            </a:r>
            <a:r>
              <a:rPr lang="en-US" dirty="0" smtClean="0"/>
              <a:t>all variables</a:t>
            </a:r>
          </a:p>
          <a:p>
            <a:pPr marL="0" indent="0">
              <a:buFont typeface="Arial"/>
              <a:buNone/>
            </a:pPr>
            <a:r>
              <a:rPr lang="en-US" b="1" dirty="0" smtClean="0"/>
              <a:t>Execution: </a:t>
            </a:r>
            <a:r>
              <a:rPr lang="en-US" dirty="0" smtClean="0"/>
              <a:t>programming</a:t>
            </a:r>
          </a:p>
          <a:p>
            <a:pPr marL="0" indent="0">
              <a:buFont typeface="Arial"/>
              <a:buNone/>
            </a:pPr>
            <a:r>
              <a:rPr lang="en-US" b="1" dirty="0" smtClean="0"/>
              <a:t>Subprogram</a:t>
            </a:r>
            <a:r>
              <a:rPr lang="en-US" dirty="0" smtClean="0"/>
              <a:t>- user defined functions</a:t>
            </a:r>
            <a:endParaRPr lang="en-US" dirty="0"/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961E915D-2659-401D-B142-898DCD613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406" y="2382982"/>
            <a:ext cx="3829686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882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Parts of C Program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3728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#include &lt;</a:t>
            </a:r>
            <a:r>
              <a:rPr lang="en-IN" sz="2000" dirty="0" err="1"/>
              <a:t>stdio.h</a:t>
            </a:r>
            <a:r>
              <a:rPr lang="en-IN" sz="2000" dirty="0"/>
              <a:t>&gt; </a:t>
            </a:r>
            <a:r>
              <a:rPr lang="en-IN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Includes standard I/O functions.</a:t>
            </a:r>
            <a:endParaRPr lang="en-I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 function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000" dirty="0"/>
              <a:t>Entry point of every C program.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</a:t>
            </a:r>
            <a:r>
              <a:rPr lang="en-IN" sz="2000" dirty="0" err="1"/>
              <a:t>rintf</a:t>
            </a:r>
            <a:r>
              <a:rPr lang="en-IN" sz="2000" dirty="0"/>
              <a:t>() function </a:t>
            </a:r>
            <a:r>
              <a:rPr lang="en-IN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Outputs data to the console.</a:t>
            </a:r>
            <a:endParaRPr lang="en-I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Return 0; </a:t>
            </a:r>
            <a:r>
              <a:rPr lang="en-IN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Exits the program, returning 0 to the OS.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/>
              <a:t>Other parts in programs: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Variable Declarations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Statements &amp; Expressions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Comments (// or /*  */)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3261186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Execution Flow of a C program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2806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Writing</a:t>
            </a:r>
            <a:r>
              <a:rPr lang="en-US" sz="2000" dirty="0"/>
              <a:t>: Code is written in a (.c) file extension.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 err="1"/>
              <a:t>Preprocessing</a:t>
            </a:r>
            <a:r>
              <a:rPr lang="en-IN" sz="2000" dirty="0"/>
              <a:t>: </a:t>
            </a:r>
            <a:r>
              <a:rPr lang="en-IN" sz="2000" dirty="0" err="1"/>
              <a:t>Preprocessor</a:t>
            </a:r>
            <a:r>
              <a:rPr lang="en-IN" sz="2000" dirty="0"/>
              <a:t> handles (#include)</a:t>
            </a:r>
            <a:r>
              <a:rPr lang="en-US" sz="2000" dirty="0"/>
              <a:t>, macros, etc..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Compilation</a:t>
            </a:r>
            <a:r>
              <a:rPr lang="en-US" sz="2000" dirty="0"/>
              <a:t>: Code is translated into assembly code.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Assembly</a:t>
            </a:r>
            <a:r>
              <a:rPr lang="en-US" sz="2000" dirty="0"/>
              <a:t>: Translates assembly into machine-level object code.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Linking</a:t>
            </a:r>
            <a:r>
              <a:rPr lang="en-US" sz="2000" dirty="0"/>
              <a:t>: Links code with libraries, creates executable.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Execution</a:t>
            </a:r>
            <a:r>
              <a:rPr lang="en-US" sz="2000" dirty="0"/>
              <a:t>: Executable is run on the system.</a:t>
            </a:r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2707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1"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Algorithm</a:t>
            </a:r>
            <a:endParaRPr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F2C6981-B29D-4197-B799-38FD5EA37844}"/>
              </a:ext>
            </a:extLst>
          </p:cNvPr>
          <p:cNvSpPr txBox="1">
            <a:spLocks/>
          </p:cNvSpPr>
          <p:nvPr/>
        </p:nvSpPr>
        <p:spPr>
          <a:xfrm>
            <a:off x="768096" y="2519796"/>
            <a:ext cx="7290055" cy="3069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IN" smtClean="0"/>
              <a:t>Programs=algorithms+data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mtClean="0"/>
              <a:t>An algorithm is a part of computer program; an algorithm is an effective procedure for solving a problem in a finite number of steps.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mtClean="0"/>
              <a:t>It is a complete step by step representation of the solution to a problem.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75313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How to Design an Algorithm</a:t>
            </a:r>
            <a:endParaRPr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C20F96-91A9-4E91-8F6F-449DE6F23E24}"/>
              </a:ext>
            </a:extLst>
          </p:cNvPr>
          <p:cNvSpPr txBox="1">
            <a:spLocks/>
          </p:cNvSpPr>
          <p:nvPr/>
        </p:nvSpPr>
        <p:spPr>
          <a:xfrm>
            <a:off x="1072896" y="2344882"/>
            <a:ext cx="7290055" cy="4513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sz="1500" smtClean="0"/>
              <a:t>Step-1: Investigation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500" smtClean="0"/>
              <a:t>Identify process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500" smtClean="0"/>
              <a:t>Identify major decisions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500" smtClean="0"/>
              <a:t>Identify loops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500" smtClean="0"/>
              <a:t>Identify variables</a:t>
            </a:r>
          </a:p>
          <a:p>
            <a:pPr marL="0" indent="0">
              <a:buFont typeface="Arial"/>
              <a:buNone/>
            </a:pPr>
            <a:r>
              <a:rPr lang="en-IN" sz="1500" smtClean="0"/>
              <a:t>Step-2: Preliminary algorithm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500" smtClean="0"/>
              <a:t>Devise high level algorithm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500" smtClean="0"/>
              <a:t>Walk-through algorithm. If any problem occurs then correct it.</a:t>
            </a:r>
          </a:p>
          <a:p>
            <a:pPr marL="0" indent="0">
              <a:buFont typeface="Arial"/>
              <a:buNone/>
            </a:pPr>
            <a:r>
              <a:rPr lang="en-IN" sz="1500" smtClean="0"/>
              <a:t>Step-3: Refining the algorithm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500" smtClean="0"/>
              <a:t>Incorporate any refinements from step 2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500" smtClean="0"/>
              <a:t>Group process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500" smtClean="0"/>
              <a:t>Group variables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500" smtClean="0"/>
              <a:t>Teat algorithm again</a:t>
            </a:r>
          </a:p>
          <a:p>
            <a:pPr>
              <a:buFont typeface="Courier New" panose="02070309020205020404" pitchFamily="49" charset="0"/>
              <a:buChar char="o"/>
            </a:pP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4666427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Example: Find sum of two numbers</a:t>
            </a:r>
            <a:endParaRPr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0B549F-D78D-4507-9265-C9F5CB8AD5C0}"/>
              </a:ext>
            </a:extLst>
          </p:cNvPr>
          <p:cNvSpPr txBox="1">
            <a:spLocks/>
          </p:cNvSpPr>
          <p:nvPr/>
        </p:nvSpPr>
        <p:spPr>
          <a:xfrm>
            <a:off x="512618" y="23320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>
              <a:buFont typeface="+mj-lt"/>
              <a:buAutoNum type="arabicPeriod"/>
            </a:pPr>
            <a:r>
              <a:rPr lang="en-IN" smtClean="0"/>
              <a:t>Read value of a</a:t>
            </a:r>
          </a:p>
          <a:p>
            <a:pPr marL="342900">
              <a:buFont typeface="+mj-lt"/>
              <a:buAutoNum type="arabicPeriod"/>
            </a:pPr>
            <a:r>
              <a:rPr lang="en-IN" smtClean="0"/>
              <a:t>Read value of b</a:t>
            </a:r>
          </a:p>
          <a:p>
            <a:pPr marL="342900">
              <a:buFont typeface="+mj-lt"/>
              <a:buAutoNum type="arabicPeriod"/>
            </a:pPr>
            <a:r>
              <a:rPr lang="en-IN" smtClean="0"/>
              <a:t>Add a and b</a:t>
            </a:r>
          </a:p>
          <a:p>
            <a:pPr marL="342900">
              <a:buFont typeface="+mj-lt"/>
              <a:buAutoNum type="arabicPeriod"/>
            </a:pPr>
            <a:r>
              <a:rPr lang="en-IN" smtClean="0"/>
              <a:t>Display the summation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2548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Managing Input and Output Operations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725" y="2424112"/>
            <a:ext cx="649605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736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Managing Input and Output Operations</a:t>
            </a:r>
            <a:endParaRPr dirty="0"/>
          </a:p>
        </p:txBody>
      </p:sp>
      <p:sp>
        <p:nvSpPr>
          <p:cNvPr id="7" name="Google Shape;126;p4"/>
          <p:cNvSpPr txBox="1">
            <a:spLocks noGrp="1"/>
          </p:cNvSpPr>
          <p:nvPr>
            <p:ph type="body" idx="1"/>
          </p:nvPr>
        </p:nvSpPr>
        <p:spPr>
          <a:xfrm>
            <a:off x="525813" y="2351413"/>
            <a:ext cx="3445686" cy="4219575"/>
          </a:xfrm>
          <a:prstGeom prst="rect">
            <a:avLst/>
          </a:prstGeom>
          <a:solidFill>
            <a:srgbClr val="C2D59B"/>
          </a:solidFill>
          <a:ln>
            <a:noFill/>
          </a:ln>
        </p:spPr>
        <p:txBody>
          <a:bodyPr spcFirstLastPara="1" wrap="square" lIns="68569" tIns="34275" rIns="68569" bIns="34275" anchor="t" anchorCtr="0">
            <a:normAutofit fontScale="92500" lnSpcReduction="10000"/>
          </a:bodyPr>
          <a:lstStyle/>
          <a:p>
            <a:pPr marL="257175" indent="-257175">
              <a:spcBef>
                <a:spcPts val="0"/>
              </a:spcBef>
              <a:buNone/>
            </a:pPr>
            <a:r>
              <a:rPr lang="en-US" dirty="0"/>
              <a:t>Formatted Functions</a:t>
            </a:r>
            <a:endParaRPr dirty="0"/>
          </a:p>
          <a:p>
            <a:pPr marL="257175" indent="-257175"/>
            <a:r>
              <a:rPr lang="en-US" dirty="0"/>
              <a:t>It read and write all types of data values.</a:t>
            </a:r>
            <a:endParaRPr dirty="0"/>
          </a:p>
          <a:p>
            <a:pPr marL="257175" indent="-257175"/>
            <a:r>
              <a:rPr lang="en-US" dirty="0"/>
              <a:t>Require format string to produce formatted result</a:t>
            </a:r>
            <a:endParaRPr dirty="0"/>
          </a:p>
          <a:p>
            <a:pPr marL="257175" indent="-257175"/>
            <a:r>
              <a:rPr lang="en-US" dirty="0"/>
              <a:t>Returns value after execution</a:t>
            </a:r>
            <a:endParaRPr dirty="0"/>
          </a:p>
          <a:p>
            <a:pPr marL="257175" indent="-123825">
              <a:buNone/>
            </a:pPr>
            <a:endParaRPr dirty="0"/>
          </a:p>
        </p:txBody>
      </p:sp>
      <p:sp>
        <p:nvSpPr>
          <p:cNvPr id="8" name="Google Shape;127;p4"/>
          <p:cNvSpPr txBox="1">
            <a:spLocks/>
          </p:cNvSpPr>
          <p:nvPr/>
        </p:nvSpPr>
        <p:spPr>
          <a:xfrm>
            <a:off x="4929401" y="2351414"/>
            <a:ext cx="3818813" cy="4219575"/>
          </a:xfrm>
          <a:prstGeom prst="rect">
            <a:avLst/>
          </a:prstGeom>
          <a:solidFill>
            <a:srgbClr val="B2A0C7"/>
          </a:solidFill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7175" indent="-257175"/>
            <a:r>
              <a:rPr lang="en-US" sz="3000" dirty="0" smtClean="0">
                <a:latin typeface="Calibri" panose="020F0502020204030204" pitchFamily="34" charset="0"/>
                <a:cs typeface="Calibri" panose="020F0502020204030204" pitchFamily="34" charset="0"/>
              </a:rPr>
              <a:t>Unformatted 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Calibri" panose="020F0502020204030204" pitchFamily="34" charset="0"/>
                <a:cs typeface="Calibri" panose="020F0502020204030204" pitchFamily="34" charset="0"/>
              </a:rPr>
              <a:t>Works only with character data type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Calibri" panose="020F0502020204030204" pitchFamily="34" charset="0"/>
                <a:cs typeface="Calibri" panose="020F0502020204030204" pitchFamily="34" charset="0"/>
              </a:rPr>
              <a:t>Do not require format conversion for formatting data type</a:t>
            </a:r>
          </a:p>
          <a:p>
            <a:pPr marL="257175" indent="-123825"/>
            <a:endParaRPr lang="en-US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2468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Formatted function: </a:t>
            </a:r>
            <a:r>
              <a:rPr lang="en-US" sz="3500" b="1" dirty="0" err="1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scanf</a:t>
            </a: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() function</a:t>
            </a:r>
            <a:endParaRPr dirty="0"/>
          </a:p>
        </p:txBody>
      </p:sp>
      <p:sp>
        <p:nvSpPr>
          <p:cNvPr id="9" name="Google Shape;223;p13"/>
          <p:cNvSpPr txBox="1">
            <a:spLocks noGrp="1"/>
          </p:cNvSpPr>
          <p:nvPr>
            <p:ph type="body" idx="1"/>
          </p:nvPr>
        </p:nvSpPr>
        <p:spPr>
          <a:xfrm>
            <a:off x="457200" y="2780735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92500" lnSpcReduction="10000"/>
          </a:bodyPr>
          <a:lstStyle/>
          <a:p>
            <a:pPr marL="257175" indent="-257175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dirty="0" err="1"/>
              <a:t>scanf</a:t>
            </a:r>
            <a:r>
              <a:rPr lang="en-US" dirty="0"/>
              <a:t>() function reads all the types of data values.</a:t>
            </a:r>
            <a:endParaRPr dirty="0"/>
          </a:p>
          <a:p>
            <a:pPr marL="257175" indent="-257175">
              <a:spcBef>
                <a:spcPts val="480"/>
              </a:spcBef>
              <a:buClr>
                <a:schemeClr val="dk1"/>
              </a:buClr>
              <a:buSzPts val="3200"/>
            </a:pPr>
            <a:r>
              <a:rPr lang="en-US" dirty="0"/>
              <a:t>It is used for runtime assignment of variables.</a:t>
            </a:r>
            <a:endParaRPr dirty="0"/>
          </a:p>
          <a:p>
            <a:pPr marL="257175" indent="-257175">
              <a:spcBef>
                <a:spcPts val="480"/>
              </a:spcBef>
              <a:buClr>
                <a:schemeClr val="dk1"/>
              </a:buClr>
              <a:buSzPts val="3200"/>
            </a:pPr>
            <a:r>
              <a:rPr lang="en-US" dirty="0"/>
              <a:t>The </a:t>
            </a:r>
            <a:r>
              <a:rPr lang="en-US" dirty="0" err="1"/>
              <a:t>scanf</a:t>
            </a:r>
            <a:r>
              <a:rPr lang="en-US" dirty="0"/>
              <a:t>() statement also requires conversion symbol to identify the data to be read during the execution of the program.</a:t>
            </a:r>
            <a:endParaRPr dirty="0"/>
          </a:p>
          <a:p>
            <a:pPr marL="257175" indent="-257175">
              <a:spcBef>
                <a:spcPts val="480"/>
              </a:spcBef>
              <a:buClr>
                <a:schemeClr val="dk1"/>
              </a:buClr>
              <a:buSzPts val="3200"/>
            </a:pPr>
            <a:r>
              <a:rPr lang="en-US" dirty="0"/>
              <a:t>The </a:t>
            </a:r>
            <a:r>
              <a:rPr lang="en-US" dirty="0" err="1"/>
              <a:t>scanf</a:t>
            </a:r>
            <a:r>
              <a:rPr lang="en-US" dirty="0"/>
              <a:t>() stops functioning when some input entered does not match format string.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11037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Formatted function: </a:t>
            </a:r>
            <a:r>
              <a:rPr lang="en-US" sz="3500" b="1" dirty="0" err="1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scanf</a:t>
            </a: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() function</a:t>
            </a:r>
            <a:endParaRPr lang="en-US" sz="3600" dirty="0"/>
          </a:p>
        </p:txBody>
      </p:sp>
      <p:sp>
        <p:nvSpPr>
          <p:cNvPr id="10" name="Google Shape;229;p14"/>
          <p:cNvSpPr txBox="1">
            <a:spLocks noGrp="1"/>
          </p:cNvSpPr>
          <p:nvPr>
            <p:ph type="body" idx="1"/>
          </p:nvPr>
        </p:nvSpPr>
        <p:spPr>
          <a:xfrm>
            <a:off x="457200" y="2245057"/>
            <a:ext cx="8229600" cy="4612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257175" indent="-257175"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en-US" sz="2300" dirty="0"/>
              <a:t>Syntax :</a:t>
            </a:r>
            <a:endParaRPr sz="2300" dirty="0"/>
          </a:p>
          <a:p>
            <a:pPr marL="257175" indent="-257175"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r>
              <a:rPr lang="en-US" sz="2300" dirty="0" err="1">
                <a:latin typeface="Consolas"/>
                <a:ea typeface="Consolas"/>
                <a:cs typeface="Consolas"/>
                <a:sym typeface="Consolas"/>
              </a:rPr>
              <a:t>scanf</a:t>
            </a:r>
            <a:r>
              <a:rPr lang="en-US" sz="2300" dirty="0">
                <a:latin typeface="Consolas"/>
                <a:ea typeface="Consolas"/>
                <a:cs typeface="Consolas"/>
                <a:sym typeface="Consolas"/>
              </a:rPr>
              <a:t>(“%d %f %c”, &amp;a, &amp;b, &amp;c);</a:t>
            </a:r>
            <a:endParaRPr sz="2300" dirty="0"/>
          </a:p>
          <a:p>
            <a:pPr marL="257175" indent="-257175">
              <a:spcBef>
                <a:spcPts val="420"/>
              </a:spcBef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300" dirty="0" err="1"/>
              <a:t>Scanf</a:t>
            </a:r>
            <a:r>
              <a:rPr lang="en-US" sz="2300" dirty="0"/>
              <a:t> statement requires ‘&amp;’ operator called address operator</a:t>
            </a:r>
            <a:endParaRPr sz="2300" dirty="0"/>
          </a:p>
          <a:p>
            <a:pPr marL="257175" indent="-257175">
              <a:spcBef>
                <a:spcPts val="420"/>
              </a:spcBef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300" dirty="0"/>
              <a:t>The address operator prints the memory location of the variable</a:t>
            </a:r>
            <a:endParaRPr sz="2300" dirty="0"/>
          </a:p>
          <a:p>
            <a:pPr marL="257175" indent="-257175">
              <a:spcBef>
                <a:spcPts val="420"/>
              </a:spcBef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300" dirty="0" err="1"/>
              <a:t>scanf</a:t>
            </a:r>
            <a:r>
              <a:rPr lang="en-US" sz="2300" dirty="0"/>
              <a:t>() statement the role of ‘&amp;’ operator is to indicate the memory location of the variable, so that the value read would be placed at that location</a:t>
            </a:r>
            <a:r>
              <a:rPr lang="en-US" sz="2300" dirty="0" smtClean="0"/>
              <a:t>.</a:t>
            </a:r>
          </a:p>
          <a:p>
            <a:pPr marL="257175" indent="-257175">
              <a:spcBef>
                <a:spcPts val="0"/>
              </a:spcBef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300" dirty="0"/>
              <a:t>The </a:t>
            </a:r>
            <a:r>
              <a:rPr lang="en-US" sz="2300" dirty="0" err="1"/>
              <a:t>scanf</a:t>
            </a:r>
            <a:r>
              <a:rPr lang="en-US" sz="2300" dirty="0"/>
              <a:t>() function statement also return values. The return value is exactly equal to the number of values correctly read.</a:t>
            </a:r>
          </a:p>
          <a:p>
            <a:pPr marL="257175" indent="-257175">
              <a:spcBef>
                <a:spcPts val="420"/>
              </a:spcBef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300" dirty="0"/>
              <a:t>If the read value is convertible to the given format, conversion is made.</a:t>
            </a:r>
          </a:p>
          <a:p>
            <a:pPr marL="257175" indent="-257175"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endParaRPr lang="en-US" sz="4400" dirty="0"/>
          </a:p>
          <a:p>
            <a:pPr marL="257175" indent="-257175">
              <a:spcBef>
                <a:spcPts val="420"/>
              </a:spcBef>
              <a:buClr>
                <a:schemeClr val="dk1"/>
              </a:buClr>
              <a:buSzPts val="2800"/>
              <a:buFont typeface="Noto Sans Symbols"/>
              <a:buChar char="▪"/>
            </a:pPr>
            <a:endParaRPr dirty="0"/>
          </a:p>
          <a:p>
            <a:pPr marL="257175" indent="-257175"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endParaRPr sz="2100" dirty="0"/>
          </a:p>
          <a:p>
            <a:pPr marL="257175" indent="-257175"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r>
              <a:rPr lang="en-US" sz="2100" dirty="0"/>
              <a:t> </a:t>
            </a: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1363120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Formatted Input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3903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Taking input with formatting (e.g., numbers, text):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int a;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("%d", &amp;a);   // Reads formatted data (int here)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reads user input.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%d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tells the compiler to expect an </a:t>
            </a:r>
            <a:r>
              <a:rPr lang="en-US" sz="2400" b="1" dirty="0"/>
              <a:t>integer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&amp;a </a:t>
            </a:r>
            <a:r>
              <a:rPr lang="en-US" sz="2400" dirty="0"/>
              <a:t>means we’re giving the </a:t>
            </a:r>
            <a:r>
              <a:rPr lang="en-US" sz="2400" b="1" dirty="0"/>
              <a:t>address of variable a</a:t>
            </a:r>
            <a:r>
              <a:rPr lang="en-US" sz="2400" dirty="0"/>
              <a:t> to store the input.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335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Examples</a:t>
            </a:r>
            <a:endParaRPr dirty="0"/>
          </a:p>
        </p:txBody>
      </p:sp>
      <p:sp>
        <p:nvSpPr>
          <p:cNvPr id="7" name="Google Shape;240;p16"/>
          <p:cNvSpPr txBox="1">
            <a:spLocks noGrp="1"/>
          </p:cNvSpPr>
          <p:nvPr>
            <p:ph type="body" idx="1"/>
          </p:nvPr>
        </p:nvSpPr>
        <p:spPr>
          <a:xfrm>
            <a:off x="1444956" y="2337768"/>
            <a:ext cx="6172200" cy="4393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en-US" sz="2100" dirty="0"/>
              <a:t>void main()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r>
              <a:rPr lang="en-US" sz="2100" dirty="0"/>
              <a:t>{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r>
              <a:rPr lang="en-US" sz="2100" dirty="0"/>
              <a:t>	</a:t>
            </a:r>
            <a:r>
              <a:rPr lang="en-US" sz="2100" dirty="0" err="1"/>
              <a:t>int</a:t>
            </a:r>
            <a:r>
              <a:rPr lang="en-US" sz="2100" dirty="0"/>
              <a:t> a;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r>
              <a:rPr lang="en-US" sz="2100" dirty="0"/>
              <a:t>	</a:t>
            </a:r>
            <a:r>
              <a:rPr lang="en-US" sz="2100" dirty="0" err="1"/>
              <a:t>clrscr</a:t>
            </a:r>
            <a:r>
              <a:rPr lang="en-US" sz="2100" dirty="0"/>
              <a:t>();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r>
              <a:rPr lang="en-US" sz="2100" dirty="0"/>
              <a:t>	</a:t>
            </a:r>
            <a:r>
              <a:rPr lang="en-US" sz="2100" dirty="0" err="1"/>
              <a:t>printf</a:t>
            </a:r>
            <a:r>
              <a:rPr lang="en-US" sz="2100" dirty="0"/>
              <a:t>(“Enter value of ‘A’ : “);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r>
              <a:rPr lang="en-US" sz="2100" dirty="0"/>
              <a:t>	</a:t>
            </a:r>
            <a:r>
              <a:rPr lang="en-US" sz="2100" dirty="0" err="1"/>
              <a:t>scanf</a:t>
            </a:r>
            <a:r>
              <a:rPr lang="en-US" sz="2100" dirty="0"/>
              <a:t>(“%c”, &amp;a);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r>
              <a:rPr lang="en-US" sz="2100" dirty="0"/>
              <a:t>    </a:t>
            </a:r>
            <a:r>
              <a:rPr lang="en-US" sz="2100" dirty="0" err="1"/>
              <a:t>printf</a:t>
            </a:r>
            <a:r>
              <a:rPr lang="en-US" sz="2100" dirty="0"/>
              <a:t>(“A : %</a:t>
            </a:r>
            <a:r>
              <a:rPr lang="en-US" sz="2100" dirty="0" err="1"/>
              <a:t>c”,a</a:t>
            </a:r>
            <a:r>
              <a:rPr lang="en-US" sz="2100" dirty="0"/>
              <a:t>);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r>
              <a:rPr lang="en-US" sz="2100" dirty="0"/>
              <a:t>}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r>
              <a:rPr lang="en-US" sz="2100" dirty="0"/>
              <a:t>OUTPUT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r>
              <a:rPr lang="en-US" sz="2100" dirty="0"/>
              <a:t>Enter value of ‘A’ : 8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r>
              <a:rPr lang="en-US" sz="2100" dirty="0"/>
              <a:t>A : 8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endParaRPr sz="2100" dirty="0"/>
          </a:p>
        </p:txBody>
      </p:sp>
    </p:spTree>
    <p:extLst>
      <p:ext uri="{BB962C8B-B14F-4D97-AF65-F5344CB8AC3E}">
        <p14:creationId xmlns:p14="http://schemas.microsoft.com/office/powerpoint/2010/main" val="15445636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Examples</a:t>
            </a:r>
            <a:endParaRPr dirty="0"/>
          </a:p>
        </p:txBody>
      </p:sp>
      <p:sp>
        <p:nvSpPr>
          <p:cNvPr id="8" name="Google Shape;245;p17"/>
          <p:cNvSpPr txBox="1">
            <a:spLocks noGrp="1"/>
          </p:cNvSpPr>
          <p:nvPr>
            <p:ph type="body" idx="1"/>
          </p:nvPr>
        </p:nvSpPr>
        <p:spPr>
          <a:xfrm>
            <a:off x="1472252" y="2283177"/>
            <a:ext cx="6172200" cy="4393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590"/>
              <a:buNone/>
            </a:pPr>
            <a:r>
              <a:rPr lang="en-US" sz="1943" dirty="0"/>
              <a:t>void main()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389"/>
              </a:spcBef>
              <a:buClr>
                <a:schemeClr val="dk1"/>
              </a:buClr>
              <a:buSzPts val="2590"/>
              <a:buNone/>
            </a:pPr>
            <a:r>
              <a:rPr lang="en-US" sz="1943" dirty="0"/>
              <a:t>{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389"/>
              </a:spcBef>
              <a:buClr>
                <a:schemeClr val="dk1"/>
              </a:buClr>
              <a:buSzPts val="2590"/>
              <a:buNone/>
            </a:pPr>
            <a:r>
              <a:rPr lang="en-US" sz="1943" dirty="0"/>
              <a:t>	char a;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389"/>
              </a:spcBef>
              <a:buClr>
                <a:schemeClr val="dk1"/>
              </a:buClr>
              <a:buSzPts val="2590"/>
              <a:buNone/>
            </a:pPr>
            <a:r>
              <a:rPr lang="en-US" sz="1943" dirty="0"/>
              <a:t>	</a:t>
            </a:r>
            <a:r>
              <a:rPr lang="en-US" sz="1943" dirty="0" err="1"/>
              <a:t>clrscr</a:t>
            </a:r>
            <a:r>
              <a:rPr lang="en-US" sz="1943" dirty="0"/>
              <a:t>();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389"/>
              </a:spcBef>
              <a:buClr>
                <a:schemeClr val="dk1"/>
              </a:buClr>
              <a:buSzPts val="2590"/>
              <a:buNone/>
            </a:pPr>
            <a:r>
              <a:rPr lang="en-US" sz="1943" dirty="0"/>
              <a:t>	</a:t>
            </a:r>
            <a:r>
              <a:rPr lang="en-US" sz="1943" dirty="0" err="1"/>
              <a:t>printf</a:t>
            </a:r>
            <a:r>
              <a:rPr lang="en-US" sz="1943" dirty="0"/>
              <a:t>(“Enter value of ‘A’ : “);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389"/>
              </a:spcBef>
              <a:buClr>
                <a:schemeClr val="dk1"/>
              </a:buClr>
              <a:buSzPts val="2590"/>
              <a:buNone/>
            </a:pPr>
            <a:r>
              <a:rPr lang="en-US" sz="1943" dirty="0"/>
              <a:t>	</a:t>
            </a:r>
            <a:r>
              <a:rPr lang="en-US" sz="1943" dirty="0" err="1"/>
              <a:t>scanf</a:t>
            </a:r>
            <a:r>
              <a:rPr lang="en-US" sz="1943" dirty="0"/>
              <a:t>(“%d”, &amp;a);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389"/>
              </a:spcBef>
              <a:buClr>
                <a:schemeClr val="dk1"/>
              </a:buClr>
              <a:buSzPts val="2590"/>
              <a:buNone/>
            </a:pPr>
            <a:r>
              <a:rPr lang="en-US" sz="1943" dirty="0"/>
              <a:t>    </a:t>
            </a:r>
            <a:r>
              <a:rPr lang="en-US" sz="1943" dirty="0" err="1"/>
              <a:t>printf</a:t>
            </a:r>
            <a:r>
              <a:rPr lang="en-US" sz="1943" dirty="0"/>
              <a:t>(“A : %</a:t>
            </a:r>
            <a:r>
              <a:rPr lang="en-US" sz="1943" dirty="0" err="1"/>
              <a:t>d”,a</a:t>
            </a:r>
            <a:r>
              <a:rPr lang="en-US" sz="1943" dirty="0"/>
              <a:t>);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389"/>
              </a:spcBef>
              <a:buClr>
                <a:schemeClr val="dk1"/>
              </a:buClr>
              <a:buSzPts val="2590"/>
              <a:buNone/>
            </a:pPr>
            <a:r>
              <a:rPr lang="en-US" sz="1943" dirty="0"/>
              <a:t>}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44"/>
              </a:spcBef>
              <a:buClr>
                <a:schemeClr val="dk1"/>
              </a:buClr>
              <a:buSzPts val="2960"/>
              <a:buNone/>
            </a:pPr>
            <a:r>
              <a:rPr lang="en-US" sz="2220" dirty="0"/>
              <a:t>OUTPUT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44"/>
              </a:spcBef>
              <a:buClr>
                <a:schemeClr val="dk1"/>
              </a:buClr>
              <a:buSzPts val="2960"/>
              <a:buNone/>
            </a:pPr>
            <a:r>
              <a:rPr lang="en-US" sz="2220" dirty="0"/>
              <a:t>Enter value of ‘A’ : 255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44"/>
              </a:spcBef>
              <a:buClr>
                <a:schemeClr val="dk1"/>
              </a:buClr>
              <a:buSzPts val="2960"/>
              <a:buNone/>
            </a:pPr>
            <a:r>
              <a:rPr lang="en-US" sz="2220" dirty="0"/>
              <a:t>A : 255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44"/>
              </a:spcBef>
              <a:buClr>
                <a:schemeClr val="dk1"/>
              </a:buClr>
              <a:buSzPts val="2960"/>
              <a:buNone/>
            </a:pPr>
            <a:r>
              <a:rPr lang="en-US" sz="2220" dirty="0"/>
              <a:t>Enter value of ‘A’ : 256</a:t>
            </a:r>
            <a:endParaRPr dirty="0"/>
          </a:p>
          <a:p>
            <a:pPr marL="257175" indent="-257175">
              <a:lnSpc>
                <a:spcPct val="90000"/>
              </a:lnSpc>
              <a:spcBef>
                <a:spcPts val="444"/>
              </a:spcBef>
              <a:buClr>
                <a:schemeClr val="dk1"/>
              </a:buClr>
              <a:buSzPts val="2960"/>
              <a:buNone/>
            </a:pPr>
            <a:r>
              <a:rPr lang="en-US" sz="2220" dirty="0"/>
              <a:t>A : 256</a:t>
            </a:r>
            <a:endParaRPr sz="2220" dirty="0"/>
          </a:p>
        </p:txBody>
      </p:sp>
    </p:spTree>
    <p:extLst>
      <p:ext uri="{BB962C8B-B14F-4D97-AF65-F5344CB8AC3E}">
        <p14:creationId xmlns:p14="http://schemas.microsoft.com/office/powerpoint/2010/main" val="131583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Formatted function: </a:t>
            </a:r>
            <a:r>
              <a:rPr lang="en-US" sz="3500" b="1" dirty="0" err="1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printf</a:t>
            </a: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() function</a:t>
            </a:r>
            <a:endParaRPr lang="en-US" sz="3600" dirty="0"/>
          </a:p>
        </p:txBody>
      </p:sp>
      <p:grpSp>
        <p:nvGrpSpPr>
          <p:cNvPr id="9" name="Google Shape;134;p5"/>
          <p:cNvGrpSpPr/>
          <p:nvPr/>
        </p:nvGrpSpPr>
        <p:grpSpPr>
          <a:xfrm>
            <a:off x="559558" y="2415654"/>
            <a:ext cx="8229599" cy="3998794"/>
            <a:chOff x="3287" y="800798"/>
            <a:chExt cx="9611558" cy="2491885"/>
          </a:xfrm>
        </p:grpSpPr>
        <p:sp>
          <p:nvSpPr>
            <p:cNvPr id="10" name="Google Shape;135;p5"/>
            <p:cNvSpPr/>
            <p:nvPr/>
          </p:nvSpPr>
          <p:spPr>
            <a:xfrm>
              <a:off x="3287" y="800798"/>
              <a:ext cx="1779918" cy="2491885"/>
            </a:xfrm>
            <a:prstGeom prst="rect">
              <a:avLst/>
            </a:prstGeom>
            <a:solidFill>
              <a:srgbClr val="CFD7E7">
                <a:alpha val="89803"/>
              </a:srgbClr>
            </a:solidFill>
            <a:ln w="25400" cap="flat" cmpd="sng">
              <a:solidFill>
                <a:srgbClr val="CFD7E7">
                  <a:alpha val="8980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1" name="Google Shape;136;p5"/>
            <p:cNvSpPr txBox="1"/>
            <p:nvPr/>
          </p:nvSpPr>
          <p:spPr>
            <a:xfrm>
              <a:off x="3287" y="1747714"/>
              <a:ext cx="1779918" cy="149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4063" tIns="247650" rIns="104063" bIns="24765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This function displays output with specified format</a:t>
              </a:r>
              <a:endParaRPr sz="2000" dirty="0"/>
            </a:p>
          </p:txBody>
        </p:sp>
        <p:sp>
          <p:nvSpPr>
            <p:cNvPr id="12" name="Google Shape;137;p5"/>
            <p:cNvSpPr/>
            <p:nvPr/>
          </p:nvSpPr>
          <p:spPr>
            <a:xfrm>
              <a:off x="519463" y="1049986"/>
              <a:ext cx="747565" cy="747565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" name="Google Shape;138;p5"/>
            <p:cNvSpPr txBox="1"/>
            <p:nvPr/>
          </p:nvSpPr>
          <p:spPr>
            <a:xfrm>
              <a:off x="628941" y="1159464"/>
              <a:ext cx="528609" cy="5286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3706" tIns="9525" rIns="43706" bIns="9525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050"/>
            </a:p>
          </p:txBody>
        </p:sp>
        <p:sp>
          <p:nvSpPr>
            <p:cNvPr id="14" name="Google Shape;139;p5"/>
            <p:cNvSpPr/>
            <p:nvPr/>
          </p:nvSpPr>
          <p:spPr>
            <a:xfrm>
              <a:off x="3287" y="3292611"/>
              <a:ext cx="1779918" cy="72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" name="Google Shape;140;p5"/>
            <p:cNvSpPr/>
            <p:nvPr/>
          </p:nvSpPr>
          <p:spPr>
            <a:xfrm>
              <a:off x="1961197" y="800798"/>
              <a:ext cx="1779918" cy="2491885"/>
            </a:xfrm>
            <a:prstGeom prst="rect">
              <a:avLst/>
            </a:prstGeom>
            <a:solidFill>
              <a:srgbClr val="CFD7E7">
                <a:alpha val="89803"/>
              </a:srgbClr>
            </a:solidFill>
            <a:ln w="25400" cap="flat" cmpd="sng">
              <a:solidFill>
                <a:srgbClr val="CFD7E7">
                  <a:alpha val="8980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6" name="Google Shape;141;p5"/>
            <p:cNvSpPr txBox="1"/>
            <p:nvPr/>
          </p:nvSpPr>
          <p:spPr>
            <a:xfrm>
              <a:off x="1961197" y="1747714"/>
              <a:ext cx="1779918" cy="149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4063" tIns="247650" rIns="104063" bIns="24765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It requires format conversion symbol or format string and variables names to the print the data</a:t>
              </a:r>
              <a:endParaRPr sz="1600" dirty="0"/>
            </a:p>
          </p:txBody>
        </p:sp>
        <p:sp>
          <p:nvSpPr>
            <p:cNvPr id="17" name="Google Shape;142;p5"/>
            <p:cNvSpPr/>
            <p:nvPr/>
          </p:nvSpPr>
          <p:spPr>
            <a:xfrm>
              <a:off x="2477373" y="1049986"/>
              <a:ext cx="747565" cy="747565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8" name="Google Shape;143;p5"/>
            <p:cNvSpPr txBox="1"/>
            <p:nvPr/>
          </p:nvSpPr>
          <p:spPr>
            <a:xfrm>
              <a:off x="2586851" y="1159464"/>
              <a:ext cx="528609" cy="5286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3706" tIns="9525" rIns="43706" bIns="9525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050"/>
            </a:p>
          </p:txBody>
        </p:sp>
        <p:sp>
          <p:nvSpPr>
            <p:cNvPr id="19" name="Google Shape;144;p5"/>
            <p:cNvSpPr/>
            <p:nvPr/>
          </p:nvSpPr>
          <p:spPr>
            <a:xfrm>
              <a:off x="1961197" y="3292611"/>
              <a:ext cx="1779918" cy="72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0" name="Google Shape;145;p5"/>
            <p:cNvSpPr/>
            <p:nvPr/>
          </p:nvSpPr>
          <p:spPr>
            <a:xfrm>
              <a:off x="3919107" y="800798"/>
              <a:ext cx="1779918" cy="2491885"/>
            </a:xfrm>
            <a:prstGeom prst="rect">
              <a:avLst/>
            </a:prstGeom>
            <a:solidFill>
              <a:srgbClr val="CFD7E7">
                <a:alpha val="89803"/>
              </a:srgbClr>
            </a:solidFill>
            <a:ln w="25400" cap="flat" cmpd="sng">
              <a:solidFill>
                <a:srgbClr val="CFD7E7">
                  <a:alpha val="8980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1" name="Google Shape;146;p5"/>
            <p:cNvSpPr txBox="1"/>
            <p:nvPr/>
          </p:nvSpPr>
          <p:spPr>
            <a:xfrm>
              <a:off x="3919107" y="1747714"/>
              <a:ext cx="1779918" cy="149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4063" tIns="247650" rIns="104063" bIns="24765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list of variables are specified in the </a:t>
              </a:r>
              <a:r>
                <a:rPr lang="en-US" sz="20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printf</a:t>
              </a:r>
              <a:r>
                <a:rPr lang="en-US" sz="2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() statement</a:t>
              </a:r>
              <a:endParaRPr sz="2000" dirty="0"/>
            </a:p>
          </p:txBody>
        </p:sp>
        <p:sp>
          <p:nvSpPr>
            <p:cNvPr id="22" name="Google Shape;147;p5"/>
            <p:cNvSpPr/>
            <p:nvPr/>
          </p:nvSpPr>
          <p:spPr>
            <a:xfrm>
              <a:off x="4435283" y="1049986"/>
              <a:ext cx="747565" cy="747565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3" name="Google Shape;148;p5"/>
            <p:cNvSpPr txBox="1"/>
            <p:nvPr/>
          </p:nvSpPr>
          <p:spPr>
            <a:xfrm>
              <a:off x="4544761" y="1159464"/>
              <a:ext cx="528609" cy="5286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3706" tIns="9525" rIns="43706" bIns="9525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050"/>
            </a:p>
          </p:txBody>
        </p:sp>
        <p:sp>
          <p:nvSpPr>
            <p:cNvPr id="24" name="Google Shape;149;p5"/>
            <p:cNvSpPr/>
            <p:nvPr/>
          </p:nvSpPr>
          <p:spPr>
            <a:xfrm>
              <a:off x="3919107" y="3292611"/>
              <a:ext cx="1779918" cy="72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5" name="Google Shape;150;p5"/>
            <p:cNvSpPr/>
            <p:nvPr/>
          </p:nvSpPr>
          <p:spPr>
            <a:xfrm>
              <a:off x="5877017" y="800798"/>
              <a:ext cx="1779918" cy="2491885"/>
            </a:xfrm>
            <a:prstGeom prst="rect">
              <a:avLst/>
            </a:prstGeom>
            <a:solidFill>
              <a:srgbClr val="CFD7E7">
                <a:alpha val="89803"/>
              </a:srgbClr>
            </a:solidFill>
            <a:ln w="25400" cap="flat" cmpd="sng">
              <a:solidFill>
                <a:srgbClr val="CFD7E7">
                  <a:alpha val="8980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6" name="Google Shape;151;p5"/>
            <p:cNvSpPr txBox="1"/>
            <p:nvPr/>
          </p:nvSpPr>
          <p:spPr>
            <a:xfrm>
              <a:off x="5877017" y="1747714"/>
              <a:ext cx="1779918" cy="149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4063" tIns="247650" rIns="104063" bIns="24765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values of the variables are printed as the sequence mentioned in </a:t>
              </a:r>
              <a:r>
                <a:rPr lang="en-US" sz="18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printf</a:t>
              </a: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()</a:t>
              </a:r>
              <a:endParaRPr sz="1800" dirty="0"/>
            </a:p>
          </p:txBody>
        </p:sp>
        <p:sp>
          <p:nvSpPr>
            <p:cNvPr id="27" name="Google Shape;152;p5"/>
            <p:cNvSpPr/>
            <p:nvPr/>
          </p:nvSpPr>
          <p:spPr>
            <a:xfrm>
              <a:off x="6393193" y="1049986"/>
              <a:ext cx="747565" cy="747565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" name="Google Shape;153;p5"/>
            <p:cNvSpPr txBox="1"/>
            <p:nvPr/>
          </p:nvSpPr>
          <p:spPr>
            <a:xfrm>
              <a:off x="6502671" y="1159464"/>
              <a:ext cx="528609" cy="5286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3706" tIns="9525" rIns="43706" bIns="9525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050"/>
            </a:p>
          </p:txBody>
        </p:sp>
        <p:sp>
          <p:nvSpPr>
            <p:cNvPr id="29" name="Google Shape;154;p5"/>
            <p:cNvSpPr/>
            <p:nvPr/>
          </p:nvSpPr>
          <p:spPr>
            <a:xfrm>
              <a:off x="5877017" y="3292611"/>
              <a:ext cx="1779918" cy="72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" name="Google Shape;155;p5"/>
            <p:cNvSpPr/>
            <p:nvPr/>
          </p:nvSpPr>
          <p:spPr>
            <a:xfrm>
              <a:off x="7834927" y="800798"/>
              <a:ext cx="1779918" cy="2491885"/>
            </a:xfrm>
            <a:prstGeom prst="rect">
              <a:avLst/>
            </a:prstGeom>
            <a:solidFill>
              <a:srgbClr val="CFD7E7">
                <a:alpha val="89803"/>
              </a:srgbClr>
            </a:solidFill>
            <a:ln w="25400" cap="flat" cmpd="sng">
              <a:solidFill>
                <a:srgbClr val="CFD7E7">
                  <a:alpha val="8980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" name="Google Shape;156;p5"/>
            <p:cNvSpPr txBox="1"/>
            <p:nvPr/>
          </p:nvSpPr>
          <p:spPr>
            <a:xfrm>
              <a:off x="7834927" y="1747714"/>
              <a:ext cx="1779918" cy="149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4063" tIns="247650" rIns="104063" bIns="24765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format string symbol and variable name should be the same in number and type</a:t>
              </a:r>
              <a:endParaRPr sz="1800" dirty="0"/>
            </a:p>
          </p:txBody>
        </p:sp>
        <p:sp>
          <p:nvSpPr>
            <p:cNvPr id="32" name="Google Shape;157;p5"/>
            <p:cNvSpPr/>
            <p:nvPr/>
          </p:nvSpPr>
          <p:spPr>
            <a:xfrm>
              <a:off x="8351103" y="1049986"/>
              <a:ext cx="747565" cy="747565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3" name="Google Shape;158;p5"/>
            <p:cNvSpPr txBox="1"/>
            <p:nvPr/>
          </p:nvSpPr>
          <p:spPr>
            <a:xfrm>
              <a:off x="8460581" y="1159464"/>
              <a:ext cx="528609" cy="5286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3706" tIns="9525" rIns="43706" bIns="9525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050"/>
            </a:p>
          </p:txBody>
        </p:sp>
        <p:sp>
          <p:nvSpPr>
            <p:cNvPr id="34" name="Google Shape;159;p5"/>
            <p:cNvSpPr/>
            <p:nvPr/>
          </p:nvSpPr>
          <p:spPr>
            <a:xfrm>
              <a:off x="7834927" y="3292611"/>
              <a:ext cx="1779918" cy="72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</p:spTree>
    <p:extLst>
      <p:ext uri="{BB962C8B-B14F-4D97-AF65-F5344CB8AC3E}">
        <p14:creationId xmlns:p14="http://schemas.microsoft.com/office/powerpoint/2010/main" val="16566948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Formatted Output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2795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Displaying values with text: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int a = 10;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("Value of a: %d", a);   // Prints formatted output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IN" sz="2400" dirty="0"/>
              <a:t>shows the value of ‘a’ along with text.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will be replaced by the value of ‘a’ </a:t>
            </a:r>
            <a:r>
              <a:rPr lang="en-IN" sz="2400" dirty="0"/>
              <a:t>in the output.</a:t>
            </a:r>
            <a:endParaRPr lang="en-GB" sz="24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122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476215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Examples</a:t>
            </a:r>
            <a:endParaRPr dirty="0"/>
          </a:p>
        </p:txBody>
      </p:sp>
      <p:sp>
        <p:nvSpPr>
          <p:cNvPr id="7" name="Google Shape;166;p6"/>
          <p:cNvSpPr txBox="1">
            <a:spLocks noGrp="1"/>
          </p:cNvSpPr>
          <p:nvPr>
            <p:ph type="body" idx="1"/>
          </p:nvPr>
        </p:nvSpPr>
        <p:spPr>
          <a:xfrm>
            <a:off x="1444956" y="2464594"/>
            <a:ext cx="6172200" cy="4059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void main()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{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	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NumInt</a:t>
            </a:r>
            <a:r>
              <a:rPr lang="en-US" sz="1800" dirty="0"/>
              <a:t> = 2;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    float </a:t>
            </a:r>
            <a:r>
              <a:rPr lang="en-US" sz="1800" dirty="0" err="1"/>
              <a:t>NumFloat</a:t>
            </a:r>
            <a:r>
              <a:rPr lang="en-US" sz="1800" dirty="0"/>
              <a:t>=2.2;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    char </a:t>
            </a:r>
            <a:r>
              <a:rPr lang="en-US" sz="1800" dirty="0" err="1"/>
              <a:t>LetterCh</a:t>
            </a:r>
            <a:r>
              <a:rPr lang="en-US" sz="1800" dirty="0"/>
              <a:t> = ‘C’;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endParaRPr sz="1800"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	</a:t>
            </a:r>
            <a:r>
              <a:rPr lang="en-US" sz="1800" dirty="0" err="1"/>
              <a:t>printf</a:t>
            </a:r>
            <a:r>
              <a:rPr lang="en-US" sz="1800" dirty="0"/>
              <a:t>(“%d %f %c”, </a:t>
            </a:r>
            <a:r>
              <a:rPr lang="en-US" sz="1800" dirty="0" err="1"/>
              <a:t>NumInt</a:t>
            </a:r>
            <a:r>
              <a:rPr lang="en-US" sz="1800" dirty="0"/>
              <a:t>, </a:t>
            </a:r>
            <a:r>
              <a:rPr lang="en-US" sz="1800" dirty="0" err="1"/>
              <a:t>NumFloat</a:t>
            </a:r>
            <a:r>
              <a:rPr lang="en-US" sz="1800" dirty="0"/>
              <a:t>, </a:t>
            </a:r>
            <a:r>
              <a:rPr lang="en-US" sz="1800" dirty="0" err="1"/>
              <a:t>LetterCh</a:t>
            </a:r>
            <a:r>
              <a:rPr lang="en-US" sz="1800" dirty="0"/>
              <a:t>);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}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endParaRPr sz="1800"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Output :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2 2.2000 C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9047622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476215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Examples</a:t>
            </a:r>
            <a:endParaRPr dirty="0"/>
          </a:p>
        </p:txBody>
      </p:sp>
      <p:sp>
        <p:nvSpPr>
          <p:cNvPr id="8" name="Google Shape;171;p7"/>
          <p:cNvSpPr txBox="1">
            <a:spLocks noGrp="1"/>
          </p:cNvSpPr>
          <p:nvPr>
            <p:ph type="body" idx="1"/>
          </p:nvPr>
        </p:nvSpPr>
        <p:spPr>
          <a:xfrm>
            <a:off x="1417662" y="2464594"/>
            <a:ext cx="6172200" cy="416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void main()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{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	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NumInt</a:t>
            </a:r>
            <a:r>
              <a:rPr lang="en-US" sz="1800" dirty="0"/>
              <a:t>  = 65;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	</a:t>
            </a:r>
            <a:r>
              <a:rPr lang="en-US" sz="1800" dirty="0" err="1"/>
              <a:t>clrscr</a:t>
            </a:r>
            <a:r>
              <a:rPr lang="en-US" sz="1800" dirty="0"/>
              <a:t>();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	</a:t>
            </a:r>
            <a:r>
              <a:rPr lang="en-US" sz="1800" dirty="0" err="1"/>
              <a:t>printf</a:t>
            </a:r>
            <a:r>
              <a:rPr lang="en-US" sz="1800" dirty="0"/>
              <a:t>(“%c %d”, </a:t>
            </a:r>
            <a:r>
              <a:rPr lang="en-US" sz="1800" dirty="0" err="1"/>
              <a:t>NumInt</a:t>
            </a:r>
            <a:r>
              <a:rPr lang="en-US" sz="1800" dirty="0"/>
              <a:t>, </a:t>
            </a:r>
            <a:r>
              <a:rPr lang="en-US" sz="1800" dirty="0" err="1"/>
              <a:t>NumInt</a:t>
            </a:r>
            <a:r>
              <a:rPr lang="en-US" sz="1800" dirty="0"/>
              <a:t>);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}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endParaRPr sz="1800"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Output :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A 65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40680110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476215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Examples</a:t>
            </a:r>
            <a:endParaRPr dirty="0"/>
          </a:p>
        </p:txBody>
      </p:sp>
      <p:sp>
        <p:nvSpPr>
          <p:cNvPr id="9" name="Google Shape;176;p8"/>
          <p:cNvSpPr txBox="1">
            <a:spLocks noGrp="1"/>
          </p:cNvSpPr>
          <p:nvPr>
            <p:ph type="body" idx="1"/>
          </p:nvPr>
        </p:nvSpPr>
        <p:spPr>
          <a:xfrm>
            <a:off x="1499548" y="2464594"/>
            <a:ext cx="6172200" cy="4222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void main()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{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	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NumInt</a:t>
            </a:r>
            <a:r>
              <a:rPr lang="en-US" sz="1800" dirty="0"/>
              <a:t>  = 7;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	</a:t>
            </a:r>
            <a:r>
              <a:rPr lang="en-US" sz="1800" dirty="0" err="1"/>
              <a:t>clrscr</a:t>
            </a:r>
            <a:r>
              <a:rPr lang="en-US" sz="1800" dirty="0"/>
              <a:t>();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	</a:t>
            </a:r>
            <a:r>
              <a:rPr lang="en-US" sz="1800" dirty="0" err="1"/>
              <a:t>printf</a:t>
            </a:r>
            <a:r>
              <a:rPr lang="en-US" sz="1800" dirty="0"/>
              <a:t>(“%f”, </a:t>
            </a:r>
            <a:r>
              <a:rPr lang="en-US" sz="1800" dirty="0" err="1"/>
              <a:t>NumInt</a:t>
            </a:r>
            <a:r>
              <a:rPr lang="en-US" sz="1800" dirty="0"/>
              <a:t>);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      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}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endParaRPr sz="1800"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Output :</a:t>
            </a:r>
            <a:endParaRPr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1800" dirty="0"/>
              <a:t>Error Message : “Floating points formats not linked”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2320024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476215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Format Specifiers</a:t>
            </a:r>
            <a:endParaRPr lang="en-US" sz="3500" dirty="0"/>
          </a:p>
        </p:txBody>
      </p:sp>
      <p:sp>
        <p:nvSpPr>
          <p:cNvPr id="10" name="Google Shape;182;p9"/>
          <p:cNvSpPr txBox="1">
            <a:spLocks noGrp="1"/>
          </p:cNvSpPr>
          <p:nvPr>
            <p:ph type="body" idx="1"/>
          </p:nvPr>
        </p:nvSpPr>
        <p:spPr>
          <a:xfrm>
            <a:off x="1409639" y="2304148"/>
            <a:ext cx="5804968" cy="4326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sz="2100" dirty="0"/>
              <a:t>All the format specification starts with % and a format specification letter after this symbol.</a:t>
            </a:r>
            <a:endParaRPr dirty="0"/>
          </a:p>
          <a:p>
            <a:pPr marL="257175" indent="-257175">
              <a:spcBef>
                <a:spcPts val="420"/>
              </a:spcBef>
              <a:buClr>
                <a:schemeClr val="dk1"/>
              </a:buClr>
              <a:buSzPts val="2800"/>
            </a:pPr>
            <a:r>
              <a:rPr lang="en-US" sz="2100" dirty="0"/>
              <a:t>It indicates the type of data and its format.</a:t>
            </a:r>
            <a:endParaRPr dirty="0"/>
          </a:p>
          <a:p>
            <a:pPr marL="257175" indent="-257175">
              <a:spcBef>
                <a:spcPts val="420"/>
              </a:spcBef>
              <a:buClr>
                <a:schemeClr val="dk1"/>
              </a:buClr>
              <a:buSzPts val="2800"/>
            </a:pPr>
            <a:r>
              <a:rPr lang="en-US" sz="2100" dirty="0"/>
              <a:t>If the format string does not match with the corresponding variable, the result will not be correct.</a:t>
            </a:r>
            <a:endParaRPr dirty="0"/>
          </a:p>
          <a:p>
            <a:pPr marL="257175" indent="-257175">
              <a:spcBef>
                <a:spcPts val="420"/>
              </a:spcBef>
              <a:buClr>
                <a:schemeClr val="dk1"/>
              </a:buClr>
              <a:buSzPts val="2800"/>
            </a:pPr>
            <a:r>
              <a:rPr lang="en-US" sz="2100" dirty="0"/>
              <a:t>Along with format specification use</a:t>
            </a:r>
            <a:endParaRPr dirty="0"/>
          </a:p>
          <a:p>
            <a:pPr marL="557213" lvl="1" indent="-214313">
              <a:spcBef>
                <a:spcPts val="360"/>
              </a:spcBef>
              <a:buClr>
                <a:schemeClr val="dk1"/>
              </a:buClr>
              <a:buSzPts val="2400"/>
            </a:pPr>
            <a:r>
              <a:rPr lang="en-US" sz="1800" dirty="0"/>
              <a:t>Flags</a:t>
            </a:r>
            <a:endParaRPr dirty="0"/>
          </a:p>
          <a:p>
            <a:pPr marL="557213" lvl="1" indent="-214313">
              <a:spcBef>
                <a:spcPts val="360"/>
              </a:spcBef>
              <a:buClr>
                <a:schemeClr val="dk1"/>
              </a:buClr>
              <a:buSzPts val="2400"/>
            </a:pPr>
            <a:r>
              <a:rPr lang="en-US" sz="1800" dirty="0"/>
              <a:t>Width</a:t>
            </a:r>
            <a:endParaRPr dirty="0"/>
          </a:p>
          <a:p>
            <a:pPr marL="557213" lvl="1" indent="-214313">
              <a:spcBef>
                <a:spcPts val="360"/>
              </a:spcBef>
              <a:buClr>
                <a:schemeClr val="dk1"/>
              </a:buClr>
              <a:buSzPts val="2400"/>
            </a:pPr>
            <a:r>
              <a:rPr lang="en-US" sz="1800" dirty="0"/>
              <a:t>Precision</a:t>
            </a:r>
            <a:endParaRPr dirty="0"/>
          </a:p>
          <a:p>
            <a:pPr marL="557213" lvl="1" indent="-214313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40650636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Flag and Width</a:t>
            </a:r>
            <a:endParaRPr dirty="0"/>
          </a:p>
        </p:txBody>
      </p:sp>
      <p:grpSp>
        <p:nvGrpSpPr>
          <p:cNvPr id="7" name="Google Shape;199;p10"/>
          <p:cNvGrpSpPr/>
          <p:nvPr/>
        </p:nvGrpSpPr>
        <p:grpSpPr>
          <a:xfrm>
            <a:off x="682388" y="2306472"/>
            <a:ext cx="8120418" cy="4421873"/>
            <a:chOff x="0" y="423"/>
            <a:chExt cx="6692813" cy="4822342"/>
          </a:xfrm>
        </p:grpSpPr>
        <p:sp>
          <p:nvSpPr>
            <p:cNvPr id="8" name="Google Shape;200;p10"/>
            <p:cNvSpPr/>
            <p:nvPr/>
          </p:nvSpPr>
          <p:spPr>
            <a:xfrm>
              <a:off x="1338562" y="423"/>
              <a:ext cx="5354251" cy="2340942"/>
            </a:xfrm>
            <a:prstGeom prst="rect">
              <a:avLst/>
            </a:prstGeom>
            <a:solidFill>
              <a:srgbClr val="BF504D"/>
            </a:solidFill>
            <a:ln w="25400" cap="flat" cmpd="sng">
              <a:solidFill>
                <a:srgbClr val="BF50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" name="Google Shape;201;p10"/>
            <p:cNvSpPr txBox="1"/>
            <p:nvPr/>
          </p:nvSpPr>
          <p:spPr>
            <a:xfrm>
              <a:off x="1338562" y="423"/>
              <a:ext cx="5354251" cy="23409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906" tIns="445931" rIns="77906" bIns="445931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It is used for output justification, numeric signs, decimal points, trailing zeros.</a:t>
              </a:r>
              <a:endParaRPr sz="2600" dirty="0"/>
            </a:p>
            <a:p>
              <a:pPr>
                <a:lnSpc>
                  <a:spcPct val="90000"/>
                </a:lnSpc>
                <a:spcBef>
                  <a:spcPts val="472"/>
                </a:spcBef>
              </a:pPr>
              <a:r>
                <a:rPr lang="en-US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 flag (-) justifies the result. If it is not given the default result is right justification.</a:t>
              </a:r>
              <a:endParaRPr sz="2600" dirty="0"/>
            </a:p>
          </p:txBody>
        </p:sp>
        <p:sp>
          <p:nvSpPr>
            <p:cNvPr id="10" name="Google Shape;202;p10"/>
            <p:cNvSpPr/>
            <p:nvPr/>
          </p:nvSpPr>
          <p:spPr>
            <a:xfrm>
              <a:off x="0" y="423"/>
              <a:ext cx="1338562" cy="2340942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rgbClr val="BF50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1" name="Google Shape;203;p10"/>
            <p:cNvSpPr txBox="1"/>
            <p:nvPr/>
          </p:nvSpPr>
          <p:spPr>
            <a:xfrm>
              <a:off x="0" y="423"/>
              <a:ext cx="1338562" cy="23409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119" tIns="173419" rIns="53119" bIns="173419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725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Flag</a:t>
              </a:r>
              <a:endParaRPr sz="1050"/>
            </a:p>
          </p:txBody>
        </p:sp>
        <p:sp>
          <p:nvSpPr>
            <p:cNvPr id="12" name="Google Shape;204;p10"/>
            <p:cNvSpPr/>
            <p:nvPr/>
          </p:nvSpPr>
          <p:spPr>
            <a:xfrm>
              <a:off x="1338562" y="2481823"/>
              <a:ext cx="5354251" cy="2340942"/>
            </a:xfrm>
            <a:prstGeom prst="rect">
              <a:avLst/>
            </a:prstGeom>
            <a:solidFill>
              <a:srgbClr val="99B958"/>
            </a:solidFill>
            <a:ln w="25400" cap="flat" cmpd="sng">
              <a:solidFill>
                <a:srgbClr val="99B9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" name="Google Shape;205;p10"/>
            <p:cNvSpPr txBox="1"/>
            <p:nvPr/>
          </p:nvSpPr>
          <p:spPr>
            <a:xfrm>
              <a:off x="1338562" y="2481823"/>
              <a:ext cx="5354251" cy="23409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906" tIns="445931" rIns="77906" bIns="445931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It sets the minimum field width for an output value.</a:t>
              </a:r>
              <a:endParaRPr sz="2600" dirty="0"/>
            </a:p>
            <a:p>
              <a:pPr>
                <a:lnSpc>
                  <a:spcPct val="90000"/>
                </a:lnSpc>
                <a:spcBef>
                  <a:spcPts val="472"/>
                </a:spcBef>
              </a:pPr>
              <a:r>
                <a:rPr lang="en-US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Width can be specified through a decimal point or using an asterisk ‘*’.</a:t>
              </a:r>
              <a:endParaRPr sz="2600" dirty="0"/>
            </a:p>
          </p:txBody>
        </p:sp>
        <p:sp>
          <p:nvSpPr>
            <p:cNvPr id="14" name="Google Shape;206;p10"/>
            <p:cNvSpPr/>
            <p:nvPr/>
          </p:nvSpPr>
          <p:spPr>
            <a:xfrm>
              <a:off x="0" y="2481823"/>
              <a:ext cx="1338562" cy="2340942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rgbClr val="99B9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5" name="Google Shape;207;p10"/>
            <p:cNvSpPr txBox="1"/>
            <p:nvPr/>
          </p:nvSpPr>
          <p:spPr>
            <a:xfrm>
              <a:off x="0" y="2481823"/>
              <a:ext cx="1338562" cy="23409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119" tIns="173419" rIns="53119" bIns="173419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725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Width</a:t>
              </a:r>
              <a:endParaRPr sz="1050"/>
            </a:p>
          </p:txBody>
        </p:sp>
      </p:grpSp>
    </p:spTree>
    <p:extLst>
      <p:ext uri="{BB962C8B-B14F-4D97-AF65-F5344CB8AC3E}">
        <p14:creationId xmlns:p14="http://schemas.microsoft.com/office/powerpoint/2010/main" val="20293166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Common Format Specifier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224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%d 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Integer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%f  Float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%c  Character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%s  String</a:t>
            </a:r>
            <a:endParaRPr 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8560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Examples</a:t>
            </a:r>
            <a:endParaRPr dirty="0"/>
          </a:p>
        </p:txBody>
      </p:sp>
      <p:sp>
        <p:nvSpPr>
          <p:cNvPr id="7" name="Google Shape;212;p11"/>
          <p:cNvSpPr txBox="1">
            <a:spLocks noGrp="1"/>
          </p:cNvSpPr>
          <p:nvPr>
            <p:ph type="body" idx="1"/>
          </p:nvPr>
        </p:nvSpPr>
        <p:spPr>
          <a:xfrm>
            <a:off x="1390366" y="2283176"/>
            <a:ext cx="6172200" cy="40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ts val="2220"/>
              <a:buNone/>
            </a:pPr>
            <a:r>
              <a:rPr lang="en-US" sz="1665" dirty="0"/>
              <a:t>void main()</a:t>
            </a:r>
            <a:endParaRPr dirty="0"/>
          </a:p>
          <a:p>
            <a:pPr marL="257175" indent="-257175">
              <a:lnSpc>
                <a:spcPct val="80000"/>
              </a:lnSpc>
              <a:spcBef>
                <a:spcPts val="333"/>
              </a:spcBef>
              <a:buClr>
                <a:schemeClr val="dk1"/>
              </a:buClr>
              <a:buSzPts val="2220"/>
              <a:buNone/>
            </a:pPr>
            <a:r>
              <a:rPr lang="en-US" sz="1665" dirty="0"/>
              <a:t>{</a:t>
            </a:r>
            <a:endParaRPr dirty="0"/>
          </a:p>
          <a:p>
            <a:pPr marL="257175" indent="-257175">
              <a:lnSpc>
                <a:spcPct val="80000"/>
              </a:lnSpc>
              <a:spcBef>
                <a:spcPts val="333"/>
              </a:spcBef>
              <a:buClr>
                <a:schemeClr val="dk1"/>
              </a:buClr>
              <a:buSzPts val="2220"/>
              <a:buNone/>
            </a:pPr>
            <a:r>
              <a:rPr lang="en-US" sz="1665" dirty="0"/>
              <a:t>	float g=123.456789;</a:t>
            </a:r>
            <a:endParaRPr dirty="0"/>
          </a:p>
          <a:p>
            <a:pPr marL="257175" indent="-257175">
              <a:lnSpc>
                <a:spcPct val="80000"/>
              </a:lnSpc>
              <a:spcBef>
                <a:spcPts val="333"/>
              </a:spcBef>
              <a:buClr>
                <a:schemeClr val="dk1"/>
              </a:buClr>
              <a:buSzPts val="2220"/>
              <a:buNone/>
            </a:pPr>
            <a:r>
              <a:rPr lang="en-US" sz="1665" dirty="0"/>
              <a:t>	</a:t>
            </a:r>
            <a:r>
              <a:rPr lang="en-US" sz="1665" dirty="0" err="1"/>
              <a:t>clrscr</a:t>
            </a:r>
            <a:r>
              <a:rPr lang="en-US" sz="1665" dirty="0"/>
              <a:t>();</a:t>
            </a:r>
            <a:endParaRPr dirty="0"/>
          </a:p>
          <a:p>
            <a:pPr marL="257175" indent="-257175">
              <a:lnSpc>
                <a:spcPct val="80000"/>
              </a:lnSpc>
              <a:spcBef>
                <a:spcPts val="333"/>
              </a:spcBef>
              <a:buClr>
                <a:schemeClr val="dk1"/>
              </a:buClr>
              <a:buSzPts val="2220"/>
              <a:buNone/>
            </a:pPr>
            <a:r>
              <a:rPr lang="en-US" sz="1665" dirty="0"/>
              <a:t>	</a:t>
            </a:r>
            <a:r>
              <a:rPr lang="en-US" sz="1665" dirty="0" err="1"/>
              <a:t>printf</a:t>
            </a:r>
            <a:r>
              <a:rPr lang="en-US" sz="1665" dirty="0"/>
              <a:t>(“\n  %.1f”, g);</a:t>
            </a:r>
            <a:endParaRPr dirty="0"/>
          </a:p>
          <a:p>
            <a:pPr marL="257175" indent="-257175">
              <a:lnSpc>
                <a:spcPct val="80000"/>
              </a:lnSpc>
              <a:spcBef>
                <a:spcPts val="333"/>
              </a:spcBef>
              <a:buClr>
                <a:schemeClr val="dk1"/>
              </a:buClr>
              <a:buSzPts val="2220"/>
              <a:buNone/>
            </a:pPr>
            <a:r>
              <a:rPr lang="en-US" sz="1665" dirty="0"/>
              <a:t>	</a:t>
            </a:r>
            <a:r>
              <a:rPr lang="en-US" sz="1665" dirty="0" err="1"/>
              <a:t>printf</a:t>
            </a:r>
            <a:r>
              <a:rPr lang="en-US" sz="1665" dirty="0"/>
              <a:t>(“\n  %.2f”, g);</a:t>
            </a:r>
            <a:endParaRPr dirty="0"/>
          </a:p>
          <a:p>
            <a:pPr marL="257175" indent="-257175">
              <a:lnSpc>
                <a:spcPct val="80000"/>
              </a:lnSpc>
              <a:spcBef>
                <a:spcPts val="333"/>
              </a:spcBef>
              <a:buClr>
                <a:schemeClr val="dk1"/>
              </a:buClr>
              <a:buSzPts val="2220"/>
              <a:buNone/>
            </a:pPr>
            <a:r>
              <a:rPr lang="en-US" sz="1665" dirty="0"/>
              <a:t>	</a:t>
            </a:r>
            <a:r>
              <a:rPr lang="en-US" sz="1665" dirty="0" err="1"/>
              <a:t>printf</a:t>
            </a:r>
            <a:r>
              <a:rPr lang="en-US" sz="1665" dirty="0"/>
              <a:t>(“\n	 %.3f”, g);</a:t>
            </a:r>
            <a:endParaRPr dirty="0"/>
          </a:p>
          <a:p>
            <a:pPr marL="257175" indent="-257175">
              <a:lnSpc>
                <a:spcPct val="80000"/>
              </a:lnSpc>
              <a:spcBef>
                <a:spcPts val="333"/>
              </a:spcBef>
              <a:buClr>
                <a:schemeClr val="dk1"/>
              </a:buClr>
              <a:buSzPts val="2220"/>
              <a:buNone/>
            </a:pPr>
            <a:r>
              <a:rPr lang="en-US" sz="1665" dirty="0"/>
              <a:t>	</a:t>
            </a:r>
            <a:r>
              <a:rPr lang="en-US" sz="1665" dirty="0" err="1"/>
              <a:t>printf</a:t>
            </a:r>
            <a:r>
              <a:rPr lang="en-US" sz="1665" dirty="0"/>
              <a:t>(“\n  %.4f”, g);</a:t>
            </a:r>
            <a:endParaRPr dirty="0"/>
          </a:p>
          <a:p>
            <a:pPr marL="257175" indent="-257175">
              <a:lnSpc>
                <a:spcPct val="80000"/>
              </a:lnSpc>
              <a:spcBef>
                <a:spcPts val="333"/>
              </a:spcBef>
              <a:buClr>
                <a:schemeClr val="dk1"/>
              </a:buClr>
              <a:buSzPts val="2220"/>
              <a:buNone/>
            </a:pPr>
            <a:r>
              <a:rPr lang="en-US" sz="1665" dirty="0"/>
              <a:t>}</a:t>
            </a:r>
            <a:endParaRPr dirty="0"/>
          </a:p>
          <a:p>
            <a:pPr marL="257175" indent="-257175">
              <a:lnSpc>
                <a:spcPct val="80000"/>
              </a:lnSpc>
              <a:spcBef>
                <a:spcPts val="444"/>
              </a:spcBef>
              <a:buClr>
                <a:schemeClr val="dk1"/>
              </a:buClr>
              <a:buSzPts val="2960"/>
              <a:buNone/>
            </a:pPr>
            <a:r>
              <a:rPr lang="en-US" sz="2220" dirty="0"/>
              <a:t>OUTPUT</a:t>
            </a:r>
            <a:endParaRPr dirty="0"/>
          </a:p>
          <a:p>
            <a:pPr marL="257175" indent="-257175">
              <a:lnSpc>
                <a:spcPct val="80000"/>
              </a:lnSpc>
              <a:spcBef>
                <a:spcPts val="444"/>
              </a:spcBef>
              <a:buClr>
                <a:schemeClr val="dk1"/>
              </a:buClr>
              <a:buSzPts val="2960"/>
              <a:buNone/>
            </a:pPr>
            <a:r>
              <a:rPr lang="en-US" sz="2220" dirty="0"/>
              <a:t>123.5</a:t>
            </a:r>
            <a:endParaRPr dirty="0"/>
          </a:p>
          <a:p>
            <a:pPr marL="257175" indent="-257175">
              <a:lnSpc>
                <a:spcPct val="80000"/>
              </a:lnSpc>
              <a:spcBef>
                <a:spcPts val="444"/>
              </a:spcBef>
              <a:buClr>
                <a:schemeClr val="dk1"/>
              </a:buClr>
              <a:buSzPts val="2960"/>
              <a:buNone/>
            </a:pPr>
            <a:r>
              <a:rPr lang="en-US" sz="2220" dirty="0"/>
              <a:t>123.46</a:t>
            </a:r>
            <a:endParaRPr dirty="0"/>
          </a:p>
          <a:p>
            <a:pPr marL="257175" indent="-257175">
              <a:lnSpc>
                <a:spcPct val="80000"/>
              </a:lnSpc>
              <a:spcBef>
                <a:spcPts val="444"/>
              </a:spcBef>
              <a:buClr>
                <a:schemeClr val="dk1"/>
              </a:buClr>
              <a:buSzPts val="2960"/>
              <a:buNone/>
            </a:pPr>
            <a:r>
              <a:rPr lang="en-US" sz="2220" dirty="0"/>
              <a:t>123.457</a:t>
            </a:r>
            <a:endParaRPr dirty="0"/>
          </a:p>
          <a:p>
            <a:pPr marL="257175" indent="-257175">
              <a:lnSpc>
                <a:spcPct val="80000"/>
              </a:lnSpc>
              <a:spcBef>
                <a:spcPts val="444"/>
              </a:spcBef>
              <a:buClr>
                <a:schemeClr val="dk1"/>
              </a:buClr>
              <a:buSzPts val="2960"/>
              <a:buNone/>
            </a:pPr>
            <a:r>
              <a:rPr lang="en-US" sz="2220" dirty="0"/>
              <a:t>123.4568</a:t>
            </a:r>
            <a:endParaRPr dirty="0"/>
          </a:p>
          <a:p>
            <a:pPr marL="257175" indent="-257175">
              <a:lnSpc>
                <a:spcPct val="80000"/>
              </a:lnSpc>
              <a:spcBef>
                <a:spcPts val="389"/>
              </a:spcBef>
              <a:buClr>
                <a:schemeClr val="dk1"/>
              </a:buClr>
              <a:buSzPts val="2590"/>
              <a:buNone/>
            </a:pPr>
            <a:endParaRPr sz="1943" dirty="0"/>
          </a:p>
        </p:txBody>
      </p:sp>
    </p:spTree>
    <p:extLst>
      <p:ext uri="{BB962C8B-B14F-4D97-AF65-F5344CB8AC3E}">
        <p14:creationId xmlns:p14="http://schemas.microsoft.com/office/powerpoint/2010/main" val="26527992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Format Specifier - Tables</a:t>
            </a:r>
            <a:endParaRPr dirty="0"/>
          </a:p>
        </p:txBody>
      </p:sp>
      <p:graphicFrame>
        <p:nvGraphicFramePr>
          <p:cNvPr id="8" name="Google Shape;217;p12"/>
          <p:cNvGraphicFramePr/>
          <p:nvPr>
            <p:extLst>
              <p:ext uri="{D42A27DB-BD31-4B8C-83A1-F6EECF244321}">
                <p14:modId xmlns:p14="http://schemas.microsoft.com/office/powerpoint/2010/main" val="3738424476"/>
              </p:ext>
            </p:extLst>
          </p:nvPr>
        </p:nvGraphicFramePr>
        <p:xfrm>
          <a:off x="1126315" y="2335740"/>
          <a:ext cx="6536532" cy="423900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6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2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4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70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Sr. No1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Format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Meaning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Explanation</a:t>
                      </a:r>
                      <a:endParaRPr sz="14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4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%</a:t>
                      </a:r>
                      <a:r>
                        <a:rPr lang="en-US" sz="1800" dirty="0" err="1"/>
                        <a:t>wd</a:t>
                      </a:r>
                      <a:endParaRPr sz="1800" dirty="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Format for integer output</a:t>
                      </a:r>
                      <a:endParaRPr sz="18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 is width in integer and d is conversion specification</a:t>
                      </a:r>
                      <a:endParaRPr sz="18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%w.cf</a:t>
                      </a:r>
                      <a:endParaRPr sz="18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Format for float numbers</a:t>
                      </a:r>
                      <a:endParaRPr sz="18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 is width in integer, c specifies the number of digits after decimal point and f specifies the conversion specification</a:t>
                      </a:r>
                      <a:endParaRPr sz="18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%w.cs</a:t>
                      </a:r>
                      <a:endParaRPr sz="18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Format for string output</a:t>
                      </a:r>
                      <a:endParaRPr sz="18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w is width for total characters, c are used displaying leading blanks and s specifies conversion specification</a:t>
                      </a:r>
                      <a:endParaRPr sz="1800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5277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Format Specifier - Tables</a:t>
            </a:r>
            <a:endParaRPr lang="en-US" sz="3600" dirty="0"/>
          </a:p>
        </p:txBody>
      </p:sp>
      <p:graphicFrame>
        <p:nvGraphicFramePr>
          <p:cNvPr id="7" name="Google Shape;250;p18"/>
          <p:cNvGraphicFramePr/>
          <p:nvPr>
            <p:extLst>
              <p:ext uri="{D42A27DB-BD31-4B8C-83A1-F6EECF244321}">
                <p14:modId xmlns:p14="http://schemas.microsoft.com/office/powerpoint/2010/main" val="861584614"/>
              </p:ext>
            </p:extLst>
          </p:nvPr>
        </p:nvGraphicFramePr>
        <p:xfrm>
          <a:off x="1692323" y="2290265"/>
          <a:ext cx="5650173" cy="456773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320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3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431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Data Type</a:t>
                      </a:r>
                      <a:endParaRPr sz="1000" dirty="0"/>
                    </a:p>
                  </a:txBody>
                  <a:tcPr marL="68588" marR="68588" marT="34294" marB="3429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Format string</a:t>
                      </a:r>
                      <a:endParaRPr sz="10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310">
                <a:tc rowSpan="6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Integer</a:t>
                      </a:r>
                      <a:endParaRPr sz="1000" dirty="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Short Integer</a:t>
                      </a:r>
                      <a:endParaRPr sz="1000" dirty="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%d or %i</a:t>
                      </a:r>
                      <a:endParaRPr sz="10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3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Short unsigned</a:t>
                      </a:r>
                      <a:endParaRPr sz="1000" dirty="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%u</a:t>
                      </a:r>
                      <a:endParaRPr sz="10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3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Long signed</a:t>
                      </a:r>
                      <a:endParaRPr sz="1000" dirty="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%ld</a:t>
                      </a:r>
                      <a:endParaRPr sz="10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3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Long unsigned</a:t>
                      </a:r>
                      <a:endParaRPr sz="1000" dirty="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%lu</a:t>
                      </a:r>
                      <a:endParaRPr sz="10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3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Unsigned hexadecimal</a:t>
                      </a:r>
                      <a:endParaRPr sz="1000" dirty="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%u</a:t>
                      </a:r>
                      <a:endParaRPr sz="10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3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Unsigned octal</a:t>
                      </a:r>
                      <a:endParaRPr sz="1000" dirty="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%o</a:t>
                      </a:r>
                      <a:endParaRPr sz="10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31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Real</a:t>
                      </a:r>
                      <a:endParaRPr sz="10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Floating</a:t>
                      </a:r>
                      <a:endParaRPr sz="10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%f or %g</a:t>
                      </a:r>
                      <a:endParaRPr sz="1000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31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Double Floating</a:t>
                      </a:r>
                      <a:endParaRPr sz="10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%lf</a:t>
                      </a:r>
                      <a:endParaRPr sz="1000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310">
                <a:tc row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Character</a:t>
                      </a:r>
                      <a:endParaRPr sz="1000" dirty="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Signed Character</a:t>
                      </a:r>
                      <a:endParaRPr sz="10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%c</a:t>
                      </a:r>
                      <a:endParaRPr sz="1000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3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Unsigned Character</a:t>
                      </a:r>
                      <a:endParaRPr sz="10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%c</a:t>
                      </a:r>
                      <a:endParaRPr sz="1000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3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String</a:t>
                      </a:r>
                      <a:endParaRPr sz="10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%s</a:t>
                      </a:r>
                      <a:endParaRPr sz="1000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31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Octal number</a:t>
                      </a:r>
                      <a:endParaRPr sz="10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%o</a:t>
                      </a:r>
                      <a:endParaRPr sz="1000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5056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Displays Hexa decimal number in lowercase</a:t>
                      </a:r>
                      <a:endParaRPr sz="10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%</a:t>
                      </a:r>
                      <a:r>
                        <a:rPr lang="en-US" sz="1000" dirty="0" err="1"/>
                        <a:t>hx</a:t>
                      </a:r>
                      <a:endParaRPr sz="1000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71369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000"/>
                        <a:t>Displays Hexa decimal number in lowercase</a:t>
                      </a:r>
                      <a:endParaRPr sz="10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%p</a:t>
                      </a:r>
                      <a:endParaRPr sz="1000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8743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Aborts program with error</a:t>
                      </a:r>
                      <a:endParaRPr sz="10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%n</a:t>
                      </a:r>
                      <a:endParaRPr sz="1000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2693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Escape sequence</a:t>
            </a:r>
            <a:endParaRPr lang="en-US" sz="3600" dirty="0"/>
          </a:p>
        </p:txBody>
      </p:sp>
      <p:sp>
        <p:nvSpPr>
          <p:cNvPr id="8" name="Google Shape;256;p19"/>
          <p:cNvSpPr txBox="1">
            <a:spLocks noGrp="1"/>
          </p:cNvSpPr>
          <p:nvPr>
            <p:ph type="body" idx="1"/>
          </p:nvPr>
        </p:nvSpPr>
        <p:spPr>
          <a:xfrm>
            <a:off x="559559" y="2466833"/>
            <a:ext cx="3046812" cy="397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85000" lnSpcReduction="10000"/>
          </a:bodyPr>
          <a:lstStyle/>
          <a:p>
            <a:pPr marL="257175" indent="-257175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dirty="0" err="1"/>
              <a:t>printf</a:t>
            </a:r>
            <a:r>
              <a:rPr lang="en-US" dirty="0"/>
              <a:t>() and </a:t>
            </a:r>
            <a:r>
              <a:rPr lang="en-US" dirty="0" err="1"/>
              <a:t>scanf</a:t>
            </a:r>
            <a:r>
              <a:rPr lang="en-US" dirty="0"/>
              <a:t>() statement follows the combination of characters called escape sequence</a:t>
            </a:r>
            <a:endParaRPr dirty="0"/>
          </a:p>
          <a:p>
            <a:pPr marL="257175" indent="-257175">
              <a:spcBef>
                <a:spcPts val="480"/>
              </a:spcBef>
              <a:buClr>
                <a:schemeClr val="dk1"/>
              </a:buClr>
              <a:buSzPts val="3200"/>
            </a:pPr>
            <a:r>
              <a:rPr lang="en-US" dirty="0"/>
              <a:t>Escape sequence are special characters starting with ‘\’</a:t>
            </a:r>
            <a:endParaRPr dirty="0"/>
          </a:p>
        </p:txBody>
      </p:sp>
      <p:graphicFrame>
        <p:nvGraphicFramePr>
          <p:cNvPr id="9" name="Google Shape;257;p19"/>
          <p:cNvGraphicFramePr/>
          <p:nvPr>
            <p:extLst>
              <p:ext uri="{D42A27DB-BD31-4B8C-83A1-F6EECF244321}">
                <p14:modId xmlns:p14="http://schemas.microsoft.com/office/powerpoint/2010/main" val="1191277793"/>
              </p:ext>
            </p:extLst>
          </p:nvPr>
        </p:nvGraphicFramePr>
        <p:xfrm>
          <a:off x="3956358" y="2383241"/>
          <a:ext cx="4071918" cy="409204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23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3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3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Escape Sequence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Use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ASCII value</a:t>
                      </a:r>
                      <a:endParaRPr sz="14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\n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New Line</a:t>
                      </a:r>
                      <a:endParaRPr sz="11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10</a:t>
                      </a:r>
                      <a:endParaRPr sz="14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\b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Backspace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8</a:t>
                      </a:r>
                      <a:endParaRPr sz="14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\f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Form feed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12</a:t>
                      </a:r>
                      <a:endParaRPr sz="14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\’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Single quote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39</a:t>
                      </a:r>
                      <a:endParaRPr sz="14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\\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Backslash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92</a:t>
                      </a:r>
                      <a:endParaRPr sz="14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\0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Null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0</a:t>
                      </a:r>
                      <a:endParaRPr sz="14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\t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Horizontal Tab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9</a:t>
                      </a:r>
                      <a:endParaRPr sz="14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\r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Carriage Return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13</a:t>
                      </a:r>
                      <a:endParaRPr sz="14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\a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Alert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7</a:t>
                      </a:r>
                      <a:endParaRPr sz="14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\”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Double Quote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34</a:t>
                      </a:r>
                      <a:endParaRPr sz="14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\v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Variable tab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11</a:t>
                      </a:r>
                      <a:endParaRPr sz="140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8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\?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Question mark</a:t>
                      </a:r>
                      <a:endParaRPr sz="140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63</a:t>
                      </a:r>
                      <a:endParaRPr sz="1400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5697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Examples</a:t>
            </a:r>
            <a:endParaRPr lang="en-US" sz="3600" dirty="0"/>
          </a:p>
        </p:txBody>
      </p:sp>
      <p:sp>
        <p:nvSpPr>
          <p:cNvPr id="11" name="Google Shape;262;p20"/>
          <p:cNvSpPr txBox="1">
            <a:spLocks noGrp="1"/>
          </p:cNvSpPr>
          <p:nvPr>
            <p:ph type="body" idx="1"/>
          </p:nvPr>
        </p:nvSpPr>
        <p:spPr>
          <a:xfrm>
            <a:off x="1417661" y="2255881"/>
            <a:ext cx="6172200" cy="3612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960"/>
              <a:buNone/>
            </a:pPr>
            <a:r>
              <a:rPr lang="en-US" sz="1800" dirty="0"/>
              <a:t>#include &lt;</a:t>
            </a:r>
            <a:r>
              <a:rPr lang="en-US" sz="1800" dirty="0" err="1"/>
              <a:t>stdio.h</a:t>
            </a:r>
            <a:r>
              <a:rPr lang="en-US" sz="1800" dirty="0"/>
              <a:t>&gt;</a:t>
            </a:r>
          </a:p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960"/>
              <a:buNone/>
            </a:pPr>
            <a:r>
              <a:rPr lang="en-US" sz="1800" dirty="0"/>
              <a:t>#include &lt;</a:t>
            </a:r>
            <a:r>
              <a:rPr lang="en-US" sz="1800" dirty="0" err="1"/>
              <a:t>conio.h</a:t>
            </a:r>
            <a:r>
              <a:rPr lang="en-US" sz="1800" dirty="0"/>
              <a:t>&gt;</a:t>
            </a:r>
          </a:p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960"/>
              <a:buNone/>
            </a:pPr>
            <a:endParaRPr lang="en-US" sz="1800" dirty="0"/>
          </a:p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960"/>
              <a:buNone/>
            </a:pPr>
            <a:r>
              <a:rPr lang="en-US" sz="1800" dirty="0"/>
              <a:t>void main()</a:t>
            </a:r>
          </a:p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960"/>
              <a:buNone/>
            </a:pPr>
            <a:r>
              <a:rPr lang="en-US" sz="1800" dirty="0"/>
              <a:t>{</a:t>
            </a:r>
          </a:p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960"/>
              <a:buNone/>
            </a:pPr>
            <a:r>
              <a:rPr lang="en-US" sz="1800" dirty="0"/>
              <a:t>    </a:t>
            </a:r>
            <a:r>
              <a:rPr lang="en-US" sz="1800" dirty="0" err="1"/>
              <a:t>int</a:t>
            </a:r>
            <a:r>
              <a:rPr lang="en-US" sz="1800" dirty="0"/>
              <a:t> a = 1, b = a + 1, c = b + 1, d = c + 1;</a:t>
            </a:r>
          </a:p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960"/>
              <a:buNone/>
            </a:pPr>
            <a:r>
              <a:rPr lang="en-US" sz="1800" dirty="0"/>
              <a:t>    //</a:t>
            </a:r>
            <a:r>
              <a:rPr lang="en-US" sz="1800" dirty="0" err="1"/>
              <a:t>clrscr</a:t>
            </a:r>
            <a:r>
              <a:rPr lang="en-US" sz="1800" dirty="0"/>
              <a:t>();</a:t>
            </a:r>
          </a:p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960"/>
              <a:buNone/>
            </a:pPr>
            <a:endParaRPr lang="en-US" sz="1800" dirty="0"/>
          </a:p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960"/>
              <a:buNone/>
            </a:pPr>
            <a:r>
              <a:rPr lang="en-US" sz="1800" dirty="0"/>
              <a:t>    </a:t>
            </a:r>
            <a:r>
              <a:rPr lang="en-US" sz="1800" dirty="0" err="1"/>
              <a:t>printf</a:t>
            </a:r>
            <a:r>
              <a:rPr lang="en-US" sz="1800" dirty="0"/>
              <a:t>("\</a:t>
            </a:r>
            <a:r>
              <a:rPr lang="en-US" sz="1800" dirty="0" err="1"/>
              <a:t>tA</a:t>
            </a:r>
            <a:r>
              <a:rPr lang="en-US" sz="1800" dirty="0"/>
              <a:t> = %d\</a:t>
            </a:r>
            <a:r>
              <a:rPr lang="en-US" sz="1800" dirty="0" err="1"/>
              <a:t>nB</a:t>
            </a:r>
            <a:r>
              <a:rPr lang="en-US" sz="1800" dirty="0"/>
              <a:t> = %d 'C = %d'", a, b, c);</a:t>
            </a:r>
          </a:p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960"/>
              <a:buNone/>
            </a:pPr>
            <a:r>
              <a:rPr lang="en-US" sz="1800" dirty="0"/>
              <a:t>    </a:t>
            </a:r>
            <a:r>
              <a:rPr lang="en-US" sz="1800" dirty="0" err="1"/>
              <a:t>printf</a:t>
            </a:r>
            <a:r>
              <a:rPr lang="en-US" sz="1800" dirty="0"/>
              <a:t>("\n\b*** D = %d **", d);</a:t>
            </a:r>
          </a:p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960"/>
              <a:buNone/>
            </a:pPr>
            <a:r>
              <a:rPr lang="en-US" sz="1800" dirty="0"/>
              <a:t>    </a:t>
            </a:r>
            <a:r>
              <a:rPr lang="en-US" sz="1800" dirty="0" err="1"/>
              <a:t>printf</a:t>
            </a:r>
            <a:r>
              <a:rPr lang="en-US" sz="1800" dirty="0"/>
              <a:t>("\n*************");</a:t>
            </a:r>
          </a:p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960"/>
              <a:buNone/>
            </a:pPr>
            <a:r>
              <a:rPr lang="en-US" sz="1800" dirty="0"/>
              <a:t>    </a:t>
            </a:r>
            <a:r>
              <a:rPr lang="en-US" sz="1800" dirty="0" err="1"/>
              <a:t>printf</a:t>
            </a:r>
            <a:r>
              <a:rPr lang="en-US" sz="1800" dirty="0"/>
              <a:t>("\</a:t>
            </a:r>
            <a:r>
              <a:rPr lang="en-US" sz="1800" dirty="0" err="1"/>
              <a:t>nrA</a:t>
            </a:r>
            <a:r>
              <a:rPr lang="en-US" sz="1800" dirty="0"/>
              <a:t> = %d B = %d", a, b);</a:t>
            </a:r>
          </a:p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960"/>
              <a:buNone/>
            </a:pPr>
            <a:r>
              <a:rPr lang="en-US" sz="1800" dirty="0"/>
              <a:t>	</a:t>
            </a:r>
            <a:r>
              <a:rPr lang="en-US" sz="1800" dirty="0" err="1"/>
              <a:t>getch</a:t>
            </a:r>
            <a:r>
              <a:rPr lang="en-US" sz="1800" dirty="0"/>
              <a:t>();</a:t>
            </a:r>
          </a:p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960"/>
              <a:buNone/>
            </a:pPr>
            <a:r>
              <a:rPr lang="en-US" sz="1800" dirty="0"/>
              <a:t>}</a:t>
            </a:r>
            <a:endParaRPr sz="1800" dirty="0"/>
          </a:p>
        </p:txBody>
      </p:sp>
      <p:sp>
        <p:nvSpPr>
          <p:cNvPr id="12" name="Google Shape;263;p20"/>
          <p:cNvSpPr/>
          <p:nvPr/>
        </p:nvSpPr>
        <p:spPr>
          <a:xfrm>
            <a:off x="6322681" y="3230717"/>
            <a:ext cx="2220818" cy="1315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sz="1350" dirty="0">
                <a:solidFill>
                  <a:schemeClr val="dk1"/>
                </a:solidFill>
              </a:rPr>
              <a:t>OUTPUT</a:t>
            </a:r>
            <a:endParaRPr sz="1050" dirty="0"/>
          </a:p>
          <a:p>
            <a:pPr>
              <a:buClr>
                <a:schemeClr val="dk1"/>
              </a:buClr>
              <a:buSzPts val="1800"/>
            </a:pPr>
            <a:r>
              <a:rPr lang="en-US" sz="1350" dirty="0">
                <a:solidFill>
                  <a:schemeClr val="dk1"/>
                </a:solidFill>
              </a:rPr>
              <a:t>	</a:t>
            </a:r>
            <a:r>
              <a:rPr lang="en-US" sz="1350" dirty="0" smtClean="0">
                <a:solidFill>
                  <a:schemeClr val="dk1"/>
                </a:solidFill>
              </a:rPr>
              <a:t>A </a:t>
            </a:r>
            <a:r>
              <a:rPr lang="en-US" sz="1350" dirty="0">
                <a:solidFill>
                  <a:schemeClr val="dk1"/>
                </a:solidFill>
              </a:rPr>
              <a:t>= 1</a:t>
            </a:r>
            <a:endParaRPr sz="1050" dirty="0"/>
          </a:p>
          <a:p>
            <a:pPr>
              <a:buClr>
                <a:schemeClr val="dk1"/>
              </a:buClr>
              <a:buSzPts val="1800"/>
            </a:pPr>
            <a:r>
              <a:rPr lang="en-US" sz="1350" dirty="0">
                <a:solidFill>
                  <a:schemeClr val="dk1"/>
                </a:solidFill>
              </a:rPr>
              <a:t>B = </a:t>
            </a:r>
            <a:r>
              <a:rPr lang="en-US" sz="1350" dirty="0" smtClean="0">
                <a:solidFill>
                  <a:schemeClr val="dk1"/>
                </a:solidFill>
              </a:rPr>
              <a:t>2	‘C </a:t>
            </a:r>
            <a:r>
              <a:rPr lang="en-US" sz="1350" dirty="0">
                <a:solidFill>
                  <a:schemeClr val="dk1"/>
                </a:solidFill>
              </a:rPr>
              <a:t>= 3’</a:t>
            </a:r>
            <a:endParaRPr sz="1050" dirty="0"/>
          </a:p>
          <a:p>
            <a:pPr>
              <a:buClr>
                <a:schemeClr val="dk1"/>
              </a:buClr>
              <a:buSzPts val="1800"/>
            </a:pPr>
            <a:r>
              <a:rPr lang="en-US" sz="1350" dirty="0" smtClean="0">
                <a:solidFill>
                  <a:schemeClr val="dk1"/>
                </a:solidFill>
              </a:rPr>
              <a:t>*** D = 4 **</a:t>
            </a:r>
            <a:endParaRPr sz="1050" dirty="0"/>
          </a:p>
          <a:p>
            <a:pPr>
              <a:buClr>
                <a:schemeClr val="dk1"/>
              </a:buClr>
              <a:buSzPts val="1800"/>
            </a:pPr>
            <a:r>
              <a:rPr lang="en-US" sz="1050" dirty="0" smtClean="0"/>
              <a:t>**************</a:t>
            </a:r>
            <a:endParaRPr sz="1050" dirty="0"/>
          </a:p>
          <a:p>
            <a:pPr>
              <a:buClr>
                <a:schemeClr val="dk1"/>
              </a:buClr>
              <a:buSzPts val="1800"/>
            </a:pPr>
            <a:r>
              <a:rPr lang="en-US" sz="1350" dirty="0">
                <a:solidFill>
                  <a:schemeClr val="dk1"/>
                </a:solidFill>
              </a:rPr>
              <a:t>A = 1 B = 2</a:t>
            </a:r>
            <a:r>
              <a:rPr lang="en-US" sz="1350" dirty="0" smtClean="0">
                <a:solidFill>
                  <a:schemeClr val="dk1"/>
                </a:solidFill>
              </a:rPr>
              <a:t>**</a:t>
            </a:r>
            <a:endParaRPr sz="135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721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Unformatted functions</a:t>
            </a:r>
            <a:endParaRPr lang="en-US" sz="3600" dirty="0"/>
          </a:p>
        </p:txBody>
      </p:sp>
      <p:sp>
        <p:nvSpPr>
          <p:cNvPr id="9" name="Google Shape;269;p21"/>
          <p:cNvSpPr txBox="1">
            <a:spLocks noGrp="1"/>
          </p:cNvSpPr>
          <p:nvPr>
            <p:ph type="body" idx="1"/>
          </p:nvPr>
        </p:nvSpPr>
        <p:spPr>
          <a:xfrm>
            <a:off x="511791" y="249413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dirty="0"/>
              <a:t>C has three types of I/O functions</a:t>
            </a:r>
            <a:endParaRPr dirty="0"/>
          </a:p>
          <a:p>
            <a:pPr marL="557213" lvl="1" indent="-214313">
              <a:spcBef>
                <a:spcPts val="420"/>
              </a:spcBef>
              <a:buClr>
                <a:schemeClr val="dk1"/>
              </a:buClr>
              <a:buSzPts val="2800"/>
            </a:pPr>
            <a:r>
              <a:rPr lang="en-US" dirty="0"/>
              <a:t>Character I/O</a:t>
            </a:r>
            <a:endParaRPr dirty="0"/>
          </a:p>
          <a:p>
            <a:pPr marL="557213" lvl="1" indent="-214313">
              <a:spcBef>
                <a:spcPts val="420"/>
              </a:spcBef>
              <a:buClr>
                <a:schemeClr val="dk1"/>
              </a:buClr>
              <a:buSzPts val="2800"/>
            </a:pPr>
            <a:r>
              <a:rPr lang="en-US" dirty="0"/>
              <a:t>String I/O</a:t>
            </a:r>
            <a:endParaRPr dirty="0"/>
          </a:p>
          <a:p>
            <a:pPr marL="557213" lvl="1" indent="-214313">
              <a:spcBef>
                <a:spcPts val="420"/>
              </a:spcBef>
              <a:buClr>
                <a:schemeClr val="dk1"/>
              </a:buClr>
              <a:buSzPts val="2800"/>
            </a:pPr>
            <a:r>
              <a:rPr lang="en-US" dirty="0"/>
              <a:t>File </a:t>
            </a:r>
            <a:r>
              <a:rPr lang="en-US" dirty="0" smtClean="0"/>
              <a:t>I/O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159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en-US" sz="3500" b="1" dirty="0" err="1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g</a:t>
            </a:r>
            <a:r>
              <a:rPr lang="en-US" sz="3500" b="1" dirty="0" err="1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etchar</a:t>
            </a: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()</a:t>
            </a:r>
            <a:endParaRPr lang="en-US" sz="3600" dirty="0"/>
          </a:p>
        </p:txBody>
      </p:sp>
      <p:sp>
        <p:nvSpPr>
          <p:cNvPr id="8" name="Google Shape;275;p22"/>
          <p:cNvSpPr txBox="1">
            <a:spLocks noGrp="1"/>
          </p:cNvSpPr>
          <p:nvPr>
            <p:ph type="body" idx="1"/>
          </p:nvPr>
        </p:nvSpPr>
        <p:spPr>
          <a:xfrm>
            <a:off x="607325" y="243954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ts val="2590"/>
            </a:pPr>
            <a:r>
              <a:rPr lang="en-US" sz="2600" dirty="0"/>
              <a:t>This function reads a character type data from standard input.</a:t>
            </a:r>
            <a:endParaRPr sz="2600" dirty="0"/>
          </a:p>
          <a:p>
            <a:pPr marL="257175" indent="-257175">
              <a:lnSpc>
                <a:spcPct val="80000"/>
              </a:lnSpc>
              <a:spcBef>
                <a:spcPts val="389"/>
              </a:spcBef>
              <a:buClr>
                <a:schemeClr val="dk1"/>
              </a:buClr>
              <a:buSzPts val="2590"/>
            </a:pPr>
            <a:r>
              <a:rPr lang="en-US" sz="2600" dirty="0"/>
              <a:t>It reads one character at a time till the user presses the enter key.</a:t>
            </a:r>
            <a:endParaRPr sz="2600" dirty="0"/>
          </a:p>
          <a:p>
            <a:pPr marL="257175" indent="-257175">
              <a:lnSpc>
                <a:spcPct val="80000"/>
              </a:lnSpc>
              <a:spcBef>
                <a:spcPts val="389"/>
              </a:spcBef>
              <a:buClr>
                <a:schemeClr val="dk1"/>
              </a:buClr>
              <a:buSzPts val="2590"/>
            </a:pPr>
            <a:r>
              <a:rPr lang="en-US" sz="2600" dirty="0"/>
              <a:t>Syntax</a:t>
            </a:r>
            <a:endParaRPr sz="2600" dirty="0"/>
          </a:p>
          <a:p>
            <a:pPr marL="557213" lvl="1" indent="-214313">
              <a:lnSpc>
                <a:spcPct val="80000"/>
              </a:lnSpc>
              <a:spcBef>
                <a:spcPts val="333"/>
              </a:spcBef>
              <a:buClr>
                <a:schemeClr val="dk1"/>
              </a:buClr>
              <a:buSzPts val="2220"/>
              <a:buNone/>
            </a:pPr>
            <a:r>
              <a:rPr lang="en-US" sz="2600" dirty="0" err="1">
                <a:latin typeface="Courier New"/>
                <a:ea typeface="Courier New"/>
                <a:cs typeface="Courier New"/>
                <a:sym typeface="Courier New"/>
              </a:rPr>
              <a:t>VariableName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600" dirty="0" err="1">
                <a:latin typeface="Courier New"/>
                <a:ea typeface="Courier New"/>
                <a:cs typeface="Courier New"/>
                <a:sym typeface="Courier New"/>
              </a:rPr>
              <a:t>getchar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2600" dirty="0"/>
          </a:p>
          <a:p>
            <a:pPr marL="257175" indent="-257175">
              <a:lnSpc>
                <a:spcPct val="80000"/>
              </a:lnSpc>
              <a:spcBef>
                <a:spcPts val="389"/>
              </a:spcBef>
              <a:buClr>
                <a:schemeClr val="dk1"/>
              </a:buClr>
              <a:buSzPts val="2590"/>
            </a:pPr>
            <a:r>
              <a:rPr lang="en-US" sz="2600" dirty="0"/>
              <a:t>Example</a:t>
            </a:r>
            <a:endParaRPr sz="2600" dirty="0"/>
          </a:p>
          <a:p>
            <a:pPr marL="557213" lvl="1" indent="-214313">
              <a:lnSpc>
                <a:spcPct val="80000"/>
              </a:lnSpc>
              <a:spcBef>
                <a:spcPts val="333"/>
              </a:spcBef>
              <a:buClr>
                <a:schemeClr val="dk1"/>
              </a:buClr>
              <a:buSzPts val="2220"/>
              <a:buNone/>
            </a:pPr>
            <a:r>
              <a:rPr lang="en-US" sz="2600" dirty="0"/>
              <a:t>char c;</a:t>
            </a:r>
            <a:endParaRPr sz="2600" dirty="0"/>
          </a:p>
          <a:p>
            <a:pPr marL="557213" lvl="1" indent="-214313">
              <a:lnSpc>
                <a:spcPct val="80000"/>
              </a:lnSpc>
              <a:spcBef>
                <a:spcPts val="333"/>
              </a:spcBef>
              <a:buClr>
                <a:schemeClr val="dk1"/>
              </a:buClr>
              <a:buSzPts val="2220"/>
              <a:buNone/>
            </a:pPr>
            <a:r>
              <a:rPr lang="en-US" sz="2600" dirty="0"/>
              <a:t>c = </a:t>
            </a:r>
            <a:r>
              <a:rPr lang="en-US" sz="2600" dirty="0" err="1"/>
              <a:t>getchar</a:t>
            </a:r>
            <a:r>
              <a:rPr lang="en-US" sz="2600" dirty="0"/>
              <a:t>();</a:t>
            </a:r>
            <a:endParaRPr sz="2600" dirty="0"/>
          </a:p>
        </p:txBody>
      </p:sp>
    </p:spTree>
    <p:extLst>
      <p:ext uri="{BB962C8B-B14F-4D97-AF65-F5344CB8AC3E}">
        <p14:creationId xmlns:p14="http://schemas.microsoft.com/office/powerpoint/2010/main" val="141288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en-US" sz="3500" b="1" dirty="0" err="1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p</a:t>
            </a:r>
            <a:r>
              <a:rPr lang="en-US" sz="3500" b="1" dirty="0" err="1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utchar</a:t>
            </a: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()</a:t>
            </a:r>
            <a:endParaRPr lang="en-US" sz="3600" dirty="0"/>
          </a:p>
        </p:txBody>
      </p:sp>
      <p:sp>
        <p:nvSpPr>
          <p:cNvPr id="9" name="Google Shape;281;p23"/>
          <p:cNvSpPr txBox="1">
            <a:spLocks noGrp="1"/>
          </p:cNvSpPr>
          <p:nvPr>
            <p:ph type="body" idx="1"/>
          </p:nvPr>
        </p:nvSpPr>
        <p:spPr>
          <a:xfrm>
            <a:off x="457200" y="2453188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92500" lnSpcReduction="10000"/>
          </a:bodyPr>
          <a:lstStyle/>
          <a:p>
            <a:pPr marL="257175" indent="-257175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dirty="0"/>
              <a:t>This function prints one character on the screen at a time, read by the standard input.</a:t>
            </a:r>
            <a:endParaRPr dirty="0"/>
          </a:p>
          <a:p>
            <a:pPr marL="257175" indent="-257175">
              <a:spcBef>
                <a:spcPts val="480"/>
              </a:spcBef>
              <a:buClr>
                <a:schemeClr val="dk1"/>
              </a:buClr>
              <a:buSzPts val="3200"/>
            </a:pPr>
            <a:r>
              <a:rPr lang="en-US" dirty="0"/>
              <a:t>Syntax</a:t>
            </a:r>
            <a:endParaRPr dirty="0"/>
          </a:p>
          <a:p>
            <a:pPr marL="557213" lvl="1" indent="-214313">
              <a:spcBef>
                <a:spcPts val="420"/>
              </a:spcBef>
              <a:buClr>
                <a:schemeClr val="dk1"/>
              </a:buClr>
              <a:buSzPts val="2800"/>
            </a:pPr>
            <a:r>
              <a:rPr lang="en-US" dirty="0" err="1"/>
              <a:t>putchar</a:t>
            </a:r>
            <a:r>
              <a:rPr lang="en-US" dirty="0"/>
              <a:t>(</a:t>
            </a:r>
            <a:r>
              <a:rPr lang="en-US" dirty="0" err="1"/>
              <a:t>variableName</a:t>
            </a:r>
            <a:r>
              <a:rPr lang="en-US" dirty="0"/>
              <a:t>)</a:t>
            </a:r>
            <a:endParaRPr dirty="0"/>
          </a:p>
          <a:p>
            <a:pPr marL="257175" indent="-257175">
              <a:spcBef>
                <a:spcPts val="480"/>
              </a:spcBef>
              <a:buClr>
                <a:schemeClr val="dk1"/>
              </a:buClr>
              <a:buSzPts val="3200"/>
            </a:pPr>
            <a:r>
              <a:rPr lang="en-US" dirty="0"/>
              <a:t>Example</a:t>
            </a:r>
            <a:endParaRPr dirty="0"/>
          </a:p>
          <a:p>
            <a:pPr marL="557213" lvl="1" indent="-214313"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r>
              <a:rPr lang="en-US" dirty="0"/>
              <a:t>	char c = ‘C’;</a:t>
            </a:r>
            <a:endParaRPr dirty="0"/>
          </a:p>
          <a:p>
            <a:pPr marL="557213" lvl="1" indent="-214313">
              <a:spcBef>
                <a:spcPts val="420"/>
              </a:spcBef>
              <a:buClr>
                <a:schemeClr val="dk1"/>
              </a:buClr>
              <a:buSzPts val="2800"/>
              <a:buNone/>
            </a:pPr>
            <a:r>
              <a:rPr lang="en-US" dirty="0"/>
              <a:t>	</a:t>
            </a:r>
            <a:r>
              <a:rPr lang="en-US" dirty="0" err="1"/>
              <a:t>putchar</a:t>
            </a:r>
            <a:r>
              <a:rPr lang="en-US" dirty="0"/>
              <a:t>(c);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6787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en-US" sz="3500" b="1" dirty="0" err="1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getch</a:t>
            </a: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() and </a:t>
            </a:r>
            <a:r>
              <a:rPr lang="en-US" sz="3500" b="1" dirty="0" err="1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getche</a:t>
            </a: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() </a:t>
            </a:r>
            <a:endParaRPr lang="en-US" sz="3600" dirty="0"/>
          </a:p>
        </p:txBody>
      </p:sp>
      <p:sp>
        <p:nvSpPr>
          <p:cNvPr id="8" name="Google Shape;287;p24"/>
          <p:cNvSpPr txBox="1">
            <a:spLocks noGrp="1"/>
          </p:cNvSpPr>
          <p:nvPr>
            <p:ph type="body" idx="1"/>
          </p:nvPr>
        </p:nvSpPr>
        <p:spPr>
          <a:xfrm>
            <a:off x="484495" y="2439540"/>
            <a:ext cx="8229600" cy="419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590"/>
            </a:pPr>
            <a:r>
              <a:rPr lang="en-US" sz="2600" dirty="0"/>
              <a:t>These functions read any alphanumeric character from the standard input device.</a:t>
            </a:r>
            <a:endParaRPr sz="2600" dirty="0"/>
          </a:p>
          <a:p>
            <a:pPr marL="257175" indent="-257175">
              <a:lnSpc>
                <a:spcPct val="90000"/>
              </a:lnSpc>
              <a:spcBef>
                <a:spcPts val="389"/>
              </a:spcBef>
              <a:buClr>
                <a:schemeClr val="dk1"/>
              </a:buClr>
              <a:buSzPts val="2590"/>
            </a:pPr>
            <a:r>
              <a:rPr lang="en-US" sz="2600" dirty="0"/>
              <a:t>The character entered is not displayed by the </a:t>
            </a:r>
            <a:r>
              <a:rPr lang="en-US" sz="2600" dirty="0" err="1"/>
              <a:t>getch</a:t>
            </a:r>
            <a:r>
              <a:rPr lang="en-US" sz="2600" dirty="0"/>
              <a:t>() function.</a:t>
            </a:r>
            <a:endParaRPr sz="2600" dirty="0"/>
          </a:p>
          <a:p>
            <a:pPr marL="257175" indent="-257175">
              <a:lnSpc>
                <a:spcPct val="90000"/>
              </a:lnSpc>
              <a:spcBef>
                <a:spcPts val="389"/>
              </a:spcBef>
              <a:buClr>
                <a:schemeClr val="dk1"/>
              </a:buClr>
              <a:buSzPts val="2590"/>
            </a:pPr>
            <a:r>
              <a:rPr lang="en-US" sz="2600" dirty="0"/>
              <a:t>The character entered is displayed by the </a:t>
            </a:r>
            <a:r>
              <a:rPr lang="en-US" sz="2600" dirty="0" err="1"/>
              <a:t>getche</a:t>
            </a:r>
            <a:r>
              <a:rPr lang="en-US" sz="2600" dirty="0"/>
              <a:t>() function.</a:t>
            </a:r>
            <a:endParaRPr sz="2600" dirty="0"/>
          </a:p>
          <a:p>
            <a:pPr marL="257175" indent="-257175">
              <a:lnSpc>
                <a:spcPct val="90000"/>
              </a:lnSpc>
              <a:spcBef>
                <a:spcPts val="389"/>
              </a:spcBef>
              <a:buClr>
                <a:schemeClr val="dk1"/>
              </a:buClr>
              <a:buSzPts val="2590"/>
            </a:pPr>
            <a:r>
              <a:rPr lang="en-US" sz="2600" dirty="0" err="1"/>
              <a:t>Exampe</a:t>
            </a:r>
            <a:endParaRPr sz="2600" dirty="0"/>
          </a:p>
          <a:p>
            <a:pPr marL="557213" lvl="1" indent="-214313">
              <a:lnSpc>
                <a:spcPct val="90000"/>
              </a:lnSpc>
              <a:spcBef>
                <a:spcPts val="333"/>
              </a:spcBef>
              <a:buClr>
                <a:schemeClr val="dk1"/>
              </a:buClr>
              <a:buSzPts val="2220"/>
              <a:buFont typeface="Noto Sans Symbols"/>
              <a:buChar char="▪"/>
            </a:pPr>
            <a:r>
              <a:rPr lang="en-US" sz="2600" dirty="0"/>
              <a:t>	</a:t>
            </a:r>
            <a:r>
              <a:rPr lang="en-US" sz="2600" dirty="0" err="1"/>
              <a:t>ch</a:t>
            </a:r>
            <a:r>
              <a:rPr lang="en-US" sz="2600" dirty="0"/>
              <a:t> = </a:t>
            </a:r>
            <a:r>
              <a:rPr lang="en-US" sz="2600" dirty="0" err="1"/>
              <a:t>getch</a:t>
            </a:r>
            <a:r>
              <a:rPr lang="en-US" sz="2600" dirty="0"/>
              <a:t>();</a:t>
            </a:r>
            <a:endParaRPr sz="2600" dirty="0"/>
          </a:p>
          <a:p>
            <a:pPr marL="557213" lvl="1" indent="-214313">
              <a:lnSpc>
                <a:spcPct val="90000"/>
              </a:lnSpc>
              <a:spcBef>
                <a:spcPts val="333"/>
              </a:spcBef>
              <a:buClr>
                <a:schemeClr val="dk1"/>
              </a:buClr>
              <a:buSzPts val="2220"/>
              <a:buFont typeface="Noto Sans Symbols"/>
              <a:buChar char="▪"/>
            </a:pPr>
            <a:r>
              <a:rPr lang="en-US" sz="2600" dirty="0"/>
              <a:t>  </a:t>
            </a:r>
            <a:r>
              <a:rPr lang="en-US" sz="2600" dirty="0" err="1"/>
              <a:t>ch</a:t>
            </a:r>
            <a:r>
              <a:rPr lang="en-US" sz="2600" dirty="0"/>
              <a:t> = </a:t>
            </a:r>
            <a:r>
              <a:rPr lang="en-US" sz="2600" dirty="0" err="1"/>
              <a:t>getche</a:t>
            </a:r>
            <a:r>
              <a:rPr lang="en-US" sz="2600" dirty="0"/>
              <a:t>();</a:t>
            </a:r>
            <a:endParaRPr sz="2600" dirty="0"/>
          </a:p>
        </p:txBody>
      </p:sp>
    </p:spTree>
    <p:extLst>
      <p:ext uri="{BB962C8B-B14F-4D97-AF65-F5344CB8AC3E}">
        <p14:creationId xmlns:p14="http://schemas.microsoft.com/office/powerpoint/2010/main" val="1841579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g</a:t>
            </a: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ets()</a:t>
            </a:r>
            <a:endParaRPr lang="en-US" sz="3600" dirty="0"/>
          </a:p>
        </p:txBody>
      </p:sp>
      <p:sp>
        <p:nvSpPr>
          <p:cNvPr id="9" name="Google Shape;293;p25"/>
          <p:cNvSpPr txBox="1">
            <a:spLocks noGrp="1"/>
          </p:cNvSpPr>
          <p:nvPr>
            <p:ph type="body" idx="1"/>
          </p:nvPr>
        </p:nvSpPr>
        <p:spPr>
          <a:xfrm>
            <a:off x="914399" y="2327638"/>
            <a:ext cx="7506269" cy="3964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85000" lnSpcReduction="20000"/>
          </a:bodyPr>
          <a:lstStyle/>
          <a:p>
            <a:pPr marL="257175" indent="-257175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220"/>
            </a:pPr>
            <a:r>
              <a:rPr lang="en-US" sz="2600" dirty="0"/>
              <a:t>This function is used for accepting any string through </a:t>
            </a:r>
            <a:r>
              <a:rPr lang="en-US" sz="2600" dirty="0" err="1">
                <a:latin typeface="Courier New"/>
                <a:ea typeface="Courier New"/>
                <a:cs typeface="Courier New"/>
                <a:sym typeface="Courier New"/>
              </a:rPr>
              <a:t>stdin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dirty="0"/>
              <a:t>keyword until enter key is pressed.</a:t>
            </a:r>
            <a:endParaRPr sz="2600" dirty="0"/>
          </a:p>
          <a:p>
            <a:pPr marL="257175" indent="-257175">
              <a:lnSpc>
                <a:spcPct val="90000"/>
              </a:lnSpc>
              <a:spcBef>
                <a:spcPts val="333"/>
              </a:spcBef>
              <a:buClr>
                <a:schemeClr val="dk1"/>
              </a:buClr>
              <a:buSzPts val="2220"/>
            </a:pPr>
            <a:r>
              <a:rPr lang="en-US" sz="2600" dirty="0"/>
              <a:t>The header file </a:t>
            </a:r>
            <a:r>
              <a:rPr lang="en-US" sz="2600" dirty="0" err="1">
                <a:latin typeface="Courier New"/>
                <a:ea typeface="Courier New"/>
                <a:cs typeface="Courier New"/>
                <a:sym typeface="Courier New"/>
              </a:rPr>
              <a:t>stdio.h</a:t>
            </a:r>
            <a:r>
              <a:rPr lang="en-US" sz="2600" dirty="0"/>
              <a:t> is needed for implementing the above function.</a:t>
            </a:r>
            <a:endParaRPr sz="2600" dirty="0"/>
          </a:p>
          <a:p>
            <a:pPr marL="257175" indent="-257175">
              <a:lnSpc>
                <a:spcPct val="90000"/>
              </a:lnSpc>
              <a:spcBef>
                <a:spcPts val="333"/>
              </a:spcBef>
              <a:buClr>
                <a:schemeClr val="dk1"/>
              </a:buClr>
              <a:buSzPts val="2220"/>
            </a:pPr>
            <a:r>
              <a:rPr lang="en-US" sz="2600" dirty="0"/>
              <a:t>Syntax</a:t>
            </a:r>
            <a:endParaRPr sz="2600" dirty="0"/>
          </a:p>
          <a:p>
            <a:pPr marL="557213" lvl="1" indent="-214313">
              <a:lnSpc>
                <a:spcPct val="90000"/>
              </a:lnSpc>
              <a:spcBef>
                <a:spcPts val="278"/>
              </a:spcBef>
              <a:buClr>
                <a:schemeClr val="dk1"/>
              </a:buClr>
              <a:buSzPts val="1850"/>
              <a:buNone/>
            </a:pP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char </a:t>
            </a:r>
            <a:r>
              <a:rPr lang="en-US" sz="2600" dirty="0" err="1"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[length of string in number];</a:t>
            </a:r>
            <a:endParaRPr sz="2600" dirty="0"/>
          </a:p>
          <a:p>
            <a:pPr marL="557213" lvl="1" indent="-214313">
              <a:lnSpc>
                <a:spcPct val="90000"/>
              </a:lnSpc>
              <a:spcBef>
                <a:spcPts val="278"/>
              </a:spcBef>
              <a:buClr>
                <a:schemeClr val="dk1"/>
              </a:buClr>
              <a:buSzPts val="1850"/>
              <a:buNone/>
            </a:pP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gets(</a:t>
            </a:r>
            <a:r>
              <a:rPr lang="en-US" sz="2600" dirty="0" err="1"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600" dirty="0"/>
          </a:p>
          <a:p>
            <a:pPr marL="257175" indent="-257175">
              <a:lnSpc>
                <a:spcPct val="90000"/>
              </a:lnSpc>
              <a:spcBef>
                <a:spcPts val="250"/>
              </a:spcBef>
              <a:buClr>
                <a:schemeClr val="dk1"/>
              </a:buClr>
              <a:buSzPts val="1480"/>
              <a:buNone/>
            </a:pPr>
            <a:r>
              <a:rPr lang="en-US" sz="2600" dirty="0"/>
              <a:t>     void main()</a:t>
            </a:r>
            <a:endParaRPr sz="2600" dirty="0"/>
          </a:p>
          <a:p>
            <a:pPr marL="257175" indent="-257175">
              <a:lnSpc>
                <a:spcPct val="90000"/>
              </a:lnSpc>
              <a:spcBef>
                <a:spcPts val="250"/>
              </a:spcBef>
              <a:buClr>
                <a:schemeClr val="dk1"/>
              </a:buClr>
              <a:buSzPts val="1665"/>
              <a:buNone/>
            </a:pPr>
            <a:r>
              <a:rPr lang="en-US" sz="2600" dirty="0"/>
              <a:t>     {</a:t>
            </a:r>
            <a:br>
              <a:rPr lang="en-US" sz="2600" dirty="0"/>
            </a:br>
            <a:r>
              <a:rPr lang="en-US" sz="2600" dirty="0"/>
              <a:t>          char </a:t>
            </a:r>
            <a:r>
              <a:rPr lang="en-US" sz="2600" dirty="0" err="1"/>
              <a:t>ch</a:t>
            </a:r>
            <a:r>
              <a:rPr lang="en-US" sz="2600" dirty="0"/>
              <a:t>[30];</a:t>
            </a:r>
            <a:br>
              <a:rPr lang="en-US" sz="2600" dirty="0"/>
            </a:br>
            <a:r>
              <a:rPr lang="en-US" sz="2600" dirty="0"/>
              <a:t>          </a:t>
            </a:r>
            <a:r>
              <a:rPr lang="en-US" sz="2600" dirty="0" err="1"/>
              <a:t>clrscr</a:t>
            </a:r>
            <a:r>
              <a:rPr lang="en-US" sz="2600" dirty="0"/>
              <a:t>();</a:t>
            </a:r>
            <a:br>
              <a:rPr lang="en-US" sz="2600" dirty="0"/>
            </a:br>
            <a:r>
              <a:rPr lang="en-US" sz="2600" dirty="0"/>
              <a:t>          </a:t>
            </a:r>
            <a:r>
              <a:rPr lang="en-US" sz="2600" dirty="0" err="1"/>
              <a:t>printf</a:t>
            </a:r>
            <a:r>
              <a:rPr lang="en-US" sz="2600" dirty="0"/>
              <a:t>(“Enter the string : “);</a:t>
            </a:r>
            <a:endParaRPr sz="2600" dirty="0"/>
          </a:p>
          <a:p>
            <a:pPr marL="257175" indent="-257175">
              <a:lnSpc>
                <a:spcPct val="90000"/>
              </a:lnSpc>
              <a:spcBef>
                <a:spcPts val="250"/>
              </a:spcBef>
              <a:buClr>
                <a:schemeClr val="dk1"/>
              </a:buClr>
              <a:buSzPts val="1665"/>
              <a:buNone/>
            </a:pPr>
            <a:r>
              <a:rPr lang="en-US" sz="2600" dirty="0"/>
              <a:t>	          gets();</a:t>
            </a:r>
            <a:endParaRPr sz="2600" dirty="0"/>
          </a:p>
          <a:p>
            <a:pPr marL="257175" indent="-257175">
              <a:lnSpc>
                <a:spcPct val="90000"/>
              </a:lnSpc>
              <a:spcBef>
                <a:spcPts val="250"/>
              </a:spcBef>
              <a:buClr>
                <a:schemeClr val="dk1"/>
              </a:buClr>
              <a:buSzPts val="1665"/>
              <a:buNone/>
            </a:pPr>
            <a:r>
              <a:rPr lang="en-US" sz="2600" dirty="0"/>
              <a:t>	          </a:t>
            </a:r>
            <a:r>
              <a:rPr lang="en-US" sz="2600" dirty="0" err="1"/>
              <a:t>printf</a:t>
            </a:r>
            <a:r>
              <a:rPr lang="en-US" sz="2600" dirty="0"/>
              <a:t>(“\n Entered string : %s”, </a:t>
            </a:r>
            <a:r>
              <a:rPr lang="en-US" sz="2600" dirty="0" err="1"/>
              <a:t>ch</a:t>
            </a:r>
            <a:r>
              <a:rPr lang="en-US" sz="2600" dirty="0"/>
              <a:t>);</a:t>
            </a:r>
            <a:endParaRPr sz="2600" dirty="0"/>
          </a:p>
          <a:p>
            <a:pPr marL="257175" indent="-257175">
              <a:lnSpc>
                <a:spcPct val="90000"/>
              </a:lnSpc>
              <a:spcBef>
                <a:spcPts val="250"/>
              </a:spcBef>
              <a:buClr>
                <a:schemeClr val="dk1"/>
              </a:buClr>
              <a:buSzPts val="1665"/>
              <a:buNone/>
            </a:pPr>
            <a:r>
              <a:rPr lang="en-US" sz="2600" dirty="0"/>
              <a:t>     }</a:t>
            </a:r>
            <a:endParaRPr sz="2600" dirty="0"/>
          </a:p>
          <a:p>
            <a:pPr marL="257175" indent="-257175">
              <a:lnSpc>
                <a:spcPct val="90000"/>
              </a:lnSpc>
              <a:spcBef>
                <a:spcPts val="333"/>
              </a:spcBef>
              <a:buClr>
                <a:schemeClr val="dk1"/>
              </a:buClr>
              <a:buSzPts val="2220"/>
              <a:buNone/>
            </a:pPr>
            <a:endParaRPr sz="1665" dirty="0"/>
          </a:p>
          <a:p>
            <a:pPr marL="257175" indent="-151448">
              <a:lnSpc>
                <a:spcPct val="90000"/>
              </a:lnSpc>
              <a:spcBef>
                <a:spcPts val="333"/>
              </a:spcBef>
              <a:buClr>
                <a:schemeClr val="dk1"/>
              </a:buClr>
              <a:buSzPts val="2220"/>
              <a:buNone/>
            </a:pPr>
            <a:endParaRPr sz="1665" dirty="0"/>
          </a:p>
        </p:txBody>
      </p:sp>
    </p:spTree>
    <p:extLst>
      <p:ext uri="{BB962C8B-B14F-4D97-AF65-F5344CB8AC3E}">
        <p14:creationId xmlns:p14="http://schemas.microsoft.com/office/powerpoint/2010/main" val="3572158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buClr>
                <a:srgbClr val="FFFFFF"/>
              </a:buClr>
              <a:buSzPts val="3500"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puts()</a:t>
            </a:r>
            <a:endParaRPr lang="en-US" sz="3600" dirty="0"/>
          </a:p>
        </p:txBody>
      </p:sp>
      <p:sp>
        <p:nvSpPr>
          <p:cNvPr id="8" name="Google Shape;299;p26"/>
          <p:cNvSpPr txBox="1">
            <a:spLocks noGrp="1"/>
          </p:cNvSpPr>
          <p:nvPr>
            <p:ph type="body" idx="1"/>
          </p:nvPr>
        </p:nvSpPr>
        <p:spPr>
          <a:xfrm>
            <a:off x="1376719" y="2382229"/>
            <a:ext cx="6172200" cy="3964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2600" dirty="0"/>
              <a:t>This function prints the string or character array.</a:t>
            </a:r>
            <a:endParaRPr sz="2600"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</a:pPr>
            <a:r>
              <a:rPr lang="en-US" sz="2600" dirty="0"/>
              <a:t>It is opposite to gets()</a:t>
            </a:r>
            <a:endParaRPr sz="2600"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2600" dirty="0"/>
              <a:t>	</a:t>
            </a:r>
            <a:endParaRPr sz="2600"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2600" dirty="0"/>
              <a:t>	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char </a:t>
            </a:r>
            <a:r>
              <a:rPr lang="en-US" sz="2600" dirty="0" err="1"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[length of string in number];</a:t>
            </a:r>
            <a:endParaRPr sz="2600"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	gets(</a:t>
            </a:r>
            <a:r>
              <a:rPr lang="en-US" sz="2600" dirty="0" err="1"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600" dirty="0"/>
          </a:p>
          <a:p>
            <a:pPr marL="257175" indent="-2571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	puts(</a:t>
            </a:r>
            <a:r>
              <a:rPr lang="en-US" sz="2600" dirty="0" err="1"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n-US" sz="2600" dirty="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600" dirty="0"/>
          </a:p>
          <a:p>
            <a:pPr marL="257175" indent="-142875">
              <a:spcBef>
                <a:spcPts val="360"/>
              </a:spcBef>
              <a:buClr>
                <a:schemeClr val="dk1"/>
              </a:buClr>
              <a:buSzPts val="2400"/>
              <a:buNone/>
            </a:pPr>
            <a:endParaRPr sz="2600" dirty="0"/>
          </a:p>
        </p:txBody>
      </p:sp>
    </p:spTree>
    <p:extLst>
      <p:ext uri="{BB962C8B-B14F-4D97-AF65-F5344CB8AC3E}">
        <p14:creationId xmlns:p14="http://schemas.microsoft.com/office/powerpoint/2010/main" val="377955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dirty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Reading a Character 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2241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getchar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 // Reads a single character from user input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getchar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2400" dirty="0"/>
              <a:t>waits for the user to press a key and stores it in </a:t>
            </a:r>
            <a:r>
              <a:rPr lang="en-US" sz="2400" dirty="0" err="1"/>
              <a:t>ch.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Useful for reading individual characters or key presses.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1877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90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7375" y="257175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2275" y="1524000"/>
            <a:ext cx="9144000" cy="714375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8752" y="1547540"/>
            <a:ext cx="8134350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Writing a </a:t>
            </a:r>
            <a:r>
              <a:rPr lang="en-US" sz="35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3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harater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2238375"/>
            <a:ext cx="8959362" cy="2241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char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'A’;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putchar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// Outputs a single character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putchar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IN" sz="2400" dirty="0"/>
              <a:t>prints a single character.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Simple and fast way to output characters.</a:t>
            </a:r>
            <a:endParaRPr lang="en-GB" sz="24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6087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/>
          <p:nvPr/>
        </p:nvSpPr>
        <p:spPr>
          <a:xfrm>
            <a:off x="0" y="3214688"/>
            <a:ext cx="9144000" cy="3643313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3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361950"/>
            <a:ext cx="67056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3" descr="Picture 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3638" y="4000500"/>
            <a:ext cx="4276726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3" descr="Picture 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38475" y="4946650"/>
            <a:ext cx="3067050" cy="26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3"/>
          <p:cNvSpPr/>
          <p:nvPr/>
        </p:nvSpPr>
        <p:spPr>
          <a:xfrm>
            <a:off x="0" y="6003924"/>
            <a:ext cx="9144000" cy="357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3249613" y="5997574"/>
            <a:ext cx="2644776" cy="624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www.paruluniversity.ac.in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2978</Words>
  <Application>Microsoft Office PowerPoint</Application>
  <PresentationFormat>On-screen Show (4:3)</PresentationFormat>
  <Paragraphs>605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6" baseType="lpstr">
      <vt:lpstr>Arial</vt:lpstr>
      <vt:lpstr>Calibri</vt:lpstr>
      <vt:lpstr>Consolas</vt:lpstr>
      <vt:lpstr>Courier New</vt:lpstr>
      <vt:lpstr>Google Sans</vt:lpstr>
      <vt:lpstr>Noto Sans Symbols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Prexa Desai</dc:creator>
  <cp:lastModifiedBy>Admin</cp:lastModifiedBy>
  <cp:revision>98</cp:revision>
  <cp:lastPrinted>2025-08-12T09:03:34Z</cp:lastPrinted>
  <dcterms:modified xsi:type="dcterms:W3CDTF">2025-08-12T09:04:22Z</dcterms:modified>
</cp:coreProperties>
</file>