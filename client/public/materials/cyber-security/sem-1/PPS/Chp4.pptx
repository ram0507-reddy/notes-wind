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74" r:id="rId5"/>
    <p:sldId id="277" r:id="rId6"/>
    <p:sldId id="278" r:id="rId7"/>
    <p:sldId id="281" r:id="rId8"/>
    <p:sldId id="279" r:id="rId9"/>
    <p:sldId id="280" r:id="rId10"/>
    <p:sldId id="276" r:id="rId11"/>
    <p:sldId id="282" r:id="rId12"/>
    <p:sldId id="283" r:id="rId13"/>
    <p:sldId id="284" r:id="rId14"/>
    <p:sldId id="289" r:id="rId15"/>
    <p:sldId id="285" r:id="rId16"/>
    <p:sldId id="286" r:id="rId17"/>
    <p:sldId id="287" r:id="rId18"/>
    <p:sldId id="288" r:id="rId19"/>
    <p:sldId id="291" r:id="rId20"/>
    <p:sldId id="292" r:id="rId21"/>
    <p:sldId id="293" r:id="rId22"/>
    <p:sldId id="295" r:id="rId23"/>
    <p:sldId id="296" r:id="rId24"/>
    <p:sldId id="299" r:id="rId25"/>
    <p:sldId id="297" r:id="rId26"/>
    <p:sldId id="298" r:id="rId27"/>
    <p:sldId id="300" r:id="rId28"/>
    <p:sldId id="301" r:id="rId29"/>
    <p:sldId id="303" r:id="rId30"/>
    <p:sldId id="304" r:id="rId31"/>
    <p:sldId id="305" r:id="rId32"/>
    <p:sldId id="306" r:id="rId33"/>
    <p:sldId id="307" r:id="rId34"/>
    <p:sldId id="308" r:id="rId35"/>
    <p:sldId id="302" r:id="rId36"/>
    <p:sldId id="309" r:id="rId37"/>
    <p:sldId id="310" r:id="rId38"/>
    <p:sldId id="311" r:id="rId39"/>
    <p:sldId id="312" r:id="rId40"/>
    <p:sldId id="313" r:id="rId41"/>
    <p:sldId id="314" r:id="rId42"/>
    <p:sldId id="315" r:id="rId43"/>
    <p:sldId id="316" r:id="rId44"/>
    <p:sldId id="271" r:id="rId45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226" autoAdjust="0"/>
  </p:normalViewPr>
  <p:slideViewPr>
    <p:cSldViewPr>
      <p:cViewPr varScale="1">
        <p:scale>
          <a:sx n="76" d="100"/>
          <a:sy n="76" d="100"/>
        </p:scale>
        <p:origin x="-917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D16FD0-DD2F-478A-8134-AF88AB42B0D9}" type="datetimeFigureOut">
              <a:rPr lang="en-IN" smtClean="0"/>
              <a:pPr/>
              <a:t>17-12-2025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4D28D1-5703-4F89-B45E-3A920BDDC19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856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4D28D1-5703-4F89-B45E-3A920BDDC190}" type="slidenum">
              <a:rPr lang="en-IN" smtClean="0"/>
              <a:pPr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559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4D28D1-5703-4F89-B45E-3A920BDDC190}" type="slidenum">
              <a:rPr lang="en-IN" smtClean="0"/>
              <a:pPr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087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4D28D1-5703-4F89-B45E-3A920BDDC190}" type="slidenum">
              <a:rPr lang="en-IN" smtClean="0"/>
              <a:pPr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271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46980" y="3079750"/>
            <a:ext cx="2098040" cy="559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642872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70712" y="2491587"/>
            <a:ext cx="5297170" cy="4102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642872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361176"/>
            <a:ext cx="12192000" cy="497205"/>
          </a:xfrm>
          <a:custGeom>
            <a:avLst/>
            <a:gdLst/>
            <a:ahLst/>
            <a:cxnLst/>
            <a:rect l="l" t="t" r="r" b="b"/>
            <a:pathLst>
              <a:path w="12192000" h="497204">
                <a:moveTo>
                  <a:pt x="0" y="496824"/>
                </a:moveTo>
                <a:lnTo>
                  <a:pt x="12192000" y="496824"/>
                </a:lnTo>
                <a:lnTo>
                  <a:pt x="12192000" y="0"/>
                </a:lnTo>
                <a:lnTo>
                  <a:pt x="0" y="0"/>
                </a:lnTo>
                <a:lnTo>
                  <a:pt x="0" y="496824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3214116"/>
            <a:ext cx="12192000" cy="2790825"/>
          </a:xfrm>
          <a:custGeom>
            <a:avLst/>
            <a:gdLst/>
            <a:ahLst/>
            <a:cxnLst/>
            <a:rect l="l" t="t" r="r" b="b"/>
            <a:pathLst>
              <a:path w="12192000" h="2790825">
                <a:moveTo>
                  <a:pt x="0" y="2790444"/>
                </a:moveTo>
                <a:lnTo>
                  <a:pt x="12192000" y="2790444"/>
                </a:lnTo>
                <a:lnTo>
                  <a:pt x="12192000" y="0"/>
                </a:lnTo>
                <a:lnTo>
                  <a:pt x="0" y="0"/>
                </a:lnTo>
                <a:lnTo>
                  <a:pt x="0" y="2790444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6107" y="362711"/>
            <a:ext cx="8939784" cy="285749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44595" y="4000500"/>
            <a:ext cx="5702808" cy="5715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50791" y="4946903"/>
            <a:ext cx="4090416" cy="2606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2638" y="1695069"/>
            <a:ext cx="11526723" cy="513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0712" y="2722626"/>
            <a:ext cx="11250574" cy="307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://www.paruluniversity.ac.in/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7378"/>
            <a:ext cx="12191999" cy="685799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801748" y="1722882"/>
            <a:ext cx="9042400" cy="8444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221740">
              <a:lnSpc>
                <a:spcPct val="100000"/>
              </a:lnSpc>
              <a:spcBef>
                <a:spcPts val="105"/>
              </a:spcBef>
            </a:pPr>
            <a:r>
              <a:rPr lang="en-IN" sz="5400" b="1" spc="-5" dirty="0" smtClean="0">
                <a:latin typeface="Arial"/>
                <a:cs typeface="Arial"/>
              </a:rPr>
              <a:t>Arrays</a:t>
            </a:r>
            <a:r>
              <a:rPr lang="en-IN" sz="5400" b="1" spc="-5" dirty="0">
                <a:latin typeface="Arial"/>
                <a:cs typeface="Arial"/>
              </a:rPr>
              <a:t> </a:t>
            </a:r>
            <a:endParaRPr sz="5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33731" y="2739389"/>
            <a:ext cx="6705599" cy="696024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18440" marR="5080" indent="-206375">
              <a:lnSpc>
                <a:spcPct val="100800"/>
              </a:lnSpc>
              <a:spcBef>
                <a:spcPts val="80"/>
              </a:spcBef>
            </a:pPr>
            <a:r>
              <a:rPr lang="en-US" sz="2200" b="1" spc="-5" dirty="0" smtClean="0">
                <a:latin typeface="Calibri"/>
                <a:cs typeface="Calibri"/>
              </a:rPr>
              <a:t>Dr. </a:t>
            </a:r>
            <a:r>
              <a:rPr lang="en-US" sz="2200" b="1" spc="-5" dirty="0" err="1" smtClean="0">
                <a:latin typeface="Calibri"/>
                <a:cs typeface="Calibri"/>
              </a:rPr>
              <a:t>Snehlata</a:t>
            </a:r>
            <a:r>
              <a:rPr lang="en-US" sz="2200" b="1" spc="-5" dirty="0" smtClean="0">
                <a:latin typeface="Calibri"/>
                <a:cs typeface="Calibri"/>
              </a:rPr>
              <a:t> </a:t>
            </a:r>
            <a:r>
              <a:rPr lang="en-US" sz="2200" b="1" spc="-5" dirty="0" err="1" smtClean="0">
                <a:latin typeface="Calibri"/>
                <a:cs typeface="Calibri"/>
              </a:rPr>
              <a:t>Barde</a:t>
            </a:r>
            <a:endParaRPr lang="en-US" sz="2200" b="1" spc="-5" dirty="0" smtClean="0">
              <a:latin typeface="Calibri"/>
              <a:cs typeface="Calibri"/>
            </a:endParaRPr>
          </a:p>
          <a:p>
            <a:pPr marL="218440" marR="5080" indent="-206375">
              <a:lnSpc>
                <a:spcPct val="100800"/>
              </a:lnSpc>
              <a:spcBef>
                <a:spcPts val="80"/>
              </a:spcBef>
            </a:pPr>
            <a:r>
              <a:rPr lang="en-US" sz="2200" b="1" spc="-5" dirty="0" smtClean="0">
                <a:latin typeface="Calibri"/>
                <a:cs typeface="Calibri"/>
              </a:rPr>
              <a:t>Professor, Cyber Security, PIET</a:t>
            </a:r>
            <a:endParaRPr lang="en-US" sz="2200" b="1" spc="-5" dirty="0" smtClean="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371600" y="318515"/>
            <a:ext cx="10439400" cy="6308090"/>
            <a:chOff x="1889760" y="318515"/>
            <a:chExt cx="9921240" cy="630809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7992" y="318515"/>
              <a:ext cx="3176016" cy="97993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89760" y="2692908"/>
              <a:ext cx="124967" cy="9296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77272" y="2692908"/>
              <a:ext cx="124968" cy="9296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08307" y="6423660"/>
              <a:ext cx="202692" cy="202692"/>
            </a:xfrm>
            <a:prstGeom prst="rect">
              <a:avLst/>
            </a:prstGeom>
          </p:spPr>
        </p:pic>
      </p:grpSp>
      <p:cxnSp>
        <p:nvCxnSpPr>
          <p:cNvPr id="11" name="Straight Connector 10"/>
          <p:cNvCxnSpPr/>
          <p:nvPr/>
        </p:nvCxnSpPr>
        <p:spPr>
          <a:xfrm flipV="1">
            <a:off x="1516949" y="2716148"/>
            <a:ext cx="8588853" cy="464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620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76500" y="2572511"/>
              <a:ext cx="7240524" cy="280263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715511"/>
              <a:ext cx="12192000" cy="713740"/>
            </a:xfrm>
            <a:custGeom>
              <a:avLst/>
              <a:gdLst/>
              <a:ahLst/>
              <a:cxnLst/>
              <a:rect l="l" t="t" r="r" b="b"/>
              <a:pathLst>
                <a:path w="12192000" h="713739">
                  <a:moveTo>
                    <a:pt x="12192000" y="0"/>
                  </a:moveTo>
                  <a:lnTo>
                    <a:pt x="0" y="0"/>
                  </a:lnTo>
                  <a:lnTo>
                    <a:pt x="0" y="713232"/>
                  </a:lnTo>
                  <a:lnTo>
                    <a:pt x="12192000" y="7132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563748" y="3760977"/>
            <a:ext cx="7066915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500" b="1" dirty="0" smtClean="0">
                <a:solidFill>
                  <a:srgbClr val="FFFFFF"/>
                </a:solidFill>
                <a:cs typeface="Calibri"/>
              </a:rPr>
              <a:t>Arrays</a:t>
            </a:r>
            <a:endParaRPr lang="en-IN" sz="35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spc="-5" dirty="0" smtClean="0"/>
              <a:t>CHAPTER-</a:t>
            </a:r>
            <a:r>
              <a:rPr lang="en-IN" spc="-5" dirty="0" smtClean="0"/>
              <a:t>1</a:t>
            </a:r>
            <a:endParaRPr spc="-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2786058"/>
            <a:ext cx="11554562" cy="178831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800" dirty="0" smtClean="0"/>
              <a:t>Introduction of Array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800" dirty="0"/>
              <a:t>Pointer and </a:t>
            </a:r>
            <a:r>
              <a:rPr lang="en-US" sz="2800" dirty="0" smtClean="0"/>
              <a:t>Arrays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800" dirty="0"/>
              <a:t>Array of </a:t>
            </a:r>
            <a:r>
              <a:rPr lang="en-US" sz="2800" dirty="0" smtClean="0"/>
              <a:t>Functions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2800" dirty="0" smtClean="0"/>
              <a:t>String</a:t>
            </a:r>
            <a:endParaRPr lang="en-IN" sz="2800" dirty="0" smtClean="0"/>
          </a:p>
        </p:txBody>
      </p:sp>
      <p:sp>
        <p:nvSpPr>
          <p:cNvPr id="3" name="object 3"/>
          <p:cNvSpPr/>
          <p:nvPr/>
        </p:nvSpPr>
        <p:spPr>
          <a:xfrm>
            <a:off x="127" y="1581189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32638" y="1695069"/>
            <a:ext cx="46177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 smtClean="0"/>
              <a:t>Outline</a:t>
            </a:r>
            <a:endParaRPr dirty="0"/>
          </a:p>
        </p:txBody>
      </p:sp>
      <p:grpSp>
        <p:nvGrpSpPr>
          <p:cNvPr id="5" name="object 5"/>
          <p:cNvGrpSpPr/>
          <p:nvPr/>
        </p:nvGrpSpPr>
        <p:grpSpPr>
          <a:xfrm>
            <a:off x="8752331" y="6071615"/>
            <a:ext cx="3439795" cy="347980"/>
            <a:chOff x="8752331" y="6071615"/>
            <a:chExt cx="3439795" cy="347980"/>
          </a:xfrm>
        </p:grpSpPr>
        <p:sp>
          <p:nvSpPr>
            <p:cNvPr id="6" name="object 6"/>
            <p:cNvSpPr/>
            <p:nvPr/>
          </p:nvSpPr>
          <p:spPr>
            <a:xfrm>
              <a:off x="8752332" y="6071615"/>
              <a:ext cx="3439795" cy="216535"/>
            </a:xfrm>
            <a:custGeom>
              <a:avLst/>
              <a:gdLst/>
              <a:ahLst/>
              <a:cxnLst/>
              <a:rect l="l" t="t" r="r" b="b"/>
              <a:pathLst>
                <a:path w="3439795" h="216535">
                  <a:moveTo>
                    <a:pt x="60947" y="0"/>
                  </a:moveTo>
                  <a:lnTo>
                    <a:pt x="0" y="0"/>
                  </a:lnTo>
                  <a:lnTo>
                    <a:pt x="0" y="214884"/>
                  </a:lnTo>
                  <a:lnTo>
                    <a:pt x="60947" y="214884"/>
                  </a:lnTo>
                  <a:lnTo>
                    <a:pt x="60947" y="0"/>
                  </a:lnTo>
                  <a:close/>
                </a:path>
                <a:path w="3439795" h="216535">
                  <a:moveTo>
                    <a:pt x="3439668" y="1524"/>
                  </a:moveTo>
                  <a:lnTo>
                    <a:pt x="106680" y="1524"/>
                  </a:lnTo>
                  <a:lnTo>
                    <a:pt x="106680" y="216408"/>
                  </a:lnTo>
                  <a:lnTo>
                    <a:pt x="3439668" y="216408"/>
                  </a:lnTo>
                  <a:lnTo>
                    <a:pt x="3439668" y="152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99519" y="6214871"/>
              <a:ext cx="202692" cy="204215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2590800"/>
            <a:ext cx="11554562" cy="4065857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/>
              <a:t>Suppose we need to store </a:t>
            </a:r>
            <a:r>
              <a:rPr lang="en-US" sz="2000" dirty="0" err="1">
                <a:latin typeface="Consolas" panose="020B0609020204030204" pitchFamily="49" charset="0"/>
              </a:rPr>
              <a:t>rollno</a:t>
            </a:r>
            <a:r>
              <a:rPr lang="en-US" sz="2000" dirty="0"/>
              <a:t> of the student in the integer </a:t>
            </a:r>
            <a:r>
              <a:rPr lang="en-US" sz="2000" dirty="0" smtClean="0"/>
              <a:t>variable.</a:t>
            </a:r>
          </a:p>
          <a:p>
            <a:pPr algn="just"/>
            <a:endParaRPr lang="en-US" sz="2000" dirty="0"/>
          </a:p>
          <a:p>
            <a:pPr algn="just"/>
            <a:endParaRPr lang="en-US" sz="2000" dirty="0" smtClean="0"/>
          </a:p>
          <a:p>
            <a:pPr algn="just"/>
            <a:endParaRPr lang="en-US" sz="2000" dirty="0"/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000" dirty="0"/>
              <a:t>Now we need to store </a:t>
            </a:r>
            <a:r>
              <a:rPr lang="en-IN" sz="2000" dirty="0" err="1">
                <a:latin typeface="Consolas" panose="020B0609020204030204" pitchFamily="49" charset="0"/>
              </a:rPr>
              <a:t>rollno</a:t>
            </a:r>
            <a:r>
              <a:rPr lang="en-IN" sz="2000" dirty="0"/>
              <a:t> of 100 students.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IN" sz="2000" dirty="0"/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US" sz="2000" dirty="0" smtClean="0"/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IN" sz="2000" dirty="0"/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/>
              <a:t>This is not appropriate to declare these many integer variables. </a:t>
            </a:r>
          </a:p>
          <a:p>
            <a:pPr algn="just"/>
            <a:r>
              <a:rPr lang="en-US" sz="2000" dirty="0" smtClean="0"/>
              <a:t>              e.g</a:t>
            </a:r>
            <a:r>
              <a:rPr lang="en-US" sz="2000" dirty="0"/>
              <a:t>. 100 integer variables for </a:t>
            </a:r>
            <a:r>
              <a:rPr lang="en-US" sz="2000" dirty="0" err="1">
                <a:latin typeface="Consolas" panose="020B0609020204030204" pitchFamily="49" charset="0"/>
              </a:rPr>
              <a:t>rollno</a:t>
            </a:r>
            <a:r>
              <a:rPr lang="en-US" sz="2000" dirty="0" smtClean="0"/>
              <a:t>.</a:t>
            </a:r>
          </a:p>
          <a:p>
            <a:pPr algn="just"/>
            <a:endParaRPr lang="en-US" sz="2000" dirty="0"/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/>
              <a:t>Solution to declare and store multiple variables of similar type is an array</a:t>
            </a:r>
            <a:r>
              <a:rPr lang="en-US" sz="2000" dirty="0" smtClean="0"/>
              <a:t>.</a:t>
            </a:r>
            <a:endParaRPr lang="en-US" sz="2000" dirty="0"/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/>
              <a:t>An array is a variable that can store multiple values.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642872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3292161"/>
            <a:ext cx="2133600" cy="400110"/>
          </a:xfrm>
          <a:prstGeom prst="rect">
            <a:avLst/>
          </a:prstGeom>
          <a:solidFill>
            <a:srgbClr val="373737"/>
          </a:solidFill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20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rollno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endParaRPr lang="en-US" sz="20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Rectangle: Top Corners Rounded 7">
            <a:extLst>
              <a:ext uri="{FF2B5EF4-FFF2-40B4-BE49-F238E27FC236}">
                <a16:creationId xmlns:a16="http://schemas.microsoft.com/office/drawing/2014/main" xmlns="" id="{44F07624-C23C-4B43-A144-CB0878CB992A}"/>
              </a:ext>
            </a:extLst>
          </p:cNvPr>
          <p:cNvSpPr/>
          <p:nvPr/>
        </p:nvSpPr>
        <p:spPr>
          <a:xfrm>
            <a:off x="533400" y="2962977"/>
            <a:ext cx="155448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/>
              <a:t>Declaration</a:t>
            </a:r>
          </a:p>
        </p:txBody>
      </p:sp>
      <p:sp>
        <p:nvSpPr>
          <p:cNvPr id="10" name="Rectangle: Top Corners Rounded 7">
            <a:extLst>
              <a:ext uri="{FF2B5EF4-FFF2-40B4-BE49-F238E27FC236}">
                <a16:creationId xmlns:a16="http://schemas.microsoft.com/office/drawing/2014/main" xmlns="" id="{44F07624-C23C-4B43-A144-CB0878CB992A}"/>
              </a:ext>
            </a:extLst>
          </p:cNvPr>
          <p:cNvSpPr/>
          <p:nvPr/>
        </p:nvSpPr>
        <p:spPr>
          <a:xfrm>
            <a:off x="547255" y="4137393"/>
            <a:ext cx="155448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/>
              <a:t>Declaration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7255" y="4466577"/>
            <a:ext cx="7303825" cy="400110"/>
          </a:xfrm>
          <a:prstGeom prst="rect">
            <a:avLst/>
          </a:prstGeom>
          <a:solidFill>
            <a:srgbClr val="373737"/>
          </a:solidFill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 rollno101, rollno102, rollno103, rollno104...; </a:t>
            </a:r>
            <a:endParaRPr lang="en-US" sz="20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xfrm>
            <a:off x="333375" y="1695450"/>
            <a:ext cx="7058025" cy="50482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 dirty="0" smtClean="0"/>
              <a:t>Need of Array Variable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5425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642872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xfrm>
            <a:off x="333375" y="1695450"/>
            <a:ext cx="7058025" cy="50482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 dirty="0"/>
              <a:t>Definition: Array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2514600"/>
            <a:ext cx="115824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An array is a fixed size sequential collection of elements of same data type grouped under single variable name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/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124200"/>
            <a:ext cx="9753600" cy="327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556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2590800"/>
            <a:ext cx="11554562" cy="2957861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An array is defined as the collection of similar type of data items stored at contiguous memory locations. Arrays are the derived data type in C programming language which can store the primitive type of data such as int, char, double, float, etc. </a:t>
            </a:r>
            <a:endParaRPr lang="en-US" sz="2400" dirty="0" smtClean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smtClean="0"/>
              <a:t>It </a:t>
            </a:r>
            <a:r>
              <a:rPr lang="en-US" sz="2400" dirty="0"/>
              <a:t>also has the capability to store the collection of derived data types, such as pointers, structure, etc. </a:t>
            </a:r>
            <a:endParaRPr lang="en-US" sz="2400" dirty="0" smtClean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smtClean="0"/>
              <a:t>The </a:t>
            </a:r>
            <a:r>
              <a:rPr lang="en-US" sz="2400" dirty="0"/>
              <a:t>array is the simplest data structure where each data element can be randomly accessed by using its index number</a:t>
            </a:r>
            <a:r>
              <a:rPr lang="en-US" sz="2400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/>
          </a:p>
        </p:txBody>
      </p:sp>
      <p:sp>
        <p:nvSpPr>
          <p:cNvPr id="3" name="object 3"/>
          <p:cNvSpPr/>
          <p:nvPr/>
        </p:nvSpPr>
        <p:spPr>
          <a:xfrm>
            <a:off x="0" y="1642872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xfrm>
            <a:off x="333375" y="1695450"/>
            <a:ext cx="7058025" cy="50482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 dirty="0"/>
              <a:t>Definition: Array</a:t>
            </a:r>
          </a:p>
        </p:txBody>
      </p:sp>
    </p:spTree>
    <p:extLst>
      <p:ext uri="{BB962C8B-B14F-4D97-AF65-F5344CB8AC3E}">
        <p14:creationId xmlns:p14="http://schemas.microsoft.com/office/powerpoint/2010/main" val="4030951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2590800"/>
            <a:ext cx="11554562" cy="2650084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2400" b="1" dirty="0" smtClean="0"/>
              <a:t>Code </a:t>
            </a:r>
            <a:r>
              <a:rPr lang="en-US" sz="2400" b="1" dirty="0"/>
              <a:t>Optimization</a:t>
            </a:r>
            <a:r>
              <a:rPr lang="en-US" sz="2400" dirty="0"/>
              <a:t>: Less code to the access the data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b="1" dirty="0"/>
              <a:t>2) Ease of traversing</a:t>
            </a:r>
            <a:r>
              <a:rPr lang="en-US" sz="2400" dirty="0"/>
              <a:t>: By using the for loop, we can retrieve the elements of an array easily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b="1" dirty="0"/>
              <a:t>3) Ease of sorting</a:t>
            </a:r>
            <a:r>
              <a:rPr lang="en-US" sz="2400" dirty="0"/>
              <a:t>: To sort the elements of the array, we need a few lines of code only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b="1" dirty="0"/>
              <a:t>4) Random Access</a:t>
            </a:r>
            <a:r>
              <a:rPr lang="en-US" sz="2400" dirty="0"/>
              <a:t>: We can access any element randomly using the array</a:t>
            </a:r>
            <a:r>
              <a:rPr lang="en-US" sz="2000" dirty="0" smtClean="0"/>
              <a:t>.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642872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xfrm>
            <a:off x="333375" y="1695450"/>
            <a:ext cx="7058025" cy="50482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 dirty="0"/>
              <a:t>Advantage of C Array</a:t>
            </a:r>
          </a:p>
        </p:txBody>
      </p:sp>
    </p:spTree>
    <p:extLst>
      <p:ext uri="{BB962C8B-B14F-4D97-AF65-F5344CB8AC3E}">
        <p14:creationId xmlns:p14="http://schemas.microsoft.com/office/powerpoint/2010/main" val="4082547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2590800"/>
            <a:ext cx="11554562" cy="1480534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endParaRPr lang="en-US" sz="2000" dirty="0" smtClean="0"/>
          </a:p>
          <a:p>
            <a:r>
              <a:rPr lang="en-US" sz="2400" b="1" dirty="0" smtClean="0"/>
              <a:t>Fixed </a:t>
            </a:r>
            <a:r>
              <a:rPr lang="en-US" sz="2400" b="1" dirty="0"/>
              <a:t>Size</a:t>
            </a:r>
            <a:r>
              <a:rPr lang="en-US" sz="2400" dirty="0"/>
              <a:t>: </a:t>
            </a:r>
            <a:r>
              <a:rPr lang="en-US" sz="2400" dirty="0" smtClean="0"/>
              <a:t>We </a:t>
            </a:r>
            <a:r>
              <a:rPr lang="en-US" sz="2400" dirty="0"/>
              <a:t>define </a:t>
            </a:r>
            <a:r>
              <a:rPr lang="en-US" sz="2400" dirty="0" smtClean="0"/>
              <a:t>the size at </a:t>
            </a:r>
            <a:r>
              <a:rPr lang="en-US" sz="2400" dirty="0"/>
              <a:t>the time of declaration of the array, we can't exceed the limit. So, it doesn't grow the size dynamically like </a:t>
            </a:r>
            <a:r>
              <a:rPr lang="en-US" sz="2400" dirty="0" err="1"/>
              <a:t>LinkedList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3" name="object 3"/>
          <p:cNvSpPr/>
          <p:nvPr/>
        </p:nvSpPr>
        <p:spPr>
          <a:xfrm>
            <a:off x="0" y="1642872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xfrm>
            <a:off x="333375" y="1695450"/>
            <a:ext cx="7058025" cy="50482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 dirty="0"/>
              <a:t>Disadvantage of C Array</a:t>
            </a:r>
          </a:p>
        </p:txBody>
      </p:sp>
    </p:spTree>
    <p:extLst>
      <p:ext uri="{BB962C8B-B14F-4D97-AF65-F5344CB8AC3E}">
        <p14:creationId xmlns:p14="http://schemas.microsoft.com/office/powerpoint/2010/main" val="2922863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2590800"/>
            <a:ext cx="11554562" cy="372538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endParaRPr lang="en-US" sz="2000" dirty="0"/>
          </a:p>
        </p:txBody>
      </p:sp>
      <p:sp>
        <p:nvSpPr>
          <p:cNvPr id="3" name="object 3"/>
          <p:cNvSpPr/>
          <p:nvPr/>
        </p:nvSpPr>
        <p:spPr>
          <a:xfrm>
            <a:off x="0" y="1642872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xfrm>
            <a:off x="333375" y="1695450"/>
            <a:ext cx="7058025" cy="50482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 dirty="0"/>
              <a:t>Declaring an array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9B5BDCB4-4EEE-45B4-8D35-78F9504F3588}"/>
              </a:ext>
            </a:extLst>
          </p:cNvPr>
          <p:cNvSpPr txBox="1">
            <a:spLocks/>
          </p:cNvSpPr>
          <p:nvPr/>
        </p:nvSpPr>
        <p:spPr>
          <a:xfrm>
            <a:off x="7391400" y="2590800"/>
            <a:ext cx="4639841" cy="42473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kern="0" dirty="0" smtClean="0"/>
              <a:t>By default array index starts with </a:t>
            </a:r>
            <a:r>
              <a:rPr lang="en-US" sz="2400" kern="0" dirty="0" smtClean="0">
                <a:solidFill>
                  <a:srgbClr val="F92672"/>
                </a:solidFill>
                <a:cs typeface="Consolas" panose="020B0609020204030204" pitchFamily="49" charset="0"/>
              </a:rPr>
              <a:t>0</a:t>
            </a:r>
            <a:r>
              <a:rPr lang="en-US" sz="2400" kern="0" dirty="0" smtClean="0">
                <a:cs typeface="Consolas" panose="020B0609020204030204" pitchFamily="49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kern="0" dirty="0" smtClean="0"/>
              <a:t>If we declare an array of size </a:t>
            </a:r>
            <a:r>
              <a:rPr lang="en-US" sz="2400" kern="0" dirty="0" smtClean="0">
                <a:cs typeface="Consolas" panose="020B0609020204030204" pitchFamily="49" charset="0"/>
              </a:rPr>
              <a:t>5</a:t>
            </a:r>
            <a:r>
              <a:rPr lang="en-US" sz="2400" kern="0" dirty="0" smtClean="0"/>
              <a:t> then its index ranges from </a:t>
            </a:r>
            <a:r>
              <a:rPr lang="en-US" sz="2400" kern="0" dirty="0" smtClean="0">
                <a:solidFill>
                  <a:srgbClr val="F92672"/>
                </a:solidFill>
                <a:cs typeface="Consolas" panose="020B0609020204030204" pitchFamily="49" charset="0"/>
              </a:rPr>
              <a:t>0</a:t>
            </a:r>
            <a:r>
              <a:rPr lang="en-US" sz="2400" kern="0" dirty="0" smtClean="0">
                <a:solidFill>
                  <a:srgbClr val="F92672"/>
                </a:solidFill>
              </a:rPr>
              <a:t> to </a:t>
            </a:r>
            <a:r>
              <a:rPr lang="en-US" sz="2400" kern="0" dirty="0" smtClean="0">
                <a:solidFill>
                  <a:srgbClr val="F92672"/>
                </a:solidFill>
                <a:cs typeface="Consolas" panose="020B0609020204030204" pitchFamily="49" charset="0"/>
              </a:rPr>
              <a:t>4</a:t>
            </a:r>
            <a:r>
              <a:rPr lang="en-US" sz="2400" kern="0" dirty="0" smtClean="0"/>
              <a:t>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kern="0" dirty="0" smtClean="0">
                <a:cs typeface="Consolas" panose="020B0609020204030204" pitchFamily="49" charset="0"/>
              </a:rPr>
              <a:t>First element will be store at </a:t>
            </a:r>
            <a:r>
              <a:rPr lang="en-US" sz="2400" kern="0" dirty="0" smtClean="0">
                <a:solidFill>
                  <a:srgbClr val="F92672"/>
                </a:solidFill>
                <a:cs typeface="Consolas" panose="020B0609020204030204" pitchFamily="49" charset="0"/>
              </a:rPr>
              <a:t>mark[0]</a:t>
            </a:r>
            <a:r>
              <a:rPr lang="en-US" sz="2400" kern="0" dirty="0" smtClean="0">
                <a:cs typeface="Consolas" panose="020B0609020204030204" pitchFamily="49" charset="0"/>
              </a:rPr>
              <a:t> and last element will be stored at </a:t>
            </a:r>
            <a:r>
              <a:rPr lang="en-US" sz="2400" kern="0" dirty="0" smtClean="0">
                <a:solidFill>
                  <a:srgbClr val="F92672"/>
                </a:solidFill>
                <a:cs typeface="Consolas" panose="020B0609020204030204" pitchFamily="49" charset="0"/>
              </a:rPr>
              <a:t>mark[4]</a:t>
            </a:r>
            <a:r>
              <a:rPr lang="en-US" sz="2400" kern="0" dirty="0" smtClean="0">
                <a:cs typeface="Consolas" panose="020B0609020204030204" pitchFamily="49" charset="0"/>
              </a:rPr>
              <a:t> not </a:t>
            </a:r>
            <a:r>
              <a:rPr lang="en-US" sz="2400" kern="0" dirty="0" smtClean="0">
                <a:solidFill>
                  <a:srgbClr val="F92672"/>
                </a:solidFill>
                <a:cs typeface="Consolas" panose="020B0609020204030204" pitchFamily="49" charset="0"/>
              </a:rPr>
              <a:t>mark[5]</a:t>
            </a:r>
            <a:r>
              <a:rPr lang="en-US" sz="2400" kern="0" dirty="0" smtClean="0">
                <a:cs typeface="Consolas" panose="020B0609020204030204" pitchFamily="49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kern="0" dirty="0" smtClean="0">
                <a:cs typeface="Consolas" panose="020B0609020204030204" pitchFamily="49" charset="0"/>
              </a:rPr>
              <a:t>Like integer and float array we can declare array of type </a:t>
            </a:r>
            <a:r>
              <a:rPr lang="en-US" sz="2400" kern="0" dirty="0" smtClean="0">
                <a:solidFill>
                  <a:srgbClr val="F92672"/>
                </a:solidFill>
                <a:cs typeface="Consolas" panose="020B0609020204030204" pitchFamily="49" charset="0"/>
              </a:rPr>
              <a:t>char</a:t>
            </a:r>
            <a:r>
              <a:rPr lang="en-US" sz="2400" kern="0" dirty="0" smtClean="0">
                <a:cs typeface="Consolas" panose="020B0609020204030204" pitchFamily="49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US" sz="2400" kern="0" dirty="0" smtClean="0">
              <a:cs typeface="Consolas" panose="020B0609020204030204" pitchFamily="49" charset="0"/>
            </a:endParaRPr>
          </a:p>
          <a:p>
            <a:pPr algn="just"/>
            <a:endParaRPr lang="en-US" kern="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/>
            <a:endParaRPr lang="en-US" kern="0" dirty="0"/>
          </a:p>
        </p:txBody>
      </p:sp>
      <p:sp>
        <p:nvSpPr>
          <p:cNvPr id="6" name="Rectangle: Top Corners Rounded 7">
            <a:extLst>
              <a:ext uri="{FF2B5EF4-FFF2-40B4-BE49-F238E27FC236}">
                <a16:creationId xmlns:a16="http://schemas.microsoft.com/office/drawing/2014/main" xmlns="" id="{44F07624-C23C-4B43-A144-CB0878CB992A}"/>
              </a:ext>
            </a:extLst>
          </p:cNvPr>
          <p:cNvSpPr/>
          <p:nvPr/>
        </p:nvSpPr>
        <p:spPr>
          <a:xfrm>
            <a:off x="354157" y="2426208"/>
            <a:ext cx="1386136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/>
              <a:t>Syntax</a:t>
            </a:r>
          </a:p>
        </p:txBody>
      </p:sp>
      <p:sp>
        <p:nvSpPr>
          <p:cNvPr id="7" name="Rectangle 6"/>
          <p:cNvSpPr/>
          <p:nvPr/>
        </p:nvSpPr>
        <p:spPr>
          <a:xfrm>
            <a:off x="354157" y="2755392"/>
            <a:ext cx="4556997" cy="400110"/>
          </a:xfrm>
          <a:prstGeom prst="rect">
            <a:avLst/>
          </a:prstGeom>
          <a:solidFill>
            <a:srgbClr val="373737"/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569CD6"/>
                </a:solidFill>
                <a:latin typeface="Consolas" panose="020B0609020204030204" pitchFamily="49" charset="0"/>
              </a:rPr>
              <a:t>data-type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 variable-name[</a:t>
            </a:r>
            <a:r>
              <a:rPr lang="en-US" sz="2000" b="1" dirty="0">
                <a:solidFill>
                  <a:srgbClr val="B5CEA8"/>
                </a:solidFill>
                <a:latin typeface="Consolas" panose="020B0609020204030204" pitchFamily="49" charset="0"/>
              </a:rPr>
              <a:t>size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xmlns="" id="{44F07624-C23C-4B43-A144-CB0878CB992A}"/>
              </a:ext>
            </a:extLst>
          </p:cNvPr>
          <p:cNvSpPr/>
          <p:nvPr/>
        </p:nvSpPr>
        <p:spPr>
          <a:xfrm>
            <a:off x="388793" y="3432667"/>
            <a:ext cx="174485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/>
              <a:t>Integer Array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793" y="3772508"/>
            <a:ext cx="2132205" cy="400110"/>
          </a:xfrm>
          <a:prstGeom prst="rect">
            <a:avLst/>
          </a:prstGeom>
          <a:solidFill>
            <a:srgbClr val="373737"/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 mark[</a:t>
            </a:r>
            <a:r>
              <a:rPr lang="en-US" sz="2000" b="1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  <a:endParaRPr lang="en-US" sz="20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967122"/>
              </p:ext>
            </p:extLst>
          </p:nvPr>
        </p:nvGraphicFramePr>
        <p:xfrm>
          <a:off x="3048000" y="3304651"/>
          <a:ext cx="4114800" cy="914400"/>
        </p:xfrm>
        <a:graphic>
          <a:graphicData uri="http://schemas.openxmlformats.org/drawingml/2006/table">
            <a:tbl>
              <a:tblPr firstRow="1" bandRow="1"/>
              <a:tblGrid>
                <a:gridCol w="8229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4210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[0]</a:t>
                      </a:r>
                      <a:endParaRPr lang="en-US" sz="11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[1]</a:t>
                      </a:r>
                      <a:endParaRPr lang="en-US" sz="11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[2]</a:t>
                      </a:r>
                      <a:endParaRPr lang="en-US" sz="11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[3]</a:t>
                      </a:r>
                      <a:endParaRPr lang="en-US" sz="11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[4]</a:t>
                      </a:r>
                      <a:endParaRPr lang="en-US" sz="11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pSp>
        <p:nvGrpSpPr>
          <p:cNvPr id="11" name="Group 10"/>
          <p:cNvGrpSpPr/>
          <p:nvPr/>
        </p:nvGrpSpPr>
        <p:grpSpPr>
          <a:xfrm>
            <a:off x="3638867" y="3871158"/>
            <a:ext cx="2933065" cy="763270"/>
            <a:chOff x="1253345" y="870256"/>
            <a:chExt cx="2933584" cy="763624"/>
          </a:xfrm>
          <a:solidFill>
            <a:schemeClr val="accent2">
              <a:lumMod val="75000"/>
            </a:schemeClr>
          </a:solidFill>
        </p:grpSpPr>
        <p:cxnSp>
          <p:nvCxnSpPr>
            <p:cNvPr id="13" name="Straight Connector 12"/>
            <p:cNvCxnSpPr>
              <a:stCxn id="18" idx="1"/>
            </p:cNvCxnSpPr>
            <p:nvPr/>
          </p:nvCxnSpPr>
          <p:spPr>
            <a:xfrm flipH="1" flipV="1">
              <a:off x="1253345" y="870256"/>
              <a:ext cx="774640" cy="535024"/>
            </a:xfrm>
            <a:prstGeom prst="line">
              <a:avLst/>
            </a:prstGeom>
            <a:grpFill/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 flipV="1">
              <a:off x="1945276" y="870256"/>
              <a:ext cx="379504" cy="321355"/>
            </a:xfrm>
            <a:prstGeom prst="line">
              <a:avLst/>
            </a:prstGeom>
            <a:grpFill/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18" idx="0"/>
            </p:cNvCxnSpPr>
            <p:nvPr/>
          </p:nvCxnSpPr>
          <p:spPr>
            <a:xfrm flipV="1">
              <a:off x="2713785" y="870256"/>
              <a:ext cx="0" cy="306424"/>
            </a:xfrm>
            <a:prstGeom prst="line">
              <a:avLst/>
            </a:prstGeom>
            <a:grpFill/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V="1">
              <a:off x="3087930" y="877582"/>
              <a:ext cx="394364" cy="314029"/>
            </a:xfrm>
            <a:prstGeom prst="line">
              <a:avLst/>
            </a:prstGeom>
            <a:grpFill/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8" idx="3"/>
            </p:cNvCxnSpPr>
            <p:nvPr/>
          </p:nvCxnSpPr>
          <p:spPr>
            <a:xfrm flipV="1">
              <a:off x="3399585" y="870256"/>
              <a:ext cx="787344" cy="535024"/>
            </a:xfrm>
            <a:prstGeom prst="line">
              <a:avLst/>
            </a:prstGeom>
            <a:grpFill/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2027985" y="1176680"/>
              <a:ext cx="13716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2400" kern="1200" dirty="0">
                  <a:solidFill>
                    <a:schemeClr val="accent3">
                      <a:lumMod val="20000"/>
                      <a:lumOff val="80000"/>
                    </a:schemeClr>
                  </a:solidFill>
                  <a:effectLst/>
                  <a:ea typeface="Times New Roman" panose="02020603050405020304" pitchFamily="18" charset="0"/>
                  <a:cs typeface="Shruti" panose="020B0502040204020203" pitchFamily="34" charset="0"/>
                </a:rPr>
                <a:t>integer</a:t>
              </a:r>
              <a:endParaRPr lang="en-US" sz="1200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26" name="Rectangle: Top Corners Rounded 7">
            <a:extLst>
              <a:ext uri="{FF2B5EF4-FFF2-40B4-BE49-F238E27FC236}">
                <a16:creationId xmlns:a16="http://schemas.microsoft.com/office/drawing/2014/main" xmlns="" id="{44F07624-C23C-4B43-A144-CB0878CB992A}"/>
              </a:ext>
            </a:extLst>
          </p:cNvPr>
          <p:cNvSpPr/>
          <p:nvPr/>
        </p:nvSpPr>
        <p:spPr>
          <a:xfrm>
            <a:off x="278823" y="5095518"/>
            <a:ext cx="174485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/>
              <a:t>Float Array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8823" y="5424702"/>
            <a:ext cx="2132205" cy="400110"/>
          </a:xfrm>
          <a:prstGeom prst="rect">
            <a:avLst/>
          </a:prstGeom>
          <a:solidFill>
            <a:srgbClr val="373737"/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569CD6"/>
                </a:solidFill>
                <a:latin typeface="Consolas" panose="020B0609020204030204" pitchFamily="49" charset="0"/>
              </a:rPr>
              <a:t>float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20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avg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2000" b="1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  <a:endParaRPr lang="en-US" sz="20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158231"/>
              </p:ext>
            </p:extLst>
          </p:nvPr>
        </p:nvGraphicFramePr>
        <p:xfrm>
          <a:off x="3041648" y="4940710"/>
          <a:ext cx="4114800" cy="914400"/>
        </p:xfrm>
        <a:graphic>
          <a:graphicData uri="http://schemas.openxmlformats.org/drawingml/2006/table">
            <a:tbl>
              <a:tblPr firstRow="1" bandRow="1"/>
              <a:tblGrid>
                <a:gridCol w="8229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4210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[0]</a:t>
                      </a:r>
                      <a:endParaRPr lang="en-US" sz="11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[1]</a:t>
                      </a:r>
                      <a:endParaRPr lang="en-US" sz="11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[2]</a:t>
                      </a:r>
                      <a:endParaRPr lang="en-US" sz="11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[3]</a:t>
                      </a:r>
                      <a:endParaRPr lang="en-US" sz="11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[4]</a:t>
                      </a:r>
                      <a:endParaRPr lang="en-US" sz="11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grpSp>
        <p:nvGrpSpPr>
          <p:cNvPr id="30" name="Group 29"/>
          <p:cNvGrpSpPr/>
          <p:nvPr/>
        </p:nvGrpSpPr>
        <p:grpSpPr>
          <a:xfrm>
            <a:off x="3654998" y="5533152"/>
            <a:ext cx="2933065" cy="763270"/>
            <a:chOff x="1253345" y="870256"/>
            <a:chExt cx="2933584" cy="763624"/>
          </a:xfrm>
          <a:solidFill>
            <a:schemeClr val="accent2">
              <a:lumMod val="75000"/>
            </a:schemeClr>
          </a:solidFill>
        </p:grpSpPr>
        <p:cxnSp>
          <p:nvCxnSpPr>
            <p:cNvPr id="31" name="Straight Connector 30"/>
            <p:cNvCxnSpPr>
              <a:stCxn id="36" idx="1"/>
            </p:cNvCxnSpPr>
            <p:nvPr/>
          </p:nvCxnSpPr>
          <p:spPr>
            <a:xfrm flipH="1" flipV="1">
              <a:off x="1253345" y="870256"/>
              <a:ext cx="774640" cy="535024"/>
            </a:xfrm>
            <a:prstGeom prst="line">
              <a:avLst/>
            </a:prstGeom>
            <a:grpFill/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H="1" flipV="1">
              <a:off x="1945276" y="870256"/>
              <a:ext cx="379504" cy="321355"/>
            </a:xfrm>
            <a:prstGeom prst="line">
              <a:avLst/>
            </a:prstGeom>
            <a:grpFill/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36" idx="0"/>
            </p:cNvCxnSpPr>
            <p:nvPr/>
          </p:nvCxnSpPr>
          <p:spPr>
            <a:xfrm flipV="1">
              <a:off x="2713785" y="870256"/>
              <a:ext cx="0" cy="306424"/>
            </a:xfrm>
            <a:prstGeom prst="line">
              <a:avLst/>
            </a:prstGeom>
            <a:grpFill/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V="1">
              <a:off x="3087930" y="877582"/>
              <a:ext cx="394364" cy="314029"/>
            </a:xfrm>
            <a:prstGeom prst="line">
              <a:avLst/>
            </a:prstGeom>
            <a:grpFill/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>
              <a:stCxn id="36" idx="3"/>
            </p:cNvCxnSpPr>
            <p:nvPr/>
          </p:nvCxnSpPr>
          <p:spPr>
            <a:xfrm flipV="1">
              <a:off x="3399585" y="870256"/>
              <a:ext cx="787344" cy="535024"/>
            </a:xfrm>
            <a:prstGeom prst="line">
              <a:avLst/>
            </a:prstGeom>
            <a:grpFill/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/>
            <p:cNvSpPr/>
            <p:nvPr/>
          </p:nvSpPr>
          <p:spPr>
            <a:xfrm>
              <a:off x="2027985" y="1176680"/>
              <a:ext cx="1371600" cy="457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2400" dirty="0" smtClean="0">
                  <a:solidFill>
                    <a:schemeClr val="accent3">
                      <a:lumMod val="20000"/>
                      <a:lumOff val="80000"/>
                    </a:schemeClr>
                  </a:solidFill>
                  <a:ea typeface="Times New Roman" panose="02020603050405020304" pitchFamily="18" charset="0"/>
                </a:rPr>
                <a:t>float</a:t>
              </a:r>
              <a:endParaRPr lang="en-US" sz="1200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3705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26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642872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32638" y="1695069"/>
            <a:ext cx="7058762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Initialing and Accessing an Array</a:t>
            </a:r>
            <a:endParaRPr lang="en-IN" dirty="0"/>
          </a:p>
        </p:txBody>
      </p:sp>
      <p:grpSp>
        <p:nvGrpSpPr>
          <p:cNvPr id="5" name="object 5"/>
          <p:cNvGrpSpPr/>
          <p:nvPr/>
        </p:nvGrpSpPr>
        <p:grpSpPr>
          <a:xfrm>
            <a:off x="8752331" y="6071615"/>
            <a:ext cx="3439795" cy="347980"/>
            <a:chOff x="8752331" y="6071615"/>
            <a:chExt cx="3439795" cy="347980"/>
          </a:xfrm>
        </p:grpSpPr>
        <p:sp>
          <p:nvSpPr>
            <p:cNvPr id="6" name="object 6"/>
            <p:cNvSpPr/>
            <p:nvPr/>
          </p:nvSpPr>
          <p:spPr>
            <a:xfrm>
              <a:off x="8752332" y="6071615"/>
              <a:ext cx="3439795" cy="216535"/>
            </a:xfrm>
            <a:custGeom>
              <a:avLst/>
              <a:gdLst/>
              <a:ahLst/>
              <a:cxnLst/>
              <a:rect l="l" t="t" r="r" b="b"/>
              <a:pathLst>
                <a:path w="3439795" h="216535">
                  <a:moveTo>
                    <a:pt x="60947" y="0"/>
                  </a:moveTo>
                  <a:lnTo>
                    <a:pt x="0" y="0"/>
                  </a:lnTo>
                  <a:lnTo>
                    <a:pt x="0" y="214884"/>
                  </a:lnTo>
                  <a:lnTo>
                    <a:pt x="60947" y="214884"/>
                  </a:lnTo>
                  <a:lnTo>
                    <a:pt x="60947" y="0"/>
                  </a:lnTo>
                  <a:close/>
                </a:path>
                <a:path w="3439795" h="216535">
                  <a:moveTo>
                    <a:pt x="3439668" y="1524"/>
                  </a:moveTo>
                  <a:lnTo>
                    <a:pt x="106680" y="1524"/>
                  </a:lnTo>
                  <a:lnTo>
                    <a:pt x="106680" y="216408"/>
                  </a:lnTo>
                  <a:lnTo>
                    <a:pt x="3439668" y="216408"/>
                  </a:lnTo>
                  <a:lnTo>
                    <a:pt x="3439668" y="152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99519" y="6214871"/>
              <a:ext cx="202692" cy="204215"/>
            </a:xfrm>
            <a:prstGeom prst="rect">
              <a:avLst/>
            </a:prstGeom>
          </p:spPr>
        </p:pic>
      </p:grp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xmlns="" id="{44F07624-C23C-4B43-A144-CB0878CB992A}"/>
              </a:ext>
            </a:extLst>
          </p:cNvPr>
          <p:cNvSpPr/>
          <p:nvPr/>
        </p:nvSpPr>
        <p:spPr>
          <a:xfrm>
            <a:off x="120232" y="2404382"/>
            <a:ext cx="7271168" cy="365760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just"/>
            <a:r>
              <a:rPr lang="en-IN" sz="2000" dirty="0">
                <a:solidFill>
                  <a:schemeClr val="bg1"/>
                </a:solidFill>
              </a:rPr>
              <a:t>Declaring, initializing and accessing single integer variable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79" y="2770142"/>
            <a:ext cx="11422255" cy="707886"/>
          </a:xfrm>
          <a:prstGeom prst="rect">
            <a:avLst/>
          </a:prstGeom>
          <a:solidFill>
            <a:srgbClr val="373737"/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 mark=</a:t>
            </a:r>
            <a:r>
              <a:rPr lang="en-US" sz="2000" b="1" dirty="0">
                <a:solidFill>
                  <a:srgbClr val="B5CEA8"/>
                </a:solidFill>
                <a:latin typeface="Consolas" panose="020B0609020204030204" pitchFamily="49" charset="0"/>
              </a:rPr>
              <a:t>90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;     </a:t>
            </a:r>
            <a:r>
              <a:rPr lang="en-US" sz="2000" b="1" dirty="0">
                <a:solidFill>
                  <a:srgbClr val="6A9955"/>
                </a:solidFill>
                <a:latin typeface="Consolas" panose="020B0609020204030204" pitchFamily="49" charset="0"/>
              </a:rPr>
              <a:t>//variable mark is initialized with value 90</a:t>
            </a:r>
            <a:endParaRPr lang="en-US" sz="20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0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CE9178"/>
                </a:solidFill>
                <a:latin typeface="Consolas" panose="020B0609020204030204" pitchFamily="49" charset="0"/>
              </a:rPr>
              <a:t>"%</a:t>
            </a:r>
            <a:r>
              <a:rPr lang="en-US" sz="20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d"</a:t>
            </a:r>
            <a:r>
              <a:rPr lang="en-US" sz="20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,mark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); </a:t>
            </a:r>
            <a:r>
              <a:rPr lang="en-US" sz="2000" b="1" dirty="0">
                <a:solidFill>
                  <a:srgbClr val="6A9955"/>
                </a:solidFill>
                <a:latin typeface="Consolas" panose="020B0609020204030204" pitchFamily="49" charset="0"/>
              </a:rPr>
              <a:t>//mark value printed</a:t>
            </a:r>
            <a:endParaRPr lang="en-US" sz="20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Rectangle: Top Corners Rounded 7">
            <a:extLst>
              <a:ext uri="{FF2B5EF4-FFF2-40B4-BE49-F238E27FC236}">
                <a16:creationId xmlns:a16="http://schemas.microsoft.com/office/drawing/2014/main" xmlns="" id="{44F07624-C23C-4B43-A144-CB0878CB992A}"/>
              </a:ext>
            </a:extLst>
          </p:cNvPr>
          <p:cNvSpPr/>
          <p:nvPr/>
        </p:nvSpPr>
        <p:spPr>
          <a:xfrm>
            <a:off x="120232" y="3554784"/>
            <a:ext cx="7271168" cy="365760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just"/>
            <a:r>
              <a:rPr lang="en-IN" sz="2000" dirty="0">
                <a:solidFill>
                  <a:schemeClr val="bg1"/>
                </a:solidFill>
              </a:rPr>
              <a:t>Declaring, initializing and accessing integer array variable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780" y="3910218"/>
            <a:ext cx="11422255" cy="1938992"/>
          </a:xfrm>
          <a:prstGeom prst="rect">
            <a:avLst/>
          </a:prstGeom>
          <a:solidFill>
            <a:srgbClr val="373737"/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 mark[</a:t>
            </a:r>
            <a:r>
              <a:rPr lang="en-US" sz="2000" b="1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]={</a:t>
            </a:r>
            <a:r>
              <a:rPr lang="en-US" sz="2000" b="1" dirty="0">
                <a:solidFill>
                  <a:srgbClr val="B5CEA8"/>
                </a:solidFill>
                <a:latin typeface="Consolas" panose="020B0609020204030204" pitchFamily="49" charset="0"/>
              </a:rPr>
              <a:t>85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2000" b="1" dirty="0">
                <a:solidFill>
                  <a:srgbClr val="B5CEA8"/>
                </a:solidFill>
                <a:latin typeface="Consolas" panose="020B0609020204030204" pitchFamily="49" charset="0"/>
              </a:rPr>
              <a:t>75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2000" b="1" dirty="0">
                <a:solidFill>
                  <a:srgbClr val="B5CEA8"/>
                </a:solidFill>
                <a:latin typeface="Consolas" panose="020B0609020204030204" pitchFamily="49" charset="0"/>
              </a:rPr>
              <a:t>76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2000" b="1" dirty="0">
                <a:solidFill>
                  <a:srgbClr val="B5CEA8"/>
                </a:solidFill>
                <a:latin typeface="Consolas" panose="020B0609020204030204" pitchFamily="49" charset="0"/>
              </a:rPr>
              <a:t>55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2000" b="1" dirty="0">
                <a:solidFill>
                  <a:srgbClr val="B5CEA8"/>
                </a:solidFill>
                <a:latin typeface="Consolas" panose="020B0609020204030204" pitchFamily="49" charset="0"/>
              </a:rPr>
              <a:t>45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}; </a:t>
            </a:r>
            <a:r>
              <a:rPr lang="en-US" sz="2000" b="1" dirty="0">
                <a:solidFill>
                  <a:srgbClr val="6A9955"/>
                </a:solidFill>
                <a:latin typeface="Consolas" panose="020B0609020204030204" pitchFamily="49" charset="0"/>
              </a:rPr>
              <a:t>//mark is initialized with 5 values</a:t>
            </a:r>
            <a:endParaRPr lang="en-US" sz="20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0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CE9178"/>
                </a:solidFill>
                <a:latin typeface="Consolas" panose="020B0609020204030204" pitchFamily="49" charset="0"/>
              </a:rPr>
              <a:t>"%</a:t>
            </a:r>
            <a:r>
              <a:rPr lang="en-US" sz="20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d"</a:t>
            </a:r>
            <a:r>
              <a:rPr lang="en-US" sz="20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,mark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2000" b="1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]); </a:t>
            </a:r>
            <a:r>
              <a:rPr lang="en-US" sz="2000" b="1" dirty="0">
                <a:solidFill>
                  <a:srgbClr val="6A9955"/>
                </a:solidFill>
                <a:latin typeface="Consolas" panose="020B0609020204030204" pitchFamily="49" charset="0"/>
              </a:rPr>
              <a:t>//prints 85</a:t>
            </a:r>
            <a:endParaRPr lang="en-US" sz="20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0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CE9178"/>
                </a:solidFill>
                <a:latin typeface="Consolas" panose="020B0609020204030204" pitchFamily="49" charset="0"/>
              </a:rPr>
              <a:t>"%</a:t>
            </a:r>
            <a:r>
              <a:rPr lang="en-US" sz="20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d"</a:t>
            </a:r>
            <a:r>
              <a:rPr lang="en-US" sz="20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,mark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2000" b="1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]); </a:t>
            </a:r>
            <a:r>
              <a:rPr lang="en-US" sz="2000" b="1" dirty="0">
                <a:solidFill>
                  <a:srgbClr val="6A9955"/>
                </a:solidFill>
                <a:latin typeface="Consolas" panose="020B0609020204030204" pitchFamily="49" charset="0"/>
              </a:rPr>
              <a:t>//prints 75</a:t>
            </a:r>
            <a:endParaRPr lang="en-US" sz="20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0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CE9178"/>
                </a:solidFill>
                <a:latin typeface="Consolas" panose="020B0609020204030204" pitchFamily="49" charset="0"/>
              </a:rPr>
              <a:t>"%</a:t>
            </a:r>
            <a:r>
              <a:rPr lang="en-US" sz="20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d"</a:t>
            </a:r>
            <a:r>
              <a:rPr lang="en-US" sz="20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,mark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2000" b="1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]); </a:t>
            </a:r>
            <a:r>
              <a:rPr lang="en-US" sz="2000" b="1" dirty="0">
                <a:solidFill>
                  <a:srgbClr val="6A9955"/>
                </a:solidFill>
                <a:latin typeface="Consolas" panose="020B0609020204030204" pitchFamily="49" charset="0"/>
              </a:rPr>
              <a:t>//prints 65</a:t>
            </a:r>
            <a:endParaRPr lang="en-US" sz="20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0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CE9178"/>
                </a:solidFill>
                <a:latin typeface="Consolas" panose="020B0609020204030204" pitchFamily="49" charset="0"/>
              </a:rPr>
              <a:t>"%</a:t>
            </a:r>
            <a:r>
              <a:rPr lang="en-US" sz="20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d"</a:t>
            </a:r>
            <a:r>
              <a:rPr lang="en-US" sz="20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,mark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2000" b="1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]); </a:t>
            </a:r>
            <a:r>
              <a:rPr lang="en-US" sz="2000" b="1" dirty="0">
                <a:solidFill>
                  <a:srgbClr val="6A9955"/>
                </a:solidFill>
                <a:latin typeface="Consolas" panose="020B0609020204030204" pitchFamily="49" charset="0"/>
              </a:rPr>
              <a:t>//prints 55</a:t>
            </a:r>
            <a:endParaRPr lang="en-US" sz="2000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0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b="1" dirty="0">
                <a:solidFill>
                  <a:srgbClr val="CE9178"/>
                </a:solidFill>
                <a:latin typeface="Consolas" panose="020B0609020204030204" pitchFamily="49" charset="0"/>
              </a:rPr>
              <a:t>"%</a:t>
            </a:r>
            <a:r>
              <a:rPr lang="en-US" sz="20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d"</a:t>
            </a:r>
            <a:r>
              <a:rPr lang="en-US" sz="20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,mark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2000" b="1" dirty="0">
                <a:solidFill>
                  <a:srgbClr val="B5CEA8"/>
                </a:solidFill>
                <a:latin typeface="Consolas" panose="020B0609020204030204" pitchFamily="49" charset="0"/>
              </a:rPr>
              <a:t>4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]); </a:t>
            </a:r>
            <a:r>
              <a:rPr lang="en-US" sz="2000" b="1" dirty="0">
                <a:solidFill>
                  <a:srgbClr val="6A9955"/>
                </a:solidFill>
                <a:latin typeface="Consolas" panose="020B0609020204030204" pitchFamily="49" charset="0"/>
              </a:rPr>
              <a:t>//prints 45</a:t>
            </a:r>
            <a:endParaRPr lang="en-US" sz="20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219200" y="6179882"/>
            <a:ext cx="11721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mark[5]</a:t>
            </a:r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202689"/>
              </p:ext>
            </p:extLst>
          </p:nvPr>
        </p:nvGraphicFramePr>
        <p:xfrm>
          <a:off x="2573205" y="5859778"/>
          <a:ext cx="4114800" cy="914400"/>
        </p:xfrm>
        <a:graphic>
          <a:graphicData uri="http://schemas.openxmlformats.org/drawingml/2006/table">
            <a:tbl>
              <a:tblPr firstRow="1" bandRow="1"/>
              <a:tblGrid>
                <a:gridCol w="8229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4210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[0]</a:t>
                      </a:r>
                      <a:endParaRPr lang="en-US" sz="11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[1]</a:t>
                      </a:r>
                      <a:endParaRPr lang="en-US" sz="11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[2]</a:t>
                      </a:r>
                      <a:endParaRPr lang="en-US" sz="11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[3]</a:t>
                      </a:r>
                      <a:endParaRPr lang="en-US" sz="11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[4]</a:t>
                      </a:r>
                      <a:endParaRPr lang="en-US" sz="11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0393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-13855" y="1242505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636" y="1311178"/>
            <a:ext cx="7058762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Read(Scan) Array Elements</a:t>
            </a:r>
            <a:endParaRPr lang="en-IN" dirty="0"/>
          </a:p>
        </p:txBody>
      </p:sp>
      <p:grpSp>
        <p:nvGrpSpPr>
          <p:cNvPr id="5" name="object 5"/>
          <p:cNvGrpSpPr/>
          <p:nvPr/>
        </p:nvGrpSpPr>
        <p:grpSpPr>
          <a:xfrm>
            <a:off x="8752331" y="6071615"/>
            <a:ext cx="3439795" cy="347980"/>
            <a:chOff x="8752331" y="6071615"/>
            <a:chExt cx="3439795" cy="347980"/>
          </a:xfrm>
        </p:grpSpPr>
        <p:sp>
          <p:nvSpPr>
            <p:cNvPr id="6" name="object 6"/>
            <p:cNvSpPr/>
            <p:nvPr/>
          </p:nvSpPr>
          <p:spPr>
            <a:xfrm>
              <a:off x="8752332" y="6071615"/>
              <a:ext cx="3439795" cy="216535"/>
            </a:xfrm>
            <a:custGeom>
              <a:avLst/>
              <a:gdLst/>
              <a:ahLst/>
              <a:cxnLst/>
              <a:rect l="l" t="t" r="r" b="b"/>
              <a:pathLst>
                <a:path w="3439795" h="216535">
                  <a:moveTo>
                    <a:pt x="60947" y="0"/>
                  </a:moveTo>
                  <a:lnTo>
                    <a:pt x="0" y="0"/>
                  </a:lnTo>
                  <a:lnTo>
                    <a:pt x="0" y="214884"/>
                  </a:lnTo>
                  <a:lnTo>
                    <a:pt x="60947" y="214884"/>
                  </a:lnTo>
                  <a:lnTo>
                    <a:pt x="60947" y="0"/>
                  </a:lnTo>
                  <a:close/>
                </a:path>
                <a:path w="3439795" h="216535">
                  <a:moveTo>
                    <a:pt x="3439668" y="1524"/>
                  </a:moveTo>
                  <a:lnTo>
                    <a:pt x="106680" y="1524"/>
                  </a:lnTo>
                  <a:lnTo>
                    <a:pt x="106680" y="216408"/>
                  </a:lnTo>
                  <a:lnTo>
                    <a:pt x="3439668" y="216408"/>
                  </a:lnTo>
                  <a:lnTo>
                    <a:pt x="3439668" y="152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99519" y="6214871"/>
              <a:ext cx="202692" cy="204215"/>
            </a:xfrm>
            <a:prstGeom prst="rect">
              <a:avLst/>
            </a:prstGeom>
          </p:spPr>
        </p:pic>
      </p:grp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xmlns="" id="{7DE2E865-9E82-412F-B6BA-A643E4B60DC8}"/>
              </a:ext>
            </a:extLst>
          </p:cNvPr>
          <p:cNvSpPr/>
          <p:nvPr/>
        </p:nvSpPr>
        <p:spPr>
          <a:xfrm>
            <a:off x="6927" y="1885759"/>
            <a:ext cx="305844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/>
              <a:t>Reading array without loop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D1398A39-DA79-443A-B149-0FEF04D5E58D}"/>
              </a:ext>
            </a:extLst>
          </p:cNvPr>
          <p:cNvSpPr/>
          <p:nvPr/>
        </p:nvSpPr>
        <p:spPr>
          <a:xfrm>
            <a:off x="34636" y="2214943"/>
            <a:ext cx="5299364" cy="4524315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main()</a:t>
            </a: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b="1" dirty="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mark[</a:t>
            </a:r>
            <a:r>
              <a:rPr lang="en-US" sz="1600" b="1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"Enter array element="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scanf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"%</a:t>
            </a:r>
            <a:r>
              <a:rPr lang="en-US" sz="16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d"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,&amp;mark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"Enter array element="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scanf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"%</a:t>
            </a:r>
            <a:r>
              <a:rPr lang="en-US" sz="16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d"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,&amp;mark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"Enter array element="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scanf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"%</a:t>
            </a:r>
            <a:r>
              <a:rPr lang="en-US" sz="16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d"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,&amp;mark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"Enter array element="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scanf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"%</a:t>
            </a:r>
            <a:r>
              <a:rPr lang="en-US" sz="16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d"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,&amp;mark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"Enter array element="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scanf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"%</a:t>
            </a:r>
            <a:r>
              <a:rPr lang="en-US" sz="16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d"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,&amp;mark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B5CEA8"/>
                </a:solidFill>
                <a:latin typeface="Consolas" panose="020B0609020204030204" pitchFamily="49" charset="0"/>
              </a:rPr>
              <a:t>4</a:t>
            </a:r>
            <a:r>
              <a:rPr lang="en-US" sz="1600" b="1" dirty="0" smtClean="0">
                <a:solidFill>
                  <a:srgbClr val="D4D4D4"/>
                </a:solidFill>
                <a:latin typeface="Consolas" panose="020B0609020204030204" pitchFamily="49" charset="0"/>
              </a:rPr>
              <a:t>]);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"%</a:t>
            </a:r>
            <a:r>
              <a:rPr lang="en-US" sz="16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d"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,mark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"%</a:t>
            </a:r>
            <a:r>
              <a:rPr lang="en-US" sz="16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d"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,mark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"%</a:t>
            </a:r>
            <a:r>
              <a:rPr lang="en-US" sz="16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d"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,mark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"%</a:t>
            </a:r>
            <a:r>
              <a:rPr lang="en-US" sz="16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d"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,mark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"%</a:t>
            </a:r>
            <a:r>
              <a:rPr lang="en-US" sz="16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d"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,mark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B5CEA8"/>
                </a:solidFill>
                <a:latin typeface="Consolas" panose="020B0609020204030204" pitchFamily="49" charset="0"/>
              </a:rPr>
              <a:t>4</a:t>
            </a:r>
            <a:r>
              <a:rPr lang="en-US" sz="1600" b="1" dirty="0" smtClean="0">
                <a:solidFill>
                  <a:srgbClr val="D4D4D4"/>
                </a:solidFill>
                <a:latin typeface="Consolas" panose="020B0609020204030204" pitchFamily="49" charset="0"/>
              </a:rPr>
              <a:t>]);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 smtClean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sz="1600" b="1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xmlns="" id="{7DE2E865-9E82-412F-B6BA-A643E4B60DC8}"/>
              </a:ext>
            </a:extLst>
          </p:cNvPr>
          <p:cNvSpPr/>
          <p:nvPr/>
        </p:nvSpPr>
        <p:spPr>
          <a:xfrm>
            <a:off x="6324600" y="1885759"/>
            <a:ext cx="305844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/>
              <a:t>Reading array using loop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1398A39-DA79-443A-B149-0FEF04D5E58D}"/>
              </a:ext>
            </a:extLst>
          </p:cNvPr>
          <p:cNvSpPr/>
          <p:nvPr/>
        </p:nvSpPr>
        <p:spPr>
          <a:xfrm>
            <a:off x="5978209" y="2214943"/>
            <a:ext cx="4777100" cy="347472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main()</a:t>
            </a: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b="1" dirty="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mark[</a:t>
            </a:r>
            <a:r>
              <a:rPr lang="en-US" sz="1600" b="1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],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b="1" dirty="0">
                <a:solidFill>
                  <a:srgbClr val="569CD6"/>
                </a:solidFill>
                <a:latin typeface="Consolas" panose="020B0609020204030204" pitchFamily="49" charset="0"/>
              </a:rPr>
              <a:t>for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;i&lt;</a:t>
            </a:r>
            <a:r>
              <a:rPr lang="en-US" sz="1600" b="1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;i++)</a:t>
            </a: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{</a:t>
            </a: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"Enter array element="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scanf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"%</a:t>
            </a:r>
            <a:r>
              <a:rPr lang="en-US" sz="16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d"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,&amp;mark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}</a:t>
            </a: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sz="1600" b="1" dirty="0">
                <a:solidFill>
                  <a:srgbClr val="569CD6"/>
                </a:solidFill>
                <a:latin typeface="Consolas" panose="020B0609020204030204" pitchFamily="49" charset="0"/>
              </a:rPr>
              <a:t>for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0" b="1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;i&lt;</a:t>
            </a:r>
            <a:r>
              <a:rPr lang="en-US" sz="1600" b="1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;i++)</a:t>
            </a: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{</a:t>
            </a: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 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CE9178"/>
                </a:solidFill>
                <a:latin typeface="Consolas" panose="020B0609020204030204" pitchFamily="49" charset="0"/>
              </a:rPr>
              <a:t>"%</a:t>
            </a:r>
            <a:r>
              <a:rPr lang="en-US" sz="1600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d"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,mark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i</a:t>
            </a:r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  }</a:t>
            </a:r>
          </a:p>
          <a:p>
            <a:r>
              <a:rPr lang="en-US" sz="1600" b="1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sz="16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96087" y="6014816"/>
            <a:ext cx="11721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</a:rPr>
              <a:t>mark[5]</a:t>
            </a:r>
            <a:endParaRPr lang="en-US" sz="2400" dirty="0">
              <a:solidFill>
                <a:srgbClr val="C00000"/>
              </a:solidFill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792041"/>
              </p:ext>
            </p:extLst>
          </p:nvPr>
        </p:nvGraphicFramePr>
        <p:xfrm>
          <a:off x="6976461" y="5772764"/>
          <a:ext cx="4114800" cy="914400"/>
        </p:xfrm>
        <a:graphic>
          <a:graphicData uri="http://schemas.openxmlformats.org/drawingml/2006/table">
            <a:tbl>
              <a:tblPr firstRow="1" bandRow="1"/>
              <a:tblGrid>
                <a:gridCol w="8229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4210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[0]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[1]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[2]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[3]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[4]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85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2901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3457" y="1027992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083230"/>
            <a:ext cx="12420601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400" dirty="0"/>
              <a:t>Develop a program to count number of positive or negative number from an array of 10 </a:t>
            </a:r>
            <a:r>
              <a:rPr lang="en-US" sz="2400" dirty="0" smtClean="0"/>
              <a:t>Number</a:t>
            </a:r>
            <a:endParaRPr lang="en-IN" sz="2400" dirty="0"/>
          </a:p>
        </p:txBody>
      </p:sp>
      <p:grpSp>
        <p:nvGrpSpPr>
          <p:cNvPr id="5" name="object 5"/>
          <p:cNvGrpSpPr/>
          <p:nvPr/>
        </p:nvGrpSpPr>
        <p:grpSpPr>
          <a:xfrm>
            <a:off x="8752331" y="6071615"/>
            <a:ext cx="3439795" cy="347980"/>
            <a:chOff x="8752331" y="6071615"/>
            <a:chExt cx="3439795" cy="347980"/>
          </a:xfrm>
        </p:grpSpPr>
        <p:sp>
          <p:nvSpPr>
            <p:cNvPr id="6" name="object 6"/>
            <p:cNvSpPr/>
            <p:nvPr/>
          </p:nvSpPr>
          <p:spPr>
            <a:xfrm>
              <a:off x="8752332" y="6071615"/>
              <a:ext cx="3439795" cy="216535"/>
            </a:xfrm>
            <a:custGeom>
              <a:avLst/>
              <a:gdLst/>
              <a:ahLst/>
              <a:cxnLst/>
              <a:rect l="l" t="t" r="r" b="b"/>
              <a:pathLst>
                <a:path w="3439795" h="216535">
                  <a:moveTo>
                    <a:pt x="60947" y="0"/>
                  </a:moveTo>
                  <a:lnTo>
                    <a:pt x="0" y="0"/>
                  </a:lnTo>
                  <a:lnTo>
                    <a:pt x="0" y="214884"/>
                  </a:lnTo>
                  <a:lnTo>
                    <a:pt x="60947" y="214884"/>
                  </a:lnTo>
                  <a:lnTo>
                    <a:pt x="60947" y="0"/>
                  </a:lnTo>
                  <a:close/>
                </a:path>
                <a:path w="3439795" h="216535">
                  <a:moveTo>
                    <a:pt x="3439668" y="1524"/>
                  </a:moveTo>
                  <a:lnTo>
                    <a:pt x="106680" y="1524"/>
                  </a:lnTo>
                  <a:lnTo>
                    <a:pt x="106680" y="216408"/>
                  </a:lnTo>
                  <a:lnTo>
                    <a:pt x="3439668" y="216408"/>
                  </a:lnTo>
                  <a:lnTo>
                    <a:pt x="3439668" y="1524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99519" y="6214871"/>
              <a:ext cx="202692" cy="204215"/>
            </a:xfrm>
            <a:prstGeom prst="rect">
              <a:avLst/>
            </a:prstGeom>
          </p:spPr>
        </p:pic>
      </p:grp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xmlns="" id="{7DE2E865-9E82-412F-B6BA-A643E4B60DC8}"/>
              </a:ext>
            </a:extLst>
          </p:cNvPr>
          <p:cNvSpPr/>
          <p:nvPr/>
        </p:nvSpPr>
        <p:spPr>
          <a:xfrm>
            <a:off x="27312" y="1688142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Program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D1398A39-DA79-443A-B149-0FEF04D5E58D}"/>
              </a:ext>
            </a:extLst>
          </p:cNvPr>
          <p:cNvSpPr/>
          <p:nvPr/>
        </p:nvSpPr>
        <p:spPr>
          <a:xfrm>
            <a:off x="27312" y="2017326"/>
            <a:ext cx="5992488" cy="4801314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main(){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num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],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i,pos,neg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pos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neg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for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i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;i&lt;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;i++)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{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"Enter array element="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scanf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"%d"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,&amp;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num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i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for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i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;i&lt;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;i++)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{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if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num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i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]&gt;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pos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=pos+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else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neg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=neg+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"Positive=%</a:t>
            </a:r>
            <a:r>
              <a:rPr lang="en-US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d,Negative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=%d"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b="1" dirty="0" err="1" smtClean="0">
                <a:solidFill>
                  <a:srgbClr val="D4D4D4"/>
                </a:solidFill>
                <a:latin typeface="Consolas" panose="020B0609020204030204" pitchFamily="49" charset="0"/>
              </a:rPr>
              <a:t>pos,eg</a:t>
            </a:r>
            <a:r>
              <a:rPr lang="en-US" b="1" dirty="0" smtClean="0">
                <a:solidFill>
                  <a:srgbClr val="D4D4D4"/>
                </a:solidFill>
                <a:latin typeface="Consolas" panose="020B0609020204030204" pitchFamily="49" charset="0"/>
              </a:rPr>
              <a:t>);}</a:t>
            </a:r>
            <a:endParaRPr lang="en-US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Rectangle: Top Corners Rounded 7">
            <a:extLst>
              <a:ext uri="{FF2B5EF4-FFF2-40B4-BE49-F238E27FC236}">
                <a16:creationId xmlns:a16="http://schemas.microsoft.com/office/drawing/2014/main" xmlns="" id="{44F07624-C23C-4B43-A144-CB0878CB992A}"/>
              </a:ext>
            </a:extLst>
          </p:cNvPr>
          <p:cNvSpPr/>
          <p:nvPr/>
        </p:nvSpPr>
        <p:spPr>
          <a:xfrm>
            <a:off x="7392787" y="2286000"/>
            <a:ext cx="87791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Output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43D3284F-95E2-4F26-9D5F-AAD352CF22BD}"/>
              </a:ext>
            </a:extLst>
          </p:cNvPr>
          <p:cNvSpPr/>
          <p:nvPr/>
        </p:nvSpPr>
        <p:spPr>
          <a:xfrm>
            <a:off x="7392787" y="2615184"/>
            <a:ext cx="3996771" cy="3139321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Enter array element=1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Enter array element=2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Enter array element=3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Enter array element=4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Enter array element=5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Enter array element=-1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Enter array element=-2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Enter array element=3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Enter array element=4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Enter array element=5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Positive=8,Negative=2</a:t>
            </a:r>
          </a:p>
        </p:txBody>
      </p:sp>
    </p:spTree>
    <p:extLst>
      <p:ext uri="{BB962C8B-B14F-4D97-AF65-F5344CB8AC3E}">
        <p14:creationId xmlns:p14="http://schemas.microsoft.com/office/powerpoint/2010/main" val="2260432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2590800"/>
            <a:ext cx="6934200" cy="4065857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endParaRPr lang="en-US" sz="2000" dirty="0" smtClean="0"/>
          </a:p>
          <a:p>
            <a:pPr marL="342900" indent="-342900">
              <a:buAutoNum type="arabicParenR"/>
            </a:pPr>
            <a:endParaRPr lang="en-US" sz="2000" dirty="0"/>
          </a:p>
          <a:p>
            <a:pPr marL="342900" indent="-342900">
              <a:buAutoNum type="arabicParenR"/>
            </a:pPr>
            <a:endParaRPr lang="en-US" sz="2000" dirty="0" smtClean="0"/>
          </a:p>
          <a:p>
            <a:pPr marL="342900" indent="-342900">
              <a:buAutoNum type="arabicParenR"/>
            </a:pPr>
            <a:endParaRPr lang="en-US" sz="2000" dirty="0"/>
          </a:p>
          <a:p>
            <a:pPr marL="342900" indent="-342900">
              <a:buAutoNum type="arabicParenR"/>
            </a:pPr>
            <a:endParaRPr lang="en-US" sz="2000" dirty="0" smtClean="0"/>
          </a:p>
          <a:p>
            <a:pPr marL="342900" indent="-342900">
              <a:buAutoNum type="arabicParenR"/>
            </a:pPr>
            <a:endParaRPr lang="en-US" sz="2000" dirty="0"/>
          </a:p>
          <a:p>
            <a:pPr marL="342900" indent="-342900">
              <a:buAutoNum type="arabicParenR"/>
            </a:pPr>
            <a:endParaRPr lang="en-US" sz="2000" dirty="0" smtClean="0"/>
          </a:p>
          <a:p>
            <a:pPr marL="342900" indent="-342900">
              <a:buAutoNum type="arabicParenR"/>
            </a:pPr>
            <a:endParaRPr lang="en-US" sz="2000" dirty="0"/>
          </a:p>
          <a:p>
            <a:pPr marL="342900" indent="-342900">
              <a:buAutoNum type="arabicParenR"/>
            </a:pPr>
            <a:endParaRPr lang="en-US" sz="2000" dirty="0" smtClean="0"/>
          </a:p>
          <a:p>
            <a:pPr marL="342900" indent="-342900">
              <a:buAutoNum type="arabicParenR"/>
            </a:pPr>
            <a:endParaRPr lang="en-US" sz="2000" dirty="0"/>
          </a:p>
          <a:p>
            <a:pPr marL="342900" indent="-342900">
              <a:buAutoNum type="arabicParenR"/>
            </a:pPr>
            <a:endParaRPr lang="en-US" sz="2000" dirty="0" smtClean="0"/>
          </a:p>
          <a:p>
            <a:pPr marL="342900" indent="-342900">
              <a:buAutoNum type="arabicParenR"/>
            </a:pPr>
            <a:endParaRPr lang="en-US" sz="2000" dirty="0"/>
          </a:p>
          <a:p>
            <a:pPr marL="342900" indent="-342900">
              <a:buAutoNum type="arabicParenR"/>
            </a:pPr>
            <a:endParaRPr lang="en-US" sz="2000" dirty="0" smtClean="0"/>
          </a:p>
        </p:txBody>
      </p:sp>
      <p:sp>
        <p:nvSpPr>
          <p:cNvPr id="3" name="object 3"/>
          <p:cNvSpPr/>
          <p:nvPr/>
        </p:nvSpPr>
        <p:spPr>
          <a:xfrm>
            <a:off x="0" y="1642872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xfrm>
            <a:off x="333375" y="1695450"/>
            <a:ext cx="7058025" cy="50482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 dirty="0" smtClean="0"/>
              <a:t>Two dimensional Array in C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2286127"/>
            <a:ext cx="5791200" cy="417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419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2590800"/>
            <a:ext cx="6934200" cy="4065857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endParaRPr lang="en-US" sz="2000" dirty="0" smtClean="0"/>
          </a:p>
          <a:p>
            <a:pPr marL="342900" indent="-342900">
              <a:buAutoNum type="arabicParenR"/>
            </a:pPr>
            <a:endParaRPr lang="en-US" sz="2000" dirty="0"/>
          </a:p>
          <a:p>
            <a:pPr marL="342900" indent="-342900">
              <a:buAutoNum type="arabicParenR"/>
            </a:pPr>
            <a:endParaRPr lang="en-US" sz="2000" dirty="0" smtClean="0"/>
          </a:p>
          <a:p>
            <a:pPr marL="342900" indent="-342900">
              <a:buAutoNum type="arabicParenR"/>
            </a:pPr>
            <a:endParaRPr lang="en-US" sz="2000" dirty="0"/>
          </a:p>
          <a:p>
            <a:pPr marL="342900" indent="-342900">
              <a:buAutoNum type="arabicParenR"/>
            </a:pPr>
            <a:endParaRPr lang="en-US" sz="2000" dirty="0" smtClean="0"/>
          </a:p>
          <a:p>
            <a:pPr marL="342900" indent="-342900">
              <a:buAutoNum type="arabicParenR"/>
            </a:pPr>
            <a:endParaRPr lang="en-US" sz="2000" dirty="0"/>
          </a:p>
          <a:p>
            <a:pPr marL="342900" indent="-342900">
              <a:buAutoNum type="arabicParenR"/>
            </a:pPr>
            <a:endParaRPr lang="en-US" sz="2000" dirty="0" smtClean="0"/>
          </a:p>
          <a:p>
            <a:pPr marL="342900" indent="-342900">
              <a:buAutoNum type="arabicParenR"/>
            </a:pPr>
            <a:endParaRPr lang="en-US" sz="2000" dirty="0"/>
          </a:p>
          <a:p>
            <a:pPr marL="342900" indent="-342900">
              <a:buAutoNum type="arabicParenR"/>
            </a:pPr>
            <a:endParaRPr lang="en-US" sz="2000" dirty="0" smtClean="0"/>
          </a:p>
          <a:p>
            <a:pPr marL="342900" indent="-342900">
              <a:buAutoNum type="arabicParenR"/>
            </a:pPr>
            <a:endParaRPr lang="en-US" sz="2000" dirty="0"/>
          </a:p>
          <a:p>
            <a:pPr marL="342900" indent="-342900">
              <a:buAutoNum type="arabicParenR"/>
            </a:pPr>
            <a:endParaRPr lang="en-US" sz="2000" dirty="0" smtClean="0"/>
          </a:p>
          <a:p>
            <a:pPr marL="342900" indent="-342900">
              <a:buAutoNum type="arabicParenR"/>
            </a:pPr>
            <a:endParaRPr lang="en-US" sz="2000" dirty="0"/>
          </a:p>
          <a:p>
            <a:pPr marL="342900" indent="-342900">
              <a:buAutoNum type="arabicParenR"/>
            </a:pPr>
            <a:endParaRPr lang="en-US" sz="2000" dirty="0" smtClean="0"/>
          </a:p>
        </p:txBody>
      </p:sp>
      <p:sp>
        <p:nvSpPr>
          <p:cNvPr id="3" name="object 3"/>
          <p:cNvSpPr/>
          <p:nvPr/>
        </p:nvSpPr>
        <p:spPr>
          <a:xfrm>
            <a:off x="0" y="1642872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xfrm>
            <a:off x="333375" y="1695450"/>
            <a:ext cx="7058025" cy="50482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 dirty="0" smtClean="0"/>
              <a:t>Two dimensional Array in C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9B5BDCB4-4EEE-45B4-8D35-78F9504F3588}"/>
              </a:ext>
            </a:extLst>
          </p:cNvPr>
          <p:cNvSpPr txBox="1">
            <a:spLocks/>
          </p:cNvSpPr>
          <p:nvPr/>
        </p:nvSpPr>
        <p:spPr>
          <a:xfrm>
            <a:off x="7391400" y="2563091"/>
            <a:ext cx="4772891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kern="0" dirty="0" smtClean="0"/>
              <a:t>A two dimensional array can be seen as a table with </a:t>
            </a:r>
            <a:r>
              <a:rPr lang="en-US" sz="2000" kern="0" dirty="0" smtClean="0">
                <a:solidFill>
                  <a:srgbClr val="F92672"/>
                </a:solidFill>
                <a:cs typeface="Consolas" panose="020B0609020204030204" pitchFamily="49" charset="0"/>
              </a:rPr>
              <a:t>‘x’</a:t>
            </a:r>
            <a:r>
              <a:rPr lang="en-US" sz="2000" kern="0" dirty="0" smtClean="0"/>
              <a:t> rows and </a:t>
            </a:r>
            <a:r>
              <a:rPr lang="en-US" sz="2000" kern="0" dirty="0" smtClean="0">
                <a:solidFill>
                  <a:srgbClr val="F92672"/>
                </a:solidFill>
                <a:cs typeface="Consolas" panose="020B0609020204030204" pitchFamily="49" charset="0"/>
              </a:rPr>
              <a:t>‘y’</a:t>
            </a:r>
            <a:r>
              <a:rPr lang="en-US" sz="2000" kern="0" dirty="0" smtClean="0"/>
              <a:t> columns.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kern="0" dirty="0" smtClean="0"/>
              <a:t>The row number ranges from </a:t>
            </a:r>
            <a:r>
              <a:rPr lang="en-US" sz="2000" kern="0" dirty="0" smtClean="0">
                <a:solidFill>
                  <a:srgbClr val="F92672"/>
                </a:solidFill>
                <a:cs typeface="Consolas" panose="020B0609020204030204" pitchFamily="49" charset="0"/>
              </a:rPr>
              <a:t>0</a:t>
            </a:r>
            <a:r>
              <a:rPr lang="en-US" sz="2000" kern="0" dirty="0" smtClean="0"/>
              <a:t> to </a:t>
            </a:r>
            <a:r>
              <a:rPr lang="en-US" sz="2000" kern="0" dirty="0" smtClean="0">
                <a:solidFill>
                  <a:srgbClr val="F92672"/>
                </a:solidFill>
                <a:cs typeface="Consolas" panose="020B0609020204030204" pitchFamily="49" charset="0"/>
              </a:rPr>
              <a:t>(x-1) </a:t>
            </a:r>
            <a:r>
              <a:rPr lang="en-US" sz="2000" kern="0" dirty="0" smtClean="0"/>
              <a:t>and column number ranges from </a:t>
            </a:r>
            <a:r>
              <a:rPr lang="en-US" sz="2000" kern="0" dirty="0" smtClean="0">
                <a:solidFill>
                  <a:srgbClr val="F92672"/>
                </a:solidFill>
                <a:cs typeface="Consolas" panose="020B0609020204030204" pitchFamily="49" charset="0"/>
              </a:rPr>
              <a:t>0</a:t>
            </a:r>
            <a:r>
              <a:rPr lang="en-US" sz="2000" kern="0" dirty="0" smtClean="0"/>
              <a:t> to </a:t>
            </a:r>
            <a:r>
              <a:rPr lang="en-US" sz="2000" kern="0" dirty="0" smtClean="0">
                <a:solidFill>
                  <a:srgbClr val="F92672"/>
                </a:solidFill>
                <a:cs typeface="Consolas" panose="020B0609020204030204" pitchFamily="49" charset="0"/>
              </a:rPr>
              <a:t>(y-1). </a:t>
            </a:r>
            <a:endParaRPr lang="en-US" sz="2000" kern="0" dirty="0">
              <a:solidFill>
                <a:srgbClr val="F92672"/>
              </a:solidFill>
              <a:cs typeface="Consolas" panose="020B0609020204030204" pitchFamily="49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5410200" y="4267200"/>
          <a:ext cx="6299200" cy="2209800"/>
        </p:xfrm>
        <a:graphic>
          <a:graphicData uri="http://schemas.openxmlformats.org/drawingml/2006/table">
            <a:tbl>
              <a:tblPr firstRow="1" bandRow="1"/>
              <a:tblGrid>
                <a:gridCol w="1193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Column-0</a:t>
                      </a:r>
                      <a:endParaRPr lang="en-US" sz="11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Column-1</a:t>
                      </a:r>
                      <a:endParaRPr lang="en-US" sz="11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Column-2</a:t>
                      </a:r>
                      <a:endParaRPr lang="en-US" sz="11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Row-0</a:t>
                      </a:r>
                      <a:endParaRPr lang="en-US" sz="11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data[0][0]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data[0][1]</a:t>
                      </a:r>
                      <a:endParaRPr lang="en-US" sz="11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data[0][2]</a:t>
                      </a:r>
                      <a:endParaRPr lang="en-US" sz="11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Row-1</a:t>
                      </a:r>
                      <a:endParaRPr lang="en-US" sz="11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data[1][0]</a:t>
                      </a:r>
                      <a:endParaRPr lang="en-US" sz="11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data[1][1]</a:t>
                      </a:r>
                      <a:endParaRPr lang="en-US" sz="11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data[1][2]</a:t>
                      </a:r>
                      <a:endParaRPr lang="en-US" sz="11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Row-2</a:t>
                      </a:r>
                      <a:endParaRPr lang="en-US" sz="11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data[2][0]</a:t>
                      </a:r>
                      <a:endParaRPr lang="en-US" sz="11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data[2][1]</a:t>
                      </a:r>
                      <a:endParaRPr lang="en-US" sz="11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data[2][2]</a:t>
                      </a:r>
                      <a:endParaRPr lang="en-US" sz="11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7" name="Rectangle: Top Corners Rounded 7">
            <a:extLst>
              <a:ext uri="{FF2B5EF4-FFF2-40B4-BE49-F238E27FC236}">
                <a16:creationId xmlns:a16="http://schemas.microsoft.com/office/drawing/2014/main" xmlns="" id="{44F07624-C23C-4B43-A144-CB0878CB992A}"/>
              </a:ext>
            </a:extLst>
          </p:cNvPr>
          <p:cNvSpPr/>
          <p:nvPr/>
        </p:nvSpPr>
        <p:spPr>
          <a:xfrm>
            <a:off x="0" y="2301581"/>
            <a:ext cx="155448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/>
              <a:t>Syntax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2630765"/>
            <a:ext cx="6949440" cy="400110"/>
          </a:xfrm>
          <a:prstGeom prst="rect">
            <a:avLst/>
          </a:prstGeom>
          <a:solidFill>
            <a:srgbClr val="373737"/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569CD6"/>
                </a:solidFill>
                <a:latin typeface="Consolas" panose="020B0609020204030204" pitchFamily="49" charset="0"/>
              </a:rPr>
              <a:t>data-type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 variable-name[</a:t>
            </a:r>
            <a:r>
              <a:rPr lang="en-US" sz="2000" b="1" dirty="0">
                <a:solidFill>
                  <a:srgbClr val="B5CEA8"/>
                </a:solidFill>
                <a:latin typeface="Consolas" panose="020B0609020204030204" pitchFamily="49" charset="0"/>
              </a:rPr>
              <a:t>x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][</a:t>
            </a:r>
            <a:r>
              <a:rPr lang="en-US" sz="2000" b="1" dirty="0">
                <a:solidFill>
                  <a:srgbClr val="B5CEA8"/>
                </a:solidFill>
                <a:latin typeface="Consolas" panose="020B0609020204030204" pitchFamily="49" charset="0"/>
              </a:rPr>
              <a:t>y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</a:p>
        </p:txBody>
      </p:sp>
      <p:sp>
        <p:nvSpPr>
          <p:cNvPr id="9" name="Rectangle: Top Corners Rounded 7">
            <a:extLst>
              <a:ext uri="{FF2B5EF4-FFF2-40B4-BE49-F238E27FC236}">
                <a16:creationId xmlns:a16="http://schemas.microsoft.com/office/drawing/2014/main" xmlns="" id="{44F07624-C23C-4B43-A144-CB0878CB992A}"/>
              </a:ext>
            </a:extLst>
          </p:cNvPr>
          <p:cNvSpPr/>
          <p:nvPr/>
        </p:nvSpPr>
        <p:spPr>
          <a:xfrm>
            <a:off x="0" y="3155261"/>
            <a:ext cx="155448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/>
              <a:t>Declaration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3471880"/>
            <a:ext cx="6949440" cy="400110"/>
          </a:xfrm>
          <a:prstGeom prst="rect">
            <a:avLst/>
          </a:prstGeom>
          <a:solidFill>
            <a:srgbClr val="373737"/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 data[</a:t>
            </a:r>
            <a:r>
              <a:rPr lang="en-US" sz="2000" b="1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][</a:t>
            </a:r>
            <a:r>
              <a:rPr lang="en-US" sz="2000" b="1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]; </a:t>
            </a:r>
            <a:r>
              <a:rPr lang="en-US" sz="2000" b="1" dirty="0">
                <a:solidFill>
                  <a:srgbClr val="6A9955"/>
                </a:solidFill>
                <a:latin typeface="Consolas" panose="020B0609020204030204" pitchFamily="49" charset="0"/>
              </a:rPr>
              <a:t>//This array can hold 9 elements</a:t>
            </a:r>
            <a:endParaRPr lang="en-US" sz="20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31258" y="4423673"/>
            <a:ext cx="230063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int data[3][3];</a:t>
            </a:r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452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056893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xfrm>
            <a:off x="-6927" y="1083181"/>
            <a:ext cx="10563225" cy="590677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 dirty="0" smtClean="0"/>
              <a:t>Initialing and Accessing a 2D Array: Example-1</a:t>
            </a:r>
            <a:endParaRPr lang="en-US" dirty="0"/>
          </a:p>
        </p:txBody>
      </p:sp>
      <p:sp>
        <p:nvSpPr>
          <p:cNvPr id="5" name="Rectangle: Top Corners Rounded 6">
            <a:extLst>
              <a:ext uri="{FF2B5EF4-FFF2-40B4-BE49-F238E27FC236}">
                <a16:creationId xmlns:a16="http://schemas.microsoft.com/office/drawing/2014/main" xmlns="" id="{7DE2E865-9E82-412F-B6BA-A643E4B60DC8}"/>
              </a:ext>
            </a:extLst>
          </p:cNvPr>
          <p:cNvSpPr/>
          <p:nvPr/>
        </p:nvSpPr>
        <p:spPr>
          <a:xfrm>
            <a:off x="13457" y="1655948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Program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D1398A39-DA79-443A-B149-0FEF04D5E58D}"/>
              </a:ext>
            </a:extLst>
          </p:cNvPr>
          <p:cNvSpPr/>
          <p:nvPr/>
        </p:nvSpPr>
        <p:spPr>
          <a:xfrm>
            <a:off x="0" y="1985132"/>
            <a:ext cx="6082543" cy="4247317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data[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][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 = { 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}, </a:t>
            </a:r>
            <a:r>
              <a:rPr lang="en-US" b="1" dirty="0">
                <a:solidFill>
                  <a:srgbClr val="6A9955"/>
                </a:solidFill>
                <a:latin typeface="Consolas" panose="020B0609020204030204" pitchFamily="49" charset="0"/>
              </a:rPr>
              <a:t>//row 0 with 3 elements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4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6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}, </a:t>
            </a:r>
            <a:r>
              <a:rPr lang="en-US" b="1" dirty="0">
                <a:solidFill>
                  <a:srgbClr val="6A9955"/>
                </a:solidFill>
                <a:latin typeface="Consolas" panose="020B0609020204030204" pitchFamily="49" charset="0"/>
              </a:rPr>
              <a:t>//row 1 with 3 elements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7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8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9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}  </a:t>
            </a:r>
            <a:r>
              <a:rPr lang="en-US" b="1" dirty="0">
                <a:solidFill>
                  <a:srgbClr val="6A9955"/>
                </a:solidFill>
                <a:latin typeface="Consolas" panose="020B0609020204030204" pitchFamily="49" charset="0"/>
              </a:rPr>
              <a:t>//row 2 with 3 </a:t>
            </a:r>
            <a:r>
              <a:rPr lang="en-US" b="1" dirty="0" smtClean="0">
                <a:solidFill>
                  <a:srgbClr val="6A9955"/>
                </a:solidFill>
                <a:latin typeface="Consolas" panose="020B0609020204030204" pitchFamily="49" charset="0"/>
              </a:rPr>
              <a:t>elements</a:t>
            </a:r>
            <a:r>
              <a:rPr lang="en-US" b="1" dirty="0" smtClean="0">
                <a:solidFill>
                  <a:srgbClr val="D4D4D4"/>
                </a:solidFill>
                <a:latin typeface="Consolas" panose="020B0609020204030204" pitchFamily="49" charset="0"/>
              </a:rPr>
              <a:t>};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"%</a:t>
            </a:r>
            <a:r>
              <a:rPr lang="en-US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d"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,data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][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]); </a:t>
            </a:r>
            <a:r>
              <a:rPr lang="en-US" b="1" dirty="0">
                <a:solidFill>
                  <a:srgbClr val="6A9955"/>
                </a:solidFill>
                <a:latin typeface="Consolas" panose="020B0609020204030204" pitchFamily="49" charset="0"/>
              </a:rPr>
              <a:t>//1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"%</a:t>
            </a:r>
            <a:r>
              <a:rPr lang="en-US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d"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,data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][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]); </a:t>
            </a:r>
            <a:r>
              <a:rPr lang="en-US" b="1" dirty="0">
                <a:solidFill>
                  <a:srgbClr val="6A9955"/>
                </a:solidFill>
                <a:latin typeface="Consolas" panose="020B0609020204030204" pitchFamily="49" charset="0"/>
              </a:rPr>
              <a:t>//2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"%d\</a:t>
            </a:r>
            <a:r>
              <a:rPr lang="en-US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n"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,data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][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]); </a:t>
            </a:r>
            <a:r>
              <a:rPr lang="en-US" b="1" dirty="0">
                <a:solidFill>
                  <a:srgbClr val="6A9955"/>
                </a:solidFill>
                <a:latin typeface="Consolas" panose="020B0609020204030204" pitchFamily="49" charset="0"/>
              </a:rPr>
              <a:t>//3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"%</a:t>
            </a:r>
            <a:r>
              <a:rPr lang="en-US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d"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,data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][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]); </a:t>
            </a:r>
            <a:r>
              <a:rPr lang="en-US" b="1" dirty="0">
                <a:solidFill>
                  <a:srgbClr val="6A9955"/>
                </a:solidFill>
                <a:latin typeface="Consolas" panose="020B0609020204030204" pitchFamily="49" charset="0"/>
              </a:rPr>
              <a:t>//4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"%</a:t>
            </a:r>
            <a:r>
              <a:rPr lang="en-US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d"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,data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][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]);  </a:t>
            </a:r>
            <a:r>
              <a:rPr lang="en-US" b="1" dirty="0">
                <a:solidFill>
                  <a:srgbClr val="6A9955"/>
                </a:solidFill>
                <a:latin typeface="Consolas" panose="020B0609020204030204" pitchFamily="49" charset="0"/>
              </a:rPr>
              <a:t>//5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"%d\</a:t>
            </a:r>
            <a:r>
              <a:rPr lang="en-US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n"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,data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][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]);  </a:t>
            </a:r>
            <a:r>
              <a:rPr lang="en-US" b="1" dirty="0">
                <a:solidFill>
                  <a:srgbClr val="6A9955"/>
                </a:solidFill>
                <a:latin typeface="Consolas" panose="020B0609020204030204" pitchFamily="49" charset="0"/>
              </a:rPr>
              <a:t>//6</a:t>
            </a:r>
          </a:p>
          <a:p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"%</a:t>
            </a:r>
            <a:r>
              <a:rPr lang="en-US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d"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,data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][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]);</a:t>
            </a:r>
            <a:r>
              <a:rPr lang="en-US" b="1" dirty="0">
                <a:solidFill>
                  <a:srgbClr val="6A9955"/>
                </a:solidFill>
                <a:latin typeface="Consolas" panose="020B0609020204030204" pitchFamily="49" charset="0"/>
              </a:rPr>
              <a:t>//7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"%</a:t>
            </a:r>
            <a:r>
              <a:rPr lang="en-US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d"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,data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][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]); </a:t>
            </a:r>
            <a:r>
              <a:rPr lang="en-US" b="1" dirty="0">
                <a:solidFill>
                  <a:srgbClr val="6A9955"/>
                </a:solidFill>
                <a:latin typeface="Consolas" panose="020B0609020204030204" pitchFamily="49" charset="0"/>
              </a:rPr>
              <a:t>//8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"%</a:t>
            </a:r>
            <a:r>
              <a:rPr lang="en-US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d"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,data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][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]); </a:t>
            </a:r>
            <a:r>
              <a:rPr lang="en-US" b="1" dirty="0">
                <a:solidFill>
                  <a:srgbClr val="6A9955"/>
                </a:solidFill>
                <a:latin typeface="Consolas" panose="020B0609020204030204" pitchFamily="49" charset="0"/>
              </a:rPr>
              <a:t>//9</a:t>
            </a:r>
            <a:endParaRPr lang="en-US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1398A39-DA79-443A-B149-0FEF04D5E58D}"/>
              </a:ext>
            </a:extLst>
          </p:cNvPr>
          <p:cNvSpPr/>
          <p:nvPr/>
        </p:nvSpPr>
        <p:spPr>
          <a:xfrm>
            <a:off x="13457" y="6232449"/>
            <a:ext cx="6082543" cy="646331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6A9955"/>
                </a:solidFill>
                <a:latin typeface="Consolas" panose="020B0609020204030204" pitchFamily="49" charset="0"/>
              </a:rPr>
              <a:t>//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 data[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][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 </a:t>
            </a:r>
            <a:r>
              <a:rPr lang="en-US" b="1" dirty="0">
                <a:solidFill>
                  <a:srgbClr val="6A9955"/>
                </a:solidFill>
                <a:latin typeface="Consolas" panose="020B0609020204030204" pitchFamily="49" charset="0"/>
              </a:rPr>
              <a:t>can be initialized like this also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data[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][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]={{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},{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4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6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},{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7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8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9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}};</a:t>
            </a:r>
            <a:endParaRPr lang="en-US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609128"/>
              </p:ext>
            </p:extLst>
          </p:nvPr>
        </p:nvGraphicFramePr>
        <p:xfrm>
          <a:off x="7179084" y="2277308"/>
          <a:ext cx="4760686" cy="2303384"/>
        </p:xfrm>
        <a:graphic>
          <a:graphicData uri="http://schemas.openxmlformats.org/drawingml/2006/table">
            <a:tbl>
              <a:tblPr firstRow="1" bandRow="1"/>
              <a:tblGrid>
                <a:gridCol w="90222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8615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8615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8615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7584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Column-0</a:t>
                      </a:r>
                      <a:endParaRPr lang="en-US" sz="11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Column-1</a:t>
                      </a:r>
                      <a:endParaRPr lang="en-US" sz="11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Column-2</a:t>
                      </a:r>
                      <a:endParaRPr lang="en-US" sz="11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758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Row-0</a:t>
                      </a:r>
                      <a:endParaRPr lang="en-US" sz="11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  <a:endParaRPr lang="en-US" sz="11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3</a:t>
                      </a:r>
                      <a:endParaRPr lang="en-US" sz="11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758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Row-1</a:t>
                      </a:r>
                      <a:endParaRPr lang="en-US" sz="11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4</a:t>
                      </a:r>
                      <a:endParaRPr lang="en-US" sz="11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endParaRPr lang="en-US" sz="11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6</a:t>
                      </a:r>
                      <a:endParaRPr lang="en-US" sz="11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758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Row-2</a:t>
                      </a:r>
                      <a:endParaRPr lang="en-US" sz="11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7</a:t>
                      </a:r>
                      <a:endParaRPr lang="en-US" sz="11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8</a:t>
                      </a:r>
                      <a:endParaRPr lang="en-US" sz="11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9</a:t>
                      </a:r>
                      <a:endParaRPr lang="en-US" sz="11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0921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-6927" y="1143000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xfrm>
            <a:off x="-13854" y="1143000"/>
            <a:ext cx="7058025" cy="50482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 dirty="0"/>
              <a:t>Read(Scan) 2D Array Elements</a:t>
            </a:r>
          </a:p>
        </p:txBody>
      </p:sp>
      <p:sp>
        <p:nvSpPr>
          <p:cNvPr id="5" name="Rectangle: Top Corners Rounded 6">
            <a:extLst>
              <a:ext uri="{FF2B5EF4-FFF2-40B4-BE49-F238E27FC236}">
                <a16:creationId xmlns:a16="http://schemas.microsoft.com/office/drawing/2014/main" xmlns="" id="{7DE2E865-9E82-412F-B6BA-A643E4B60DC8}"/>
              </a:ext>
            </a:extLst>
          </p:cNvPr>
          <p:cNvSpPr/>
          <p:nvPr/>
        </p:nvSpPr>
        <p:spPr>
          <a:xfrm>
            <a:off x="0" y="1621663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Program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D1398A39-DA79-443A-B149-0FEF04D5E58D}"/>
              </a:ext>
            </a:extLst>
          </p:cNvPr>
          <p:cNvSpPr/>
          <p:nvPr/>
        </p:nvSpPr>
        <p:spPr>
          <a:xfrm>
            <a:off x="0" y="1930065"/>
            <a:ext cx="5867400" cy="4801314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main(){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data[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][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],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i,j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for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i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;i&lt;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;i++)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{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for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(j=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;j&lt;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;j++)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{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"Enter array element="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scanf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"%</a:t>
            </a:r>
            <a:r>
              <a:rPr lang="en-US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d"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,&amp;data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i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][j]);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}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for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i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;i&lt;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;i++)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{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for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(j=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;j&lt;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;j++)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{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"%</a:t>
            </a:r>
            <a:r>
              <a:rPr lang="en-US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d"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,data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i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][j]);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}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"\n</a:t>
            </a:r>
            <a:r>
              <a:rPr lang="en-US" b="1" dirty="0" smtClean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b="1" dirty="0" smtClean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b="1" dirty="0" smtClean="0">
                <a:solidFill>
                  <a:srgbClr val="D4D4D4"/>
                </a:solidFill>
                <a:latin typeface="Consolas" panose="020B0609020204030204" pitchFamily="49" charset="0"/>
              </a:rPr>
              <a:t>}}</a:t>
            </a:r>
            <a:endParaRPr lang="en-US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1865076"/>
            <a:ext cx="3344742" cy="140275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</p:pic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xmlns="" id="{44F07624-C23C-4B43-A144-CB0878CB992A}"/>
              </a:ext>
            </a:extLst>
          </p:cNvPr>
          <p:cNvSpPr/>
          <p:nvPr/>
        </p:nvSpPr>
        <p:spPr>
          <a:xfrm>
            <a:off x="6089073" y="3267834"/>
            <a:ext cx="87791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43D3284F-95E2-4F26-9D5F-AAD352CF22BD}"/>
              </a:ext>
            </a:extLst>
          </p:cNvPr>
          <p:cNvSpPr/>
          <p:nvPr/>
        </p:nvSpPr>
        <p:spPr>
          <a:xfrm>
            <a:off x="7044171" y="3315059"/>
            <a:ext cx="3996771" cy="341632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Enter array element=1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Enter array element=2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Enter array element=3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Enter array element=4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Enter array element=5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Enter array element=6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Enter array element=7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Enter array element=8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Enter array element=9</a:t>
            </a:r>
          </a:p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1 2 3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4 5 6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7 8 9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51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-6927" y="1019622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59760" y="1126657"/>
            <a:ext cx="11858625" cy="519001"/>
          </a:xfrm>
          <a:prstGeom prst="rect">
            <a:avLst/>
          </a:prstGeom>
        </p:spPr>
        <p:txBody>
          <a:bodyPr wrap="square" lIns="0" tIns="0" rIns="0" bIns="0">
            <a:normAutofit fontScale="67500" lnSpcReduction="20000"/>
          </a:bodyPr>
          <a:lstStyle>
            <a:lvl1pPr>
              <a:defRPr sz="320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kern="0" dirty="0" smtClean="0"/>
              <a:t>Develop a program to count number of positive, negative and zero elements from 3 X 3 matrix</a:t>
            </a:r>
            <a:endParaRPr lang="en-US" kern="0" dirty="0"/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xmlns="" id="{7DE2E865-9E82-412F-B6BA-A643E4B60DC8}"/>
              </a:ext>
            </a:extLst>
          </p:cNvPr>
          <p:cNvSpPr/>
          <p:nvPr/>
        </p:nvSpPr>
        <p:spPr>
          <a:xfrm>
            <a:off x="-6927" y="1662877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Program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D1398A39-DA79-443A-B149-0FEF04D5E58D}"/>
              </a:ext>
            </a:extLst>
          </p:cNvPr>
          <p:cNvSpPr/>
          <p:nvPr/>
        </p:nvSpPr>
        <p:spPr>
          <a:xfrm>
            <a:off x="-6927" y="1992061"/>
            <a:ext cx="7589520" cy="4801314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main(){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data[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][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],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i,j,pos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,neg=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,zero=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for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i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;i&lt;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;i++)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{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for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(j=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;j&lt;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;j++)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{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"Enter array element="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scanf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"%</a:t>
            </a:r>
            <a:r>
              <a:rPr lang="en-US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d"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,&amp;data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i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][j]);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if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(data[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i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][j]&gt;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    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pos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=pos+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else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if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(data[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i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][j]&lt;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    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neg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=neg+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else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       zero=zero+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}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</a:t>
            </a:r>
            <a:r>
              <a:rPr lang="en-US" b="1" dirty="0" err="1" smtClean="0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"positive=%</a:t>
            </a:r>
            <a:r>
              <a:rPr lang="en-US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d,negative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=%</a:t>
            </a:r>
            <a:r>
              <a:rPr lang="en-US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d,zero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=%d"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pos,neg,zero</a:t>
            </a:r>
            <a:r>
              <a:rPr lang="en-US" b="1" dirty="0" smtClean="0">
                <a:solidFill>
                  <a:srgbClr val="D4D4D4"/>
                </a:solidFill>
                <a:latin typeface="Consolas" panose="020B0609020204030204" pitchFamily="49" charset="0"/>
              </a:rPr>
              <a:t>)}</a:t>
            </a:r>
            <a:endParaRPr lang="en-US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Rectangle: Top Corners Rounded 7">
            <a:extLst>
              <a:ext uri="{FF2B5EF4-FFF2-40B4-BE49-F238E27FC236}">
                <a16:creationId xmlns:a16="http://schemas.microsoft.com/office/drawing/2014/main" xmlns="" id="{44F07624-C23C-4B43-A144-CB0878CB992A}"/>
              </a:ext>
            </a:extLst>
          </p:cNvPr>
          <p:cNvSpPr/>
          <p:nvPr/>
        </p:nvSpPr>
        <p:spPr>
          <a:xfrm>
            <a:off x="7924800" y="1781342"/>
            <a:ext cx="87791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Output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43D3284F-95E2-4F26-9D5F-AAD352CF22BD}"/>
              </a:ext>
            </a:extLst>
          </p:cNvPr>
          <p:cNvSpPr/>
          <p:nvPr/>
        </p:nvSpPr>
        <p:spPr>
          <a:xfrm>
            <a:off x="7924800" y="2110526"/>
            <a:ext cx="3749040" cy="283464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Enter array element=9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Enter array element=5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Enter array element=6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Enter array element=-3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Enter array element=-7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Enter array element=0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Enter array element=11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Enter array element=13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Enter array element=8</a:t>
            </a:r>
          </a:p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positive=6,negative=2,zero=1</a:t>
            </a:r>
          </a:p>
        </p:txBody>
      </p:sp>
    </p:spTree>
    <p:extLst>
      <p:ext uri="{BB962C8B-B14F-4D97-AF65-F5344CB8AC3E}">
        <p14:creationId xmlns:p14="http://schemas.microsoft.com/office/powerpoint/2010/main" val="2880948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642872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xfrm>
            <a:off x="333375" y="1695450"/>
            <a:ext cx="7058025" cy="50482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 dirty="0"/>
              <a:t>Declaration &amp; Initialization of Pointer</a:t>
            </a:r>
          </a:p>
        </p:txBody>
      </p:sp>
      <p:sp>
        <p:nvSpPr>
          <p:cNvPr id="5" name="Rectangle: Top Corners Rounded 6">
            <a:extLst>
              <a:ext uri="{FF2B5EF4-FFF2-40B4-BE49-F238E27FC236}">
                <a16:creationId xmlns:a16="http://schemas.microsoft.com/office/drawing/2014/main" xmlns="" id="{19D10186-A669-C548-B14E-0BA5B4906599}"/>
              </a:ext>
            </a:extLst>
          </p:cNvPr>
          <p:cNvSpPr/>
          <p:nvPr/>
        </p:nvSpPr>
        <p:spPr>
          <a:xfrm>
            <a:off x="0" y="2252853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/>
              <a:t>Syntax</a:t>
            </a:r>
          </a:p>
        </p:txBody>
      </p:sp>
      <p:sp>
        <p:nvSpPr>
          <p:cNvPr id="4" name="Rectangle 3"/>
          <p:cNvSpPr/>
          <p:nvPr/>
        </p:nvSpPr>
        <p:spPr>
          <a:xfrm>
            <a:off x="5629" y="2681259"/>
            <a:ext cx="36038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datatype *</a:t>
            </a:r>
            <a:r>
              <a:rPr lang="en-IN" b="1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ptr_variablename</a:t>
            </a:r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xmlns="" id="{28088131-4C97-C048-8983-45874414A30A}"/>
              </a:ext>
            </a:extLst>
          </p:cNvPr>
          <p:cNvSpPr/>
          <p:nvPr/>
        </p:nvSpPr>
        <p:spPr>
          <a:xfrm>
            <a:off x="35609" y="3069812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/>
              <a:t>Example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8CB3693-B99C-DE49-8125-6B57A9A7CD37}"/>
              </a:ext>
            </a:extLst>
          </p:cNvPr>
          <p:cNvSpPr/>
          <p:nvPr/>
        </p:nvSpPr>
        <p:spPr>
          <a:xfrm>
            <a:off x="33728" y="3398996"/>
            <a:ext cx="5507377" cy="1815882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569CD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main()</a:t>
            </a:r>
          </a:p>
          <a:p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lvl="1"/>
            <a:r>
              <a:rPr lang="en-IN" sz="1600" b="1" dirty="0" err="1">
                <a:solidFill>
                  <a:srgbClr val="569CD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a=</a:t>
            </a:r>
            <a:r>
              <a:rPr lang="en-IN" sz="1600" b="1" dirty="0">
                <a:solidFill>
                  <a:srgbClr val="B5CEA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*p; </a:t>
            </a:r>
            <a:r>
              <a:rPr lang="en-IN" sz="1600" b="1" dirty="0">
                <a:solidFill>
                  <a:srgbClr val="6A99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assign memory address of a to pointer variable p</a:t>
            </a:r>
            <a:endParaRPr lang="en-IN" sz="1600" b="1" dirty="0">
              <a:solidFill>
                <a:srgbClr val="D4D4D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 = &amp;a;</a:t>
            </a:r>
          </a:p>
          <a:p>
            <a:pPr lvl="1"/>
            <a:r>
              <a:rPr lang="en-IN" sz="1600" b="1" dirty="0" err="1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b="1" dirty="0">
                <a:solidFill>
                  <a:srgbClr val="CE917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"%d %d %d"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a, *p, p);</a:t>
            </a:r>
          </a:p>
          <a:p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2383333"/>
            <a:ext cx="56388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p is integer pointer variable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&amp; is address of or referencing operator which returns memory address of variable.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* is indirection or dereferencing operator which returns value stored at that memory address.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&amp; operator is the inverse of * operator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x = a is same as x = *(&amp;a)</a:t>
            </a:r>
          </a:p>
        </p:txBody>
      </p:sp>
      <p:sp>
        <p:nvSpPr>
          <p:cNvPr id="10" name="Rectangle: Top Corners Rounded 7">
            <a:extLst>
              <a:ext uri="{FF2B5EF4-FFF2-40B4-BE49-F238E27FC236}">
                <a16:creationId xmlns:a16="http://schemas.microsoft.com/office/drawing/2014/main" xmlns="" id="{42A33A23-AC8A-0146-936C-3F606E2995D1}"/>
              </a:ext>
            </a:extLst>
          </p:cNvPr>
          <p:cNvSpPr/>
          <p:nvPr/>
        </p:nvSpPr>
        <p:spPr>
          <a:xfrm>
            <a:off x="0" y="5214878"/>
            <a:ext cx="87791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919647C6-3618-9548-AFF1-CDB5599CC58D}"/>
              </a:ext>
            </a:extLst>
          </p:cNvPr>
          <p:cNvSpPr/>
          <p:nvPr/>
        </p:nvSpPr>
        <p:spPr>
          <a:xfrm>
            <a:off x="0" y="5529543"/>
            <a:ext cx="4787017" cy="307777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10 10 5000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4779310"/>
            <a:ext cx="4495800" cy="169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448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  <p:bldP spid="11" grpId="0" uiExpand="1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642872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xfrm>
            <a:off x="333375" y="1695450"/>
            <a:ext cx="7058025" cy="50482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 dirty="0"/>
              <a:t>Why use Pointer?</a:t>
            </a:r>
          </a:p>
        </p:txBody>
      </p:sp>
      <p:sp>
        <p:nvSpPr>
          <p:cNvPr id="2" name="Rectangle 1"/>
          <p:cNvSpPr/>
          <p:nvPr/>
        </p:nvSpPr>
        <p:spPr>
          <a:xfrm>
            <a:off x="333374" y="2338705"/>
            <a:ext cx="11172825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IN" sz="2800" dirty="0"/>
              <a:t>C uses pointers to create </a:t>
            </a:r>
            <a:r>
              <a:rPr lang="en-IN" sz="2800" dirty="0">
                <a:solidFill>
                  <a:srgbClr val="92D050"/>
                </a:solidFill>
              </a:rPr>
              <a:t>dynamic data structures,</a:t>
            </a:r>
            <a:r>
              <a:rPr lang="en-IN" sz="2800" dirty="0"/>
              <a:t> data structures built up from blocks of memory allocated from the heap at run-time. Example linked list, tree, etc.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IN" sz="2800" dirty="0"/>
              <a:t>C uses pointers to handle variable parameters passed to functions.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IN" sz="2800" dirty="0"/>
              <a:t>Pointers in C provide an alternative way to </a:t>
            </a:r>
            <a:r>
              <a:rPr lang="en-IN" sz="2800" dirty="0">
                <a:solidFill>
                  <a:srgbClr val="92D050"/>
                </a:solidFill>
              </a:rPr>
              <a:t>access information stored in arrays</a:t>
            </a:r>
            <a:r>
              <a:rPr lang="en-IN" sz="2800" dirty="0"/>
              <a:t>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IN" sz="2800" dirty="0"/>
              <a:t>Pointer use in </a:t>
            </a:r>
            <a:r>
              <a:rPr lang="en-IN" sz="2800" dirty="0">
                <a:solidFill>
                  <a:srgbClr val="92D050"/>
                </a:solidFill>
              </a:rPr>
              <a:t>system level programming </a:t>
            </a:r>
            <a:r>
              <a:rPr lang="en-IN" sz="2800" dirty="0"/>
              <a:t>where memory addresses are useful. For example shared memory used by multiple threads.</a:t>
            </a:r>
          </a:p>
          <a:p>
            <a:pPr marL="457200" indent="-457200" fontAlgn="base">
              <a:buFont typeface="Wingdings" panose="05000000000000000000" pitchFamily="2" charset="2"/>
              <a:buChar char="q"/>
            </a:pPr>
            <a:r>
              <a:rPr lang="en-IN" sz="2800" dirty="0"/>
              <a:t>Pointers are used for file handling.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sz="2800" dirty="0"/>
              <a:t>This is the reason why C is versatile.</a:t>
            </a:r>
            <a:br>
              <a:rPr lang="en-IN" sz="2800" dirty="0"/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003984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642872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xfrm>
            <a:off x="333375" y="1695450"/>
            <a:ext cx="7058025" cy="50482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 dirty="0"/>
              <a:t>Pointer to Pointer – Double Pointer</a:t>
            </a:r>
          </a:p>
        </p:txBody>
      </p:sp>
      <p:sp>
        <p:nvSpPr>
          <p:cNvPr id="2" name="Rectangle 1"/>
          <p:cNvSpPr/>
          <p:nvPr/>
        </p:nvSpPr>
        <p:spPr>
          <a:xfrm>
            <a:off x="333374" y="2338705"/>
            <a:ext cx="1117282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kern="0" dirty="0" smtClean="0">
                <a:solidFill>
                  <a:schemeClr val="accent2">
                    <a:lumMod val="50000"/>
                  </a:schemeClr>
                </a:solidFill>
              </a:rPr>
              <a:t>Pointer </a:t>
            </a:r>
            <a:r>
              <a:rPr lang="en-US" sz="2800" kern="0" dirty="0">
                <a:solidFill>
                  <a:schemeClr val="accent2">
                    <a:lumMod val="50000"/>
                  </a:schemeClr>
                </a:solidFill>
              </a:rPr>
              <a:t>holds the address of another variable of same type. 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kern="0" dirty="0">
                <a:solidFill>
                  <a:schemeClr val="accent2">
                    <a:lumMod val="50000"/>
                  </a:schemeClr>
                </a:solidFill>
              </a:rPr>
              <a:t>When a pointer holds the address of another pointer then such type of pointer is known as pointer-to-pointer or double pointer. 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IN" sz="2800" kern="0" dirty="0">
                <a:solidFill>
                  <a:schemeClr val="accent2">
                    <a:lumMod val="50000"/>
                  </a:schemeClr>
                </a:solidFill>
              </a:rPr>
              <a:t>The first pointer contains the address of the second pointer, which points to the location that contains the actual value.</a:t>
            </a:r>
            <a:endParaRPr lang="en-US" sz="2800" kern="0" dirty="0">
              <a:solidFill>
                <a:schemeClr val="accent2">
                  <a:lumMod val="50000"/>
                </a:schemeClr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endParaRPr lang="en-IN" sz="28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xmlns="" id="{6BFC3EE9-579D-CB4F-9675-24D40E717E30}"/>
              </a:ext>
            </a:extLst>
          </p:cNvPr>
          <p:cNvSpPr/>
          <p:nvPr/>
        </p:nvSpPr>
        <p:spPr>
          <a:xfrm>
            <a:off x="152400" y="4739755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/>
              <a:t>Syntax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FF621B5B-1718-6749-B9CF-04486E544C23}"/>
              </a:ext>
            </a:extLst>
          </p:cNvPr>
          <p:cNvSpPr/>
          <p:nvPr/>
        </p:nvSpPr>
        <p:spPr>
          <a:xfrm>
            <a:off x="152400" y="5016361"/>
            <a:ext cx="3917930" cy="369332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datatype **</a:t>
            </a:r>
            <a:r>
              <a:rPr lang="en-I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ptr_variablename</a:t>
            </a:r>
            <a:r>
              <a:rPr lang="en-I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63C7F809-E1A1-C547-A765-4B52CA6AD76F}"/>
              </a:ext>
            </a:extLst>
          </p:cNvPr>
          <p:cNvSpPr/>
          <p:nvPr/>
        </p:nvSpPr>
        <p:spPr>
          <a:xfrm>
            <a:off x="152400" y="5664862"/>
            <a:ext cx="3917930" cy="369332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b="1" dirty="0" err="1">
                <a:solidFill>
                  <a:srgbClr val="569CD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IN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**</a:t>
            </a:r>
            <a:r>
              <a:rPr lang="en-IN" b="1" dirty="0" err="1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IN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87507BD5-26E6-A14A-BFD9-3DC43820C0E1}"/>
              </a:ext>
            </a:extLst>
          </p:cNvPr>
          <p:cNvSpPr txBox="1"/>
          <p:nvPr/>
        </p:nvSpPr>
        <p:spPr>
          <a:xfrm>
            <a:off x="6858000" y="4794490"/>
            <a:ext cx="1381489" cy="36933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Pointer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B4C43461-D50D-2A4E-862F-42FA4A2FE6AE}"/>
              </a:ext>
            </a:extLst>
          </p:cNvPr>
          <p:cNvSpPr txBox="1"/>
          <p:nvPr/>
        </p:nvSpPr>
        <p:spPr>
          <a:xfrm>
            <a:off x="8491354" y="4805563"/>
            <a:ext cx="1381489" cy="36933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Pointer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D41AAA09-99A4-C04F-B706-4CAEEDEC1DE9}"/>
              </a:ext>
            </a:extLst>
          </p:cNvPr>
          <p:cNvSpPr txBox="1"/>
          <p:nvPr/>
        </p:nvSpPr>
        <p:spPr>
          <a:xfrm>
            <a:off x="10124708" y="4813329"/>
            <a:ext cx="1381489" cy="36933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Variable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738AA19F-3AAA-6748-BF0C-F2FC5DD85601}"/>
              </a:ext>
            </a:extLst>
          </p:cNvPr>
          <p:cNvSpPr txBox="1"/>
          <p:nvPr/>
        </p:nvSpPr>
        <p:spPr>
          <a:xfrm>
            <a:off x="7112134" y="5849528"/>
            <a:ext cx="1127355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address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7064425B-F22E-1145-9994-075271151CBD}"/>
              </a:ext>
            </a:extLst>
          </p:cNvPr>
          <p:cNvSpPr txBox="1"/>
          <p:nvPr/>
        </p:nvSpPr>
        <p:spPr>
          <a:xfrm>
            <a:off x="8851967" y="5895247"/>
            <a:ext cx="1127355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address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B8A0DC18-98D5-AD4B-BD3D-C8735AA9762A}"/>
              </a:ext>
            </a:extLst>
          </p:cNvPr>
          <p:cNvSpPr txBox="1"/>
          <p:nvPr/>
        </p:nvSpPr>
        <p:spPr>
          <a:xfrm>
            <a:off x="10591800" y="5849528"/>
            <a:ext cx="1127355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value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F4D79556-CDDE-B045-A303-923B54C3FA77}"/>
              </a:ext>
            </a:extLst>
          </p:cNvPr>
          <p:cNvCxnSpPr/>
          <p:nvPr/>
        </p:nvCxnSpPr>
        <p:spPr>
          <a:xfrm>
            <a:off x="8327559" y="6034194"/>
            <a:ext cx="436338" cy="137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A6E2EF0B-D1F9-944C-ABF0-C886E04E33DA}"/>
              </a:ext>
            </a:extLst>
          </p:cNvPr>
          <p:cNvCxnSpPr/>
          <p:nvPr/>
        </p:nvCxnSpPr>
        <p:spPr>
          <a:xfrm>
            <a:off x="10096123" y="6039001"/>
            <a:ext cx="436338" cy="137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9045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052195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xfrm>
            <a:off x="0" y="1052195"/>
            <a:ext cx="12192000" cy="39560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 sz="2400" dirty="0"/>
              <a:t>Write a program to print variable, address of pointer variable and pointer to pointer variable. 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D456EBDA-49A4-A843-A786-6989C63A54AA}"/>
              </a:ext>
            </a:extLst>
          </p:cNvPr>
          <p:cNvSpPr/>
          <p:nvPr/>
        </p:nvSpPr>
        <p:spPr>
          <a:xfrm>
            <a:off x="0" y="1695450"/>
            <a:ext cx="8472276" cy="3293209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569CD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</a:t>
            </a:r>
            <a:r>
              <a:rPr lang="en-IN" sz="1600" b="1" dirty="0">
                <a:solidFill>
                  <a:srgbClr val="CE917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IN" sz="1600" b="1" dirty="0" err="1">
                <a:solidFill>
                  <a:srgbClr val="CE917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en-IN" sz="1600" b="1" dirty="0">
                <a:solidFill>
                  <a:srgbClr val="CE917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IN" sz="1600" b="1" dirty="0">
              <a:solidFill>
                <a:srgbClr val="D4D4D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b="1" dirty="0" err="1">
                <a:solidFill>
                  <a:srgbClr val="569CD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main () {</a:t>
            </a:r>
          </a:p>
          <a:p>
            <a:pPr lvl="1"/>
            <a:r>
              <a:rPr lang="en-IN" sz="1600" b="1" dirty="0" err="1">
                <a:solidFill>
                  <a:srgbClr val="569CD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b="1" dirty="0" err="1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IN" sz="1600" b="1" dirty="0" err="1">
                <a:solidFill>
                  <a:srgbClr val="569CD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lang="en-IN" sz="1600" b="1" dirty="0" err="1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IN" sz="1600" b="1" dirty="0" err="1">
                <a:solidFill>
                  <a:srgbClr val="569CD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**</a:t>
            </a:r>
            <a:r>
              <a:rPr lang="en-IN" sz="1600" b="1" dirty="0" err="1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pptr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IN" sz="1600" b="1" dirty="0" err="1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b="1" dirty="0">
                <a:solidFill>
                  <a:srgbClr val="B5CEA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3000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1"/>
            <a:r>
              <a:rPr lang="en-IN" sz="1600" b="1" dirty="0" err="1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&amp;</a:t>
            </a:r>
            <a:r>
              <a:rPr lang="en-IN" sz="1600" b="1" dirty="0" err="1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IN" sz="1600" b="1" dirty="0">
                <a:solidFill>
                  <a:srgbClr val="6A99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address of </a:t>
            </a:r>
            <a:r>
              <a:rPr lang="en-IN" sz="1600" b="1" dirty="0" err="1">
                <a:solidFill>
                  <a:srgbClr val="6A99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endParaRPr lang="en-IN" sz="1600" b="1" dirty="0">
              <a:solidFill>
                <a:srgbClr val="D4D4D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b="1" dirty="0" err="1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pptr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&amp;</a:t>
            </a:r>
            <a:r>
              <a:rPr lang="en-IN" sz="1600" b="1" dirty="0" err="1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IN" sz="1600" b="1" dirty="0">
                <a:solidFill>
                  <a:srgbClr val="6A99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// address of </a:t>
            </a:r>
            <a:r>
              <a:rPr lang="en-IN" sz="1600" b="1" dirty="0" err="1">
                <a:solidFill>
                  <a:srgbClr val="6A99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IN" sz="1600" b="1" dirty="0">
                <a:solidFill>
                  <a:srgbClr val="6A99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using address of operator &amp;</a:t>
            </a:r>
            <a:endParaRPr lang="en-IN" sz="1600" b="1" dirty="0">
              <a:solidFill>
                <a:srgbClr val="D4D4D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b="1" dirty="0" err="1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b="1" dirty="0">
                <a:solidFill>
                  <a:srgbClr val="CE917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"Value of </a:t>
            </a:r>
            <a:r>
              <a:rPr lang="en-IN" sz="1600" b="1" dirty="0" err="1">
                <a:solidFill>
                  <a:srgbClr val="CE917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IN" sz="1600" b="1" dirty="0">
                <a:solidFill>
                  <a:srgbClr val="CE917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%d\n"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b="1" dirty="0" err="1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);</a:t>
            </a:r>
          </a:p>
          <a:p>
            <a:pPr lvl="1"/>
            <a:r>
              <a:rPr lang="en-IN" sz="1600" b="1" dirty="0" err="1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b="1" dirty="0">
                <a:solidFill>
                  <a:srgbClr val="CE917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"Value available at *</a:t>
            </a:r>
            <a:r>
              <a:rPr lang="en-IN" sz="1600" b="1" dirty="0" err="1">
                <a:solidFill>
                  <a:srgbClr val="CE917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IN" sz="1600" b="1" dirty="0">
                <a:solidFill>
                  <a:srgbClr val="CE917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%d\n"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*</a:t>
            </a:r>
            <a:r>
              <a:rPr lang="en-IN" sz="1600" b="1" dirty="0" err="1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);</a:t>
            </a:r>
          </a:p>
          <a:p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IN" sz="1600" b="1" dirty="0" err="1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b="1" dirty="0">
                <a:solidFill>
                  <a:srgbClr val="CE917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"Value available at **</a:t>
            </a:r>
            <a:r>
              <a:rPr lang="en-IN" sz="1600" b="1" dirty="0" err="1">
                <a:solidFill>
                  <a:srgbClr val="CE917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pptr</a:t>
            </a:r>
            <a:r>
              <a:rPr lang="en-IN" sz="1600" b="1" dirty="0">
                <a:solidFill>
                  <a:srgbClr val="CE917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%d\n"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**</a:t>
            </a:r>
            <a:r>
              <a:rPr lang="en-IN" sz="1600" b="1" dirty="0" err="1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pptr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IN" sz="1600" b="1" dirty="0">
                <a:solidFill>
                  <a:srgbClr val="569CD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return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b="1" dirty="0">
                <a:solidFill>
                  <a:srgbClr val="B5CEA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Rectangle: Top Corners Rounded 7">
            <a:extLst>
              <a:ext uri="{FF2B5EF4-FFF2-40B4-BE49-F238E27FC236}">
                <a16:creationId xmlns:a16="http://schemas.microsoft.com/office/drawing/2014/main" xmlns="" id="{C41A6BE6-E231-BA4C-BA83-72B739C39BAF}"/>
              </a:ext>
            </a:extLst>
          </p:cNvPr>
          <p:cNvSpPr/>
          <p:nvPr/>
        </p:nvSpPr>
        <p:spPr>
          <a:xfrm>
            <a:off x="0" y="5221319"/>
            <a:ext cx="87791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Output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7F89FE68-BCE8-454F-B6D7-830E382636F9}"/>
              </a:ext>
            </a:extLst>
          </p:cNvPr>
          <p:cNvSpPr/>
          <p:nvPr/>
        </p:nvSpPr>
        <p:spPr>
          <a:xfrm>
            <a:off x="877915" y="5550503"/>
            <a:ext cx="4787017" cy="738664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Value of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var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= 3000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Value available at *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ptr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= 3000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Value available at **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pptr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= 3000</a:t>
            </a:r>
          </a:p>
        </p:txBody>
      </p:sp>
    </p:spTree>
    <p:extLst>
      <p:ext uri="{BB962C8B-B14F-4D97-AF65-F5344CB8AC3E}">
        <p14:creationId xmlns:p14="http://schemas.microsoft.com/office/powerpoint/2010/main" val="10876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animBg="1"/>
      <p:bldP spid="7" grpId="0" animBg="1"/>
      <p:bldP spid="8" grpId="0" uiExpand="1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642872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xfrm>
            <a:off x="333375" y="1695450"/>
            <a:ext cx="7058025" cy="50482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 dirty="0"/>
              <a:t>Relation between Array &amp; Pointer – </a:t>
            </a:r>
            <a:r>
              <a:rPr lang="en-US" dirty="0" smtClean="0"/>
              <a:t>Cont.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3572" y="2284878"/>
            <a:ext cx="8991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Example: </a:t>
            </a:r>
            <a:r>
              <a:rPr lang="en-IN" sz="20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a[10], *p;</a:t>
            </a:r>
          </a:p>
          <a:p>
            <a:pPr algn="just"/>
            <a:r>
              <a:rPr lang="en-US" sz="2000" dirty="0"/>
              <a:t>a[0] is same as *(a+0), a[2] is same as *(a+2) and a[</a:t>
            </a:r>
            <a:r>
              <a:rPr lang="en-US" sz="2000" dirty="0" err="1"/>
              <a:t>i</a:t>
            </a:r>
            <a:r>
              <a:rPr lang="en-US" sz="2000" dirty="0"/>
              <a:t>] is same as *(</a:t>
            </a:r>
            <a:r>
              <a:rPr lang="en-US" sz="2000" dirty="0" err="1"/>
              <a:t>a+i</a:t>
            </a:r>
            <a:r>
              <a:rPr lang="en-US" sz="200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D574AC3-A336-F344-9BDA-3778B523D65A}"/>
              </a:ext>
            </a:extLst>
          </p:cNvPr>
          <p:cNvSpPr txBox="1"/>
          <p:nvPr/>
        </p:nvSpPr>
        <p:spPr>
          <a:xfrm>
            <a:off x="990600" y="4311878"/>
            <a:ext cx="10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D574AC3-A336-F344-9BDA-3778B523D65A}"/>
              </a:ext>
            </a:extLst>
          </p:cNvPr>
          <p:cNvSpPr txBox="1"/>
          <p:nvPr/>
        </p:nvSpPr>
        <p:spPr>
          <a:xfrm>
            <a:off x="609600" y="3282989"/>
            <a:ext cx="1051200" cy="36933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1CDC4C61-FDDE-1446-AB95-BD1292FB9EB0}"/>
              </a:ext>
            </a:extLst>
          </p:cNvPr>
          <p:cNvSpPr/>
          <p:nvPr/>
        </p:nvSpPr>
        <p:spPr>
          <a:xfrm>
            <a:off x="2046797" y="3246975"/>
            <a:ext cx="1046748" cy="3877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a[0]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586711F8-33C5-4245-8871-0270A594E434}"/>
              </a:ext>
            </a:extLst>
          </p:cNvPr>
          <p:cNvSpPr txBox="1"/>
          <p:nvPr/>
        </p:nvSpPr>
        <p:spPr>
          <a:xfrm>
            <a:off x="5570400" y="3265438"/>
            <a:ext cx="1051200" cy="36933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C8FAFB3A-29E4-F146-98F2-7516246DAC0D}"/>
              </a:ext>
            </a:extLst>
          </p:cNvPr>
          <p:cNvSpPr/>
          <p:nvPr/>
        </p:nvSpPr>
        <p:spPr>
          <a:xfrm>
            <a:off x="7543800" y="3166910"/>
            <a:ext cx="1046748" cy="4692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*(a+0)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4DF99CBB-9B5A-6F49-8F71-B06DCEC6E9B9}"/>
              </a:ext>
            </a:extLst>
          </p:cNvPr>
          <p:cNvSpPr/>
          <p:nvPr/>
        </p:nvSpPr>
        <p:spPr>
          <a:xfrm>
            <a:off x="2059289" y="3634623"/>
            <a:ext cx="1046748" cy="4692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a[1]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63C3BD6-10D7-DB4A-AF85-362D7D9CD1CB}"/>
              </a:ext>
            </a:extLst>
          </p:cNvPr>
          <p:cNvSpPr txBox="1"/>
          <p:nvPr/>
        </p:nvSpPr>
        <p:spPr>
          <a:xfrm>
            <a:off x="5570400" y="3734523"/>
            <a:ext cx="1051200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a+1: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70DA7265-5F07-174F-A0B6-7889DBEF08B6}"/>
              </a:ext>
            </a:extLst>
          </p:cNvPr>
          <p:cNvSpPr/>
          <p:nvPr/>
        </p:nvSpPr>
        <p:spPr>
          <a:xfrm>
            <a:off x="7550046" y="3661153"/>
            <a:ext cx="1046748" cy="4692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*(a+1)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C2366F0A-C8DE-CC4B-BC6C-DB8336D57686}"/>
              </a:ext>
            </a:extLst>
          </p:cNvPr>
          <p:cNvSpPr txBox="1"/>
          <p:nvPr/>
        </p:nvSpPr>
        <p:spPr>
          <a:xfrm>
            <a:off x="8987148" y="3256206"/>
            <a:ext cx="1051200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2000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F68D546E-32EA-AD41-B5C2-336C6EAAEB28}"/>
              </a:ext>
            </a:extLst>
          </p:cNvPr>
          <p:cNvSpPr txBox="1"/>
          <p:nvPr/>
        </p:nvSpPr>
        <p:spPr>
          <a:xfrm>
            <a:off x="8999640" y="3610697"/>
            <a:ext cx="1051200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2002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9AAE2246-6D27-9A48-A501-42E8861762E5}"/>
              </a:ext>
            </a:extLst>
          </p:cNvPr>
          <p:cNvSpPr/>
          <p:nvPr/>
        </p:nvSpPr>
        <p:spPr>
          <a:xfrm>
            <a:off x="2046797" y="4135808"/>
            <a:ext cx="1046747" cy="7885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77696385-0999-B54D-98CC-FC7D9364A49B}"/>
              </a:ext>
            </a:extLst>
          </p:cNvPr>
          <p:cNvSpPr/>
          <p:nvPr/>
        </p:nvSpPr>
        <p:spPr>
          <a:xfrm>
            <a:off x="7550046" y="4130385"/>
            <a:ext cx="1046748" cy="8340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E54B920C-2090-9A40-B490-3930FFB8D875}"/>
              </a:ext>
            </a:extLst>
          </p:cNvPr>
          <p:cNvSpPr/>
          <p:nvPr/>
        </p:nvSpPr>
        <p:spPr>
          <a:xfrm>
            <a:off x="2059289" y="4931828"/>
            <a:ext cx="1046748" cy="4692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271EB643-1F51-A448-98C4-02EBEE469BD5}"/>
              </a:ext>
            </a:extLst>
          </p:cNvPr>
          <p:cNvSpPr/>
          <p:nvPr/>
        </p:nvSpPr>
        <p:spPr>
          <a:xfrm>
            <a:off x="2059289" y="5408532"/>
            <a:ext cx="1034255" cy="8180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7568D8E3-8612-744E-9390-625B79A2BE0E}"/>
              </a:ext>
            </a:extLst>
          </p:cNvPr>
          <p:cNvSpPr/>
          <p:nvPr/>
        </p:nvSpPr>
        <p:spPr>
          <a:xfrm>
            <a:off x="2046796" y="6244594"/>
            <a:ext cx="1046748" cy="4692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a[9]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D4E1DEFB-CD19-254C-9FBC-D470C7486255}"/>
              </a:ext>
            </a:extLst>
          </p:cNvPr>
          <p:cNvSpPr txBox="1"/>
          <p:nvPr/>
        </p:nvSpPr>
        <p:spPr>
          <a:xfrm>
            <a:off x="5771825" y="5064312"/>
            <a:ext cx="1051200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a+i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A9B5222A-5811-7F44-AEB1-6B71544E1CED}"/>
              </a:ext>
            </a:extLst>
          </p:cNvPr>
          <p:cNvSpPr/>
          <p:nvPr/>
        </p:nvSpPr>
        <p:spPr>
          <a:xfrm>
            <a:off x="7562539" y="4964412"/>
            <a:ext cx="1046748" cy="4692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*(</a:t>
            </a:r>
            <a:r>
              <a:rPr lang="en-US" dirty="0" err="1"/>
              <a:t>a+i</a:t>
            </a:r>
            <a:r>
              <a:rPr lang="en-US" dirty="0"/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9237C325-A91C-B547-AB14-1CFDCBC8233F}"/>
              </a:ext>
            </a:extLst>
          </p:cNvPr>
          <p:cNvSpPr txBox="1"/>
          <p:nvPr/>
        </p:nvSpPr>
        <p:spPr>
          <a:xfrm>
            <a:off x="8987148" y="5039200"/>
            <a:ext cx="1247274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2000 + 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*2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71BC3036-0436-4D41-87D8-79638E3EDFC9}"/>
              </a:ext>
            </a:extLst>
          </p:cNvPr>
          <p:cNvSpPr/>
          <p:nvPr/>
        </p:nvSpPr>
        <p:spPr>
          <a:xfrm>
            <a:off x="7575032" y="5408532"/>
            <a:ext cx="1046748" cy="8360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BBE992DC-8DD4-2F42-A2BA-7E0C19BA1DF9}"/>
              </a:ext>
            </a:extLst>
          </p:cNvPr>
          <p:cNvSpPr/>
          <p:nvPr/>
        </p:nvSpPr>
        <p:spPr>
          <a:xfrm>
            <a:off x="7575032" y="6267671"/>
            <a:ext cx="1046748" cy="4692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*(a+9)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50C1EFC7-DA22-D640-9380-E5BAA6066E04}"/>
              </a:ext>
            </a:extLst>
          </p:cNvPr>
          <p:cNvSpPr txBox="1"/>
          <p:nvPr/>
        </p:nvSpPr>
        <p:spPr>
          <a:xfrm>
            <a:off x="5570400" y="6317621"/>
            <a:ext cx="1051200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a+9: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D16D6F3B-D380-D947-BE20-5B11350C6908}"/>
              </a:ext>
            </a:extLst>
          </p:cNvPr>
          <p:cNvSpPr txBox="1"/>
          <p:nvPr/>
        </p:nvSpPr>
        <p:spPr>
          <a:xfrm>
            <a:off x="9025172" y="6277664"/>
            <a:ext cx="1051200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2018</a:t>
            </a:r>
          </a:p>
        </p:txBody>
      </p:sp>
    </p:spTree>
    <p:extLst>
      <p:ext uri="{BB962C8B-B14F-4D97-AF65-F5344CB8AC3E}">
        <p14:creationId xmlns:p14="http://schemas.microsoft.com/office/powerpoint/2010/main" val="301019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642872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xfrm>
            <a:off x="333375" y="1695450"/>
            <a:ext cx="7058025" cy="50482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 dirty="0"/>
              <a:t>Array of Pointer</a:t>
            </a:r>
          </a:p>
        </p:txBody>
      </p:sp>
      <p:sp>
        <p:nvSpPr>
          <p:cNvPr id="2" name="Rectangle 1"/>
          <p:cNvSpPr/>
          <p:nvPr/>
        </p:nvSpPr>
        <p:spPr>
          <a:xfrm>
            <a:off x="333374" y="2338705"/>
            <a:ext cx="1117282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accent4">
                    <a:lumMod val="75000"/>
                  </a:schemeClr>
                </a:solidFill>
              </a:rPr>
              <a:t>As we have an array of char, </a:t>
            </a:r>
            <a:r>
              <a:rPr lang="en-US" sz="2800" dirty="0" err="1">
                <a:solidFill>
                  <a:schemeClr val="accent4">
                    <a:lumMod val="75000"/>
                  </a:schemeClr>
                </a:solidFill>
              </a:rPr>
              <a:t>int</a:t>
            </a:r>
            <a:r>
              <a:rPr lang="en-US" sz="2800" dirty="0">
                <a:solidFill>
                  <a:schemeClr val="accent4">
                    <a:lumMod val="75000"/>
                  </a:schemeClr>
                </a:solidFill>
              </a:rPr>
              <a:t>, float </a:t>
            </a:r>
            <a:r>
              <a:rPr lang="en-US" sz="2800" dirty="0" err="1">
                <a:solidFill>
                  <a:schemeClr val="accent4">
                    <a:lumMod val="75000"/>
                  </a:schemeClr>
                </a:solidFill>
              </a:rPr>
              <a:t>etc</a:t>
            </a:r>
            <a:r>
              <a:rPr lang="en-US" sz="2800" dirty="0">
                <a:solidFill>
                  <a:schemeClr val="accent4">
                    <a:lumMod val="75000"/>
                  </a:schemeClr>
                </a:solidFill>
              </a:rPr>
              <a:t>, same way we can have an array of pointer.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accent4">
                    <a:lumMod val="75000"/>
                  </a:schemeClr>
                </a:solidFill>
              </a:rPr>
              <a:t>Individual elements of an array will store the address values. 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accent4">
                    <a:lumMod val="75000"/>
                  </a:schemeClr>
                </a:solidFill>
              </a:rPr>
              <a:t>So, an array is a collection of values of similar type. It can also be a collection of references of similar type known by single name</a:t>
            </a:r>
            <a:endParaRPr lang="en-IN" sz="28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16D6F3B-D380-D947-BE20-5B11350C6908}"/>
              </a:ext>
            </a:extLst>
          </p:cNvPr>
          <p:cNvSpPr txBox="1"/>
          <p:nvPr/>
        </p:nvSpPr>
        <p:spPr>
          <a:xfrm>
            <a:off x="8636669" y="5889358"/>
            <a:ext cx="10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2018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xmlns="" id="{160D7113-1706-4D44-BCA1-5BA23CD0E2EF}"/>
              </a:ext>
            </a:extLst>
          </p:cNvPr>
          <p:cNvSpPr/>
          <p:nvPr/>
        </p:nvSpPr>
        <p:spPr>
          <a:xfrm>
            <a:off x="333374" y="4908232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/>
              <a:t>Syntax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A84829EF-8DF4-4645-9983-3E22BB25F8A0}"/>
              </a:ext>
            </a:extLst>
          </p:cNvPr>
          <p:cNvSpPr/>
          <p:nvPr/>
        </p:nvSpPr>
        <p:spPr>
          <a:xfrm>
            <a:off x="1143000" y="5252406"/>
            <a:ext cx="3917930" cy="369332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datatype *name[size];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65D340A6-F4A9-AF46-949D-FF1E13537156}"/>
              </a:ext>
            </a:extLst>
          </p:cNvPr>
          <p:cNvSpPr/>
          <p:nvPr/>
        </p:nvSpPr>
        <p:spPr>
          <a:xfrm>
            <a:off x="330876" y="6124380"/>
            <a:ext cx="9137701" cy="369332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b="1" dirty="0" err="1">
                <a:solidFill>
                  <a:srgbClr val="569CD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IN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</a:t>
            </a:r>
            <a:r>
              <a:rPr lang="en-IN" b="1" dirty="0" err="1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IN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IN" b="1" dirty="0">
                <a:solidFill>
                  <a:srgbClr val="B5CEA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]; </a:t>
            </a:r>
            <a:r>
              <a:rPr lang="en-IN" b="1" dirty="0">
                <a:solidFill>
                  <a:srgbClr val="6A99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//declares an array of integer pointer of size 5</a:t>
            </a:r>
          </a:p>
        </p:txBody>
      </p:sp>
    </p:spTree>
    <p:extLst>
      <p:ext uri="{BB962C8B-B14F-4D97-AF65-F5344CB8AC3E}">
        <p14:creationId xmlns:p14="http://schemas.microsoft.com/office/powerpoint/2010/main" val="4194179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642872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xfrm>
            <a:off x="333375" y="1695450"/>
            <a:ext cx="7058025" cy="50482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 dirty="0"/>
              <a:t>Relation between Array &amp; Pointer</a:t>
            </a:r>
          </a:p>
        </p:txBody>
      </p:sp>
      <p:sp>
        <p:nvSpPr>
          <p:cNvPr id="2" name="Rectangle 1"/>
          <p:cNvSpPr/>
          <p:nvPr/>
        </p:nvSpPr>
        <p:spPr>
          <a:xfrm>
            <a:off x="333374" y="2338705"/>
            <a:ext cx="11172825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/>
              <a:t>When we declare an array, compiler allocates continuous blocks of memory so that all the elements of an array can be stored in that memory. 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/>
              <a:t>The address of first allocated byte or the address of first element is assigned to an array name. 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/>
              <a:t>Thus array name works as </a:t>
            </a:r>
            <a:r>
              <a:rPr lang="en-US" sz="2800" dirty="0">
                <a:solidFill>
                  <a:srgbClr val="92D050"/>
                </a:solidFill>
              </a:rPr>
              <a:t>pointer variable</a:t>
            </a:r>
            <a:r>
              <a:rPr lang="en-US" sz="2800" dirty="0"/>
              <a:t>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/>
              <a:t>The address of first element is also known as </a:t>
            </a:r>
            <a:r>
              <a:rPr lang="en-US" sz="2800" dirty="0">
                <a:solidFill>
                  <a:srgbClr val="92D050"/>
                </a:solidFill>
              </a:rPr>
              <a:t>base address</a:t>
            </a:r>
            <a:r>
              <a:rPr lang="en-US" sz="2800" dirty="0" smtClean="0"/>
              <a:t>.</a:t>
            </a:r>
            <a:r>
              <a:rPr lang="en-IN" sz="2800" dirty="0"/>
              <a:t/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16D6F3B-D380-D947-BE20-5B11350C6908}"/>
              </a:ext>
            </a:extLst>
          </p:cNvPr>
          <p:cNvSpPr txBox="1"/>
          <p:nvPr/>
        </p:nvSpPr>
        <p:spPr>
          <a:xfrm>
            <a:off x="8636669" y="5889358"/>
            <a:ext cx="10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2018</a:t>
            </a:r>
          </a:p>
        </p:txBody>
      </p:sp>
    </p:spTree>
    <p:extLst>
      <p:ext uri="{BB962C8B-B14F-4D97-AF65-F5344CB8AC3E}">
        <p14:creationId xmlns:p14="http://schemas.microsoft.com/office/powerpoint/2010/main" val="3100596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642872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xfrm>
            <a:off x="333375" y="1695450"/>
            <a:ext cx="7058025" cy="50482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 dirty="0"/>
              <a:t>Array of Pointer – Cont.</a:t>
            </a:r>
          </a:p>
        </p:txBody>
      </p:sp>
      <p:sp>
        <p:nvSpPr>
          <p:cNvPr id="2" name="Rectangle 1"/>
          <p:cNvSpPr/>
          <p:nvPr/>
        </p:nvSpPr>
        <p:spPr>
          <a:xfrm>
            <a:off x="333374" y="2338705"/>
            <a:ext cx="1117282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An array of pointers </a:t>
            </a:r>
            <a:r>
              <a:rPr lang="en-US" sz="2800" dirty="0" err="1"/>
              <a:t>ptr</a:t>
            </a:r>
            <a:r>
              <a:rPr lang="en-US" sz="2800" dirty="0"/>
              <a:t> can be used to point to different rows of matrix as follow:</a:t>
            </a:r>
          </a:p>
          <a:p>
            <a:endParaRPr lang="en-US" sz="2800" dirty="0"/>
          </a:p>
          <a:p>
            <a:pPr marL="457200" indent="-457200" algn="just">
              <a:buFont typeface="Wingdings" panose="05000000000000000000" pitchFamily="2" charset="2"/>
              <a:buChar char="q"/>
            </a:pP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16D6F3B-D380-D947-BE20-5B11350C6908}"/>
              </a:ext>
            </a:extLst>
          </p:cNvPr>
          <p:cNvSpPr txBox="1"/>
          <p:nvPr/>
        </p:nvSpPr>
        <p:spPr>
          <a:xfrm>
            <a:off x="8636669" y="5889358"/>
            <a:ext cx="105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2018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9A6B378A-2C8B-AF45-A8DC-FCA734D42615}"/>
              </a:ext>
            </a:extLst>
          </p:cNvPr>
          <p:cNvSpPr/>
          <p:nvPr/>
        </p:nvSpPr>
        <p:spPr>
          <a:xfrm>
            <a:off x="315885" y="3246646"/>
            <a:ext cx="9137701" cy="1200329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569CD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IN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b="1" dirty="0" err="1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IN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IN" b="1" dirty="0">
                <a:solidFill>
                  <a:srgbClr val="B5CEA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IN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IN" b="1" dirty="0" err="1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IN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IN" b="1" dirty="0">
                <a:solidFill>
                  <a:srgbClr val="B5CEA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IN" b="1" dirty="0" err="1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IN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r>
              <a:rPr lang="en-IN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IN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IN" b="1" dirty="0" err="1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IN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IN" b="1" dirty="0" err="1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IN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]=&amp;mat[</a:t>
            </a:r>
            <a:r>
              <a:rPr lang="en-IN" b="1" dirty="0" err="1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IN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][</a:t>
            </a:r>
            <a:r>
              <a:rPr lang="en-IN" b="1" dirty="0">
                <a:solidFill>
                  <a:srgbClr val="B5CEA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IN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r>
              <a:rPr lang="en-IN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105" y="4446975"/>
            <a:ext cx="5276695" cy="217603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2105" y="467417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By dynamic memory allocation, we do not require to declare two-dimensional array, it can be created dynamically using array of pointers</a:t>
            </a:r>
            <a:endParaRPr lang="en-IN" sz="24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6561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-64262" y="289248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xfrm>
            <a:off x="48561" y="1001717"/>
            <a:ext cx="11686239" cy="369332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 sz="2400" dirty="0"/>
              <a:t>Write a program to swap value of two variables using pointer / call by reference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1398A39-DA79-443A-B149-0FEF04D5E58D}"/>
              </a:ext>
            </a:extLst>
          </p:cNvPr>
          <p:cNvSpPr/>
          <p:nvPr/>
        </p:nvSpPr>
        <p:spPr>
          <a:xfrm>
            <a:off x="1107" y="1543998"/>
            <a:ext cx="8635562" cy="4031873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 err="1">
                <a:solidFill>
                  <a:srgbClr val="569CD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main()</a:t>
            </a:r>
          </a:p>
          <a:p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lvl="1"/>
            <a:r>
              <a:rPr lang="en-IN" sz="1600" b="1" dirty="0" err="1">
                <a:solidFill>
                  <a:srgbClr val="569CD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num1,num2;</a:t>
            </a:r>
          </a:p>
          <a:p>
            <a:pPr lvl="1"/>
            <a:r>
              <a:rPr lang="en-IN" sz="1600" b="1" dirty="0" err="1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b="1" dirty="0">
                <a:solidFill>
                  <a:srgbClr val="CE917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"Enter value of num1 and num2: "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lvl="1"/>
            <a:r>
              <a:rPr lang="en-IN" sz="1600" b="1" dirty="0" err="1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scanf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b="1" dirty="0">
                <a:solidFill>
                  <a:srgbClr val="CE917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"%d %d"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,&amp;num1, &amp;num2);</a:t>
            </a:r>
          </a:p>
          <a:p>
            <a:pPr lvl="1"/>
            <a:endParaRPr lang="en-IN" sz="1600" b="1" dirty="0">
              <a:solidFill>
                <a:srgbClr val="D4D4D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b="1" dirty="0">
                <a:solidFill>
                  <a:srgbClr val="6A99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//displaying numbers before swapping</a:t>
            </a:r>
            <a:endParaRPr lang="en-IN" sz="1600" b="1" dirty="0">
              <a:solidFill>
                <a:srgbClr val="D4D4D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b="1" dirty="0" err="1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b="1" dirty="0">
                <a:solidFill>
                  <a:srgbClr val="CE917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"Before Swapping: num1 is: %d, num2 is: %d\n"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,num1,num2);</a:t>
            </a:r>
          </a:p>
          <a:p>
            <a:pPr lvl="1"/>
            <a:endParaRPr lang="en-IN" sz="1600" b="1" dirty="0">
              <a:solidFill>
                <a:srgbClr val="D4D4D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b="1" dirty="0">
                <a:solidFill>
                  <a:srgbClr val="6A99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//calling the user defined function swap()</a:t>
            </a:r>
            <a:endParaRPr lang="en-IN" sz="1600" b="1" dirty="0">
              <a:solidFill>
                <a:srgbClr val="D4D4D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swap(&amp;num1,&amp;num2);</a:t>
            </a:r>
          </a:p>
          <a:p>
            <a:pPr lvl="1"/>
            <a:endParaRPr lang="en-IN" sz="1600" b="1" dirty="0">
              <a:solidFill>
                <a:srgbClr val="D4D4D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b="1" dirty="0">
                <a:solidFill>
                  <a:srgbClr val="6A995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//displaying numbers after swapping</a:t>
            </a:r>
            <a:endParaRPr lang="en-IN" sz="1600" b="1" dirty="0">
              <a:solidFill>
                <a:srgbClr val="D4D4D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b="1" dirty="0" err="1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b="1" dirty="0">
                <a:solidFill>
                  <a:srgbClr val="CE917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"After Swapping: num1 is: %d, num2 is: %d\n"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,num1,num2);</a:t>
            </a:r>
          </a:p>
          <a:p>
            <a:pPr lvl="1"/>
            <a:r>
              <a:rPr lang="en-IN" sz="1600" b="1" dirty="0">
                <a:solidFill>
                  <a:srgbClr val="569CD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b="1" dirty="0">
                <a:solidFill>
                  <a:srgbClr val="B5CEA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IN" sz="1600" b="1" dirty="0">
                <a:solidFill>
                  <a:srgbClr val="D4D4D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xmlns="" id="{44F07624-C23C-4B43-A144-CB0878CB992A}"/>
              </a:ext>
            </a:extLst>
          </p:cNvPr>
          <p:cNvSpPr/>
          <p:nvPr/>
        </p:nvSpPr>
        <p:spPr>
          <a:xfrm>
            <a:off x="0" y="5584228"/>
            <a:ext cx="87791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43D3284F-95E2-4F26-9D5F-AAD352CF22BD}"/>
              </a:ext>
            </a:extLst>
          </p:cNvPr>
          <p:cNvSpPr/>
          <p:nvPr/>
        </p:nvSpPr>
        <p:spPr>
          <a:xfrm>
            <a:off x="1013145" y="5587236"/>
            <a:ext cx="4787017" cy="1077218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Enter value of num1 and num2: 5 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10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Before Swapping: num1 is: 5, num2 is: 10</a:t>
            </a: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After  Swapping: num1 is: 10, num2 is: 5</a:t>
            </a:r>
          </a:p>
        </p:txBody>
      </p:sp>
    </p:spTree>
    <p:extLst>
      <p:ext uri="{BB962C8B-B14F-4D97-AF65-F5344CB8AC3E}">
        <p14:creationId xmlns:p14="http://schemas.microsoft.com/office/powerpoint/2010/main" val="3464897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animBg="1"/>
      <p:bldP spid="8" grpId="0" animBg="1"/>
      <p:bldP spid="9" grpId="0" uiExpand="1" build="p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-13741" y="1524000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 dirty="0" smtClean="0"/>
              <a:t>String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28600" y="2438400"/>
            <a:ext cx="7620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The string can be defined as the one-dimensional array of characters terminated by a null ('\0'). </a:t>
            </a:r>
            <a:endParaRPr lang="en-US" sz="24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 smtClean="0"/>
              <a:t>The </a:t>
            </a:r>
            <a:r>
              <a:rPr lang="en-US" sz="2400" dirty="0"/>
              <a:t>character array or the string is used to manipulate text such as word or sentences. </a:t>
            </a:r>
            <a:endParaRPr lang="en-US" sz="24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 smtClean="0"/>
              <a:t>Each </a:t>
            </a:r>
            <a:r>
              <a:rPr lang="en-US" sz="2400" dirty="0"/>
              <a:t>character in the array occupies one byte of memory, and the last character must always be 0. </a:t>
            </a:r>
            <a:endParaRPr lang="en-US" sz="24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 smtClean="0"/>
              <a:t>The </a:t>
            </a:r>
            <a:r>
              <a:rPr lang="en-US" sz="2400" dirty="0"/>
              <a:t>termination character ('\0') is important in a string since it is the only way to identify where the string ends. </a:t>
            </a:r>
            <a:endParaRPr lang="en-IN" sz="2400" dirty="0"/>
          </a:p>
        </p:txBody>
      </p:sp>
      <p:sp>
        <p:nvSpPr>
          <p:cNvPr id="10" name="Rectangle 9"/>
          <p:cNvSpPr/>
          <p:nvPr/>
        </p:nvSpPr>
        <p:spPr>
          <a:xfrm>
            <a:off x="8153400" y="2304216"/>
            <a:ext cx="2194560" cy="400110"/>
          </a:xfrm>
          <a:prstGeom prst="rect">
            <a:avLst/>
          </a:prstGeom>
          <a:solidFill>
            <a:srgbClr val="373737"/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569CD6"/>
                </a:solidFill>
                <a:latin typeface="Consolas" panose="020B0609020204030204" pitchFamily="49" charset="0"/>
              </a:rPr>
              <a:t>char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 name[</a:t>
            </a:r>
            <a:r>
              <a:rPr lang="en-US" sz="2000" b="1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  <a:endParaRPr lang="en-US" sz="20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811995"/>
              </p:ext>
            </p:extLst>
          </p:nvPr>
        </p:nvGraphicFramePr>
        <p:xfrm>
          <a:off x="7829862" y="2920729"/>
          <a:ext cx="4114800" cy="914400"/>
        </p:xfrm>
        <a:graphic>
          <a:graphicData uri="http://schemas.openxmlformats.org/drawingml/2006/table">
            <a:tbl>
              <a:tblPr firstRow="1" bandRow="1"/>
              <a:tblGrid>
                <a:gridCol w="8229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4210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[0]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[1]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[2]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…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[9]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9339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1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259830" y="5867400"/>
            <a:ext cx="1371600" cy="40011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name[</a:t>
            </a:r>
            <a:r>
              <a:rPr lang="en-US" sz="2000" b="1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  <a:endParaRPr lang="en-US" sz="20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748364"/>
              </p:ext>
            </p:extLst>
          </p:nvPr>
        </p:nvGraphicFramePr>
        <p:xfrm>
          <a:off x="2133600" y="5543246"/>
          <a:ext cx="6217920" cy="1056354"/>
        </p:xfrm>
        <a:graphic>
          <a:graphicData uri="http://schemas.openxmlformats.org/drawingml/2006/table">
            <a:tbl>
              <a:tblPr firstRow="1" bandRow="1"/>
              <a:tblGrid>
                <a:gridCol w="62179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</a:tblGrid>
              <a:tr h="4856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[0]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[1]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[2]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[3]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[4]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[5]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[6]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[7]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[8]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[9]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2083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C</a:t>
                      </a:r>
                      <a:endParaRPr lang="en-US" sz="2000" b="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U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200" dirty="0" smtClean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R</a:t>
                      </a:r>
                      <a:endParaRPr lang="en-US" sz="2000" b="0" kern="12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24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\0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8476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-13741" y="1524000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xfrm>
            <a:off x="332638" y="1695069"/>
            <a:ext cx="11526723" cy="492443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 dirty="0" smtClean="0"/>
              <a:t>String declaration and initialization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52400" y="2338324"/>
            <a:ext cx="5029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There are two ways to declare a string in c language.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By char array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dirty="0"/>
              <a:t>By string </a:t>
            </a:r>
            <a:r>
              <a:rPr lang="en-US" sz="2400" dirty="0" smtClean="0"/>
              <a:t>literal</a:t>
            </a:r>
            <a:endParaRPr lang="en-US" sz="2400" dirty="0"/>
          </a:p>
        </p:txBody>
      </p:sp>
      <p:sp>
        <p:nvSpPr>
          <p:cNvPr id="14" name="Rectangle: Top Corners Rounded 7">
            <a:extLst>
              <a:ext uri="{FF2B5EF4-FFF2-40B4-BE49-F238E27FC236}">
                <a16:creationId xmlns:a16="http://schemas.microsoft.com/office/drawing/2014/main" xmlns="" id="{44F07624-C23C-4B43-A144-CB0878CB992A}"/>
              </a:ext>
            </a:extLst>
          </p:cNvPr>
          <p:cNvSpPr/>
          <p:nvPr/>
        </p:nvSpPr>
        <p:spPr>
          <a:xfrm>
            <a:off x="152400" y="4021321"/>
            <a:ext cx="1554480" cy="299258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/>
              <a:t>Declaration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2400" y="4320579"/>
            <a:ext cx="2301796" cy="400110"/>
          </a:xfrm>
          <a:prstGeom prst="rect">
            <a:avLst/>
          </a:prstGeom>
          <a:solidFill>
            <a:srgbClr val="373737"/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569CD6"/>
                </a:solidFill>
                <a:latin typeface="Consolas" panose="020B0609020204030204" pitchFamily="49" charset="0"/>
              </a:rPr>
              <a:t>char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 name[</a:t>
            </a:r>
            <a:r>
              <a:rPr lang="en-US" sz="2000" b="1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  <a:endParaRPr lang="en-US" sz="20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Rectangle: Top Corners Rounded 7">
            <a:extLst>
              <a:ext uri="{FF2B5EF4-FFF2-40B4-BE49-F238E27FC236}">
                <a16:creationId xmlns:a16="http://schemas.microsoft.com/office/drawing/2014/main" xmlns="" id="{44F07624-C23C-4B43-A144-CB0878CB992A}"/>
              </a:ext>
            </a:extLst>
          </p:cNvPr>
          <p:cNvSpPr/>
          <p:nvPr/>
        </p:nvSpPr>
        <p:spPr>
          <a:xfrm>
            <a:off x="5867400" y="2381697"/>
            <a:ext cx="283464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/>
              <a:t>Initialization method 1: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1400" y="2843807"/>
            <a:ext cx="7053454" cy="707886"/>
          </a:xfrm>
          <a:prstGeom prst="rect">
            <a:avLst/>
          </a:prstGeom>
          <a:solidFill>
            <a:srgbClr val="373737"/>
          </a:solidFill>
        </p:spPr>
        <p:txBody>
          <a:bodyPr wrap="square">
            <a:spAutoFit/>
          </a:bodyPr>
          <a:lstStyle/>
          <a:p>
            <a:pPr algn="r"/>
            <a:r>
              <a:rPr lang="en-US" sz="2000" b="1" dirty="0">
                <a:solidFill>
                  <a:srgbClr val="569CD6"/>
                </a:solidFill>
                <a:latin typeface="Consolas" panose="020B0609020204030204" pitchFamily="49" charset="0"/>
              </a:rPr>
              <a:t>char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 name[</a:t>
            </a:r>
            <a:r>
              <a:rPr lang="en-US" sz="2000" b="1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en-US" sz="2000" b="1" dirty="0" smtClean="0">
                <a:solidFill>
                  <a:srgbClr val="D4D4D4"/>
                </a:solidFill>
                <a:latin typeface="Consolas" panose="020B0609020204030204" pitchFamily="49" charset="0"/>
              </a:rPr>
              <a:t>]={</a:t>
            </a:r>
            <a:r>
              <a:rPr lang="en-US" sz="2000" b="1" dirty="0" smtClean="0">
                <a:solidFill>
                  <a:srgbClr val="CE9178"/>
                </a:solidFill>
                <a:latin typeface="Consolas" panose="020B0609020204030204" pitchFamily="49" charset="0"/>
              </a:rPr>
              <a:t>‘C'</a:t>
            </a:r>
            <a:r>
              <a:rPr lang="en-US" sz="2000" b="1" dirty="0" smtClean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2000" b="1" dirty="0" smtClean="0">
                <a:solidFill>
                  <a:srgbClr val="CE9178"/>
                </a:solidFill>
                <a:latin typeface="Consolas" panose="020B0609020204030204" pitchFamily="49" charset="0"/>
              </a:rPr>
              <a:t>‘O'</a:t>
            </a:r>
            <a:r>
              <a:rPr lang="en-US" sz="2000" b="1" dirty="0" smtClean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2000" b="1" dirty="0" smtClean="0">
                <a:solidFill>
                  <a:srgbClr val="CE9178"/>
                </a:solidFill>
                <a:latin typeface="Consolas" panose="020B0609020204030204" pitchFamily="49" charset="0"/>
              </a:rPr>
              <a:t>‘M'</a:t>
            </a:r>
            <a:r>
              <a:rPr lang="en-US" sz="2000" b="1" dirty="0" smtClean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2000" b="1" dirty="0" smtClean="0">
                <a:solidFill>
                  <a:srgbClr val="CE9178"/>
                </a:solidFill>
                <a:latin typeface="Consolas" panose="020B0609020204030204" pitchFamily="49" charset="0"/>
              </a:rPr>
              <a:t>‘P'</a:t>
            </a:r>
            <a:r>
              <a:rPr lang="en-US" sz="2000" b="1" dirty="0" smtClean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2000" b="1" dirty="0" smtClean="0">
                <a:solidFill>
                  <a:srgbClr val="CE9178"/>
                </a:solidFill>
                <a:latin typeface="Consolas" panose="020B0609020204030204" pitchFamily="49" charset="0"/>
              </a:rPr>
              <a:t>‘U'</a:t>
            </a:r>
            <a:r>
              <a:rPr lang="en-US" sz="2000" b="1" dirty="0" smtClean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2000" b="1" dirty="0" smtClean="0">
                <a:solidFill>
                  <a:srgbClr val="CE9178"/>
                </a:solidFill>
                <a:latin typeface="Consolas" panose="020B0609020204030204" pitchFamily="49" charset="0"/>
              </a:rPr>
              <a:t>‘T'</a:t>
            </a:r>
            <a:r>
              <a:rPr lang="en-US" sz="2000" b="1" dirty="0" smtClean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sz="2000" b="1" dirty="0" smtClean="0">
                <a:solidFill>
                  <a:srgbClr val="CE9178"/>
                </a:solidFill>
                <a:latin typeface="Consolas" panose="020B0609020204030204" pitchFamily="49" charset="0"/>
              </a:rPr>
              <a:t>‘E'</a:t>
            </a:r>
            <a:r>
              <a:rPr lang="en-US" sz="2000" b="1" dirty="0" smtClean="0">
                <a:solidFill>
                  <a:srgbClr val="D4D4D4"/>
                </a:solidFill>
                <a:latin typeface="Consolas" panose="020B0609020204030204" pitchFamily="49" charset="0"/>
              </a:rPr>
              <a:t>,’R’,</a:t>
            </a:r>
            <a:r>
              <a:rPr lang="en-US" sz="2000" b="1" dirty="0" smtClean="0">
                <a:solidFill>
                  <a:srgbClr val="CE9178"/>
                </a:solidFill>
                <a:latin typeface="Consolas" panose="020B0609020204030204" pitchFamily="49" charset="0"/>
              </a:rPr>
              <a:t>'\</a:t>
            </a:r>
            <a:r>
              <a:rPr lang="en-US" sz="2000" b="1" dirty="0">
                <a:solidFill>
                  <a:srgbClr val="CE9178"/>
                </a:solidFill>
                <a:latin typeface="Consolas" panose="020B0609020204030204" pitchFamily="49" charset="0"/>
              </a:rPr>
              <a:t>0'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};</a:t>
            </a:r>
            <a:endParaRPr lang="en-US" sz="20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Rectangle: Top Corners Rounded 7">
            <a:extLst>
              <a:ext uri="{FF2B5EF4-FFF2-40B4-BE49-F238E27FC236}">
                <a16:creationId xmlns:a16="http://schemas.microsoft.com/office/drawing/2014/main" xmlns="" id="{44F07624-C23C-4B43-A144-CB0878CB992A}"/>
              </a:ext>
            </a:extLst>
          </p:cNvPr>
          <p:cNvSpPr/>
          <p:nvPr/>
        </p:nvSpPr>
        <p:spPr>
          <a:xfrm>
            <a:off x="4953000" y="3645263"/>
            <a:ext cx="283464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2000" dirty="0"/>
              <a:t>Initialization method 2: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53918" y="3973198"/>
            <a:ext cx="8001000" cy="1015663"/>
          </a:xfrm>
          <a:prstGeom prst="rect">
            <a:avLst/>
          </a:prstGeom>
          <a:solidFill>
            <a:srgbClr val="373737"/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569CD6"/>
                </a:solidFill>
                <a:latin typeface="Consolas" panose="020B0609020204030204" pitchFamily="49" charset="0"/>
              </a:rPr>
              <a:t>char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 name[</a:t>
            </a:r>
            <a:r>
              <a:rPr lang="en-US" sz="2000" b="1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en-US" sz="2000" b="1" dirty="0" smtClean="0">
                <a:solidFill>
                  <a:srgbClr val="D4D4D4"/>
                </a:solidFill>
                <a:latin typeface="Consolas" panose="020B0609020204030204" pitchFamily="49" charset="0"/>
              </a:rPr>
              <a:t>]=</a:t>
            </a:r>
            <a:r>
              <a:rPr lang="en-US" sz="2000" b="1" dirty="0" smtClean="0">
                <a:solidFill>
                  <a:srgbClr val="CE9178"/>
                </a:solidFill>
                <a:latin typeface="Consolas" panose="020B0609020204030204" pitchFamily="49" charset="0"/>
              </a:rPr>
              <a:t>“COMPUTER"</a:t>
            </a:r>
            <a:r>
              <a:rPr lang="en-US" sz="2000" b="1" dirty="0" smtClean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en-US" sz="2000" b="1" dirty="0">
                <a:solidFill>
                  <a:srgbClr val="6A9955"/>
                </a:solidFill>
                <a:latin typeface="Consolas" panose="020B0609020204030204" pitchFamily="49" charset="0"/>
              </a:rPr>
              <a:t>//'\0' will be automatically inserted at the end in this type of declaration.</a:t>
            </a:r>
            <a:endParaRPr lang="en-US" sz="20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53649" y="6096000"/>
            <a:ext cx="1371600" cy="40011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name[</a:t>
            </a:r>
            <a:r>
              <a:rPr lang="en-US" sz="2000" b="1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en-US" sz="2000" b="1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  <a:endParaRPr lang="en-US" sz="20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23993"/>
              </p:ext>
            </p:extLst>
          </p:nvPr>
        </p:nvGraphicFramePr>
        <p:xfrm>
          <a:off x="3261360" y="5501319"/>
          <a:ext cx="6217920" cy="991140"/>
        </p:xfrm>
        <a:graphic>
          <a:graphicData uri="http://schemas.openxmlformats.org/drawingml/2006/table">
            <a:tbl>
              <a:tblPr firstRow="1" bandRow="1"/>
              <a:tblGrid>
                <a:gridCol w="62179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</a:tblGrid>
              <a:tr h="4856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[0]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[1]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[2]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[3]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[4]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[5]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[6]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[7]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[8]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[9]</a:t>
                      </a: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2083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C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200" dirty="0" smtClean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U</a:t>
                      </a:r>
                      <a:endParaRPr lang="en-US" sz="2000" b="0" kern="12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200" dirty="0" smtClean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T</a:t>
                      </a:r>
                      <a:endParaRPr lang="en-US" sz="2000" b="0" kern="12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200" dirty="0" smtClean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R</a:t>
                      </a:r>
                      <a:endParaRPr lang="en-US" sz="2000" b="0" kern="12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\0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4538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-13741" y="1524000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xfrm>
            <a:off x="332638" y="1695070"/>
            <a:ext cx="11526723" cy="472186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 dirty="0" smtClean="0"/>
              <a:t>Difference </a:t>
            </a:r>
            <a:r>
              <a:rPr lang="en-US" dirty="0"/>
              <a:t>between char array and string literal</a:t>
            </a:r>
            <a:br>
              <a:rPr lang="en-US" dirty="0"/>
            </a:b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0"/>
            <a:ext cx="108204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/>
              <a:t>There </a:t>
            </a:r>
            <a:r>
              <a:rPr lang="en-US" sz="2800" dirty="0"/>
              <a:t>are two main differences between char array and literal.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We need to add the null character '\0' at the end of the array by </a:t>
            </a:r>
            <a:r>
              <a:rPr lang="en-US" sz="2800" dirty="0" err="1"/>
              <a:t>ourself</a:t>
            </a:r>
            <a:r>
              <a:rPr lang="en-US" sz="2800" dirty="0"/>
              <a:t> whereas, it is appended internally by the compiler in the case of the character array.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The string literal cannot be reassigned to another set of characters whereas, we can reassign the characters of the array.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989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-13741" y="1524000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xfrm>
            <a:off x="332638" y="1695069"/>
            <a:ext cx="11526723" cy="492443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 dirty="0"/>
              <a:t>Read String: </a:t>
            </a:r>
            <a:r>
              <a:rPr lang="en-US" dirty="0" err="1"/>
              <a:t>scanf</a:t>
            </a:r>
            <a:r>
              <a:rPr lang="en-US" dirty="0"/>
              <a:t>()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D1398A39-DA79-443A-B149-0FEF04D5E58D}"/>
              </a:ext>
            </a:extLst>
          </p:cNvPr>
          <p:cNvSpPr/>
          <p:nvPr/>
        </p:nvSpPr>
        <p:spPr>
          <a:xfrm>
            <a:off x="-13741" y="2187512"/>
            <a:ext cx="5269744" cy="2031325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main()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char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name[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"Enter name:"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scanf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"%</a:t>
            </a:r>
            <a:r>
              <a:rPr lang="en-US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s"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,name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"Name=%</a:t>
            </a:r>
            <a:r>
              <a:rPr lang="en-US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s"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,name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: Top Corners Rounded 7">
            <a:extLst>
              <a:ext uri="{FF2B5EF4-FFF2-40B4-BE49-F238E27FC236}">
                <a16:creationId xmlns:a16="http://schemas.microsoft.com/office/drawing/2014/main" xmlns="" id="{44F07624-C23C-4B43-A144-CB0878CB992A}"/>
              </a:ext>
            </a:extLst>
          </p:cNvPr>
          <p:cNvSpPr/>
          <p:nvPr/>
        </p:nvSpPr>
        <p:spPr>
          <a:xfrm>
            <a:off x="6553200" y="2338324"/>
            <a:ext cx="87791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3D3284F-95E2-4F26-9D5F-AAD352CF22BD}"/>
              </a:ext>
            </a:extLst>
          </p:cNvPr>
          <p:cNvSpPr/>
          <p:nvPr/>
        </p:nvSpPr>
        <p:spPr>
          <a:xfrm>
            <a:off x="6553200" y="2684335"/>
            <a:ext cx="3749040" cy="646331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Enter name: </a:t>
            </a:r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Parul </a:t>
            </a:r>
          </a:p>
          <a:p>
            <a:pPr lvl="0"/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Name=Parul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Rectangle: Top Corners Rounded 7">
            <a:extLst>
              <a:ext uri="{FF2B5EF4-FFF2-40B4-BE49-F238E27FC236}">
                <a16:creationId xmlns:a16="http://schemas.microsoft.com/office/drawing/2014/main" xmlns="" id="{44F07624-C23C-4B43-A144-CB0878CB992A}"/>
              </a:ext>
            </a:extLst>
          </p:cNvPr>
          <p:cNvSpPr/>
          <p:nvPr/>
        </p:nvSpPr>
        <p:spPr>
          <a:xfrm>
            <a:off x="6553200" y="3347493"/>
            <a:ext cx="87791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Output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43D3284F-95E2-4F26-9D5F-AAD352CF22BD}"/>
              </a:ext>
            </a:extLst>
          </p:cNvPr>
          <p:cNvSpPr/>
          <p:nvPr/>
        </p:nvSpPr>
        <p:spPr>
          <a:xfrm>
            <a:off x="6553200" y="3693504"/>
            <a:ext cx="3749040" cy="646331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Enter name: </a:t>
            </a:r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CSE Parul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/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Name=CSE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52399" y="4339835"/>
            <a:ext cx="1202585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/>
              <a:t>There is no need to use address of </a:t>
            </a:r>
            <a:r>
              <a:rPr lang="en-US" sz="2800" dirty="0">
                <a:solidFill>
                  <a:srgbClr val="F9267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(&amp;)</a:t>
            </a:r>
            <a:r>
              <a:rPr lang="en-US" sz="2800" dirty="0"/>
              <a:t> operator in </a:t>
            </a:r>
            <a:r>
              <a:rPr lang="en-US" sz="2800" dirty="0" err="1">
                <a:solidFill>
                  <a:srgbClr val="F9267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scanf</a:t>
            </a:r>
            <a:r>
              <a:rPr lang="en-US" sz="2800" dirty="0"/>
              <a:t> to store a string. 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/>
              <a:t>As string </a:t>
            </a:r>
            <a:r>
              <a:rPr lang="en-US" sz="2800" dirty="0">
                <a:solidFill>
                  <a:srgbClr val="F9267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US" sz="2800" dirty="0"/>
              <a:t> is an array of characters and the name of the array, i.e., </a:t>
            </a:r>
            <a:r>
              <a:rPr lang="en-US" sz="2800" dirty="0">
                <a:solidFill>
                  <a:srgbClr val="F9267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</a:t>
            </a:r>
            <a:r>
              <a:rPr lang="en-US" sz="2800" dirty="0"/>
              <a:t> indicates the base address of the string (character array).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 err="1">
                <a:solidFill>
                  <a:srgbClr val="F9267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scanf</a:t>
            </a:r>
            <a:r>
              <a:rPr lang="en-US" sz="2800" dirty="0">
                <a:solidFill>
                  <a:srgbClr val="F9267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sz="2800" dirty="0"/>
              <a:t> terminates its input on the first whitespace(space, tab, newline etc.) encountered.</a:t>
            </a: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30777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-13741" y="1524000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xfrm>
            <a:off x="332638" y="1695069"/>
            <a:ext cx="11526723" cy="492443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 dirty="0"/>
              <a:t>Read String: gets()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D1398A39-DA79-443A-B149-0FEF04D5E58D}"/>
              </a:ext>
            </a:extLst>
          </p:cNvPr>
          <p:cNvSpPr/>
          <p:nvPr/>
        </p:nvSpPr>
        <p:spPr>
          <a:xfrm>
            <a:off x="0" y="2205001"/>
            <a:ext cx="6858000" cy="2308324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#include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&lt;</a:t>
            </a:r>
            <a:r>
              <a:rPr lang="en-US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stdio.h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&gt;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main()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char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name[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"Enter name:"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gets(name); </a:t>
            </a:r>
            <a:r>
              <a:rPr lang="en-US" b="1" dirty="0">
                <a:solidFill>
                  <a:srgbClr val="6A9955"/>
                </a:solidFill>
                <a:latin typeface="Consolas" panose="020B0609020204030204" pitchFamily="49" charset="0"/>
              </a:rPr>
              <a:t>//read string including white spaces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"Name=%</a:t>
            </a:r>
            <a:r>
              <a:rPr lang="en-US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s"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,name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: Top Corners Rounded 7">
            <a:extLst>
              <a:ext uri="{FF2B5EF4-FFF2-40B4-BE49-F238E27FC236}">
                <a16:creationId xmlns:a16="http://schemas.microsoft.com/office/drawing/2014/main" xmlns="" id="{44F07624-C23C-4B43-A144-CB0878CB992A}"/>
              </a:ext>
            </a:extLst>
          </p:cNvPr>
          <p:cNvSpPr/>
          <p:nvPr/>
        </p:nvSpPr>
        <p:spPr>
          <a:xfrm>
            <a:off x="7315200" y="2338324"/>
            <a:ext cx="87791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Output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3D3284F-95E2-4F26-9D5F-AAD352CF22BD}"/>
              </a:ext>
            </a:extLst>
          </p:cNvPr>
          <p:cNvSpPr/>
          <p:nvPr/>
        </p:nvSpPr>
        <p:spPr>
          <a:xfrm>
            <a:off x="7326443" y="2818320"/>
            <a:ext cx="3749040" cy="646331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lvl="0"/>
            <a:r>
              <a:rPr lang="de-DE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Enter </a:t>
            </a:r>
            <a:r>
              <a:rPr lang="de-DE" dirty="0" smtClean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name:Parul University Name=Parul University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81000" y="4272677"/>
            <a:ext cx="11277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endParaRPr lang="en-US" sz="2400" dirty="0" smtClean="0">
              <a:solidFill>
                <a:srgbClr val="F9267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rgbClr val="F9267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gets</a:t>
            </a:r>
            <a:r>
              <a:rPr lang="en-US" sz="2400" dirty="0">
                <a:solidFill>
                  <a:srgbClr val="F9267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():</a:t>
            </a:r>
            <a:r>
              <a:rPr lang="en-US" sz="2400" dirty="0"/>
              <a:t> Reads characters from the standard input and stores them as a string.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F9267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puts(): </a:t>
            </a:r>
            <a:r>
              <a:rPr lang="en-US" sz="2400" dirty="0"/>
              <a:t>Prints characters from the standard.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rgbClr val="F9267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scanf</a:t>
            </a:r>
            <a:r>
              <a:rPr lang="en-US" sz="2400" dirty="0">
                <a:solidFill>
                  <a:srgbClr val="F9267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(): </a:t>
            </a:r>
            <a:r>
              <a:rPr lang="en-US" sz="2400" dirty="0"/>
              <a:t>Reads input until it encounters whitespace, newline or End Of File</a:t>
            </a:r>
            <a:r>
              <a:rPr lang="en-US" sz="2400" dirty="0">
                <a:solidFill>
                  <a:srgbClr val="F9267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(EOF) </a:t>
            </a:r>
            <a:r>
              <a:rPr lang="en-US" sz="2400" dirty="0"/>
              <a:t>whereas </a:t>
            </a:r>
            <a:r>
              <a:rPr lang="en-US" sz="2400" dirty="0">
                <a:solidFill>
                  <a:srgbClr val="F9267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gets() </a:t>
            </a:r>
            <a:r>
              <a:rPr lang="en-US" sz="2400" dirty="0"/>
              <a:t>reads input until it encounters newline or End Of File</a:t>
            </a:r>
            <a:r>
              <a:rPr lang="en-US" sz="2400" dirty="0">
                <a:solidFill>
                  <a:srgbClr val="F9267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(EOF)</a:t>
            </a:r>
            <a:r>
              <a:rPr lang="en-US" sz="2400" dirty="0"/>
              <a:t>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F9267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gets(): </a:t>
            </a:r>
            <a:r>
              <a:rPr lang="en-US" sz="2400" dirty="0"/>
              <a:t>Does not stop reading input when it encounters whitespace instead it takes whitespace as a string.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30976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-13741" y="1524000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xfrm>
            <a:off x="332638" y="1695069"/>
            <a:ext cx="11526723" cy="492443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 dirty="0"/>
              <a:t>String Handling Functions : </a:t>
            </a:r>
            <a:r>
              <a:rPr lang="en-US" dirty="0" err="1"/>
              <a:t>strlen</a:t>
            </a:r>
            <a:r>
              <a:rPr lang="en-US" dirty="0"/>
              <a:t>()</a:t>
            </a:r>
          </a:p>
        </p:txBody>
      </p:sp>
      <p:sp>
        <p:nvSpPr>
          <p:cNvPr id="2" name="Rectangle 1"/>
          <p:cNvSpPr/>
          <p:nvPr/>
        </p:nvSpPr>
        <p:spPr>
          <a:xfrm>
            <a:off x="79947" y="2358581"/>
            <a:ext cx="1177941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C has several inbuilt functions to operate on string. These functions are known as string handling functions.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 err="1">
                <a:solidFill>
                  <a:srgbClr val="F9267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US" sz="2800" dirty="0">
                <a:solidFill>
                  <a:srgbClr val="F9267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(s1):</a:t>
            </a:r>
            <a:r>
              <a:rPr lang="en-US" sz="2800" dirty="0"/>
              <a:t> returns length of a string in integer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800" dirty="0"/>
          </a:p>
        </p:txBody>
      </p:sp>
      <p:sp>
        <p:nvSpPr>
          <p:cNvPr id="5" name="Rectangle: Top Corners Rounded 6">
            <a:extLst>
              <a:ext uri="{FF2B5EF4-FFF2-40B4-BE49-F238E27FC236}">
                <a16:creationId xmlns:a16="http://schemas.microsoft.com/office/drawing/2014/main" xmlns="" id="{7DE2E865-9E82-412F-B6BA-A643E4B60DC8}"/>
              </a:ext>
            </a:extLst>
          </p:cNvPr>
          <p:cNvSpPr/>
          <p:nvPr/>
        </p:nvSpPr>
        <p:spPr>
          <a:xfrm>
            <a:off x="152400" y="3726656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Program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D1398A39-DA79-443A-B149-0FEF04D5E58D}"/>
              </a:ext>
            </a:extLst>
          </p:cNvPr>
          <p:cNvSpPr/>
          <p:nvPr/>
        </p:nvSpPr>
        <p:spPr>
          <a:xfrm>
            <a:off x="75950" y="4055840"/>
            <a:ext cx="8138160" cy="2585323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#include 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&lt;</a:t>
            </a:r>
            <a:r>
              <a:rPr lang="en-US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stdio.h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&gt;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#include 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&lt;</a:t>
            </a:r>
            <a:r>
              <a:rPr lang="en-US" b="1" dirty="0" err="1">
                <a:solidFill>
                  <a:srgbClr val="CE9178"/>
                </a:solidFill>
                <a:latin typeface="Consolas" panose="020B0609020204030204" pitchFamily="49" charset="0"/>
              </a:rPr>
              <a:t>string.h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&gt;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 </a:t>
            </a:r>
            <a:r>
              <a:rPr lang="en-US" b="1" dirty="0">
                <a:solidFill>
                  <a:srgbClr val="6A9955"/>
                </a:solidFill>
                <a:latin typeface="Consolas" panose="020B0609020204030204" pitchFamily="49" charset="0"/>
              </a:rPr>
              <a:t>//header file for string functions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main()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char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b="1" dirty="0" smtClean="0">
                <a:solidFill>
                  <a:srgbClr val="D4D4D4"/>
                </a:solidFill>
                <a:latin typeface="Consolas" panose="020B0609020204030204" pitchFamily="49" charset="0"/>
              </a:rPr>
              <a:t>s1[</a:t>
            </a:r>
            <a:r>
              <a:rPr lang="en-US" b="1" dirty="0" smtClean="0">
                <a:solidFill>
                  <a:srgbClr val="B5CEA8"/>
                </a:solidFill>
                <a:latin typeface="Consolas" panose="020B0609020204030204" pitchFamily="49" charset="0"/>
              </a:rPr>
              <a:t>20</a:t>
            </a:r>
            <a:r>
              <a:rPr lang="en-US" b="1" dirty="0" smtClean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"Enter string:"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gets(s1);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"%d"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strlen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(s1)); </a:t>
            </a:r>
            <a:r>
              <a:rPr lang="en-US" b="1" dirty="0">
                <a:solidFill>
                  <a:srgbClr val="6A9955"/>
                </a:solidFill>
                <a:latin typeface="Consolas" panose="020B0609020204030204" pitchFamily="49" charset="0"/>
              </a:rPr>
              <a:t>// returns length of s1 in integer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: Top Corners Rounded 7">
            <a:extLst>
              <a:ext uri="{FF2B5EF4-FFF2-40B4-BE49-F238E27FC236}">
                <a16:creationId xmlns:a16="http://schemas.microsoft.com/office/drawing/2014/main" xmlns="" id="{44F07624-C23C-4B43-A144-CB0878CB992A}"/>
              </a:ext>
            </a:extLst>
          </p:cNvPr>
          <p:cNvSpPr/>
          <p:nvPr/>
        </p:nvSpPr>
        <p:spPr>
          <a:xfrm>
            <a:off x="8839200" y="3980866"/>
            <a:ext cx="87791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Output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43D3284F-95E2-4F26-9D5F-AAD352CF22BD}"/>
              </a:ext>
            </a:extLst>
          </p:cNvPr>
          <p:cNvSpPr/>
          <p:nvPr/>
        </p:nvSpPr>
        <p:spPr>
          <a:xfrm>
            <a:off x="8839200" y="4307062"/>
            <a:ext cx="3200400" cy="92333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Enter string: </a:t>
            </a:r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Parul University </a:t>
            </a:r>
          </a:p>
          <a:p>
            <a:pPr lvl="0"/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15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684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-13741" y="1524000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xfrm>
            <a:off x="332638" y="1695069"/>
            <a:ext cx="11526723" cy="492443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 dirty="0"/>
              <a:t>String Handling Functions: </a:t>
            </a:r>
            <a:r>
              <a:rPr lang="en-US" dirty="0" err="1"/>
              <a:t>strcmp</a:t>
            </a:r>
            <a:r>
              <a:rPr lang="en-US" dirty="0"/>
              <a:t>()</a:t>
            </a:r>
          </a:p>
        </p:txBody>
      </p:sp>
      <p:sp>
        <p:nvSpPr>
          <p:cNvPr id="2" name="Rectangle 1"/>
          <p:cNvSpPr/>
          <p:nvPr/>
        </p:nvSpPr>
        <p:spPr>
          <a:xfrm>
            <a:off x="1274788" y="2275923"/>
            <a:ext cx="96149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 err="1">
                <a:solidFill>
                  <a:srgbClr val="F9267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strcmp</a:t>
            </a:r>
            <a:r>
              <a:rPr lang="en-US" sz="2400" dirty="0">
                <a:solidFill>
                  <a:srgbClr val="F9267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(s1,s2):</a:t>
            </a:r>
            <a:r>
              <a:rPr lang="en-US" sz="2400" dirty="0"/>
              <a:t> Returns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400" dirty="0"/>
              <a:t> if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s1</a:t>
            </a:r>
            <a:r>
              <a:rPr lang="en-US" sz="2400" dirty="0"/>
              <a:t> and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s2</a:t>
            </a:r>
            <a:r>
              <a:rPr lang="en-US" sz="2400" dirty="0"/>
              <a:t> are the same.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Returns less than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400" dirty="0"/>
              <a:t> if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s1&lt;s2.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Returns greater than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400" dirty="0"/>
              <a:t> if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s1&gt;s2</a:t>
            </a:r>
            <a:r>
              <a:rPr lang="en-US" sz="2400" dirty="0"/>
              <a:t>.</a:t>
            </a:r>
          </a:p>
        </p:txBody>
      </p:sp>
      <p:sp>
        <p:nvSpPr>
          <p:cNvPr id="5" name="Rectangle: Top Corners Rounded 6">
            <a:extLst>
              <a:ext uri="{FF2B5EF4-FFF2-40B4-BE49-F238E27FC236}">
                <a16:creationId xmlns:a16="http://schemas.microsoft.com/office/drawing/2014/main" xmlns="" id="{7DE2E865-9E82-412F-B6BA-A643E4B60DC8}"/>
              </a:ext>
            </a:extLst>
          </p:cNvPr>
          <p:cNvSpPr/>
          <p:nvPr/>
        </p:nvSpPr>
        <p:spPr>
          <a:xfrm>
            <a:off x="77805" y="3268131"/>
            <a:ext cx="109055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Program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D1398A39-DA79-443A-B149-0FEF04D5E58D}"/>
              </a:ext>
            </a:extLst>
          </p:cNvPr>
          <p:cNvSpPr/>
          <p:nvPr/>
        </p:nvSpPr>
        <p:spPr>
          <a:xfrm>
            <a:off x="77805" y="3597315"/>
            <a:ext cx="6856395" cy="3139321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main()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char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s1[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],s2[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"Enter string-1:"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gets(s1);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"Enter string-2:"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gets(s2);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if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strcmp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(s1,s2)==</a:t>
            </a:r>
            <a:r>
              <a:rPr lang="en-US" b="1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"Strings are same"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b="1" dirty="0">
                <a:solidFill>
                  <a:srgbClr val="569CD6"/>
                </a:solidFill>
                <a:latin typeface="Consolas" panose="020B0609020204030204" pitchFamily="49" charset="0"/>
              </a:rPr>
              <a:t>else</a:t>
            </a:r>
            <a:endParaRPr lang="en-US" b="1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</a:t>
            </a:r>
            <a:r>
              <a:rPr lang="en-US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printf</a:t>
            </a:r>
            <a:r>
              <a:rPr lang="en-US" b="1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CE9178"/>
                </a:solidFill>
                <a:latin typeface="Consolas" panose="020B0609020204030204" pitchFamily="49" charset="0"/>
              </a:rPr>
              <a:t>"Strings are not same</a:t>
            </a:r>
            <a:r>
              <a:rPr lang="en-US" b="1" dirty="0" smtClean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b="1" dirty="0" smtClean="0">
                <a:solidFill>
                  <a:srgbClr val="D4D4D4"/>
                </a:solidFill>
                <a:latin typeface="Consolas" panose="020B0609020204030204" pitchFamily="49" charset="0"/>
              </a:rPr>
              <a:t>);}</a:t>
            </a:r>
            <a:endParaRPr lang="en-US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: Top Corners Rounded 7">
            <a:extLst>
              <a:ext uri="{FF2B5EF4-FFF2-40B4-BE49-F238E27FC236}">
                <a16:creationId xmlns:a16="http://schemas.microsoft.com/office/drawing/2014/main" xmlns="" id="{44F07624-C23C-4B43-A144-CB0878CB992A}"/>
              </a:ext>
            </a:extLst>
          </p:cNvPr>
          <p:cNvSpPr/>
          <p:nvPr/>
        </p:nvSpPr>
        <p:spPr>
          <a:xfrm>
            <a:off x="8229600" y="3597315"/>
            <a:ext cx="87791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Output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43D3284F-95E2-4F26-9D5F-AAD352CF22BD}"/>
              </a:ext>
            </a:extLst>
          </p:cNvPr>
          <p:cNvSpPr/>
          <p:nvPr/>
        </p:nvSpPr>
        <p:spPr>
          <a:xfrm>
            <a:off x="8229600" y="3926499"/>
            <a:ext cx="3200400" cy="92333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Enter string-1:Computer</a:t>
            </a:r>
          </a:p>
          <a:p>
            <a:pPr lvl="0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Enter string-2:Computer</a:t>
            </a:r>
          </a:p>
          <a:p>
            <a:pPr lvl="0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Strings are same</a:t>
            </a:r>
          </a:p>
        </p:txBody>
      </p:sp>
      <p:sp>
        <p:nvSpPr>
          <p:cNvPr id="9" name="Rectangle: Top Corners Rounded 7">
            <a:extLst>
              <a:ext uri="{FF2B5EF4-FFF2-40B4-BE49-F238E27FC236}">
                <a16:creationId xmlns:a16="http://schemas.microsoft.com/office/drawing/2014/main" xmlns="" id="{44F07624-C23C-4B43-A144-CB0878CB992A}"/>
              </a:ext>
            </a:extLst>
          </p:cNvPr>
          <p:cNvSpPr/>
          <p:nvPr/>
        </p:nvSpPr>
        <p:spPr>
          <a:xfrm>
            <a:off x="8229599" y="5014421"/>
            <a:ext cx="87791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/>
              <a:t>Output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43D3284F-95E2-4F26-9D5F-AAD352CF22BD}"/>
              </a:ext>
            </a:extLst>
          </p:cNvPr>
          <p:cNvSpPr/>
          <p:nvPr/>
        </p:nvSpPr>
        <p:spPr>
          <a:xfrm>
            <a:off x="8229600" y="5336302"/>
            <a:ext cx="3200400" cy="923330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Enter string-1:Computer</a:t>
            </a:r>
          </a:p>
          <a:p>
            <a:pPr lvl="0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Enter string-2:Computer</a:t>
            </a:r>
          </a:p>
          <a:p>
            <a:pPr lvl="0"/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Strings are same</a:t>
            </a:r>
          </a:p>
        </p:txBody>
      </p:sp>
    </p:spTree>
    <p:extLst>
      <p:ext uri="{BB962C8B-B14F-4D97-AF65-F5344CB8AC3E}">
        <p14:creationId xmlns:p14="http://schemas.microsoft.com/office/powerpoint/2010/main" val="280401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-62460" y="1041685"/>
            <a:ext cx="12240717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xfrm>
            <a:off x="6246" y="1045377"/>
            <a:ext cx="11526723" cy="492443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 dirty="0" smtClean="0"/>
              <a:t>String </a:t>
            </a:r>
            <a:r>
              <a:rPr lang="en-US" dirty="0"/>
              <a:t>Handling Functions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D1398A39-DA79-443A-B149-0FEF04D5E58D}"/>
              </a:ext>
            </a:extLst>
          </p:cNvPr>
          <p:cNvSpPr/>
          <p:nvPr/>
        </p:nvSpPr>
        <p:spPr>
          <a:xfrm>
            <a:off x="-52466" y="1484689"/>
            <a:ext cx="12172013" cy="461665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For examples consider: </a:t>
            </a:r>
            <a:r>
              <a:rPr lang="en-US" sz="2400" b="1" dirty="0">
                <a:solidFill>
                  <a:srgbClr val="569CD6"/>
                </a:solidFill>
                <a:latin typeface="Consolas" panose="020B0609020204030204" pitchFamily="49" charset="0"/>
              </a:rPr>
              <a:t>char</a:t>
            </a:r>
            <a:r>
              <a:rPr lang="en-US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 s1</a:t>
            </a:r>
            <a:r>
              <a:rPr lang="en-US" sz="2400" b="1" dirty="0">
                <a:solidFill>
                  <a:srgbClr val="569CD6"/>
                </a:solidFill>
                <a:latin typeface="Consolas" panose="020B0609020204030204" pitchFamily="49" charset="0"/>
              </a:rPr>
              <a:t>[]</a:t>
            </a:r>
            <a:r>
              <a:rPr lang="en-US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CE9178"/>
                </a:solidFill>
                <a:latin typeface="Consolas" panose="020B0609020204030204" pitchFamily="49" charset="0"/>
              </a:rPr>
              <a:t>"Their"</a:t>
            </a:r>
            <a:r>
              <a:rPr lang="en-US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,s2</a:t>
            </a:r>
            <a:r>
              <a:rPr lang="en-US" sz="2400" b="1" dirty="0">
                <a:solidFill>
                  <a:srgbClr val="569CD6"/>
                </a:solidFill>
                <a:latin typeface="Consolas" panose="020B0609020204030204" pitchFamily="49" charset="0"/>
              </a:rPr>
              <a:t>[]</a:t>
            </a:r>
            <a:r>
              <a:rPr lang="en-US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400" b="1" dirty="0">
                <a:solidFill>
                  <a:srgbClr val="CE9178"/>
                </a:solidFill>
                <a:latin typeface="Consolas" panose="020B0609020204030204" pitchFamily="49" charset="0"/>
              </a:rPr>
              <a:t>"There"</a:t>
            </a:r>
            <a:r>
              <a:rPr lang="en-US" sz="2400" b="1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895819"/>
              </p:ext>
            </p:extLst>
          </p:nvPr>
        </p:nvGraphicFramePr>
        <p:xfrm>
          <a:off x="-30793" y="1979956"/>
          <a:ext cx="12222793" cy="396633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055698">
                  <a:extLst>
                    <a:ext uri="{9D8B030D-6E8A-4147-A177-3AD203B41FA5}">
                      <a16:colId xmlns:a16="http://schemas.microsoft.com/office/drawing/2014/main" xmlns="" val="2148390516"/>
                    </a:ext>
                  </a:extLst>
                </a:gridCol>
                <a:gridCol w="9167095">
                  <a:extLst>
                    <a:ext uri="{9D8B030D-6E8A-4147-A177-3AD203B41FA5}">
                      <a16:colId xmlns:a16="http://schemas.microsoft.com/office/drawing/2014/main" xmlns="" val="4015092514"/>
                    </a:ext>
                  </a:extLst>
                </a:gridCol>
              </a:tblGrid>
              <a:tr h="396633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92672"/>
                          </a:solidFill>
                        </a:rPr>
                        <a:t>Syntax</a:t>
                      </a:r>
                    </a:p>
                  </a:txBody>
                  <a:tcPr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92672"/>
                          </a:solidFill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2131558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573843"/>
              </p:ext>
            </p:extLst>
          </p:nvPr>
        </p:nvGraphicFramePr>
        <p:xfrm>
          <a:off x="-1031" y="3521692"/>
          <a:ext cx="12209053" cy="108469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052263">
                  <a:extLst>
                    <a:ext uri="{9D8B030D-6E8A-4147-A177-3AD203B41FA5}">
                      <a16:colId xmlns:a16="http://schemas.microsoft.com/office/drawing/2014/main" xmlns="" val="1344065912"/>
                    </a:ext>
                  </a:extLst>
                </a:gridCol>
                <a:gridCol w="9156790">
                  <a:extLst>
                    <a:ext uri="{9D8B030D-6E8A-4147-A177-3AD203B41FA5}">
                      <a16:colId xmlns:a16="http://schemas.microsoft.com/office/drawing/2014/main" xmlns="" val="3017159482"/>
                    </a:ext>
                  </a:extLst>
                </a:gridCol>
              </a:tblGrid>
              <a:tr h="1084695"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 err="1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strcat</a:t>
                      </a:r>
                      <a:r>
                        <a:rPr lang="en-US" sz="2400" b="0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(s1,s2)</a:t>
                      </a:r>
                    </a:p>
                  </a:txBody>
                  <a:tcPr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Appends 2</a:t>
                      </a:r>
                      <a:r>
                        <a:rPr lang="en-US" sz="2000" b="0" baseline="30000" dirty="0">
                          <a:solidFill>
                            <a:schemeClr val="bg1"/>
                          </a:solidFill>
                        </a:rPr>
                        <a:t>nd</a:t>
                      </a:r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 string at the end of 1</a:t>
                      </a:r>
                      <a:r>
                        <a:rPr lang="en-US" sz="2000" b="0" baseline="30000" dirty="0">
                          <a:solidFill>
                            <a:schemeClr val="bg1"/>
                          </a:solidFill>
                        </a:rPr>
                        <a:t>st</a:t>
                      </a:r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 string.</a:t>
                      </a:r>
                    </a:p>
                    <a:p>
                      <a:pPr algn="l"/>
                      <a:r>
                        <a:rPr lang="en-US" sz="2000" b="0" kern="1200" dirty="0" err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strcat</a:t>
                      </a:r>
                      <a:r>
                        <a:rPr lang="en-US" sz="2000" b="0" kern="12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(s1,s2);</a:t>
                      </a:r>
                      <a:r>
                        <a:rPr lang="en-US" sz="2000" kern="12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a copy of string </a:t>
                      </a:r>
                      <a:r>
                        <a:rPr lang="en-US" sz="2000" b="0" kern="12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s2</a:t>
                      </a:r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 is appended at the end of string </a:t>
                      </a:r>
                      <a:r>
                        <a:rPr lang="en-US" sz="2000" b="0" kern="12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s1</a:t>
                      </a:r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. Now </a:t>
                      </a:r>
                      <a:r>
                        <a:rPr lang="en-US" sz="2000" b="0" kern="12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s1</a:t>
                      </a:r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 becomes “</a:t>
                      </a:r>
                      <a:r>
                        <a:rPr lang="en-US" sz="2000" b="0" dirty="0" err="1">
                          <a:solidFill>
                            <a:schemeClr val="bg1"/>
                          </a:solidFill>
                        </a:rPr>
                        <a:t>TheirThere</a:t>
                      </a:r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”</a:t>
                      </a: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72548828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605443"/>
              </p:ext>
            </p:extLst>
          </p:nvPr>
        </p:nvGraphicFramePr>
        <p:xfrm>
          <a:off x="27482" y="4606387"/>
          <a:ext cx="12209052" cy="108469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052263">
                  <a:extLst>
                    <a:ext uri="{9D8B030D-6E8A-4147-A177-3AD203B41FA5}">
                      <a16:colId xmlns:a16="http://schemas.microsoft.com/office/drawing/2014/main" xmlns="" val="4218025402"/>
                    </a:ext>
                  </a:extLst>
                </a:gridCol>
                <a:gridCol w="9156789">
                  <a:extLst>
                    <a:ext uri="{9D8B030D-6E8A-4147-A177-3AD203B41FA5}">
                      <a16:colId xmlns:a16="http://schemas.microsoft.com/office/drawing/2014/main" xmlns="" val="2820591058"/>
                    </a:ext>
                  </a:extLst>
                </a:gridCol>
              </a:tblGrid>
              <a:tr h="1084695"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 err="1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strchr</a:t>
                      </a:r>
                      <a:r>
                        <a:rPr lang="en-US" sz="2400" b="0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(s1,c)</a:t>
                      </a:r>
                    </a:p>
                  </a:txBody>
                  <a:tcPr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37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Returns a pointer to the first occurrence of a given character in the string </a:t>
                      </a: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s1</a:t>
                      </a:r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. </a:t>
                      </a:r>
                      <a:r>
                        <a:rPr lang="en-US" sz="2000" b="0" dirty="0" err="1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sz="20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20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"%s"</a:t>
                      </a:r>
                      <a:r>
                        <a:rPr lang="en-US" sz="20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sz="2000" b="0" dirty="0" err="1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strchr</a:t>
                      </a:r>
                      <a:r>
                        <a:rPr lang="en-US" sz="20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(s1,</a:t>
                      </a:r>
                      <a:r>
                        <a:rPr lang="en-US" sz="20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'i'</a:t>
                      </a:r>
                      <a:r>
                        <a:rPr lang="en-US" sz="20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));</a:t>
                      </a:r>
                    </a:p>
                    <a:p>
                      <a:pPr algn="l"/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Output : </a:t>
                      </a:r>
                      <a:r>
                        <a:rPr lang="en-US" sz="2000" b="0" dirty="0" err="1">
                          <a:solidFill>
                            <a:schemeClr val="bg1"/>
                          </a:solidFill>
                        </a:rPr>
                        <a:t>ir</a:t>
                      </a:r>
                      <a:endParaRPr lang="en-US" sz="20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3737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1054172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783562"/>
              </p:ext>
            </p:extLst>
          </p:nvPr>
        </p:nvGraphicFramePr>
        <p:xfrm>
          <a:off x="8526" y="5691082"/>
          <a:ext cx="12198247" cy="108469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049562">
                  <a:extLst>
                    <a:ext uri="{9D8B030D-6E8A-4147-A177-3AD203B41FA5}">
                      <a16:colId xmlns:a16="http://schemas.microsoft.com/office/drawing/2014/main" xmlns="" val="3545465535"/>
                    </a:ext>
                  </a:extLst>
                </a:gridCol>
                <a:gridCol w="9148685">
                  <a:extLst>
                    <a:ext uri="{9D8B030D-6E8A-4147-A177-3AD203B41FA5}">
                      <a16:colId xmlns:a16="http://schemas.microsoft.com/office/drawing/2014/main" xmlns="" val="68790636"/>
                    </a:ext>
                  </a:extLst>
                </a:gridCol>
              </a:tblGrid>
              <a:tr h="1084695">
                <a:tc>
                  <a:txBody>
                    <a:bodyPr/>
                    <a:lstStyle/>
                    <a:p>
                      <a:pPr algn="l"/>
                      <a:r>
                        <a:rPr lang="en-US" sz="2400" dirty="0" err="1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strcpy</a:t>
                      </a:r>
                      <a:r>
                        <a:rPr lang="en-US" sz="2400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(s1,s2)</a:t>
                      </a:r>
                    </a:p>
                  </a:txBody>
                  <a:tcPr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Copies 2</a:t>
                      </a:r>
                      <a:r>
                        <a:rPr lang="en-US" sz="2000" baseline="30000" dirty="0">
                          <a:solidFill>
                            <a:schemeClr val="bg1"/>
                          </a:solidFill>
                        </a:rPr>
                        <a:t>nd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 string to 1</a:t>
                      </a:r>
                      <a:r>
                        <a:rPr lang="en-US" sz="2000" baseline="30000" dirty="0">
                          <a:solidFill>
                            <a:schemeClr val="bg1"/>
                          </a:solidFill>
                        </a:rPr>
                        <a:t>st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 string.</a:t>
                      </a:r>
                    </a:p>
                    <a:p>
                      <a:pPr algn="l"/>
                      <a:r>
                        <a:rPr lang="en-US" sz="2000" dirty="0" err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strcpy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(s1,s2)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 copies the string </a:t>
                      </a:r>
                      <a:r>
                        <a:rPr lang="en-US" sz="2000" kern="12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s2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 in to string </a:t>
                      </a:r>
                      <a:r>
                        <a:rPr lang="en-US" sz="2000" kern="12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s1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 so </a:t>
                      </a:r>
                      <a:r>
                        <a:rPr lang="en-US" sz="2000" kern="12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s1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 is now “There”. </a:t>
                      </a:r>
                      <a:r>
                        <a:rPr lang="en-US" sz="2000" kern="12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s2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 remains unchanged.</a:t>
                      </a: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32819097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099970"/>
              </p:ext>
            </p:extLst>
          </p:nvPr>
        </p:nvGraphicFramePr>
        <p:xfrm>
          <a:off x="19990" y="2515852"/>
          <a:ext cx="12172010" cy="10058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043002">
                  <a:extLst>
                    <a:ext uri="{9D8B030D-6E8A-4147-A177-3AD203B41FA5}">
                      <a16:colId xmlns:a16="http://schemas.microsoft.com/office/drawing/2014/main" xmlns="" val="3881162147"/>
                    </a:ext>
                  </a:extLst>
                </a:gridCol>
                <a:gridCol w="9129008">
                  <a:extLst>
                    <a:ext uri="{9D8B030D-6E8A-4147-A177-3AD203B41FA5}">
                      <a16:colId xmlns:a16="http://schemas.microsoft.com/office/drawing/2014/main" xmlns="" val="3909365265"/>
                    </a:ext>
                  </a:extLst>
                </a:gridCol>
              </a:tblGrid>
              <a:tr h="756106"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 err="1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strstr</a:t>
                      </a:r>
                      <a:r>
                        <a:rPr lang="en-US" sz="2400" b="0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(s1,s2)</a:t>
                      </a:r>
                    </a:p>
                  </a:txBody>
                  <a:tcPr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Returns a pointer to the first occurrence of a given string </a:t>
                      </a:r>
                      <a:r>
                        <a:rPr lang="en-US" sz="2000" b="0" kern="12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s2</a:t>
                      </a:r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 in string </a:t>
                      </a:r>
                      <a:r>
                        <a:rPr lang="en-US" sz="2000" b="0" kern="12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s1</a:t>
                      </a:r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. </a:t>
                      </a:r>
                      <a:r>
                        <a:rPr lang="en-US" sz="2000" b="0" dirty="0" err="1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sz="20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20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"%s"</a:t>
                      </a:r>
                      <a:r>
                        <a:rPr lang="en-US" sz="20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sz="2000" b="0" dirty="0" err="1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strstr</a:t>
                      </a:r>
                      <a:r>
                        <a:rPr lang="en-US" sz="20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(s1,</a:t>
                      </a:r>
                      <a:r>
                        <a:rPr lang="en-US" sz="20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"he"</a:t>
                      </a:r>
                      <a:r>
                        <a:rPr lang="en-US" sz="20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));</a:t>
                      </a:r>
                    </a:p>
                    <a:p>
                      <a:pPr algn="l"/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Output : heir</a:t>
                      </a: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81338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4118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-13741" y="1524000"/>
            <a:ext cx="12192000" cy="643255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xfrm>
            <a:off x="332638" y="1695070"/>
            <a:ext cx="11526723" cy="516450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 dirty="0"/>
              <a:t>For examples consider: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s1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[]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"Their"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,s2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[]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"There"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652995"/>
              </p:ext>
            </p:extLst>
          </p:nvPr>
        </p:nvGraphicFramePr>
        <p:xfrm>
          <a:off x="-13742" y="2328331"/>
          <a:ext cx="12191999" cy="396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xmlns="" val="2644376627"/>
                    </a:ext>
                  </a:extLst>
                </a:gridCol>
                <a:gridCol w="9143999">
                  <a:extLst>
                    <a:ext uri="{9D8B030D-6E8A-4147-A177-3AD203B41FA5}">
                      <a16:colId xmlns:a16="http://schemas.microsoft.com/office/drawing/2014/main" xmlns="" val="2243383248"/>
                    </a:ext>
                  </a:extLst>
                </a:gridCol>
              </a:tblGrid>
              <a:tr h="38520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92672"/>
                          </a:solidFill>
                        </a:rPr>
                        <a:t>Syntax</a:t>
                      </a:r>
                    </a:p>
                  </a:txBody>
                  <a:tcPr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92672"/>
                          </a:solidFill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86318270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582009"/>
              </p:ext>
            </p:extLst>
          </p:nvPr>
        </p:nvGraphicFramePr>
        <p:xfrm>
          <a:off x="0" y="2724571"/>
          <a:ext cx="12192000" cy="712076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xmlns="" val="1386076668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xmlns="" val="2329460401"/>
                    </a:ext>
                  </a:extLst>
                </a:gridCol>
              </a:tblGrid>
              <a:tr h="712076">
                <a:tc>
                  <a:txBody>
                    <a:bodyPr/>
                    <a:lstStyle/>
                    <a:p>
                      <a:pPr algn="l"/>
                      <a:r>
                        <a:rPr lang="en-US" sz="2400" dirty="0" err="1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strrev</a:t>
                      </a:r>
                      <a:r>
                        <a:rPr lang="en-US" sz="2400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(s1)</a:t>
                      </a:r>
                    </a:p>
                  </a:txBody>
                  <a:tcPr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Reverses given string.</a:t>
                      </a:r>
                    </a:p>
                    <a:p>
                      <a:pPr algn="l"/>
                      <a:r>
                        <a:rPr lang="en-US" sz="2000" dirty="0" err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strrev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(s1);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 makes string 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s1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 to “</a:t>
                      </a:r>
                      <a:r>
                        <a:rPr lang="en-US" sz="2000" dirty="0" err="1">
                          <a:solidFill>
                            <a:schemeClr val="bg1"/>
                          </a:solidFill>
                        </a:rPr>
                        <a:t>riehT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”</a:t>
                      </a: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7899665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246948"/>
              </p:ext>
            </p:extLst>
          </p:nvPr>
        </p:nvGraphicFramePr>
        <p:xfrm>
          <a:off x="0" y="3424155"/>
          <a:ext cx="12178259" cy="71323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044565">
                  <a:extLst>
                    <a:ext uri="{9D8B030D-6E8A-4147-A177-3AD203B41FA5}">
                      <a16:colId xmlns:a16="http://schemas.microsoft.com/office/drawing/2014/main" xmlns="" val="582817035"/>
                    </a:ext>
                  </a:extLst>
                </a:gridCol>
                <a:gridCol w="9133694">
                  <a:extLst>
                    <a:ext uri="{9D8B030D-6E8A-4147-A177-3AD203B41FA5}">
                      <a16:colId xmlns:a16="http://schemas.microsoft.com/office/drawing/2014/main" xmlns="" val="1190154498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 err="1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strlwr</a:t>
                      </a:r>
                      <a:r>
                        <a:rPr lang="en-US" sz="2400" b="0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(s1)</a:t>
                      </a:r>
                    </a:p>
                  </a:txBody>
                  <a:tcPr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Converts string </a:t>
                      </a: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s1</a:t>
                      </a:r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 to lower case.</a:t>
                      </a:r>
                    </a:p>
                    <a:p>
                      <a:r>
                        <a:rPr lang="en-US" sz="2000" b="0" dirty="0" err="1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sz="20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20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"%s"</a:t>
                      </a:r>
                      <a:r>
                        <a:rPr lang="en-US" sz="20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sz="2000" b="0" dirty="0" err="1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strlwr</a:t>
                      </a:r>
                      <a:r>
                        <a:rPr lang="en-US" sz="20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(s1));</a:t>
                      </a:r>
                      <a:r>
                        <a:rPr lang="en-US" sz="2000" b="0" baseline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                    </a:t>
                      </a:r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           </a:t>
                      </a:r>
                      <a:r>
                        <a:rPr lang="en-US" sz="2000" b="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Output : their</a:t>
                      </a: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06287359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849186"/>
              </p:ext>
            </p:extLst>
          </p:nvPr>
        </p:nvGraphicFramePr>
        <p:xfrm>
          <a:off x="-1" y="4181651"/>
          <a:ext cx="12178259" cy="13106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044565">
                  <a:extLst>
                    <a:ext uri="{9D8B030D-6E8A-4147-A177-3AD203B41FA5}">
                      <a16:colId xmlns:a16="http://schemas.microsoft.com/office/drawing/2014/main" xmlns="" val="2663101544"/>
                    </a:ext>
                  </a:extLst>
                </a:gridCol>
                <a:gridCol w="9133694">
                  <a:extLst>
                    <a:ext uri="{9D8B030D-6E8A-4147-A177-3AD203B41FA5}">
                      <a16:colId xmlns:a16="http://schemas.microsoft.com/office/drawing/2014/main" xmlns="" val="2661116385"/>
                    </a:ext>
                  </a:extLst>
                </a:gridCol>
              </a:tblGrid>
              <a:tr h="1084695"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 err="1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strncpy</a:t>
                      </a:r>
                      <a:r>
                        <a:rPr lang="en-US" sz="2400" b="0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(s1,s2,n)</a:t>
                      </a:r>
                    </a:p>
                  </a:txBody>
                  <a:tcPr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Copies first n character of string </a:t>
                      </a:r>
                      <a:r>
                        <a:rPr lang="en-US" sz="2000" b="0" kern="12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s2</a:t>
                      </a:r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 to string </a:t>
                      </a:r>
                      <a:r>
                        <a:rPr lang="en-US" sz="2000" b="0" kern="12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s1</a:t>
                      </a:r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  <a:p>
                      <a:r>
                        <a:rPr lang="en-US" sz="20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s1=</a:t>
                      </a:r>
                      <a:r>
                        <a:rPr lang="en-US" sz="20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""</a:t>
                      </a:r>
                      <a:r>
                        <a:rPr lang="en-US" sz="20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; s2=</a:t>
                      </a:r>
                      <a:r>
                        <a:rPr lang="en-US" sz="20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"There"</a:t>
                      </a:r>
                      <a:r>
                        <a:rPr lang="en-US" sz="20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sz="2000" b="0" dirty="0" err="1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strncpy</a:t>
                      </a:r>
                      <a:r>
                        <a:rPr lang="en-US" sz="20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(s1,s2,</a:t>
                      </a:r>
                      <a:r>
                        <a:rPr lang="en-US" sz="2000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2</a:t>
                      </a:r>
                      <a:r>
                        <a:rPr lang="en-US" sz="20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sz="2000" b="0" dirty="0" err="1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sz="20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20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"%s"</a:t>
                      </a:r>
                      <a:r>
                        <a:rPr lang="en-US" sz="20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,s1);</a:t>
                      </a:r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                                                                     Output : </a:t>
                      </a:r>
                      <a:r>
                        <a:rPr lang="en-US" sz="2000" b="0" dirty="0" err="1">
                          <a:solidFill>
                            <a:schemeClr val="bg1"/>
                          </a:solidFill>
                        </a:rPr>
                        <a:t>Th</a:t>
                      </a:r>
                      <a:endParaRPr lang="en-US" sz="20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6337945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318846"/>
              </p:ext>
            </p:extLst>
          </p:nvPr>
        </p:nvGraphicFramePr>
        <p:xfrm>
          <a:off x="-1" y="5492291"/>
          <a:ext cx="12178257" cy="71323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044564">
                  <a:extLst>
                    <a:ext uri="{9D8B030D-6E8A-4147-A177-3AD203B41FA5}">
                      <a16:colId xmlns:a16="http://schemas.microsoft.com/office/drawing/2014/main" xmlns="" val="2822487830"/>
                    </a:ext>
                  </a:extLst>
                </a:gridCol>
                <a:gridCol w="9133693">
                  <a:extLst>
                    <a:ext uri="{9D8B030D-6E8A-4147-A177-3AD203B41FA5}">
                      <a16:colId xmlns:a16="http://schemas.microsoft.com/office/drawing/2014/main" xmlns="" val="3330208229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 err="1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strncat</a:t>
                      </a:r>
                      <a:r>
                        <a:rPr lang="en-US" sz="2400" b="0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(s1,s2,n)</a:t>
                      </a:r>
                    </a:p>
                  </a:txBody>
                  <a:tcPr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737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Appends first n character of string </a:t>
                      </a:r>
                      <a:r>
                        <a:rPr lang="en-US" sz="2000" b="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s2</a:t>
                      </a:r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 at the end of string </a:t>
                      </a:r>
                      <a:r>
                        <a:rPr lang="en-US" sz="2000" b="0" kern="12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s1</a:t>
                      </a:r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. </a:t>
                      </a:r>
                      <a:r>
                        <a:rPr lang="en-US" sz="2000" b="0" kern="1200" dirty="0" err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strncat</a:t>
                      </a:r>
                      <a:r>
                        <a:rPr lang="en-US" sz="2000" b="0" kern="1200" dirty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(s1,s2,2);</a:t>
                      </a:r>
                    </a:p>
                    <a:p>
                      <a:r>
                        <a:rPr lang="en-US" sz="2000" b="0" dirty="0" err="1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sz="20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2000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"%s"</a:t>
                      </a:r>
                      <a:r>
                        <a:rPr lang="en-US" sz="2000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, s1);</a:t>
                      </a:r>
                      <a:r>
                        <a:rPr lang="en-US" sz="2000" b="0" baseline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                               </a:t>
                      </a:r>
                      <a:r>
                        <a:rPr lang="en-US" sz="2000" b="0" dirty="0">
                          <a:solidFill>
                            <a:schemeClr val="bg1"/>
                          </a:solidFill>
                        </a:rPr>
                        <a:t>Output : </a:t>
                      </a:r>
                      <a:r>
                        <a:rPr lang="en-US" sz="2000" b="0" dirty="0" err="1">
                          <a:solidFill>
                            <a:schemeClr val="bg1"/>
                          </a:solidFill>
                        </a:rPr>
                        <a:t>TheirTh</a:t>
                      </a:r>
                      <a:endParaRPr lang="en-US" sz="20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3737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139040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1391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xfrm>
            <a:off x="332638" y="1695070"/>
            <a:ext cx="11526723" cy="516450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 dirty="0"/>
              <a:t>For examples consider: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s1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[]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"Their"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,s2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[]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"There"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462254"/>
              </p:ext>
            </p:extLst>
          </p:nvPr>
        </p:nvGraphicFramePr>
        <p:xfrm>
          <a:off x="-13742" y="2328331"/>
          <a:ext cx="12191999" cy="396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xmlns="" val="2644376627"/>
                    </a:ext>
                  </a:extLst>
                </a:gridCol>
                <a:gridCol w="9143999">
                  <a:extLst>
                    <a:ext uri="{9D8B030D-6E8A-4147-A177-3AD203B41FA5}">
                      <a16:colId xmlns:a16="http://schemas.microsoft.com/office/drawing/2014/main" xmlns="" val="2243383248"/>
                    </a:ext>
                  </a:extLst>
                </a:gridCol>
              </a:tblGrid>
              <a:tr h="38520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>
                          <a:solidFill>
                            <a:srgbClr val="F92672"/>
                          </a:solidFill>
                        </a:rPr>
                        <a:t>ntax</a:t>
                      </a:r>
                      <a:endParaRPr lang="en-US" sz="2000" dirty="0">
                        <a:solidFill>
                          <a:srgbClr val="F92672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F92672"/>
                          </a:solidFill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86318270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720076"/>
              </p:ext>
            </p:extLst>
          </p:nvPr>
        </p:nvGraphicFramePr>
        <p:xfrm>
          <a:off x="0" y="2724571"/>
          <a:ext cx="12192000" cy="13106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xmlns="" val="1386076668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xmlns="" val="2329460401"/>
                    </a:ext>
                  </a:extLst>
                </a:gridCol>
              </a:tblGrid>
              <a:tr h="712076">
                <a:tc>
                  <a:txBody>
                    <a:bodyPr/>
                    <a:lstStyle/>
                    <a:p>
                      <a:pPr marL="0" marR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 smtClean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strncmp</a:t>
                      </a:r>
                      <a:r>
                        <a:rPr lang="en-US" sz="2400" dirty="0" smtClean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(s1,s2,n)</a:t>
                      </a:r>
                    </a:p>
                    <a:p>
                      <a:pPr algn="l"/>
                      <a:endParaRPr lang="en-US" sz="2400" dirty="0">
                        <a:solidFill>
                          <a:srgbClr val="92D05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Compares first 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n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character of string 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s1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and 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s2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 and returns similar result as </a:t>
                      </a:r>
                      <a:r>
                        <a:rPr lang="en-US" sz="2000" kern="1200" dirty="0" err="1" smtClean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strcmp</a:t>
                      </a:r>
                      <a:r>
                        <a:rPr lang="en-US" sz="2000" kern="1200" dirty="0" smtClean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() 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function.</a:t>
                      </a:r>
                    </a:p>
                    <a:p>
                      <a:r>
                        <a:rPr lang="en-US" sz="2000" b="0" dirty="0" err="1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sz="2000" b="0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2000" b="0" dirty="0" smtClean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"%d"</a:t>
                      </a:r>
                      <a:r>
                        <a:rPr lang="en-US" sz="2000" b="0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sz="2000" b="0" dirty="0" err="1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strcmp</a:t>
                      </a:r>
                      <a:r>
                        <a:rPr lang="en-US" sz="2000" b="0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(s1,s2,</a:t>
                      </a:r>
                      <a:r>
                        <a:rPr lang="en-US" sz="2000" b="0" dirty="0" smtClean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3</a:t>
                      </a:r>
                      <a:r>
                        <a:rPr lang="en-US" sz="2000" b="0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));</a:t>
                      </a:r>
                      <a:r>
                        <a:rPr lang="en-US" sz="2000" b="0" baseline="0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                       </a:t>
                      </a:r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Output : 0</a:t>
                      </a:r>
                    </a:p>
                    <a:p>
                      <a:pPr algn="l"/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07899665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41548"/>
              </p:ext>
            </p:extLst>
          </p:nvPr>
        </p:nvGraphicFramePr>
        <p:xfrm>
          <a:off x="0" y="3424155"/>
          <a:ext cx="12178259" cy="10058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044565">
                  <a:extLst>
                    <a:ext uri="{9D8B030D-6E8A-4147-A177-3AD203B41FA5}">
                      <a16:colId xmlns:a16="http://schemas.microsoft.com/office/drawing/2014/main" xmlns="" val="582817035"/>
                    </a:ext>
                  </a:extLst>
                </a:gridCol>
                <a:gridCol w="9133694">
                  <a:extLst>
                    <a:ext uri="{9D8B030D-6E8A-4147-A177-3AD203B41FA5}">
                      <a16:colId xmlns:a16="http://schemas.microsoft.com/office/drawing/2014/main" xmlns="" val="1190154498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marR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 err="1" smtClean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strrchr</a:t>
                      </a:r>
                      <a:r>
                        <a:rPr lang="en-US" sz="2400" b="0" dirty="0" smtClean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(s1,c)</a:t>
                      </a:r>
                    </a:p>
                    <a:p>
                      <a:pPr algn="l"/>
                      <a:endParaRPr lang="en-US" sz="2400" b="0" dirty="0">
                        <a:solidFill>
                          <a:srgbClr val="92D05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 smtClean="0">
                          <a:solidFill>
                            <a:schemeClr val="bg1"/>
                          </a:solidFill>
                        </a:rPr>
                        <a:t>Returns the last occurrence of a given character in a string </a:t>
                      </a:r>
                      <a:r>
                        <a:rPr lang="en-US" sz="2000" b="0" dirty="0" smtClean="0">
                          <a:solidFill>
                            <a:schemeClr val="bg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s1</a:t>
                      </a:r>
                      <a:r>
                        <a:rPr lang="en-US" sz="2000" b="0" dirty="0" smtClean="0">
                          <a:solidFill>
                            <a:schemeClr val="bg1"/>
                          </a:solidFill>
                        </a:rPr>
                        <a:t>. </a:t>
                      </a:r>
                      <a:r>
                        <a:rPr lang="en-US" sz="2000" b="0" dirty="0" err="1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printf</a:t>
                      </a:r>
                      <a:r>
                        <a:rPr lang="en-US" sz="2000" b="0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sz="2000" b="0" dirty="0" smtClean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"%s"</a:t>
                      </a:r>
                      <a:r>
                        <a:rPr lang="en-US" sz="2000" b="0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en-US" sz="2000" b="0" dirty="0" err="1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strrchr</a:t>
                      </a:r>
                      <a:r>
                        <a:rPr lang="en-US" sz="2000" b="0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(s2,</a:t>
                      </a:r>
                      <a:r>
                        <a:rPr lang="en-US" sz="2000" b="0" dirty="0" smtClean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'e'</a:t>
                      </a:r>
                      <a:r>
                        <a:rPr lang="en-US" sz="2000" b="0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));</a:t>
                      </a:r>
                      <a:r>
                        <a:rPr lang="en-US" sz="2000" b="0" baseline="0" dirty="0" smtClean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                      </a:t>
                      </a:r>
                      <a:r>
                        <a:rPr lang="en-US" sz="2000" b="0" dirty="0" smtClean="0">
                          <a:solidFill>
                            <a:schemeClr val="bg1"/>
                          </a:solidFill>
                        </a:rPr>
                        <a:t>Output : ere</a:t>
                      </a:r>
                    </a:p>
                    <a:p>
                      <a:pPr algn="l"/>
                      <a:endParaRPr lang="en-US" sz="20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06287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9084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xfrm>
            <a:off x="332639" y="1695071"/>
            <a:ext cx="11325962" cy="492443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/>
              <a:t>An Array of Strings in 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213283"/>
            <a:ext cx="12039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333333"/>
                </a:solidFill>
                <a:latin typeface="inter-regular"/>
              </a:rPr>
              <a:t>An Array is the simplest Data Structure in C that stores homogeneous data in contiguous memory locations.</a:t>
            </a:r>
            <a:endParaRPr lang="en-IN" sz="2400" dirty="0"/>
          </a:p>
        </p:txBody>
      </p:sp>
      <p:sp>
        <p:nvSpPr>
          <p:cNvPr id="10" name="Rectangle 9"/>
          <p:cNvSpPr/>
          <p:nvPr/>
        </p:nvSpPr>
        <p:spPr>
          <a:xfrm>
            <a:off x="152400" y="3090036"/>
            <a:ext cx="6096000" cy="34163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IN" sz="2400" dirty="0">
                <a:solidFill>
                  <a:srgbClr val="0000FF"/>
                </a:solidFill>
                <a:latin typeface="inter-regular"/>
              </a:rPr>
              <a:t>#include&lt;</a:t>
            </a:r>
            <a:r>
              <a:rPr lang="en-IN" sz="2400" dirty="0" err="1">
                <a:solidFill>
                  <a:srgbClr val="0000FF"/>
                </a:solidFill>
                <a:latin typeface="inter-regular"/>
              </a:rPr>
              <a:t>stdio.h</a:t>
            </a:r>
            <a:r>
              <a:rPr lang="en-IN" sz="2400" dirty="0">
                <a:solidFill>
                  <a:srgbClr val="0000FF"/>
                </a:solidFill>
                <a:latin typeface="inter-regular"/>
              </a:rPr>
              <a:t>&gt;</a:t>
            </a:r>
            <a:r>
              <a:rPr lang="en-IN" sz="2400" dirty="0">
                <a:solidFill>
                  <a:srgbClr val="000000"/>
                </a:solidFill>
                <a:latin typeface="inter-regular"/>
              </a:rPr>
              <a:t>  </a:t>
            </a:r>
          </a:p>
          <a:p>
            <a:pPr algn="just">
              <a:buFont typeface="+mj-lt"/>
              <a:buAutoNum type="arabicPeriod"/>
            </a:pPr>
            <a:r>
              <a:rPr lang="en-IN" sz="2400" b="1" dirty="0" err="1">
                <a:solidFill>
                  <a:srgbClr val="2E8B57"/>
                </a:solidFill>
                <a:latin typeface="inter-regular"/>
              </a:rPr>
              <a:t>int</a:t>
            </a:r>
            <a:r>
              <a:rPr lang="en-IN" sz="2400" dirty="0">
                <a:solidFill>
                  <a:srgbClr val="000000"/>
                </a:solidFill>
                <a:latin typeface="inter-regular"/>
              </a:rPr>
              <a:t> main()  </a:t>
            </a:r>
          </a:p>
          <a:p>
            <a:pPr algn="just">
              <a:buFont typeface="+mj-lt"/>
              <a:buAutoNum type="arabicPeriod"/>
            </a:pPr>
            <a:r>
              <a:rPr lang="en-IN" sz="2400" dirty="0">
                <a:solidFill>
                  <a:srgbClr val="000000"/>
                </a:solidFill>
                <a:latin typeface="inter-regular"/>
              </a:rPr>
              <a:t>{  </a:t>
            </a:r>
          </a:p>
          <a:p>
            <a:pPr algn="just">
              <a:buFont typeface="+mj-lt"/>
              <a:buAutoNum type="arabicPeriod"/>
            </a:pPr>
            <a:r>
              <a:rPr lang="en-IN" sz="2400" dirty="0">
                <a:solidFill>
                  <a:srgbClr val="000000"/>
                </a:solidFill>
                <a:latin typeface="inter-regular"/>
              </a:rPr>
              <a:t>    </a:t>
            </a:r>
            <a:r>
              <a:rPr lang="en-IN" sz="2400" b="1" dirty="0" err="1">
                <a:solidFill>
                  <a:srgbClr val="2E8B57"/>
                </a:solidFill>
                <a:latin typeface="inter-regular"/>
              </a:rPr>
              <a:t>int</a:t>
            </a:r>
            <a:r>
              <a:rPr lang="en-IN" sz="2400" dirty="0">
                <a:solidFill>
                  <a:srgbClr val="000000"/>
                </a:solidFill>
                <a:latin typeface="inter-regular"/>
              </a:rPr>
              <a:t> </a:t>
            </a:r>
            <a:r>
              <a:rPr lang="en-IN" sz="2400" dirty="0" err="1">
                <a:solidFill>
                  <a:srgbClr val="000000"/>
                </a:solidFill>
                <a:latin typeface="inter-regular"/>
              </a:rPr>
              <a:t>i</a:t>
            </a:r>
            <a:r>
              <a:rPr lang="en-IN" sz="2400" dirty="0">
                <a:solidFill>
                  <a:srgbClr val="000000"/>
                </a:solidFill>
                <a:latin typeface="inter-regular"/>
              </a:rPr>
              <a:t>, </a:t>
            </a:r>
            <a:r>
              <a:rPr lang="en-IN" sz="2400" dirty="0" err="1">
                <a:solidFill>
                  <a:srgbClr val="000000"/>
                </a:solidFill>
                <a:latin typeface="inter-regular"/>
              </a:rPr>
              <a:t>arr</a:t>
            </a:r>
            <a:r>
              <a:rPr lang="en-IN" sz="2400" dirty="0">
                <a:solidFill>
                  <a:srgbClr val="000000"/>
                </a:solidFill>
                <a:latin typeface="inter-regular"/>
              </a:rPr>
              <a:t>[5] = {1, 2, 4, 2, 4};  </a:t>
            </a:r>
          </a:p>
          <a:p>
            <a:pPr algn="just">
              <a:buFont typeface="+mj-lt"/>
              <a:buAutoNum type="arabicPeriod"/>
            </a:pPr>
            <a:r>
              <a:rPr lang="en-IN" sz="2400" dirty="0">
                <a:solidFill>
                  <a:srgbClr val="000000"/>
                </a:solidFill>
                <a:latin typeface="inter-regular"/>
              </a:rPr>
              <a:t>    </a:t>
            </a:r>
            <a:r>
              <a:rPr lang="en-IN" sz="2400" b="1" dirty="0">
                <a:solidFill>
                  <a:srgbClr val="006699"/>
                </a:solidFill>
                <a:latin typeface="inter-regular"/>
              </a:rPr>
              <a:t>for</a:t>
            </a:r>
            <a:r>
              <a:rPr lang="en-IN" sz="2400" dirty="0">
                <a:solidFill>
                  <a:srgbClr val="000000"/>
                </a:solidFill>
                <a:latin typeface="inter-regular"/>
              </a:rPr>
              <a:t>(</a:t>
            </a:r>
            <a:r>
              <a:rPr lang="en-IN" sz="2400" dirty="0" err="1">
                <a:solidFill>
                  <a:srgbClr val="000000"/>
                </a:solidFill>
                <a:latin typeface="inter-regular"/>
              </a:rPr>
              <a:t>i</a:t>
            </a:r>
            <a:r>
              <a:rPr lang="en-IN" sz="2400" dirty="0">
                <a:solidFill>
                  <a:srgbClr val="000000"/>
                </a:solidFill>
                <a:latin typeface="inter-regular"/>
              </a:rPr>
              <a:t> = 0; </a:t>
            </a:r>
            <a:r>
              <a:rPr lang="en-IN" sz="2400" dirty="0" err="1">
                <a:solidFill>
                  <a:srgbClr val="000000"/>
                </a:solidFill>
                <a:latin typeface="inter-regular"/>
              </a:rPr>
              <a:t>i</a:t>
            </a:r>
            <a:r>
              <a:rPr lang="en-IN" sz="2400" dirty="0">
                <a:solidFill>
                  <a:srgbClr val="000000"/>
                </a:solidFill>
                <a:latin typeface="inter-regular"/>
              </a:rPr>
              <a:t> &lt; 5; </a:t>
            </a:r>
            <a:r>
              <a:rPr lang="en-IN" sz="2400" dirty="0" err="1">
                <a:solidFill>
                  <a:srgbClr val="000000"/>
                </a:solidFill>
                <a:latin typeface="inter-regular"/>
              </a:rPr>
              <a:t>i</a:t>
            </a:r>
            <a:r>
              <a:rPr lang="en-IN" sz="2400" dirty="0">
                <a:solidFill>
                  <a:srgbClr val="000000"/>
                </a:solidFill>
                <a:latin typeface="inter-regular"/>
              </a:rPr>
              <a:t>++)  </a:t>
            </a:r>
          </a:p>
          <a:p>
            <a:pPr algn="just">
              <a:buFont typeface="+mj-lt"/>
              <a:buAutoNum type="arabicPeriod"/>
            </a:pPr>
            <a:r>
              <a:rPr lang="en-IN" sz="2400" dirty="0">
                <a:solidFill>
                  <a:srgbClr val="000000"/>
                </a:solidFill>
                <a:latin typeface="inter-regular"/>
              </a:rPr>
              <a:t>    {  </a:t>
            </a:r>
          </a:p>
          <a:p>
            <a:pPr algn="just">
              <a:buFont typeface="+mj-lt"/>
              <a:buAutoNum type="arabicPeriod"/>
            </a:pPr>
            <a:r>
              <a:rPr lang="en-IN" sz="2400" dirty="0">
                <a:solidFill>
                  <a:srgbClr val="000000"/>
                </a:solidFill>
                <a:latin typeface="inter-regular"/>
              </a:rPr>
              <a:t>        </a:t>
            </a:r>
            <a:r>
              <a:rPr lang="en-IN" sz="2400" dirty="0" err="1">
                <a:solidFill>
                  <a:srgbClr val="000000"/>
                </a:solidFill>
                <a:latin typeface="inter-regular"/>
              </a:rPr>
              <a:t>printf</a:t>
            </a:r>
            <a:r>
              <a:rPr lang="en-IN" sz="2400" dirty="0">
                <a:solidFill>
                  <a:srgbClr val="000000"/>
                </a:solidFill>
                <a:latin typeface="inter-regular"/>
              </a:rPr>
              <a:t>(</a:t>
            </a:r>
            <a:r>
              <a:rPr lang="en-IN" sz="2400" dirty="0">
                <a:solidFill>
                  <a:srgbClr val="0000FF"/>
                </a:solidFill>
                <a:latin typeface="inter-regular"/>
              </a:rPr>
              <a:t>"%d "</a:t>
            </a:r>
            <a:r>
              <a:rPr lang="en-IN" sz="2400" dirty="0">
                <a:solidFill>
                  <a:srgbClr val="000000"/>
                </a:solidFill>
                <a:latin typeface="inter-regular"/>
              </a:rPr>
              <a:t>, </a:t>
            </a:r>
            <a:r>
              <a:rPr lang="en-IN" sz="2400" dirty="0" err="1">
                <a:solidFill>
                  <a:srgbClr val="000000"/>
                </a:solidFill>
                <a:latin typeface="inter-regular"/>
              </a:rPr>
              <a:t>arr</a:t>
            </a:r>
            <a:r>
              <a:rPr lang="en-IN" sz="2400" dirty="0">
                <a:solidFill>
                  <a:srgbClr val="000000"/>
                </a:solidFill>
                <a:latin typeface="inter-regular"/>
              </a:rPr>
              <a:t>[</a:t>
            </a:r>
            <a:r>
              <a:rPr lang="en-IN" sz="2400" dirty="0" err="1">
                <a:solidFill>
                  <a:srgbClr val="000000"/>
                </a:solidFill>
                <a:latin typeface="inter-regular"/>
              </a:rPr>
              <a:t>i</a:t>
            </a:r>
            <a:r>
              <a:rPr lang="en-IN" sz="2400" dirty="0">
                <a:solidFill>
                  <a:srgbClr val="000000"/>
                </a:solidFill>
                <a:latin typeface="inter-regular"/>
              </a:rPr>
              <a:t>]);  </a:t>
            </a:r>
          </a:p>
          <a:p>
            <a:pPr algn="just">
              <a:buFont typeface="+mj-lt"/>
              <a:buAutoNum type="arabicPeriod"/>
            </a:pPr>
            <a:r>
              <a:rPr lang="en-IN" sz="2400" dirty="0">
                <a:solidFill>
                  <a:srgbClr val="000000"/>
                </a:solidFill>
                <a:latin typeface="inter-regular"/>
              </a:rPr>
              <a:t>    }  </a:t>
            </a:r>
          </a:p>
          <a:p>
            <a:pPr algn="just">
              <a:buFont typeface="+mj-lt"/>
              <a:buAutoNum type="arabicPeriod"/>
            </a:pPr>
            <a:r>
              <a:rPr lang="en-IN" sz="2400" dirty="0">
                <a:solidFill>
                  <a:srgbClr val="000000"/>
                </a:solidFill>
                <a:latin typeface="inter-regular"/>
              </a:rPr>
              <a:t>}  </a:t>
            </a:r>
            <a:endParaRPr lang="en-IN" sz="2400" b="0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7543800" y="3746957"/>
            <a:ext cx="3962401" cy="70788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535559"/>
                </a:solidFill>
                <a:effectLst/>
                <a:latin typeface="Arial Unicode MS"/>
              </a:rPr>
              <a:t>Output</a:t>
            </a:r>
            <a:r>
              <a:rPr kumimoji="0" lang="en-US" altLang="en-US" sz="2000" b="1" i="0" u="none" strike="noStrike" cap="none" normalizeH="0" dirty="0" smtClean="0">
                <a:ln>
                  <a:noFill/>
                </a:ln>
                <a:solidFill>
                  <a:srgbClr val="535559"/>
                </a:solidFill>
                <a:effectLst/>
                <a:latin typeface="Arial Unicode MS"/>
              </a:rPr>
              <a:t> :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rgbClr val="535559"/>
              </a:solidFill>
              <a:effectLst/>
              <a:latin typeface="Arial Unicode M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535559"/>
                </a:solidFill>
                <a:effectLst/>
                <a:latin typeface="Arial Unicode MS"/>
              </a:rPr>
              <a:t>1 2 4 2 4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602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xfrm>
            <a:off x="332638" y="1695071"/>
            <a:ext cx="11526723" cy="438530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 dirty="0" smtClean="0">
                <a:solidFill>
                  <a:srgbClr val="D4D4D4"/>
                </a:solidFill>
                <a:latin typeface="Consolas" panose="020B0609020204030204" pitchFamily="49" charset="0"/>
              </a:rPr>
              <a:t>Conti..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246" y="2286000"/>
            <a:ext cx="1203335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rgbClr val="333333"/>
                </a:solidFill>
                <a:latin typeface="inter-regular"/>
              </a:rPr>
              <a:t>An </a:t>
            </a:r>
            <a:r>
              <a:rPr lang="en-US" sz="2400" dirty="0">
                <a:solidFill>
                  <a:srgbClr val="333333"/>
                </a:solidFill>
                <a:latin typeface="inter-regular"/>
              </a:rPr>
              <a:t>Array of Strings which means we are trying to create an Array of Character Arrays. We have two ways we can do this:</a:t>
            </a:r>
          </a:p>
          <a:p>
            <a:pPr algn="just"/>
            <a:r>
              <a:rPr lang="en-US" sz="2400" dirty="0" smtClean="0">
                <a:solidFill>
                  <a:srgbClr val="000000"/>
                </a:solidFill>
                <a:latin typeface="inter-regular"/>
              </a:rPr>
              <a:t>                        </a:t>
            </a:r>
            <a:r>
              <a:rPr lang="en-US" sz="2400" dirty="0" smtClean="0">
                <a:solidFill>
                  <a:schemeClr val="accent3">
                    <a:lumMod val="50000"/>
                  </a:schemeClr>
                </a:solidFill>
                <a:latin typeface="inter-regular"/>
              </a:rPr>
              <a:t>1)Using </a:t>
            </a:r>
            <a:r>
              <a:rPr lang="en-US" sz="2400" dirty="0">
                <a:solidFill>
                  <a:schemeClr val="accent3">
                    <a:lumMod val="50000"/>
                  </a:schemeClr>
                </a:solidFill>
                <a:latin typeface="inter-regular"/>
              </a:rPr>
              <a:t>Two-dimensional Arrays</a:t>
            </a:r>
          </a:p>
          <a:p>
            <a:pPr algn="just"/>
            <a:r>
              <a:rPr lang="en-US" sz="2400" dirty="0" smtClean="0">
                <a:solidFill>
                  <a:schemeClr val="accent3">
                    <a:lumMod val="50000"/>
                  </a:schemeClr>
                </a:solidFill>
                <a:latin typeface="inter-regular"/>
              </a:rPr>
              <a:t>                         2)Using Pointers</a:t>
            </a:r>
            <a:endParaRPr lang="en-US" sz="2400" dirty="0">
              <a:solidFill>
                <a:schemeClr val="accent3">
                  <a:lumMod val="50000"/>
                </a:schemeClr>
              </a:solidFill>
              <a:latin typeface="inter-regular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610B4B"/>
                </a:solidFill>
                <a:latin typeface="erdana"/>
              </a:rPr>
              <a:t>Using Two-dimensional Arrays</a:t>
            </a:r>
            <a:r>
              <a:rPr lang="en-US" sz="2400" dirty="0" smtClean="0">
                <a:solidFill>
                  <a:srgbClr val="610B4B"/>
                </a:solidFill>
                <a:latin typeface="erdana"/>
              </a:rPr>
              <a:t>:</a:t>
            </a:r>
            <a:endParaRPr lang="en-US" sz="2400" dirty="0">
              <a:solidFill>
                <a:srgbClr val="610B4B"/>
              </a:solidFill>
              <a:latin typeface="erdana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333333"/>
                </a:solidFill>
                <a:latin typeface="inter-regular"/>
              </a:rPr>
              <a:t>Creating a String Array is one of the applications of two-dimensional Arrays.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333333"/>
                </a:solidFill>
                <a:latin typeface="inter-regular"/>
              </a:rPr>
              <a:t>For suppose we want to create an Array of 3 Strings of size 5:</a:t>
            </a:r>
            <a:endParaRPr lang="en-US" sz="2400" b="0" i="0" dirty="0">
              <a:solidFill>
                <a:srgbClr val="333333"/>
              </a:solidFill>
              <a:effectLst/>
              <a:latin typeface="inter-regular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728" y="4938672"/>
            <a:ext cx="7239000" cy="176521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</p:pic>
      <p:sp>
        <p:nvSpPr>
          <p:cNvPr id="5" name="Rectangle 4"/>
          <p:cNvSpPr/>
          <p:nvPr/>
        </p:nvSpPr>
        <p:spPr>
          <a:xfrm>
            <a:off x="6246" y="5172134"/>
            <a:ext cx="6096000" cy="163121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algn="just"/>
            <a:r>
              <a:rPr lang="en-US" sz="2000" b="1" dirty="0">
                <a:solidFill>
                  <a:srgbClr val="333333"/>
                </a:solidFill>
                <a:latin typeface="inter-bold"/>
              </a:rPr>
              <a:t>Syntax to create a 2D Array:</a:t>
            </a:r>
            <a:endParaRPr lang="en-US" sz="2000" b="1" dirty="0">
              <a:solidFill>
                <a:srgbClr val="333333"/>
              </a:solidFill>
              <a:latin typeface="inter-regular"/>
            </a:endParaRPr>
          </a:p>
          <a:p>
            <a:pPr algn="just">
              <a:buFont typeface="+mj-lt"/>
              <a:buAutoNum type="arabicPeriod"/>
            </a:pPr>
            <a:r>
              <a:rPr lang="en-US" sz="2000" b="1" dirty="0" err="1">
                <a:solidFill>
                  <a:srgbClr val="000000"/>
                </a:solidFill>
                <a:latin typeface="inter-regular"/>
              </a:rPr>
              <a:t>Data_type</a:t>
            </a:r>
            <a:r>
              <a:rPr lang="en-US" sz="2000" b="1" dirty="0">
                <a:solidFill>
                  <a:srgbClr val="000000"/>
                </a:solidFill>
                <a:latin typeface="inter-regular"/>
              </a:rPr>
              <a:t> name[rows][columns] = {{values in row 1}, {values in row 2}…};  </a:t>
            </a:r>
          </a:p>
          <a:p>
            <a:r>
              <a:rPr lang="en-US" sz="2000" b="1" dirty="0"/>
              <a:t/>
            </a:r>
            <a:br>
              <a:rPr lang="en-US" sz="2000" b="1" dirty="0"/>
            </a:b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763410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xfrm>
            <a:off x="332638" y="1695070"/>
            <a:ext cx="11526723" cy="492443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 dirty="0" smtClean="0"/>
              <a:t>Declaration and Example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0" y="2202237"/>
            <a:ext cx="6283515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 algn="just"/>
            <a:r>
              <a:rPr lang="en-US" sz="2400" b="1" dirty="0">
                <a:solidFill>
                  <a:srgbClr val="2E8B57"/>
                </a:solidFill>
                <a:latin typeface="inter-regular"/>
              </a:rPr>
              <a:t>char</a:t>
            </a:r>
            <a:r>
              <a:rPr lang="en-US" b="1" dirty="0">
                <a:solidFill>
                  <a:srgbClr val="000000"/>
                </a:solidFill>
                <a:latin typeface="inter-regular"/>
              </a:rPr>
              <a:t> Array[rows][columns] = {</a:t>
            </a:r>
            <a:r>
              <a:rPr lang="en-US" b="1" dirty="0">
                <a:solidFill>
                  <a:srgbClr val="0000FF"/>
                </a:solidFill>
                <a:latin typeface="inter-regular"/>
              </a:rPr>
              <a:t>"String1"</a:t>
            </a:r>
            <a:r>
              <a:rPr lang="en-US" b="1" dirty="0">
                <a:solidFill>
                  <a:srgbClr val="000000"/>
                </a:solidFill>
                <a:latin typeface="inter-regular"/>
              </a:rPr>
              <a:t>, </a:t>
            </a:r>
            <a:r>
              <a:rPr lang="en-US" b="1" dirty="0">
                <a:solidFill>
                  <a:srgbClr val="0000FF"/>
                </a:solidFill>
                <a:latin typeface="inter-regular"/>
              </a:rPr>
              <a:t>"String2"</a:t>
            </a:r>
            <a:r>
              <a:rPr lang="en-US" b="1" dirty="0">
                <a:solidFill>
                  <a:srgbClr val="000000"/>
                </a:solidFill>
                <a:latin typeface="inter-regular"/>
              </a:rPr>
              <a:t>...};  </a:t>
            </a:r>
            <a:endParaRPr lang="en-US" b="1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989" y="2678626"/>
            <a:ext cx="6268525" cy="409342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IN" sz="2000" b="1" dirty="0">
                <a:solidFill>
                  <a:schemeClr val="bg1"/>
                </a:solidFill>
                <a:latin typeface="inter-regular"/>
              </a:rPr>
              <a:t>#include&lt;</a:t>
            </a:r>
            <a:r>
              <a:rPr lang="en-IN" sz="2000" b="1" dirty="0" err="1">
                <a:solidFill>
                  <a:schemeClr val="bg1"/>
                </a:solidFill>
                <a:latin typeface="inter-regular"/>
              </a:rPr>
              <a:t>stdio.h</a:t>
            </a:r>
            <a:r>
              <a:rPr lang="en-IN" sz="2000" b="1" dirty="0">
                <a:solidFill>
                  <a:schemeClr val="bg1"/>
                </a:solidFill>
                <a:latin typeface="inter-regular"/>
              </a:rPr>
              <a:t>&gt;  </a:t>
            </a:r>
          </a:p>
          <a:p>
            <a:pPr algn="just">
              <a:buFont typeface="+mj-lt"/>
              <a:buAutoNum type="arabicPeriod"/>
            </a:pPr>
            <a:r>
              <a:rPr lang="en-IN" sz="2000" b="1" dirty="0" err="1">
                <a:solidFill>
                  <a:schemeClr val="bg1"/>
                </a:solidFill>
                <a:latin typeface="inter-regular"/>
              </a:rPr>
              <a:t>int</a:t>
            </a:r>
            <a:r>
              <a:rPr lang="en-IN" sz="2000" b="1" dirty="0">
                <a:solidFill>
                  <a:schemeClr val="bg1"/>
                </a:solidFill>
                <a:latin typeface="inter-regular"/>
              </a:rPr>
              <a:t> main()  </a:t>
            </a:r>
          </a:p>
          <a:p>
            <a:pPr algn="just">
              <a:buFont typeface="+mj-lt"/>
              <a:buAutoNum type="arabicPeriod"/>
            </a:pPr>
            <a:r>
              <a:rPr lang="en-IN" sz="2000" b="1" dirty="0">
                <a:solidFill>
                  <a:schemeClr val="bg1"/>
                </a:solidFill>
                <a:latin typeface="inter-regular"/>
              </a:rPr>
              <a:t>{  </a:t>
            </a:r>
          </a:p>
          <a:p>
            <a:pPr algn="just">
              <a:buFont typeface="+mj-lt"/>
              <a:buAutoNum type="arabicPeriod"/>
            </a:pPr>
            <a:r>
              <a:rPr lang="en-IN" sz="2000" b="1" dirty="0">
                <a:solidFill>
                  <a:schemeClr val="bg1"/>
                </a:solidFill>
                <a:latin typeface="inter-regular"/>
              </a:rPr>
              <a:t>    char Array[3][6] = {"Black", "Blame", "Block"};  </a:t>
            </a:r>
          </a:p>
          <a:p>
            <a:pPr algn="just">
              <a:buFont typeface="+mj-lt"/>
              <a:buAutoNum type="arabicPeriod"/>
            </a:pPr>
            <a:r>
              <a:rPr lang="en-IN" sz="2000" b="1" dirty="0">
                <a:solidFill>
                  <a:schemeClr val="bg1"/>
                </a:solidFill>
                <a:latin typeface="inter-regular"/>
              </a:rPr>
              <a:t>    </a:t>
            </a:r>
            <a:r>
              <a:rPr lang="en-IN" sz="2000" b="1" dirty="0" err="1">
                <a:solidFill>
                  <a:schemeClr val="bg1"/>
                </a:solidFill>
                <a:latin typeface="inter-regular"/>
              </a:rPr>
              <a:t>printf</a:t>
            </a:r>
            <a:r>
              <a:rPr lang="en-IN" sz="2000" b="1" dirty="0">
                <a:solidFill>
                  <a:schemeClr val="bg1"/>
                </a:solidFill>
                <a:latin typeface="inter-regular"/>
              </a:rPr>
              <a:t>("String Array: \n");  </a:t>
            </a:r>
          </a:p>
          <a:p>
            <a:pPr algn="just">
              <a:buFont typeface="+mj-lt"/>
              <a:buAutoNum type="arabicPeriod"/>
            </a:pPr>
            <a:r>
              <a:rPr lang="en-IN" sz="2000" b="1" dirty="0" smtClean="0">
                <a:solidFill>
                  <a:schemeClr val="bg1"/>
                </a:solidFill>
                <a:latin typeface="inter-regular"/>
              </a:rPr>
              <a:t>    </a:t>
            </a:r>
            <a:r>
              <a:rPr lang="en-IN" sz="2000" b="1" dirty="0" err="1" smtClean="0">
                <a:solidFill>
                  <a:schemeClr val="bg1"/>
                </a:solidFill>
                <a:latin typeface="inter-regular"/>
              </a:rPr>
              <a:t>int</a:t>
            </a:r>
            <a:r>
              <a:rPr lang="en-IN" sz="2000" b="1" dirty="0" smtClean="0">
                <a:solidFill>
                  <a:schemeClr val="bg1"/>
                </a:solidFill>
                <a:latin typeface="inter-regular"/>
              </a:rPr>
              <a:t> </a:t>
            </a:r>
            <a:r>
              <a:rPr lang="en-IN" sz="2000" b="1" dirty="0" err="1" smtClean="0">
                <a:solidFill>
                  <a:schemeClr val="bg1"/>
                </a:solidFill>
                <a:latin typeface="inter-regular"/>
              </a:rPr>
              <a:t>i</a:t>
            </a:r>
            <a:r>
              <a:rPr lang="en-IN" sz="2000" b="1" dirty="0" smtClean="0">
                <a:solidFill>
                  <a:schemeClr val="bg1"/>
                </a:solidFill>
                <a:latin typeface="inter-regular"/>
              </a:rPr>
              <a:t>;  </a:t>
            </a:r>
          </a:p>
          <a:p>
            <a:pPr algn="just">
              <a:buFont typeface="+mj-lt"/>
              <a:buAutoNum type="arabicPeriod"/>
            </a:pPr>
            <a:r>
              <a:rPr lang="en-IN" sz="2000" b="1" dirty="0">
                <a:solidFill>
                  <a:schemeClr val="bg1"/>
                </a:solidFill>
                <a:latin typeface="inter-regular"/>
              </a:rPr>
              <a:t>    for(</a:t>
            </a:r>
            <a:r>
              <a:rPr lang="en-IN" sz="2000" b="1" dirty="0" err="1">
                <a:solidFill>
                  <a:schemeClr val="bg1"/>
                </a:solidFill>
                <a:latin typeface="inter-regular"/>
              </a:rPr>
              <a:t>i</a:t>
            </a:r>
            <a:r>
              <a:rPr lang="en-IN" sz="2000" b="1" dirty="0">
                <a:solidFill>
                  <a:schemeClr val="bg1"/>
                </a:solidFill>
                <a:latin typeface="inter-regular"/>
              </a:rPr>
              <a:t> = 0; </a:t>
            </a:r>
            <a:r>
              <a:rPr lang="en-IN" sz="2000" b="1" dirty="0" err="1">
                <a:solidFill>
                  <a:schemeClr val="bg1"/>
                </a:solidFill>
                <a:latin typeface="inter-regular"/>
              </a:rPr>
              <a:t>i</a:t>
            </a:r>
            <a:r>
              <a:rPr lang="en-IN" sz="2000" b="1" dirty="0">
                <a:solidFill>
                  <a:schemeClr val="bg1"/>
                </a:solidFill>
                <a:latin typeface="inter-regular"/>
              </a:rPr>
              <a:t> &lt; 3; </a:t>
            </a:r>
            <a:r>
              <a:rPr lang="en-IN" sz="2000" b="1" dirty="0" err="1">
                <a:solidFill>
                  <a:schemeClr val="bg1"/>
                </a:solidFill>
                <a:latin typeface="inter-regular"/>
              </a:rPr>
              <a:t>i</a:t>
            </a:r>
            <a:r>
              <a:rPr lang="en-IN" sz="2000" b="1" dirty="0">
                <a:solidFill>
                  <a:schemeClr val="bg1"/>
                </a:solidFill>
                <a:latin typeface="inter-regular"/>
              </a:rPr>
              <a:t>++)  </a:t>
            </a:r>
          </a:p>
          <a:p>
            <a:pPr algn="just">
              <a:buFont typeface="+mj-lt"/>
              <a:buAutoNum type="arabicPeriod"/>
            </a:pPr>
            <a:r>
              <a:rPr lang="en-IN" sz="2000" b="1" dirty="0">
                <a:solidFill>
                  <a:schemeClr val="bg1"/>
                </a:solidFill>
                <a:latin typeface="inter-regular"/>
              </a:rPr>
              <a:t>    {  </a:t>
            </a:r>
          </a:p>
          <a:p>
            <a:pPr algn="just">
              <a:buFont typeface="+mj-lt"/>
              <a:buAutoNum type="arabicPeriod"/>
            </a:pPr>
            <a:r>
              <a:rPr lang="en-IN" sz="2000" b="1" dirty="0">
                <a:solidFill>
                  <a:schemeClr val="bg1"/>
                </a:solidFill>
                <a:latin typeface="inter-regular"/>
              </a:rPr>
              <a:t>        </a:t>
            </a:r>
            <a:r>
              <a:rPr lang="en-IN" sz="2000" b="1" dirty="0" err="1">
                <a:solidFill>
                  <a:schemeClr val="bg1"/>
                </a:solidFill>
                <a:latin typeface="inter-regular"/>
              </a:rPr>
              <a:t>printf</a:t>
            </a:r>
            <a:r>
              <a:rPr lang="en-IN" sz="2000" b="1" dirty="0">
                <a:solidFill>
                  <a:schemeClr val="bg1"/>
                </a:solidFill>
                <a:latin typeface="inter-regular"/>
              </a:rPr>
              <a:t>("%s\n", Array[</a:t>
            </a:r>
            <a:r>
              <a:rPr lang="en-IN" sz="2000" b="1" dirty="0" err="1">
                <a:solidFill>
                  <a:schemeClr val="bg1"/>
                </a:solidFill>
                <a:latin typeface="inter-regular"/>
              </a:rPr>
              <a:t>i</a:t>
            </a:r>
            <a:r>
              <a:rPr lang="en-IN" sz="2000" b="1" dirty="0">
                <a:solidFill>
                  <a:schemeClr val="bg1"/>
                </a:solidFill>
                <a:latin typeface="inter-regular"/>
              </a:rPr>
              <a:t>]);  </a:t>
            </a:r>
          </a:p>
          <a:p>
            <a:pPr algn="just">
              <a:buFont typeface="+mj-lt"/>
              <a:buAutoNum type="arabicPeriod"/>
            </a:pPr>
            <a:r>
              <a:rPr lang="en-IN" sz="2000" b="1" dirty="0">
                <a:solidFill>
                  <a:schemeClr val="bg1"/>
                </a:solidFill>
                <a:latin typeface="inter-regular"/>
              </a:rPr>
              <a:t>    }  </a:t>
            </a:r>
          </a:p>
          <a:p>
            <a:pPr algn="just">
              <a:buFont typeface="+mj-lt"/>
              <a:buAutoNum type="arabicPeriod"/>
            </a:pPr>
            <a:r>
              <a:rPr lang="en-IN" sz="2000" b="1" dirty="0">
                <a:solidFill>
                  <a:schemeClr val="bg1"/>
                </a:solidFill>
                <a:latin typeface="inter-regular"/>
              </a:rPr>
              <a:t>    return 0;  </a:t>
            </a:r>
          </a:p>
          <a:p>
            <a:pPr algn="just">
              <a:buFont typeface="+mj-lt"/>
              <a:buAutoNum type="arabicPeriod"/>
            </a:pPr>
            <a:r>
              <a:rPr lang="en-IN" sz="2000" b="1" dirty="0">
                <a:solidFill>
                  <a:schemeClr val="bg1"/>
                </a:solidFill>
                <a:latin typeface="inter-regular"/>
              </a:rPr>
              <a:t>}  </a:t>
            </a:r>
            <a:endParaRPr lang="en-IN" sz="2000" b="1" i="0" dirty="0">
              <a:solidFill>
                <a:schemeClr val="bg1"/>
              </a:solidFill>
              <a:effectLst/>
              <a:latin typeface="inter-regular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924800" y="2841992"/>
            <a:ext cx="3352800" cy="163121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535559"/>
                </a:solidFill>
                <a:effectLst/>
                <a:latin typeface="Arial Unicode MS"/>
              </a:rPr>
              <a:t>Output 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535559"/>
                </a:solidFill>
                <a:effectLst/>
                <a:latin typeface="Arial Unicode MS"/>
              </a:rPr>
              <a:t>String Array: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535559"/>
                </a:solidFill>
                <a:effectLst/>
                <a:latin typeface="Arial Unicode MS"/>
              </a:rPr>
              <a:t>Black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535559"/>
                </a:solidFill>
                <a:effectLst/>
                <a:latin typeface="Arial Unicode MS"/>
              </a:rPr>
              <a:t>Blame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535559"/>
                </a:solidFill>
                <a:effectLst/>
                <a:latin typeface="Arial Unicode MS"/>
              </a:rPr>
              <a:t>Block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659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xfrm>
            <a:off x="332638" y="1695072"/>
            <a:ext cx="11526723" cy="590930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 dirty="0" smtClean="0">
                <a:solidFill>
                  <a:srgbClr val="D4D4D4"/>
                </a:solidFill>
                <a:latin typeface="Consolas" panose="020B0609020204030204" pitchFamily="49" charset="0"/>
              </a:rPr>
              <a:t>Disadvantage of using 2D Arrays</a:t>
            </a:r>
            <a:br>
              <a:rPr lang="en-US" dirty="0" smtClean="0">
                <a:solidFill>
                  <a:srgbClr val="D4D4D4"/>
                </a:solidFill>
                <a:latin typeface="Consolas" panose="020B0609020204030204" pitchFamily="49" charset="0"/>
              </a:rPr>
            </a:b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50504" y="2438400"/>
            <a:ext cx="551013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0000"/>
                </a:solidFill>
                <a:latin typeface="inter-regular"/>
              </a:rPr>
              <a:t>The number of rows will be equal to the number of Strings, but the number of columns will equal the length of the longest String.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rgbClr val="000000"/>
                </a:solidFill>
                <a:latin typeface="inter-regular"/>
              </a:rPr>
              <a:t>The </a:t>
            </a:r>
            <a:r>
              <a:rPr lang="en-US" sz="2400" dirty="0">
                <a:solidFill>
                  <a:srgbClr val="000000"/>
                </a:solidFill>
                <a:latin typeface="inter-regular"/>
              </a:rPr>
              <a:t>orange part in the above representation is the memory wasted.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 smtClean="0">
                <a:solidFill>
                  <a:srgbClr val="000000"/>
                </a:solidFill>
                <a:latin typeface="inter-regular"/>
              </a:rPr>
              <a:t>The memory allocated to all the Strings will be the size of the longest String, causing "</a:t>
            </a:r>
            <a:r>
              <a:rPr lang="en-US" sz="2400" b="1" dirty="0" smtClean="0">
                <a:solidFill>
                  <a:srgbClr val="000000"/>
                </a:solidFill>
                <a:latin typeface="inter-bold"/>
              </a:rPr>
              <a:t>Memory wastage</a:t>
            </a:r>
            <a:r>
              <a:rPr lang="en-US" sz="2400" dirty="0" smtClean="0">
                <a:solidFill>
                  <a:srgbClr val="000000"/>
                </a:solidFill>
                <a:latin typeface="inter-regular"/>
              </a:rPr>
              <a:t>".</a:t>
            </a:r>
            <a:endParaRPr lang="en-US" sz="2400" dirty="0">
              <a:solidFill>
                <a:srgbClr val="000000"/>
              </a:solidFill>
              <a:latin typeface="inter-regular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0619" y="2533472"/>
            <a:ext cx="6348981" cy="287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095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8696794" cy="224676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solidFill>
                  <a:srgbClr val="333333"/>
                </a:solidFill>
                <a:latin typeface="inter-bold"/>
              </a:rPr>
              <a:t>Syntax to create an Array of Pointers</a:t>
            </a:r>
            <a:r>
              <a:rPr lang="en-US" sz="2000" b="1" dirty="0" smtClean="0">
                <a:solidFill>
                  <a:srgbClr val="333333"/>
                </a:solidFill>
                <a:latin typeface="inter-bold"/>
              </a:rPr>
              <a:t>:</a:t>
            </a:r>
          </a:p>
          <a:p>
            <a:pPr algn="just"/>
            <a:endParaRPr lang="en-US" sz="2000" b="1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sz="2000" b="1" dirty="0">
                <a:solidFill>
                  <a:srgbClr val="333333"/>
                </a:solidFill>
                <a:latin typeface="inter-regular"/>
              </a:rPr>
              <a:t>Data Type* name[] = {"Value 1", "Value 2</a:t>
            </a:r>
            <a:r>
              <a:rPr lang="en-US" sz="2000" b="1" dirty="0" smtClean="0">
                <a:solidFill>
                  <a:srgbClr val="333333"/>
                </a:solidFill>
                <a:latin typeface="inter-regular"/>
              </a:rPr>
              <a:t>"…};</a:t>
            </a:r>
          </a:p>
          <a:p>
            <a:pPr algn="just"/>
            <a:endParaRPr lang="en-US" sz="2000" b="1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sz="2000" b="1" dirty="0">
                <a:solidFill>
                  <a:srgbClr val="333333"/>
                </a:solidFill>
                <a:latin typeface="inter-bold"/>
              </a:rPr>
              <a:t>Syntax to create an Array of String Pointers</a:t>
            </a:r>
            <a:r>
              <a:rPr lang="en-US" sz="2000" b="1" dirty="0" smtClean="0">
                <a:solidFill>
                  <a:srgbClr val="333333"/>
                </a:solidFill>
                <a:latin typeface="inter-bold"/>
              </a:rPr>
              <a:t>:</a:t>
            </a:r>
          </a:p>
          <a:p>
            <a:pPr algn="just"/>
            <a:endParaRPr lang="en-US" sz="2000" b="1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sz="2000" b="1" dirty="0">
                <a:solidFill>
                  <a:srgbClr val="333333"/>
                </a:solidFill>
                <a:latin typeface="inter-regular"/>
              </a:rPr>
              <a:t>char* Array[] = {"String 1", "String 2"…};</a:t>
            </a:r>
            <a:endParaRPr lang="en-US" sz="2000" b="1" i="0" dirty="0">
              <a:solidFill>
                <a:srgbClr val="333333"/>
              </a:solidFill>
              <a:effectLst/>
              <a:latin typeface="inter-regula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32638" y="1695069"/>
            <a:ext cx="11526723" cy="492443"/>
          </a:xfrm>
        </p:spPr>
        <p:txBody>
          <a:bodyPr/>
          <a:lstStyle/>
          <a:p>
            <a:r>
              <a:rPr lang="en-US" dirty="0" smtClean="0"/>
              <a:t>Using Pointer in String Array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4800600"/>
            <a:ext cx="8418538" cy="192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355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>
            <a:spLocks noGrp="1"/>
          </p:cNvSpPr>
          <p:nvPr>
            <p:ph type="title"/>
          </p:nvPr>
        </p:nvSpPr>
        <p:spPr>
          <a:xfrm>
            <a:off x="332638" y="1695071"/>
            <a:ext cx="11526723" cy="590930"/>
          </a:xfrm>
          <a:custGeom>
            <a:avLst/>
            <a:gdLst/>
            <a:ahLst/>
            <a:cxnLst/>
            <a:rect l="l" t="t" r="r" b="b"/>
            <a:pathLst>
              <a:path w="12192000" h="643255">
                <a:moveTo>
                  <a:pt x="12192000" y="0"/>
                </a:moveTo>
                <a:lnTo>
                  <a:pt x="0" y="0"/>
                </a:lnTo>
                <a:lnTo>
                  <a:pt x="0" y="643127"/>
                </a:lnTo>
                <a:lnTo>
                  <a:pt x="12192000" y="643127"/>
                </a:lnTo>
                <a:lnTo>
                  <a:pt x="121920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r>
              <a:rPr lang="en-US" dirty="0" smtClean="0">
                <a:solidFill>
                  <a:srgbClr val="D4D4D4"/>
                </a:solidFill>
                <a:latin typeface="Consolas" panose="020B0609020204030204" pitchFamily="49" charset="0"/>
              </a:rPr>
              <a:t>Continue…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52400" y="2362200"/>
            <a:ext cx="6096000" cy="4093428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#include&lt;</a:t>
            </a:r>
            <a:r>
              <a:rPr lang="en-IN" sz="2000" b="1" dirty="0" err="1">
                <a:solidFill>
                  <a:schemeClr val="bg1"/>
                </a:solidFill>
              </a:rPr>
              <a:t>stdio.h</a:t>
            </a:r>
            <a:r>
              <a:rPr lang="en-IN" sz="2000" b="1" dirty="0">
                <a:solidFill>
                  <a:schemeClr val="bg1"/>
                </a:solidFill>
              </a:rPr>
              <a:t>&gt;  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#include&lt;</a:t>
            </a:r>
            <a:r>
              <a:rPr lang="en-IN" sz="2000" b="1" dirty="0" err="1">
                <a:solidFill>
                  <a:schemeClr val="bg1"/>
                </a:solidFill>
              </a:rPr>
              <a:t>string.h</a:t>
            </a:r>
            <a:r>
              <a:rPr lang="en-IN" sz="2000" b="1" dirty="0">
                <a:solidFill>
                  <a:schemeClr val="bg1"/>
                </a:solidFill>
              </a:rPr>
              <a:t>&gt;  </a:t>
            </a:r>
          </a:p>
          <a:p>
            <a:r>
              <a:rPr lang="en-IN" sz="2000" b="1" dirty="0" err="1">
                <a:solidFill>
                  <a:schemeClr val="bg1"/>
                </a:solidFill>
              </a:rPr>
              <a:t>int</a:t>
            </a:r>
            <a:r>
              <a:rPr lang="en-IN" sz="2000" b="1" dirty="0">
                <a:solidFill>
                  <a:schemeClr val="bg1"/>
                </a:solidFill>
              </a:rPr>
              <a:t> main()  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{  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    </a:t>
            </a:r>
            <a:r>
              <a:rPr lang="en-IN" sz="2000" b="1" dirty="0" err="1">
                <a:solidFill>
                  <a:schemeClr val="bg1"/>
                </a:solidFill>
              </a:rPr>
              <a:t>int</a:t>
            </a:r>
            <a:r>
              <a:rPr lang="en-IN" sz="2000" b="1" dirty="0">
                <a:solidFill>
                  <a:schemeClr val="bg1"/>
                </a:solidFill>
              </a:rPr>
              <a:t> </a:t>
            </a:r>
            <a:r>
              <a:rPr lang="en-IN" sz="2000" b="1" dirty="0" err="1">
                <a:solidFill>
                  <a:schemeClr val="bg1"/>
                </a:solidFill>
              </a:rPr>
              <a:t>i</a:t>
            </a:r>
            <a:r>
              <a:rPr lang="en-IN" sz="2000" b="1" dirty="0">
                <a:solidFill>
                  <a:schemeClr val="bg1"/>
                </a:solidFill>
              </a:rPr>
              <a:t>;  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    char* Array[] = {"HI", "UP", "AT"};  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    </a:t>
            </a:r>
            <a:r>
              <a:rPr lang="en-IN" sz="2000" b="1" dirty="0" err="1">
                <a:solidFill>
                  <a:schemeClr val="bg1"/>
                </a:solidFill>
              </a:rPr>
              <a:t>printf</a:t>
            </a:r>
            <a:r>
              <a:rPr lang="en-IN" sz="2000" b="1" dirty="0">
                <a:solidFill>
                  <a:schemeClr val="bg1"/>
                </a:solidFill>
              </a:rPr>
              <a:t>("String Array:\n");  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    for(</a:t>
            </a:r>
            <a:r>
              <a:rPr lang="en-IN" sz="2000" b="1" dirty="0" err="1">
                <a:solidFill>
                  <a:schemeClr val="bg1"/>
                </a:solidFill>
              </a:rPr>
              <a:t>i</a:t>
            </a:r>
            <a:r>
              <a:rPr lang="en-IN" sz="2000" b="1" dirty="0">
                <a:solidFill>
                  <a:schemeClr val="bg1"/>
                </a:solidFill>
              </a:rPr>
              <a:t> = 0; </a:t>
            </a:r>
            <a:r>
              <a:rPr lang="en-IN" sz="2000" b="1" dirty="0" err="1">
                <a:solidFill>
                  <a:schemeClr val="bg1"/>
                </a:solidFill>
              </a:rPr>
              <a:t>i</a:t>
            </a:r>
            <a:r>
              <a:rPr lang="en-IN" sz="2000" b="1" dirty="0">
                <a:solidFill>
                  <a:schemeClr val="bg1"/>
                </a:solidFill>
              </a:rPr>
              <a:t> &lt; 3; </a:t>
            </a:r>
            <a:r>
              <a:rPr lang="en-IN" sz="2000" b="1" dirty="0" err="1">
                <a:solidFill>
                  <a:schemeClr val="bg1"/>
                </a:solidFill>
              </a:rPr>
              <a:t>i</a:t>
            </a:r>
            <a:r>
              <a:rPr lang="en-IN" sz="2000" b="1" dirty="0">
                <a:solidFill>
                  <a:schemeClr val="bg1"/>
                </a:solidFill>
              </a:rPr>
              <a:t>++)  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    {  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        </a:t>
            </a:r>
            <a:r>
              <a:rPr lang="en-IN" sz="2000" b="1" dirty="0" err="1">
                <a:solidFill>
                  <a:schemeClr val="bg1"/>
                </a:solidFill>
              </a:rPr>
              <a:t>printf</a:t>
            </a:r>
            <a:r>
              <a:rPr lang="en-IN" sz="2000" b="1" dirty="0">
                <a:solidFill>
                  <a:schemeClr val="bg1"/>
                </a:solidFill>
              </a:rPr>
              <a:t>("%s\n", Array[</a:t>
            </a:r>
            <a:r>
              <a:rPr lang="en-IN" sz="2000" b="1" dirty="0" err="1">
                <a:solidFill>
                  <a:schemeClr val="bg1"/>
                </a:solidFill>
              </a:rPr>
              <a:t>i</a:t>
            </a:r>
            <a:r>
              <a:rPr lang="en-IN" sz="2000" b="1" dirty="0">
                <a:solidFill>
                  <a:schemeClr val="bg1"/>
                </a:solidFill>
              </a:rPr>
              <a:t>]);  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    }  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    return 0;  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} 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391400" y="3124200"/>
            <a:ext cx="3429000" cy="163121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Output 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String Array: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HI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UP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AT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564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3874" y="2590800"/>
            <a:ext cx="1176192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rgbClr val="333333"/>
                </a:solidFill>
                <a:latin typeface="inter-bold"/>
              </a:rPr>
              <a:t>1. Using a Two-Dimensional Array:</a:t>
            </a:r>
            <a:endParaRPr lang="en-US" sz="2800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sz="2800" dirty="0">
                <a:solidFill>
                  <a:srgbClr val="333333"/>
                </a:solidFill>
                <a:latin typeface="inter-regular"/>
              </a:rPr>
              <a:t>The Disadvantage of using this way is "</a:t>
            </a:r>
            <a:r>
              <a:rPr lang="en-US" sz="2800" b="1" dirty="0">
                <a:solidFill>
                  <a:srgbClr val="333333"/>
                </a:solidFill>
                <a:latin typeface="inter-bold"/>
              </a:rPr>
              <a:t>Memory wastage</a:t>
            </a:r>
            <a:r>
              <a:rPr lang="en-US" sz="2800" dirty="0">
                <a:solidFill>
                  <a:srgbClr val="333333"/>
                </a:solidFill>
                <a:latin typeface="inter-regular"/>
              </a:rPr>
              <a:t>," as the memory allocated to every String in the Array will be the memory required to store the longest String of the Array.</a:t>
            </a:r>
          </a:p>
          <a:p>
            <a:pPr algn="just"/>
            <a:r>
              <a:rPr lang="en-US" sz="2800" b="1" dirty="0">
                <a:solidFill>
                  <a:srgbClr val="333333"/>
                </a:solidFill>
                <a:latin typeface="inter-bold"/>
              </a:rPr>
              <a:t>2. Using Pointers:</a:t>
            </a:r>
            <a:endParaRPr lang="en-US" sz="2800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sz="2800" dirty="0">
                <a:solidFill>
                  <a:srgbClr val="333333"/>
                </a:solidFill>
                <a:latin typeface="inter-regular"/>
              </a:rPr>
              <a:t>Using Pointers, we create a single-dimensional Array of Pointers pointing to Strings. Following this method can eliminate the "Memory wastage" Disadvantage.</a:t>
            </a:r>
          </a:p>
          <a:p>
            <a:r>
              <a:rPr lang="en-US" sz="2800" dirty="0"/>
              <a:t/>
            </a:r>
            <a:br>
              <a:rPr lang="en-US" sz="2800" dirty="0"/>
            </a:br>
            <a:endParaRPr lang="en-IN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32638" y="1695069"/>
            <a:ext cx="11526723" cy="492443"/>
          </a:xfrm>
        </p:spPr>
        <p:txBody>
          <a:bodyPr/>
          <a:lstStyle/>
          <a:p>
            <a:r>
              <a:rPr lang="en-US" dirty="0" smtClean="0"/>
              <a:t>Difference between 2-D Array and Using Pointer in string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16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66513" y="6016853"/>
            <a:ext cx="2460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4536A"/>
                </a:solidFill>
                <a:latin typeface="Calibri"/>
                <a:cs typeface="Calibri"/>
                <a:hlinkClick r:id="rId2"/>
              </a:rPr>
              <a:t>www.paruluniversity.ac.in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91671" y="6031991"/>
            <a:ext cx="812292" cy="6095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4536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904</TotalTime>
  <Words>2738</Words>
  <Application>Microsoft Office PowerPoint</Application>
  <PresentationFormat>Custom</PresentationFormat>
  <Paragraphs>714</Paragraphs>
  <Slides>44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Office Theme</vt:lpstr>
      <vt:lpstr>PowerPoint Presentation</vt:lpstr>
      <vt:lpstr>CHAPTER-1</vt:lpstr>
      <vt:lpstr>Outline</vt:lpstr>
      <vt:lpstr>Need of Array Variable</vt:lpstr>
      <vt:lpstr>Definition: Array</vt:lpstr>
      <vt:lpstr>Definition: Array</vt:lpstr>
      <vt:lpstr>Advantage of C Array</vt:lpstr>
      <vt:lpstr>Disadvantage of C Array</vt:lpstr>
      <vt:lpstr>Declaring an array</vt:lpstr>
      <vt:lpstr>Initialing and Accessing an Array</vt:lpstr>
      <vt:lpstr>Read(Scan) Array Elements</vt:lpstr>
      <vt:lpstr>Develop a program to count number of positive or negative number from an array of 10 Number</vt:lpstr>
      <vt:lpstr>Two dimensional Array in C</vt:lpstr>
      <vt:lpstr>Two dimensional Array in C</vt:lpstr>
      <vt:lpstr>Initialing and Accessing a 2D Array: Example-1</vt:lpstr>
      <vt:lpstr>Read(Scan) 2D Array Elements</vt:lpstr>
      <vt:lpstr>PowerPoint Presentation</vt:lpstr>
      <vt:lpstr>Declaration &amp; Initialization of Pointer</vt:lpstr>
      <vt:lpstr>Why use Pointer?</vt:lpstr>
      <vt:lpstr>Pointer to Pointer – Double Pointer</vt:lpstr>
      <vt:lpstr>Write a program to print variable, address of pointer variable and pointer to pointer variable.  </vt:lpstr>
      <vt:lpstr>Relation between Array &amp; Pointer – Cont.</vt:lpstr>
      <vt:lpstr>Array of Pointer</vt:lpstr>
      <vt:lpstr>Relation between Array &amp; Pointer</vt:lpstr>
      <vt:lpstr>Array of Pointer – Cont.</vt:lpstr>
      <vt:lpstr>Write a program to swap value of two variables using pointer / call by reference</vt:lpstr>
      <vt:lpstr>String</vt:lpstr>
      <vt:lpstr>String declaration and initialization</vt:lpstr>
      <vt:lpstr>Difference between char array and string literal </vt:lpstr>
      <vt:lpstr>Read String: scanf()</vt:lpstr>
      <vt:lpstr>Read String: gets()</vt:lpstr>
      <vt:lpstr>String Handling Functions : strlen()</vt:lpstr>
      <vt:lpstr>String Handling Functions: strcmp()</vt:lpstr>
      <vt:lpstr>String Handling Functions</vt:lpstr>
      <vt:lpstr>For examples consider: char s1[]="Their",s2[]="There"; </vt:lpstr>
      <vt:lpstr>For examples consider: char s1[]="Their",s2[]="There"; </vt:lpstr>
      <vt:lpstr>An Array of Strings in C</vt:lpstr>
      <vt:lpstr>Conti.. </vt:lpstr>
      <vt:lpstr>Declaration and Example</vt:lpstr>
      <vt:lpstr>Disadvantage of using 2D Arrays </vt:lpstr>
      <vt:lpstr>Using Pointer in String Array</vt:lpstr>
      <vt:lpstr>Continue… </vt:lpstr>
      <vt:lpstr>Difference between 2-D Array and Using Pointer in string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Work</dc:creator>
  <cp:lastModifiedBy>HP</cp:lastModifiedBy>
  <cp:revision>323</cp:revision>
  <dcterms:created xsi:type="dcterms:W3CDTF">2023-09-04T11:01:54Z</dcterms:created>
  <dcterms:modified xsi:type="dcterms:W3CDTF">2025-12-17T08:33:32Z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2022-01-10T00:00:00Z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2023-09-04T00:00:00Z</vt:filetime>
  </property>
</Properties>
</file>